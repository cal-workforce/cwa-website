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Glacial Indifference" panose="020B0604020202020204" charset="0"/>
      <p:regular r:id="rId13"/>
    </p:embeddedFont>
    <p:embeddedFont>
      <p:font typeface="Glacial Indifference Bold" panose="020B0604020202020204" charset="0"/>
      <p:regular r:id="rId14"/>
    </p:embeddedFont>
    <p:embeddedFont>
      <p:font typeface="League Spartan" panose="020B0604020202020204" charset="0"/>
      <p:regular r:id="rId15"/>
    </p:embeddedFont>
    <p:embeddedFont>
      <p:font typeface="Maharlika" panose="020B0604020202020204" charset="0"/>
      <p:regular r:id="rId16"/>
    </p:embeddedFont>
    <p:embeddedFont>
      <p:font typeface="Poppin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CA338B-8A10-45B3-AD30-C2929F47BC6E}" v="2" dt="2026-08-26T18:48:23.1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1230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9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5.svg"/><Relationship Id="rId4" Type="http://schemas.openxmlformats.org/officeDocument/2006/relationships/image" Target="../media/image25.sv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2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jpeg"/><Relationship Id="rId7" Type="http://schemas.openxmlformats.org/officeDocument/2006/relationships/image" Target="../media/image47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svg"/><Relationship Id="rId5" Type="http://schemas.openxmlformats.org/officeDocument/2006/relationships/image" Target="../media/image45.sv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36.svg"/><Relationship Id="rId3" Type="http://schemas.openxmlformats.org/officeDocument/2006/relationships/image" Target="../media/image54.png"/><Relationship Id="rId7" Type="http://schemas.openxmlformats.org/officeDocument/2006/relationships/image" Target="../media/image58.svg"/><Relationship Id="rId12" Type="http://schemas.openxmlformats.org/officeDocument/2006/relationships/image" Target="../media/image35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62.svg"/><Relationship Id="rId5" Type="http://schemas.openxmlformats.org/officeDocument/2006/relationships/image" Target="../media/image56.svg"/><Relationship Id="rId15" Type="http://schemas.openxmlformats.org/officeDocument/2006/relationships/image" Target="../media/image64.sv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svg"/><Relationship Id="rId14" Type="http://schemas.openxmlformats.org/officeDocument/2006/relationships/image" Target="../media/image6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66.jpeg"/><Relationship Id="rId7" Type="http://schemas.openxmlformats.org/officeDocument/2006/relationships/image" Target="../media/image9.pn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6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7.jpe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69967" cy="10287000"/>
          </a:xfrm>
          <a:custGeom>
            <a:avLst/>
            <a:gdLst/>
            <a:ahLst/>
            <a:cxnLst/>
            <a:rect l="l" t="t" r="r" b="b"/>
            <a:pathLst>
              <a:path w="18269967" h="10287000">
                <a:moveTo>
                  <a:pt x="0" y="0"/>
                </a:moveTo>
                <a:lnTo>
                  <a:pt x="18269967" y="0"/>
                </a:lnTo>
                <a:lnTo>
                  <a:pt x="1826996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007" t="-18869" r="-2610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2088381">
            <a:off x="6234676" y="5034634"/>
            <a:ext cx="7946576" cy="1601596"/>
            <a:chOff x="0" y="0"/>
            <a:chExt cx="3539030" cy="7132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39030" cy="713275"/>
            </a:xfrm>
            <a:custGeom>
              <a:avLst/>
              <a:gdLst/>
              <a:ahLst/>
              <a:cxnLst/>
              <a:rect l="l" t="t" r="r" b="b"/>
              <a:pathLst>
                <a:path w="3539030" h="713275">
                  <a:moveTo>
                    <a:pt x="203200" y="0"/>
                  </a:moveTo>
                  <a:lnTo>
                    <a:pt x="3539030" y="0"/>
                  </a:lnTo>
                  <a:lnTo>
                    <a:pt x="3335830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3335830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69839" y="905009"/>
            <a:ext cx="14248619" cy="8476983"/>
            <a:chOff x="0" y="0"/>
            <a:chExt cx="1024652" cy="60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24652" cy="609600"/>
            </a:xfrm>
            <a:custGeom>
              <a:avLst/>
              <a:gdLst/>
              <a:ahLst/>
              <a:cxnLst/>
              <a:rect l="l" t="t" r="r" b="b"/>
              <a:pathLst>
                <a:path w="1024652" h="609600">
                  <a:moveTo>
                    <a:pt x="821452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024652" y="609600"/>
                  </a:lnTo>
                  <a:lnTo>
                    <a:pt x="821452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82145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69839" y="7206282"/>
            <a:ext cx="13689960" cy="1554646"/>
            <a:chOff x="0" y="0"/>
            <a:chExt cx="5368038" cy="60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E9E1D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8711618">
            <a:off x="-4404721" y="9273126"/>
            <a:ext cx="7946576" cy="1601596"/>
            <a:chOff x="0" y="0"/>
            <a:chExt cx="3539030" cy="7132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39030" cy="713275"/>
            </a:xfrm>
            <a:custGeom>
              <a:avLst/>
              <a:gdLst/>
              <a:ahLst/>
              <a:cxnLst/>
              <a:rect l="l" t="t" r="r" b="b"/>
              <a:pathLst>
                <a:path w="3539030" h="713275">
                  <a:moveTo>
                    <a:pt x="203200" y="0"/>
                  </a:moveTo>
                  <a:lnTo>
                    <a:pt x="3539030" y="0"/>
                  </a:lnTo>
                  <a:lnTo>
                    <a:pt x="3335830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600" y="-38100"/>
              <a:ext cx="3335830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0960542" y="5835432"/>
            <a:ext cx="14248619" cy="8476983"/>
            <a:chOff x="0" y="0"/>
            <a:chExt cx="1024652" cy="609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24652" cy="609600"/>
            </a:xfrm>
            <a:custGeom>
              <a:avLst/>
              <a:gdLst/>
              <a:ahLst/>
              <a:cxnLst/>
              <a:rect l="l" t="t" r="r" b="b"/>
              <a:pathLst>
                <a:path w="1024652" h="609600">
                  <a:moveTo>
                    <a:pt x="821452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024652" y="609600"/>
                  </a:lnTo>
                  <a:lnTo>
                    <a:pt x="821452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1600" y="-38100"/>
              <a:ext cx="82145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-10792952" y="7148428"/>
            <a:ext cx="13689960" cy="1554646"/>
            <a:chOff x="0" y="0"/>
            <a:chExt cx="5368038" cy="60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E9E1D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4465119" y="6188374"/>
            <a:ext cx="3594103" cy="3278167"/>
          </a:xfrm>
          <a:custGeom>
            <a:avLst/>
            <a:gdLst/>
            <a:ahLst/>
            <a:cxnLst/>
            <a:rect l="l" t="t" r="r" b="b"/>
            <a:pathLst>
              <a:path w="3594103" h="3278167">
                <a:moveTo>
                  <a:pt x="0" y="0"/>
                </a:moveTo>
                <a:lnTo>
                  <a:pt x="3594103" y="0"/>
                </a:lnTo>
                <a:lnTo>
                  <a:pt x="3594103" y="3278167"/>
                </a:lnTo>
                <a:lnTo>
                  <a:pt x="0" y="3278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907" t="-19892" r="-58485" b="-11758"/>
            </a:stretch>
          </a:blipFill>
          <a:ln w="66675" cap="sq">
            <a:solidFill>
              <a:srgbClr val="E9E1D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599125" y="6188374"/>
            <a:ext cx="3573919" cy="3278167"/>
          </a:xfrm>
          <a:custGeom>
            <a:avLst/>
            <a:gdLst/>
            <a:ahLst/>
            <a:cxnLst/>
            <a:rect l="l" t="t" r="r" b="b"/>
            <a:pathLst>
              <a:path w="3573919" h="3278167">
                <a:moveTo>
                  <a:pt x="0" y="0"/>
                </a:moveTo>
                <a:lnTo>
                  <a:pt x="3573919" y="0"/>
                </a:lnTo>
                <a:lnTo>
                  <a:pt x="3573919" y="3278167"/>
                </a:lnTo>
                <a:lnTo>
                  <a:pt x="0" y="32781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522" t="-7633" r="-22120" b="-13397"/>
            </a:stretch>
          </a:blipFill>
          <a:ln w="66675" cap="sq">
            <a:solidFill>
              <a:srgbClr val="E9E1DB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8643168" y="3687694"/>
            <a:ext cx="9227147" cy="2556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884"/>
              </a:lnSpc>
            </a:pPr>
            <a:r>
              <a:rPr lang="en-US" sz="9884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WORKFORCE</a:t>
            </a:r>
          </a:p>
          <a:p>
            <a:pPr algn="r">
              <a:lnSpc>
                <a:spcPts val="9884"/>
              </a:lnSpc>
            </a:pPr>
            <a:r>
              <a:rPr lang="en-US" sz="9884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&amp;  HOUSING</a:t>
            </a:r>
          </a:p>
        </p:txBody>
      </p:sp>
      <p:sp>
        <p:nvSpPr>
          <p:cNvPr id="24" name="Freeform 24"/>
          <p:cNvSpPr/>
          <p:nvPr/>
        </p:nvSpPr>
        <p:spPr>
          <a:xfrm rot="-366654">
            <a:off x="10451432" y="4794956"/>
            <a:ext cx="1009927" cy="868538"/>
          </a:xfrm>
          <a:custGeom>
            <a:avLst/>
            <a:gdLst/>
            <a:ahLst/>
            <a:cxnLst/>
            <a:rect l="l" t="t" r="r" b="b"/>
            <a:pathLst>
              <a:path w="1009927" h="868538">
                <a:moveTo>
                  <a:pt x="0" y="0"/>
                </a:moveTo>
                <a:lnTo>
                  <a:pt x="1009927" y="0"/>
                </a:lnTo>
                <a:lnTo>
                  <a:pt x="1009927" y="868538"/>
                </a:lnTo>
                <a:lnTo>
                  <a:pt x="0" y="8685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 rot="5218294">
            <a:off x="10422857" y="5569052"/>
            <a:ext cx="1009927" cy="868538"/>
          </a:xfrm>
          <a:custGeom>
            <a:avLst/>
            <a:gdLst/>
            <a:ahLst/>
            <a:cxnLst/>
            <a:rect l="l" t="t" r="r" b="b"/>
            <a:pathLst>
              <a:path w="1009927" h="868538">
                <a:moveTo>
                  <a:pt x="0" y="0"/>
                </a:moveTo>
                <a:lnTo>
                  <a:pt x="1009927" y="0"/>
                </a:lnTo>
                <a:lnTo>
                  <a:pt x="1009927" y="868538"/>
                </a:lnTo>
                <a:lnTo>
                  <a:pt x="0" y="8685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9312464" y="6666421"/>
            <a:ext cx="8397585" cy="35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37"/>
              </a:lnSpc>
            </a:pPr>
            <a:r>
              <a:rPr lang="en-US" sz="230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Presented By : Riverside County Housing and Workforce Solutions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017112" y="1703018"/>
            <a:ext cx="6853203" cy="1794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838"/>
              </a:lnSpc>
            </a:pPr>
            <a:r>
              <a:rPr lang="en-US" sz="9884">
                <a:solidFill>
                  <a:srgbClr val="E9E1DB"/>
                </a:solidFill>
                <a:latin typeface="Maharlika"/>
                <a:ea typeface="Maharlika"/>
                <a:cs typeface="Maharlika"/>
                <a:sym typeface="Maharlika"/>
              </a:rPr>
              <a:t>Connecting</a:t>
            </a:r>
          </a:p>
        </p:txBody>
      </p:sp>
      <p:sp>
        <p:nvSpPr>
          <p:cNvPr id="28" name="Freeform 28"/>
          <p:cNvSpPr/>
          <p:nvPr/>
        </p:nvSpPr>
        <p:spPr>
          <a:xfrm>
            <a:off x="11007587" y="7206282"/>
            <a:ext cx="5683395" cy="1558197"/>
          </a:xfrm>
          <a:custGeom>
            <a:avLst/>
            <a:gdLst/>
            <a:ahLst/>
            <a:cxnLst/>
            <a:rect l="l" t="t" r="r" b="b"/>
            <a:pathLst>
              <a:path w="5683395" h="1558197">
                <a:moveTo>
                  <a:pt x="0" y="0"/>
                </a:moveTo>
                <a:lnTo>
                  <a:pt x="5683395" y="0"/>
                </a:lnTo>
                <a:lnTo>
                  <a:pt x="5683395" y="1558197"/>
                </a:lnTo>
                <a:lnTo>
                  <a:pt x="0" y="15581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1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2088381">
            <a:off x="14124082" y="6868717"/>
            <a:ext cx="6791151" cy="1601596"/>
            <a:chOff x="0" y="0"/>
            <a:chExt cx="3024458" cy="7132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655885" y="8710604"/>
            <a:ext cx="13689960" cy="1554646"/>
            <a:chOff x="0" y="0"/>
            <a:chExt cx="5368038" cy="609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4775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4837674" y="4988056"/>
            <a:ext cx="1505870" cy="1945952"/>
          </a:xfrm>
          <a:custGeom>
            <a:avLst/>
            <a:gdLst/>
            <a:ahLst/>
            <a:cxnLst/>
            <a:rect l="l" t="t" r="r" b="b"/>
            <a:pathLst>
              <a:path w="1505870" h="1945952">
                <a:moveTo>
                  <a:pt x="0" y="0"/>
                </a:moveTo>
                <a:lnTo>
                  <a:pt x="1505871" y="0"/>
                </a:lnTo>
                <a:lnTo>
                  <a:pt x="1505871" y="1945951"/>
                </a:lnTo>
                <a:lnTo>
                  <a:pt x="0" y="19459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502520" y="5091599"/>
            <a:ext cx="3901068" cy="1850540"/>
          </a:xfrm>
          <a:custGeom>
            <a:avLst/>
            <a:gdLst/>
            <a:ahLst/>
            <a:cxnLst/>
            <a:rect l="l" t="t" r="r" b="b"/>
            <a:pathLst>
              <a:path w="3901068" h="1850540">
                <a:moveTo>
                  <a:pt x="0" y="0"/>
                </a:moveTo>
                <a:lnTo>
                  <a:pt x="3901068" y="0"/>
                </a:lnTo>
                <a:lnTo>
                  <a:pt x="3901068" y="1850540"/>
                </a:lnTo>
                <a:lnTo>
                  <a:pt x="0" y="1850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66" t="-63391" b="-6294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8042608" y="5342944"/>
            <a:ext cx="4357290" cy="1326193"/>
            <a:chOff x="0" y="0"/>
            <a:chExt cx="5809721" cy="1768257"/>
          </a:xfrm>
        </p:grpSpPr>
        <p:sp>
          <p:nvSpPr>
            <p:cNvPr id="13" name="Freeform 13"/>
            <p:cNvSpPr/>
            <p:nvPr/>
          </p:nvSpPr>
          <p:spPr>
            <a:xfrm>
              <a:off x="490120" y="0"/>
              <a:ext cx="4788211" cy="1759668"/>
            </a:xfrm>
            <a:custGeom>
              <a:avLst/>
              <a:gdLst/>
              <a:ahLst/>
              <a:cxnLst/>
              <a:rect l="l" t="t" r="r" b="b"/>
              <a:pathLst>
                <a:path w="4788211" h="1759668">
                  <a:moveTo>
                    <a:pt x="0" y="0"/>
                  </a:moveTo>
                  <a:lnTo>
                    <a:pt x="4788211" y="0"/>
                  </a:lnTo>
                  <a:lnTo>
                    <a:pt x="4788211" y="1759668"/>
                  </a:lnTo>
                  <a:lnTo>
                    <a:pt x="0" y="1759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242066"/>
              <a:ext cx="5809721" cy="5261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3"/>
                </a:lnSpc>
              </a:pPr>
              <a:r>
                <a:rPr lang="en-US" sz="2713" b="1">
                  <a:solidFill>
                    <a:srgbClr val="1B2E9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HOMELESS SERVICES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9932" y="924687"/>
              <a:ext cx="4717832" cy="396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61"/>
                </a:lnSpc>
                <a:spcBef>
                  <a:spcPct val="0"/>
                </a:spcBef>
              </a:pPr>
              <a:r>
                <a:rPr lang="en-US" sz="1686" b="1">
                  <a:solidFill>
                    <a:srgbClr val="1B2E9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COUNTY OF RIVERSIDE OFFICE OF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515875" y="5091599"/>
            <a:ext cx="1822981" cy="1828883"/>
            <a:chOff x="0" y="0"/>
            <a:chExt cx="2430641" cy="2438510"/>
          </a:xfrm>
        </p:grpSpPr>
        <p:grpSp>
          <p:nvGrpSpPr>
            <p:cNvPr id="17" name="Group 17"/>
            <p:cNvGrpSpPr/>
            <p:nvPr/>
          </p:nvGrpSpPr>
          <p:grpSpPr>
            <a:xfrm>
              <a:off x="66276" y="57324"/>
              <a:ext cx="2323489" cy="2323489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0" y="0"/>
              <a:ext cx="2430641" cy="2438510"/>
            </a:xfrm>
            <a:custGeom>
              <a:avLst/>
              <a:gdLst/>
              <a:ahLst/>
              <a:cxnLst/>
              <a:rect l="l" t="t" r="r" b="b"/>
              <a:pathLst>
                <a:path w="2430641" h="2438510">
                  <a:moveTo>
                    <a:pt x="0" y="0"/>
                  </a:moveTo>
                  <a:lnTo>
                    <a:pt x="2430641" y="0"/>
                  </a:lnTo>
                  <a:lnTo>
                    <a:pt x="2430641" y="2438510"/>
                  </a:lnTo>
                  <a:lnTo>
                    <a:pt x="0" y="2438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32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Freeform 21"/>
          <p:cNvSpPr/>
          <p:nvPr/>
        </p:nvSpPr>
        <p:spPr>
          <a:xfrm>
            <a:off x="1627873" y="5218004"/>
            <a:ext cx="2671559" cy="1486055"/>
          </a:xfrm>
          <a:custGeom>
            <a:avLst/>
            <a:gdLst/>
            <a:ahLst/>
            <a:cxnLst/>
            <a:rect l="l" t="t" r="r" b="b"/>
            <a:pathLst>
              <a:path w="2671559" h="1486055">
                <a:moveTo>
                  <a:pt x="0" y="0"/>
                </a:moveTo>
                <a:lnTo>
                  <a:pt x="2671559" y="0"/>
                </a:lnTo>
                <a:lnTo>
                  <a:pt x="2671559" y="1486055"/>
                </a:lnTo>
                <a:lnTo>
                  <a:pt x="0" y="14860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5791200" y="1423911"/>
            <a:ext cx="7089218" cy="1943627"/>
            <a:chOff x="147780" y="116443"/>
            <a:chExt cx="9452291" cy="2591503"/>
          </a:xfrm>
        </p:grpSpPr>
        <p:grpSp>
          <p:nvGrpSpPr>
            <p:cNvPr id="23" name="Group 23"/>
            <p:cNvGrpSpPr/>
            <p:nvPr/>
          </p:nvGrpSpPr>
          <p:grpSpPr>
            <a:xfrm>
              <a:off x="604078" y="532785"/>
              <a:ext cx="1525933" cy="1525933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>
              <a:off x="147780" y="116443"/>
              <a:ext cx="9452291" cy="2591503"/>
            </a:xfrm>
            <a:custGeom>
              <a:avLst/>
              <a:gdLst/>
              <a:ahLst/>
              <a:cxnLst/>
              <a:rect l="l" t="t" r="r" b="b"/>
              <a:pathLst>
                <a:path w="9452291" h="2591503">
                  <a:moveTo>
                    <a:pt x="0" y="0"/>
                  </a:moveTo>
                  <a:lnTo>
                    <a:pt x="9452291" y="0"/>
                  </a:lnTo>
                  <a:lnTo>
                    <a:pt x="9452291" y="2591503"/>
                  </a:lnTo>
                  <a:lnTo>
                    <a:pt x="0" y="2591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7174" y="3833313"/>
            <a:ext cx="18221301" cy="907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4"/>
              </a:lnSpc>
            </a:pPr>
            <a:r>
              <a:rPr lang="en-US" sz="6864">
                <a:solidFill>
                  <a:srgbClr val="4874C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WHO WE ARE</a:t>
            </a:r>
          </a:p>
        </p:txBody>
      </p:sp>
      <p:grpSp>
        <p:nvGrpSpPr>
          <p:cNvPr id="28" name="Group 28"/>
          <p:cNvGrpSpPr/>
          <p:nvPr/>
        </p:nvGrpSpPr>
        <p:grpSpPr>
          <a:xfrm rot="2097018">
            <a:off x="-2405581" y="6796776"/>
            <a:ext cx="6135687" cy="1554646"/>
            <a:chOff x="0" y="0"/>
            <a:chExt cx="1615984" cy="40945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615984" cy="409454"/>
            </a:xfrm>
            <a:custGeom>
              <a:avLst/>
              <a:gdLst/>
              <a:ahLst/>
              <a:cxnLst/>
              <a:rect l="l" t="t" r="r" b="b"/>
              <a:pathLst>
                <a:path w="1615984" h="409454">
                  <a:moveTo>
                    <a:pt x="203200" y="0"/>
                  </a:moveTo>
                  <a:lnTo>
                    <a:pt x="1615984" y="0"/>
                  </a:lnTo>
                  <a:lnTo>
                    <a:pt x="1412784" y="409454"/>
                  </a:lnTo>
                  <a:lnTo>
                    <a:pt x="0" y="40945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600" y="-38100"/>
              <a:ext cx="1412784" cy="4475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-8998282" y="8710604"/>
            <a:ext cx="12610877" cy="1554646"/>
            <a:chOff x="0" y="0"/>
            <a:chExt cx="3321383" cy="40945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321383" cy="409454"/>
            </a:xfrm>
            <a:custGeom>
              <a:avLst/>
              <a:gdLst/>
              <a:ahLst/>
              <a:cxnLst/>
              <a:rect l="l" t="t" r="r" b="b"/>
              <a:pathLst>
                <a:path w="3321383" h="409454">
                  <a:moveTo>
                    <a:pt x="203200" y="0"/>
                  </a:moveTo>
                  <a:lnTo>
                    <a:pt x="3321383" y="0"/>
                  </a:lnTo>
                  <a:lnTo>
                    <a:pt x="3118183" y="409454"/>
                  </a:lnTo>
                  <a:lnTo>
                    <a:pt x="0" y="40945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874C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600" y="-38100"/>
              <a:ext cx="3118183" cy="4475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1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76420" y="7856529"/>
            <a:ext cx="1641873" cy="2379526"/>
          </a:xfrm>
          <a:custGeom>
            <a:avLst/>
            <a:gdLst/>
            <a:ahLst/>
            <a:cxnLst/>
            <a:rect l="l" t="t" r="r" b="b"/>
            <a:pathLst>
              <a:path w="1641873" h="2379526">
                <a:moveTo>
                  <a:pt x="0" y="0"/>
                </a:moveTo>
                <a:lnTo>
                  <a:pt x="1641873" y="0"/>
                </a:lnTo>
                <a:lnTo>
                  <a:pt x="1641873" y="2379526"/>
                </a:lnTo>
                <a:lnTo>
                  <a:pt x="0" y="2379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2088381">
            <a:off x="8326003" y="4755272"/>
            <a:ext cx="6791151" cy="1601596"/>
            <a:chOff x="0" y="0"/>
            <a:chExt cx="3024458" cy="7132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10988801" y="1204804"/>
            <a:ext cx="6032466" cy="7804385"/>
            <a:chOff x="0" y="0"/>
            <a:chExt cx="700940" cy="906828"/>
          </a:xfrm>
        </p:grpSpPr>
        <p:sp>
          <p:nvSpPr>
            <p:cNvPr id="7" name="Freeform 7"/>
            <p:cNvSpPr/>
            <p:nvPr/>
          </p:nvSpPr>
          <p:spPr>
            <a:xfrm rot="-5400000">
              <a:off x="-102944" y="102944"/>
              <a:ext cx="906828" cy="700940"/>
            </a:xfrm>
            <a:custGeom>
              <a:avLst/>
              <a:gdLst/>
              <a:ahLst/>
              <a:cxnLst/>
              <a:rect l="l" t="t" r="r" b="b"/>
              <a:pathLst>
                <a:path w="906828" h="700940">
                  <a:moveTo>
                    <a:pt x="906828" y="497740"/>
                  </a:moveTo>
                  <a:lnTo>
                    <a:pt x="906828" y="0"/>
                  </a:lnTo>
                  <a:lnTo>
                    <a:pt x="0" y="203200"/>
                  </a:lnTo>
                  <a:lnTo>
                    <a:pt x="0" y="700940"/>
                  </a:lnTo>
                  <a:lnTo>
                    <a:pt x="906828" y="497740"/>
                  </a:lnTo>
                  <a:close/>
                </a:path>
              </a:pathLst>
            </a:custGeom>
            <a:blipFill>
              <a:blip r:embed="rId4"/>
              <a:stretch>
                <a:fillRect l="-8117" r="-8117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11279195" y="-3148114"/>
            <a:ext cx="5451677" cy="7804385"/>
            <a:chOff x="0" y="0"/>
            <a:chExt cx="633456" cy="906828"/>
          </a:xfrm>
        </p:grpSpPr>
        <p:sp>
          <p:nvSpPr>
            <p:cNvPr id="9" name="Freeform 9"/>
            <p:cNvSpPr/>
            <p:nvPr/>
          </p:nvSpPr>
          <p:spPr>
            <a:xfrm rot="-5400000">
              <a:off x="-136686" y="136686"/>
              <a:ext cx="906828" cy="633456"/>
            </a:xfrm>
            <a:custGeom>
              <a:avLst/>
              <a:gdLst/>
              <a:ahLst/>
              <a:cxnLst/>
              <a:rect l="l" t="t" r="r" b="b"/>
              <a:pathLst>
                <a:path w="906828" h="633456">
                  <a:moveTo>
                    <a:pt x="906828" y="430256"/>
                  </a:moveTo>
                  <a:lnTo>
                    <a:pt x="906828" y="0"/>
                  </a:lnTo>
                  <a:lnTo>
                    <a:pt x="0" y="203200"/>
                  </a:lnTo>
                  <a:lnTo>
                    <a:pt x="0" y="633456"/>
                  </a:lnTo>
                  <a:lnTo>
                    <a:pt x="906828" y="430256"/>
                  </a:lnTo>
                  <a:close/>
                </a:path>
              </a:pathLst>
            </a:custGeom>
            <a:blipFill>
              <a:blip r:embed="rId5"/>
              <a:stretch>
                <a:fillRect l="-13744" r="-26662" b="-34036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857805" y="6597158"/>
            <a:ext cx="13689960" cy="1554646"/>
            <a:chOff x="0" y="0"/>
            <a:chExt cx="5368038" cy="609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4775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2279755" y="8161329"/>
            <a:ext cx="6196665" cy="2822578"/>
          </a:xfrm>
          <a:custGeom>
            <a:avLst/>
            <a:gdLst/>
            <a:ahLst/>
            <a:cxnLst/>
            <a:rect l="l" t="t" r="r" b="b"/>
            <a:pathLst>
              <a:path w="6196665" h="2822578">
                <a:moveTo>
                  <a:pt x="0" y="0"/>
                </a:moveTo>
                <a:lnTo>
                  <a:pt x="6196665" y="0"/>
                </a:lnTo>
                <a:lnTo>
                  <a:pt x="6196665" y="2822578"/>
                </a:lnTo>
                <a:lnTo>
                  <a:pt x="0" y="28225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3823" t="-91822" r="-51198" b="-9840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 rot="8711618">
            <a:off x="-1540159" y="9631219"/>
            <a:ext cx="5561336" cy="1311561"/>
            <a:chOff x="0" y="0"/>
            <a:chExt cx="3024458" cy="7132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10800000">
            <a:off x="-7625155" y="8161329"/>
            <a:ext cx="11210834" cy="1273114"/>
            <a:chOff x="0" y="0"/>
            <a:chExt cx="5368038" cy="609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4775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3440539" y="8161329"/>
            <a:ext cx="5116682" cy="2822578"/>
          </a:xfrm>
          <a:custGeom>
            <a:avLst/>
            <a:gdLst/>
            <a:ahLst/>
            <a:cxnLst/>
            <a:rect l="l" t="t" r="r" b="b"/>
            <a:pathLst>
              <a:path w="5116682" h="2822578">
                <a:moveTo>
                  <a:pt x="0" y="0"/>
                </a:moveTo>
                <a:lnTo>
                  <a:pt x="5116681" y="0"/>
                </a:lnTo>
                <a:lnTo>
                  <a:pt x="5116681" y="2822578"/>
                </a:lnTo>
                <a:lnTo>
                  <a:pt x="0" y="28225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4201" t="-91822" r="-60425" b="-984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019175" y="1564895"/>
            <a:ext cx="6375859" cy="1774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30"/>
              </a:lnSpc>
            </a:pPr>
            <a:r>
              <a:rPr lang="en-US" sz="6830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WORKFORCE</a:t>
            </a:r>
          </a:p>
          <a:p>
            <a:pPr algn="r">
              <a:lnSpc>
                <a:spcPts val="6830"/>
              </a:lnSpc>
            </a:pPr>
            <a:r>
              <a:rPr lang="en-US" sz="6830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&amp;  HOUSING</a:t>
            </a:r>
          </a:p>
        </p:txBody>
      </p:sp>
      <p:sp>
        <p:nvSpPr>
          <p:cNvPr id="22" name="Freeform 22"/>
          <p:cNvSpPr/>
          <p:nvPr/>
        </p:nvSpPr>
        <p:spPr>
          <a:xfrm rot="-366654">
            <a:off x="2268666" y="2337810"/>
            <a:ext cx="697849" cy="600150"/>
          </a:xfrm>
          <a:custGeom>
            <a:avLst/>
            <a:gdLst/>
            <a:ahLst/>
            <a:cxnLst/>
            <a:rect l="l" t="t" r="r" b="b"/>
            <a:pathLst>
              <a:path w="697849" h="600150">
                <a:moveTo>
                  <a:pt x="0" y="0"/>
                </a:moveTo>
                <a:lnTo>
                  <a:pt x="697849" y="0"/>
                </a:lnTo>
                <a:lnTo>
                  <a:pt x="697849" y="600150"/>
                </a:lnTo>
                <a:lnTo>
                  <a:pt x="0" y="6001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 rot="5218294">
            <a:off x="2248921" y="2872702"/>
            <a:ext cx="697849" cy="600150"/>
          </a:xfrm>
          <a:custGeom>
            <a:avLst/>
            <a:gdLst/>
            <a:ahLst/>
            <a:cxnLst/>
            <a:rect l="l" t="t" r="r" b="b"/>
            <a:pathLst>
              <a:path w="697849" h="600150">
                <a:moveTo>
                  <a:pt x="0" y="0"/>
                </a:moveTo>
                <a:lnTo>
                  <a:pt x="697849" y="0"/>
                </a:lnTo>
                <a:lnTo>
                  <a:pt x="697849" y="600150"/>
                </a:lnTo>
                <a:lnTo>
                  <a:pt x="0" y="6001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028700" y="4929451"/>
            <a:ext cx="7248744" cy="601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Employer incentive + job matching + homelessness resource awareness.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6079136"/>
            <a:ext cx="7248744" cy="601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Career coaching, supportive services and training for people experiencing homelessness or temporary housing.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4492645"/>
            <a:ext cx="6928212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EMPLOYER CONNECT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5632335"/>
            <a:ext cx="6928212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CSBG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19175" y="6846954"/>
            <a:ext cx="6928212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HOMELESS TO WORK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19175" y="7255184"/>
            <a:ext cx="7457245" cy="601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Transitional employment + community beautification + wrap-around support toward housing and permanent work.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14259" y="3658649"/>
            <a:ext cx="9088583" cy="637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01"/>
              </a:lnSpc>
            </a:pPr>
            <a:r>
              <a:rPr lang="en-US" sz="2476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RIVERSIDE COUNTY MODELS THAT CONNECT EMPLOYMENT,</a:t>
            </a:r>
          </a:p>
          <a:p>
            <a:pPr algn="just">
              <a:lnSpc>
                <a:spcPts val="2501"/>
              </a:lnSpc>
            </a:pPr>
            <a:r>
              <a:rPr lang="en-US" sz="2476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SUPPORTIVE SERVICES AND HOUSING STABILITY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62136" y="8674733"/>
            <a:ext cx="6928212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 COMMON THREAD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62136" y="9149656"/>
            <a:ext cx="7457245" cy="601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Meet people where they are — then connect employment, services and partners around a pathway forward.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659545" y="205321"/>
            <a:ext cx="4735490" cy="123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562"/>
              </a:lnSpc>
            </a:pPr>
            <a:r>
              <a:rPr lang="en-US" sz="6830">
                <a:solidFill>
                  <a:srgbClr val="66574D"/>
                </a:solidFill>
                <a:latin typeface="Maharlika"/>
                <a:ea typeface="Maharlika"/>
                <a:cs typeface="Maharlika"/>
                <a:sym typeface="Maharlika"/>
              </a:rPr>
              <a:t>Connecting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1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8711618">
            <a:off x="-680048" y="10165703"/>
            <a:ext cx="5561336" cy="1311561"/>
            <a:chOff x="0" y="0"/>
            <a:chExt cx="3024458" cy="7132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247383" y="0"/>
            <a:ext cx="5157515" cy="10287000"/>
            <a:chOff x="0" y="0"/>
            <a:chExt cx="599276" cy="11952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9276" cy="1195294"/>
            </a:xfrm>
            <a:custGeom>
              <a:avLst/>
              <a:gdLst/>
              <a:ahLst/>
              <a:cxnLst/>
              <a:rect l="l" t="t" r="r" b="b"/>
              <a:pathLst>
                <a:path w="599276" h="1195294">
                  <a:moveTo>
                    <a:pt x="396076" y="0"/>
                  </a:moveTo>
                  <a:lnTo>
                    <a:pt x="0" y="0"/>
                  </a:lnTo>
                  <a:lnTo>
                    <a:pt x="203200" y="1195294"/>
                  </a:lnTo>
                  <a:lnTo>
                    <a:pt x="599276" y="1195294"/>
                  </a:lnTo>
                  <a:lnTo>
                    <a:pt x="396076" y="0"/>
                  </a:lnTo>
                  <a:close/>
                </a:path>
              </a:pathLst>
            </a:custGeom>
            <a:blipFill>
              <a:blip r:embed="rId2"/>
              <a:stretch>
                <a:fillRect l="-155022" t="-10084" r="-13570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 rot="-2088381">
            <a:off x="13301183" y="5948118"/>
            <a:ext cx="6791151" cy="1601596"/>
            <a:chOff x="0" y="0"/>
            <a:chExt cx="3024458" cy="7132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923135" y="-780271"/>
            <a:ext cx="6308987" cy="10017664"/>
            <a:chOff x="0" y="0"/>
            <a:chExt cx="733070" cy="116399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3070" cy="1163999"/>
            </a:xfrm>
            <a:custGeom>
              <a:avLst/>
              <a:gdLst/>
              <a:ahLst/>
              <a:cxnLst/>
              <a:rect l="l" t="t" r="r" b="b"/>
              <a:pathLst>
                <a:path w="733070" h="1163999">
                  <a:moveTo>
                    <a:pt x="529870" y="0"/>
                  </a:moveTo>
                  <a:lnTo>
                    <a:pt x="0" y="0"/>
                  </a:lnTo>
                  <a:lnTo>
                    <a:pt x="203200" y="1163999"/>
                  </a:lnTo>
                  <a:lnTo>
                    <a:pt x="733070" y="1163999"/>
                  </a:lnTo>
                  <a:lnTo>
                    <a:pt x="529870" y="0"/>
                  </a:lnTo>
                  <a:close/>
                </a:path>
              </a:pathLst>
            </a:custGeom>
            <a:blipFill>
              <a:blip r:embed="rId3"/>
              <a:stretch>
                <a:fillRect l="-113384" r="-702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832985" y="7790004"/>
            <a:ext cx="13689960" cy="1554646"/>
            <a:chOff x="0" y="0"/>
            <a:chExt cx="5368038" cy="609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4775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563407" y="1042207"/>
            <a:ext cx="10439490" cy="1774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6864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EMPLOYER CONNECT PROGRAM</a:t>
            </a:r>
          </a:p>
        </p:txBody>
      </p:sp>
      <p:grpSp>
        <p:nvGrpSpPr>
          <p:cNvPr id="18" name="Group 18"/>
          <p:cNvGrpSpPr/>
          <p:nvPr/>
        </p:nvGrpSpPr>
        <p:grpSpPr>
          <a:xfrm rot="-10800000">
            <a:off x="-6765044" y="8695813"/>
            <a:ext cx="11210834" cy="1273114"/>
            <a:chOff x="0" y="0"/>
            <a:chExt cx="5368038" cy="60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4775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 rot="-366654">
            <a:off x="9177835" y="175588"/>
            <a:ext cx="1009927" cy="868538"/>
          </a:xfrm>
          <a:custGeom>
            <a:avLst/>
            <a:gdLst/>
            <a:ahLst/>
            <a:cxnLst/>
            <a:rect l="l" t="t" r="r" b="b"/>
            <a:pathLst>
              <a:path w="1009927" h="868538">
                <a:moveTo>
                  <a:pt x="0" y="0"/>
                </a:moveTo>
                <a:lnTo>
                  <a:pt x="1009928" y="0"/>
                </a:lnTo>
                <a:lnTo>
                  <a:pt x="1009928" y="868538"/>
                </a:lnTo>
                <a:lnTo>
                  <a:pt x="0" y="8685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4476482" y="8540453"/>
            <a:ext cx="9114130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AJCCs support recruitment and match employers with job seekers.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06888" y="5401983"/>
            <a:ext cx="9114130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Wage reimbursement helps offset the cost of a new hire.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06888" y="5017792"/>
            <a:ext cx="9114130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1. EMPLOYER INCENTIVE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067090" y="3048038"/>
            <a:ext cx="13075574" cy="37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7"/>
              </a:lnSpc>
            </a:pPr>
            <a:r>
              <a:rPr lang="en-US" sz="2399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BUSINESS-FACING WORKFORCE STRATEGY BUILDING COMMUNITY AWARENESS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078191" y="3542311"/>
            <a:ext cx="10806844" cy="601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0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UP TO $9,600 NEW-HIRE WAGE REIMBURSEMENT FOR ELIGIBLE EMPLOYERS</a:t>
            </a:r>
          </a:p>
          <a:p>
            <a:pPr algn="just">
              <a:lnSpc>
                <a:spcPts val="2300"/>
              </a:lnSpc>
            </a:pPr>
            <a:endParaRPr lang="en-US" sz="2300" b="1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476482" y="4285711"/>
            <a:ext cx="7241018" cy="523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HOW IT WORKS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476482" y="6438789"/>
            <a:ext cx="9114130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New hires complete training from the Office of Homeless Services.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476482" y="6057864"/>
            <a:ext cx="9114130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2. RESOURCE TRAINING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476482" y="7476342"/>
            <a:ext cx="9114130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Chambers help connect employers to the program.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76482" y="7087065"/>
            <a:ext cx="8052366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3. CHAMBER REFERRALS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476482" y="8151272"/>
            <a:ext cx="9114130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4. AJCC JOB MATCHING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0" t="-5781" r="-6780" b="-79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2088381">
            <a:off x="513524" y="6323034"/>
            <a:ext cx="7946576" cy="1601596"/>
            <a:chOff x="0" y="0"/>
            <a:chExt cx="3539030" cy="7132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39030" cy="713275"/>
            </a:xfrm>
            <a:custGeom>
              <a:avLst/>
              <a:gdLst/>
              <a:ahLst/>
              <a:cxnLst/>
              <a:rect l="l" t="t" r="r" b="b"/>
              <a:pathLst>
                <a:path w="3539030" h="713275">
                  <a:moveTo>
                    <a:pt x="203200" y="0"/>
                  </a:moveTo>
                  <a:lnTo>
                    <a:pt x="3539030" y="0"/>
                  </a:lnTo>
                  <a:lnTo>
                    <a:pt x="3335830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3335830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35880" y="1028700"/>
            <a:ext cx="16394051" cy="8476983"/>
            <a:chOff x="0" y="0"/>
            <a:chExt cx="1178935" cy="60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8935" cy="609600"/>
            </a:xfrm>
            <a:custGeom>
              <a:avLst/>
              <a:gdLst/>
              <a:ahLst/>
              <a:cxnLst/>
              <a:rect l="l" t="t" r="r" b="b"/>
              <a:pathLst>
                <a:path w="1178935" h="609600">
                  <a:moveTo>
                    <a:pt x="975735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178935" y="609600"/>
                  </a:lnTo>
                  <a:lnTo>
                    <a:pt x="975735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975735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8687" y="8494681"/>
            <a:ext cx="18998529" cy="1554646"/>
            <a:chOff x="0" y="0"/>
            <a:chExt cx="7449608" cy="60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449608" cy="609600"/>
            </a:xfrm>
            <a:custGeom>
              <a:avLst/>
              <a:gdLst/>
              <a:ahLst/>
              <a:cxnLst/>
              <a:rect l="l" t="t" r="r" b="b"/>
              <a:pathLst>
                <a:path w="7449608" h="609600">
                  <a:moveTo>
                    <a:pt x="724640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7449608" y="609600"/>
                  </a:lnTo>
                  <a:lnTo>
                    <a:pt x="7246408" y="0"/>
                  </a:lnTo>
                  <a:close/>
                </a:path>
              </a:pathLst>
            </a:custGeom>
            <a:solidFill>
              <a:srgbClr val="4775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724640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86344" y="5451603"/>
            <a:ext cx="4783494" cy="2859381"/>
            <a:chOff x="0" y="0"/>
            <a:chExt cx="6377992" cy="3812508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1827331"/>
              <a:ext cx="6377992" cy="1869550"/>
              <a:chOff x="0" y="0"/>
              <a:chExt cx="1259850" cy="36929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259850" cy="369294"/>
              </a:xfrm>
              <a:custGeom>
                <a:avLst/>
                <a:gdLst/>
                <a:ahLst/>
                <a:cxnLst/>
                <a:rect l="l" t="t" r="r" b="b"/>
                <a:pathLst>
                  <a:path w="1259850" h="369294">
                    <a:moveTo>
                      <a:pt x="0" y="0"/>
                    </a:moveTo>
                    <a:lnTo>
                      <a:pt x="1259850" y="0"/>
                    </a:lnTo>
                    <a:lnTo>
                      <a:pt x="1259850" y="369294"/>
                    </a:lnTo>
                    <a:lnTo>
                      <a:pt x="0" y="369294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259850" cy="407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683404" y="0"/>
              <a:ext cx="2924045" cy="2924045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2189247" y="266515"/>
              <a:ext cx="1912360" cy="1845428"/>
            </a:xfrm>
            <a:custGeom>
              <a:avLst/>
              <a:gdLst/>
              <a:ahLst/>
              <a:cxnLst/>
              <a:rect l="l" t="t" r="r" b="b"/>
              <a:pathLst>
                <a:path w="1912360" h="1845428">
                  <a:moveTo>
                    <a:pt x="0" y="0"/>
                  </a:moveTo>
                  <a:lnTo>
                    <a:pt x="1912360" y="0"/>
                  </a:lnTo>
                  <a:lnTo>
                    <a:pt x="1912360" y="1845428"/>
                  </a:lnTo>
                  <a:lnTo>
                    <a:pt x="0" y="1845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0746" y="2239190"/>
              <a:ext cx="5727299" cy="15733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300"/>
                </a:lnSpc>
              </a:pPr>
              <a:r>
                <a:rPr lang="en-US" sz="2300" spc="-64">
                  <a:solidFill>
                    <a:srgbClr val="3D373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Supportive services that help reduce practical barriers to participating in training and employment.</a:t>
              </a:r>
            </a:p>
            <a:p>
              <a:pPr algn="just">
                <a:lnSpc>
                  <a:spcPts val="2300"/>
                </a:lnSpc>
              </a:pPr>
              <a:endParaRPr lang="en-US" sz="2300" spc="-64">
                <a:solidFill>
                  <a:srgbClr val="3D37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058758" y="1527438"/>
            <a:ext cx="11460061" cy="2076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37"/>
              </a:lnSpc>
            </a:pPr>
            <a:r>
              <a:rPr lang="en-US" sz="6864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COMMUNITY SERVICES BLOCK GRANT     (CSBG)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97864" y="3732530"/>
            <a:ext cx="10757304" cy="601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00"/>
              </a:lnSpc>
            </a:pPr>
            <a:r>
              <a:rPr lang="en-US" sz="2300" b="1">
                <a:solidFill>
                  <a:srgbClr val="E9E1D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FLEXIBLE FUNDING THAT HELPS COMMUNITIES ADDRESS BARRIERS THAT MAKE IT HARDER FOR PEOPLE AND FAMILIES TO BECOME ECONOMICALLY STABLE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97864" y="4514850"/>
            <a:ext cx="1102581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00"/>
              </a:lnSpc>
            </a:pPr>
            <a:r>
              <a:rPr lang="en-US" sz="2300" b="1">
                <a:solidFill>
                  <a:srgbClr val="E9E1D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GIVES LOCAL COMMUNITIES FLEXIBILITY TO RESPOND TO THE NEEDS THEY SEE EVERY DAY INSTEAD OF LIMITING FUNDING TO ONE SPECIFIC TYPE OF SERVICE</a:t>
            </a:r>
          </a:p>
          <a:p>
            <a:pPr algn="just">
              <a:lnSpc>
                <a:spcPts val="2300"/>
              </a:lnSpc>
            </a:pPr>
            <a:endParaRPr lang="en-US" sz="2300" b="1">
              <a:solidFill>
                <a:srgbClr val="E9E1DB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1936907" y="5449570"/>
            <a:ext cx="4783494" cy="2846766"/>
            <a:chOff x="0" y="0"/>
            <a:chExt cx="6377992" cy="3795688"/>
          </a:xfrm>
        </p:grpSpPr>
        <p:grpSp>
          <p:nvGrpSpPr>
            <p:cNvPr id="25" name="Group 25"/>
            <p:cNvGrpSpPr/>
            <p:nvPr/>
          </p:nvGrpSpPr>
          <p:grpSpPr>
            <a:xfrm>
              <a:off x="1541137" y="0"/>
              <a:ext cx="2924045" cy="2924045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1830042"/>
              <a:ext cx="6377992" cy="1869550"/>
              <a:chOff x="0" y="0"/>
              <a:chExt cx="1259850" cy="369294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259850" cy="369294"/>
              </a:xfrm>
              <a:custGeom>
                <a:avLst/>
                <a:gdLst/>
                <a:ahLst/>
                <a:cxnLst/>
                <a:rect l="l" t="t" r="r" b="b"/>
                <a:pathLst>
                  <a:path w="1259850" h="369294">
                    <a:moveTo>
                      <a:pt x="0" y="0"/>
                    </a:moveTo>
                    <a:lnTo>
                      <a:pt x="1259850" y="0"/>
                    </a:lnTo>
                    <a:lnTo>
                      <a:pt x="1259850" y="369294"/>
                    </a:lnTo>
                    <a:lnTo>
                      <a:pt x="0" y="369294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259850" cy="407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314283" y="2222370"/>
              <a:ext cx="5632004" cy="15733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300"/>
                </a:lnSpc>
              </a:pPr>
              <a:r>
                <a:rPr lang="en-US" sz="2300">
                  <a:solidFill>
                    <a:srgbClr val="3D373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Training and skill development designed to strengthen readiness for employment opportunities.</a:t>
              </a:r>
            </a:p>
            <a:p>
              <a:pPr algn="just">
                <a:lnSpc>
                  <a:spcPts val="2300"/>
                </a:lnSpc>
              </a:pPr>
              <a:endParaRPr lang="en-US" sz="2300">
                <a:solidFill>
                  <a:srgbClr val="3D37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  <p:sp>
          <p:nvSpPr>
            <p:cNvPr id="32" name="Freeform 32"/>
            <p:cNvSpPr/>
            <p:nvPr/>
          </p:nvSpPr>
          <p:spPr>
            <a:xfrm>
              <a:off x="2120408" y="371255"/>
              <a:ext cx="1836817" cy="1708240"/>
            </a:xfrm>
            <a:custGeom>
              <a:avLst/>
              <a:gdLst/>
              <a:ahLst/>
              <a:cxnLst/>
              <a:rect l="l" t="t" r="r" b="b"/>
              <a:pathLst>
                <a:path w="1836817" h="1708240">
                  <a:moveTo>
                    <a:pt x="0" y="0"/>
                  </a:moveTo>
                  <a:lnTo>
                    <a:pt x="1836817" y="0"/>
                  </a:lnTo>
                  <a:lnTo>
                    <a:pt x="1836817" y="1708240"/>
                  </a:lnTo>
                  <a:lnTo>
                    <a:pt x="0" y="1708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42485" y="8929742"/>
            <a:ext cx="1573557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00"/>
              </a:lnSpc>
            </a:pPr>
            <a:r>
              <a:rPr lang="en-US" sz="2300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WHY IT MATTERS FOR WORKFORCE</a:t>
            </a:r>
          </a:p>
          <a:p>
            <a:pPr algn="just">
              <a:lnSpc>
                <a:spcPts val="2300"/>
              </a:lnSpc>
            </a:pPr>
            <a:r>
              <a:rPr lang="en-US" sz="2300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CSBG GIVES US ANOTHER TOOL TO ADDRESS BARRIERS THAT WORKFORCE FUNDING ALONE MAY NOT COVER.</a:t>
            </a:r>
          </a:p>
          <a:p>
            <a:pPr algn="just">
              <a:lnSpc>
                <a:spcPts val="2300"/>
              </a:lnSpc>
            </a:pPr>
            <a:endParaRPr lang="en-US" sz="2300" b="1">
              <a:solidFill>
                <a:srgbClr val="FFFFFF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grpSp>
        <p:nvGrpSpPr>
          <p:cNvPr id="34" name="Group 34"/>
          <p:cNvGrpSpPr/>
          <p:nvPr/>
        </p:nvGrpSpPr>
        <p:grpSpPr>
          <a:xfrm>
            <a:off x="1836150" y="5454969"/>
            <a:ext cx="4783494" cy="2850894"/>
            <a:chOff x="0" y="0"/>
            <a:chExt cx="6377992" cy="3801192"/>
          </a:xfrm>
        </p:grpSpPr>
        <p:grpSp>
          <p:nvGrpSpPr>
            <p:cNvPr id="35" name="Group 35"/>
            <p:cNvGrpSpPr/>
            <p:nvPr/>
          </p:nvGrpSpPr>
          <p:grpSpPr>
            <a:xfrm>
              <a:off x="1841047" y="0"/>
              <a:ext cx="2924045" cy="2924045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0" y="1822843"/>
              <a:ext cx="6377992" cy="1869550"/>
              <a:chOff x="0" y="0"/>
              <a:chExt cx="1259850" cy="369294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259850" cy="369294"/>
              </a:xfrm>
              <a:custGeom>
                <a:avLst/>
                <a:gdLst/>
                <a:ahLst/>
                <a:cxnLst/>
                <a:rect l="l" t="t" r="r" b="b"/>
                <a:pathLst>
                  <a:path w="1259850" h="369294">
                    <a:moveTo>
                      <a:pt x="0" y="0"/>
                    </a:moveTo>
                    <a:lnTo>
                      <a:pt x="1259850" y="0"/>
                    </a:lnTo>
                    <a:lnTo>
                      <a:pt x="1259850" y="369294"/>
                    </a:lnTo>
                    <a:lnTo>
                      <a:pt x="0" y="369294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1259850" cy="4073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1" name="Freeform 41"/>
            <p:cNvSpPr/>
            <p:nvPr/>
          </p:nvSpPr>
          <p:spPr>
            <a:xfrm>
              <a:off x="2478935" y="396653"/>
              <a:ext cx="1709953" cy="1809474"/>
            </a:xfrm>
            <a:custGeom>
              <a:avLst/>
              <a:gdLst/>
              <a:ahLst/>
              <a:cxnLst/>
              <a:rect l="l" t="t" r="r" b="b"/>
              <a:pathLst>
                <a:path w="1709953" h="1809474">
                  <a:moveTo>
                    <a:pt x="0" y="0"/>
                  </a:moveTo>
                  <a:lnTo>
                    <a:pt x="1709953" y="0"/>
                  </a:lnTo>
                  <a:lnTo>
                    <a:pt x="1709953" y="1809474"/>
                  </a:lnTo>
                  <a:lnTo>
                    <a:pt x="0" y="1809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4429" y="2227874"/>
              <a:ext cx="5669133" cy="15733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300"/>
                </a:lnSpc>
              </a:pPr>
              <a:r>
                <a:rPr lang="en-US" sz="2300">
                  <a:solidFill>
                    <a:srgbClr val="3D373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One-on-one guidance, career planning and navigation toward employment.</a:t>
              </a:r>
            </a:p>
            <a:p>
              <a:pPr algn="just">
                <a:lnSpc>
                  <a:spcPts val="2300"/>
                </a:lnSpc>
              </a:pPr>
              <a:endParaRPr lang="en-US" sz="2300">
                <a:solidFill>
                  <a:srgbClr val="3D37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43" name="Freeform 43"/>
          <p:cNvSpPr/>
          <p:nvPr/>
        </p:nvSpPr>
        <p:spPr>
          <a:xfrm rot="2295067">
            <a:off x="9793352" y="2221793"/>
            <a:ext cx="1009927" cy="868538"/>
          </a:xfrm>
          <a:custGeom>
            <a:avLst/>
            <a:gdLst/>
            <a:ahLst/>
            <a:cxnLst/>
            <a:rect l="l" t="t" r="r" b="b"/>
            <a:pathLst>
              <a:path w="1009927" h="868538">
                <a:moveTo>
                  <a:pt x="0" y="0"/>
                </a:moveTo>
                <a:lnTo>
                  <a:pt x="1009927" y="0"/>
                </a:lnTo>
                <a:lnTo>
                  <a:pt x="1009927" y="868538"/>
                </a:lnTo>
                <a:lnTo>
                  <a:pt x="0" y="8685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1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088381">
            <a:off x="11244785" y="6226548"/>
            <a:ext cx="6791151" cy="1601596"/>
            <a:chOff x="0" y="0"/>
            <a:chExt cx="3024458" cy="7132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3156094" y="3747998"/>
            <a:ext cx="6032466" cy="5698648"/>
            <a:chOff x="0" y="0"/>
            <a:chExt cx="700940" cy="662152"/>
          </a:xfrm>
        </p:grpSpPr>
        <p:sp>
          <p:nvSpPr>
            <p:cNvPr id="6" name="Freeform 6"/>
            <p:cNvSpPr/>
            <p:nvPr/>
          </p:nvSpPr>
          <p:spPr>
            <a:xfrm rot="-5400000">
              <a:off x="19394" y="-19394"/>
              <a:ext cx="662152" cy="700940"/>
            </a:xfrm>
            <a:custGeom>
              <a:avLst/>
              <a:gdLst/>
              <a:ahLst/>
              <a:cxnLst/>
              <a:rect l="l" t="t" r="r" b="b"/>
              <a:pathLst>
                <a:path w="662152" h="700940">
                  <a:moveTo>
                    <a:pt x="662152" y="497740"/>
                  </a:moveTo>
                  <a:lnTo>
                    <a:pt x="662152" y="0"/>
                  </a:lnTo>
                  <a:lnTo>
                    <a:pt x="0" y="203200"/>
                  </a:lnTo>
                  <a:lnTo>
                    <a:pt x="0" y="700940"/>
                  </a:lnTo>
                  <a:lnTo>
                    <a:pt x="662152" y="497740"/>
                  </a:lnTo>
                  <a:close/>
                </a:path>
              </a:pathLst>
            </a:custGeom>
            <a:blipFill>
              <a:blip r:embed="rId2"/>
              <a:stretch>
                <a:fillRect l="-50366" r="-37824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776587" y="8058909"/>
            <a:ext cx="13689960" cy="1554646"/>
            <a:chOff x="0" y="0"/>
            <a:chExt cx="5368038" cy="609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4775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14601009" y="-1235189"/>
            <a:ext cx="5347722" cy="6329185"/>
            <a:chOff x="0" y="0"/>
            <a:chExt cx="589422" cy="697598"/>
          </a:xfrm>
        </p:grpSpPr>
        <p:sp>
          <p:nvSpPr>
            <p:cNvPr id="11" name="Freeform 11"/>
            <p:cNvSpPr/>
            <p:nvPr/>
          </p:nvSpPr>
          <p:spPr>
            <a:xfrm rot="-5400000">
              <a:off x="-54088" y="54088"/>
              <a:ext cx="697598" cy="589422"/>
            </a:xfrm>
            <a:custGeom>
              <a:avLst/>
              <a:gdLst/>
              <a:ahLst/>
              <a:cxnLst/>
              <a:rect l="l" t="t" r="r" b="b"/>
              <a:pathLst>
                <a:path w="697598" h="589422">
                  <a:moveTo>
                    <a:pt x="697598" y="386222"/>
                  </a:moveTo>
                  <a:lnTo>
                    <a:pt x="697598" y="0"/>
                  </a:lnTo>
                  <a:lnTo>
                    <a:pt x="0" y="203200"/>
                  </a:lnTo>
                  <a:lnTo>
                    <a:pt x="0" y="589422"/>
                  </a:lnTo>
                  <a:lnTo>
                    <a:pt x="697598" y="386222"/>
                  </a:lnTo>
                  <a:close/>
                </a:path>
              </a:pathLst>
            </a:custGeom>
            <a:blipFill>
              <a:blip r:embed="rId3"/>
              <a:stretch>
                <a:fillRect l="-44208" t="-18980" r="-20762" b="-11184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3194044"/>
            <a:ext cx="9426128" cy="695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Participants experiencing homelessness — often living in encampments — gain transitional employment through County beautification projects.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779970"/>
            <a:ext cx="9252078" cy="695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Support is provided alongside work experience to help participants move toward housing and permanent employment.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2757238"/>
            <a:ext cx="6928212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PAID WORK EXPERIENCE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4333640"/>
            <a:ext cx="6928212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WRAP-AROUND SERVICES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1162050"/>
            <a:ext cx="12277171" cy="907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64"/>
              </a:lnSpc>
            </a:pPr>
            <a:r>
              <a:rPr lang="en-US" sz="6864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HOMELESS TO WORK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9175" y="5865573"/>
            <a:ext cx="6928212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 PATHWAY FORWARD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9175" y="6332095"/>
            <a:ext cx="9261603" cy="695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model combines immediate work experience with longer-term housing and employment goals.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2165418"/>
            <a:ext cx="13716450" cy="601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00"/>
              </a:lnSpc>
            </a:pPr>
            <a:r>
              <a:rPr lang="en-US" sz="2300" b="1" spc="-57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TRANSITIONAL EMPLOYMENT AS A BRIDGE TO STABILITY, HOUSING AND PERMANENT EMPLOYMENT</a:t>
            </a:r>
          </a:p>
          <a:p>
            <a:pPr algn="just">
              <a:lnSpc>
                <a:spcPts val="2300"/>
              </a:lnSpc>
            </a:pPr>
            <a:endParaRPr lang="en-US" sz="2300" b="1" spc="-57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00125" y="7447760"/>
            <a:ext cx="5306459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EXPANDING THE MODEL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00125" y="8001074"/>
            <a:ext cx="10612918" cy="19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Homeless Veterans + VASH</a:t>
            </a: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— New DOL grant serving homeless veterans in partnership with the Housing Authority’s VASH program.</a:t>
            </a:r>
          </a:p>
          <a:p>
            <a:pPr algn="l">
              <a:lnSpc>
                <a:spcPts val="1800"/>
              </a:lnSpc>
            </a:pPr>
            <a:endParaRPr lang="en-US" sz="230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276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Affordable Housing Outreach</a:t>
            </a: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— Workforce office hours at affordable housing development sites.</a:t>
            </a:r>
          </a:p>
          <a:p>
            <a:pPr algn="l">
              <a:lnSpc>
                <a:spcPts val="2760"/>
              </a:lnSpc>
            </a:pPr>
            <a:endParaRPr lang="en-US" sz="230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2" name="Freeform 22"/>
          <p:cNvSpPr/>
          <p:nvPr/>
        </p:nvSpPr>
        <p:spPr>
          <a:xfrm rot="-651263">
            <a:off x="10312531" y="400957"/>
            <a:ext cx="1009927" cy="868538"/>
          </a:xfrm>
          <a:custGeom>
            <a:avLst/>
            <a:gdLst/>
            <a:ahLst/>
            <a:cxnLst/>
            <a:rect l="l" t="t" r="r" b="b"/>
            <a:pathLst>
              <a:path w="1009927" h="868538">
                <a:moveTo>
                  <a:pt x="0" y="0"/>
                </a:moveTo>
                <a:lnTo>
                  <a:pt x="1009927" y="0"/>
                </a:lnTo>
                <a:lnTo>
                  <a:pt x="1009927" y="868537"/>
                </a:lnTo>
                <a:lnTo>
                  <a:pt x="0" y="868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8001804" y="2669477"/>
            <a:ext cx="28778041" cy="7747264"/>
            <a:chOff x="0" y="0"/>
            <a:chExt cx="2069497" cy="55712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69497" cy="557124"/>
            </a:xfrm>
            <a:custGeom>
              <a:avLst/>
              <a:gdLst/>
              <a:ahLst/>
              <a:cxnLst/>
              <a:rect l="l" t="t" r="r" b="b"/>
              <a:pathLst>
                <a:path w="2069497" h="557124">
                  <a:moveTo>
                    <a:pt x="1866297" y="0"/>
                  </a:moveTo>
                  <a:lnTo>
                    <a:pt x="0" y="0"/>
                  </a:lnTo>
                  <a:lnTo>
                    <a:pt x="203200" y="557124"/>
                  </a:lnTo>
                  <a:lnTo>
                    <a:pt x="2069497" y="557124"/>
                  </a:lnTo>
                  <a:lnTo>
                    <a:pt x="1866297" y="0"/>
                  </a:lnTo>
                  <a:close/>
                </a:path>
              </a:pathLst>
            </a:custGeom>
            <a:solidFill>
              <a:srgbClr val="E9E1D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1866297" cy="595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07118" y="3175548"/>
            <a:ext cx="3947547" cy="2215105"/>
            <a:chOff x="0" y="0"/>
            <a:chExt cx="5263396" cy="2953473"/>
          </a:xfrm>
        </p:grpSpPr>
        <p:grpSp>
          <p:nvGrpSpPr>
            <p:cNvPr id="7" name="Group 7"/>
            <p:cNvGrpSpPr/>
            <p:nvPr/>
          </p:nvGrpSpPr>
          <p:grpSpPr>
            <a:xfrm>
              <a:off x="1165114" y="0"/>
              <a:ext cx="2210605" cy="2210605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8405" tIns="38405" rIns="38405" bIns="3840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1383529"/>
              <a:ext cx="4821821" cy="1413397"/>
              <a:chOff x="0" y="0"/>
              <a:chExt cx="1259850" cy="36929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259850" cy="369294"/>
              </a:xfrm>
              <a:custGeom>
                <a:avLst/>
                <a:gdLst/>
                <a:ahLst/>
                <a:cxnLst/>
                <a:rect l="l" t="t" r="r" b="b"/>
                <a:pathLst>
                  <a:path w="1259850" h="369294">
                    <a:moveTo>
                      <a:pt x="0" y="0"/>
                    </a:moveTo>
                    <a:lnTo>
                      <a:pt x="1259850" y="0"/>
                    </a:lnTo>
                    <a:lnTo>
                      <a:pt x="1259850" y="369294"/>
                    </a:lnTo>
                    <a:lnTo>
                      <a:pt x="0" y="369294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259850" cy="407394"/>
              </a:xfrm>
              <a:prstGeom prst="rect">
                <a:avLst/>
              </a:prstGeom>
            </p:spPr>
            <p:txBody>
              <a:bodyPr lIns="38405" tIns="38405" rIns="38405" bIns="3840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74875" y="1665373"/>
              <a:ext cx="5088521" cy="1288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99"/>
                </a:lnSpc>
              </a:pPr>
              <a:r>
                <a:rPr lang="en-US" sz="3999" b="1" dirty="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$3.6 Million</a:t>
              </a:r>
            </a:p>
            <a:p>
              <a:pPr algn="just">
                <a:lnSpc>
                  <a:spcPts val="1738"/>
                </a:lnSpc>
              </a:pPr>
              <a:r>
                <a:rPr lang="en-US" sz="1738" spc="-69" dirty="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Reimbursed to participating businesses</a:t>
              </a:r>
            </a:p>
            <a:p>
              <a:pPr algn="just">
                <a:lnSpc>
                  <a:spcPts val="1738"/>
                </a:lnSpc>
              </a:pPr>
              <a:endParaRPr lang="en-US" sz="1738" spc="-6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  <p:sp>
          <p:nvSpPr>
            <p:cNvPr id="14" name="Freeform 14"/>
            <p:cNvSpPr/>
            <p:nvPr/>
          </p:nvSpPr>
          <p:spPr>
            <a:xfrm>
              <a:off x="1694672" y="404961"/>
              <a:ext cx="1151489" cy="1093914"/>
            </a:xfrm>
            <a:custGeom>
              <a:avLst/>
              <a:gdLst/>
              <a:ahLst/>
              <a:cxnLst/>
              <a:rect l="l" t="t" r="r" b="b"/>
              <a:pathLst>
                <a:path w="1151489" h="1093914">
                  <a:moveTo>
                    <a:pt x="0" y="0"/>
                  </a:moveTo>
                  <a:lnTo>
                    <a:pt x="1151489" y="0"/>
                  </a:lnTo>
                  <a:lnTo>
                    <a:pt x="1151489" y="1093914"/>
                  </a:lnTo>
                  <a:lnTo>
                    <a:pt x="0" y="1093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588845" y="3177085"/>
            <a:ext cx="3616366" cy="2442242"/>
            <a:chOff x="0" y="0"/>
            <a:chExt cx="4821821" cy="3256323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1381479"/>
              <a:ext cx="4821821" cy="1413397"/>
              <a:chOff x="0" y="0"/>
              <a:chExt cx="1259850" cy="36929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59850" cy="369294"/>
              </a:xfrm>
              <a:custGeom>
                <a:avLst/>
                <a:gdLst/>
                <a:ahLst/>
                <a:cxnLst/>
                <a:rect l="l" t="t" r="r" b="b"/>
                <a:pathLst>
                  <a:path w="1259850" h="369294">
                    <a:moveTo>
                      <a:pt x="0" y="0"/>
                    </a:moveTo>
                    <a:lnTo>
                      <a:pt x="1259850" y="0"/>
                    </a:lnTo>
                    <a:lnTo>
                      <a:pt x="1259850" y="369294"/>
                    </a:lnTo>
                    <a:lnTo>
                      <a:pt x="0" y="369294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259850" cy="407394"/>
              </a:xfrm>
              <a:prstGeom prst="rect">
                <a:avLst/>
              </a:prstGeom>
            </p:spPr>
            <p:txBody>
              <a:bodyPr lIns="38405" tIns="38405" rIns="38405" bIns="3840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272669" y="0"/>
              <a:ext cx="2210605" cy="2210605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8405" tIns="38405" rIns="38405" bIns="3840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1655091" y="201488"/>
              <a:ext cx="1445762" cy="1395160"/>
            </a:xfrm>
            <a:custGeom>
              <a:avLst/>
              <a:gdLst/>
              <a:ahLst/>
              <a:cxnLst/>
              <a:rect l="l" t="t" r="r" b="b"/>
              <a:pathLst>
                <a:path w="1445762" h="1395160">
                  <a:moveTo>
                    <a:pt x="0" y="0"/>
                  </a:moveTo>
                  <a:lnTo>
                    <a:pt x="1445762" y="0"/>
                  </a:lnTo>
                  <a:lnTo>
                    <a:pt x="1445762" y="1395161"/>
                  </a:lnTo>
                  <a:lnTo>
                    <a:pt x="0" y="1395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3026" y="1676024"/>
              <a:ext cx="4329891" cy="15802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99"/>
                </a:lnSpc>
              </a:pPr>
              <a:r>
                <a:rPr lang="en-US" sz="3999" b="1" spc="-111" dirty="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400</a:t>
              </a:r>
            </a:p>
            <a:p>
              <a:pPr algn="just">
                <a:lnSpc>
                  <a:spcPts val="1738"/>
                </a:lnSpc>
              </a:pPr>
              <a:r>
                <a:rPr lang="en-US" sz="1738" spc="69" dirty="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Employer Connect participants</a:t>
              </a:r>
            </a:p>
            <a:p>
              <a:pPr algn="just">
                <a:lnSpc>
                  <a:spcPts val="1738"/>
                </a:lnSpc>
              </a:pPr>
              <a:endParaRPr lang="en-US" sz="1738" spc="6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  <a:p>
              <a:pPr algn="just">
                <a:lnSpc>
                  <a:spcPts val="1738"/>
                </a:lnSpc>
              </a:pPr>
              <a:endParaRPr lang="en-US" sz="1738" spc="6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770851" y="3179629"/>
            <a:ext cx="3616366" cy="2093613"/>
            <a:chOff x="0" y="0"/>
            <a:chExt cx="4821821" cy="2791484"/>
          </a:xfrm>
        </p:grpSpPr>
        <p:grpSp>
          <p:nvGrpSpPr>
            <p:cNvPr id="25" name="Group 25"/>
            <p:cNvGrpSpPr/>
            <p:nvPr/>
          </p:nvGrpSpPr>
          <p:grpSpPr>
            <a:xfrm>
              <a:off x="1391848" y="0"/>
              <a:ext cx="2210605" cy="2210605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8405" tIns="38405" rIns="38405" bIns="3840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1378087"/>
              <a:ext cx="4821821" cy="1413397"/>
              <a:chOff x="0" y="0"/>
              <a:chExt cx="1259850" cy="369294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259850" cy="369294"/>
              </a:xfrm>
              <a:custGeom>
                <a:avLst/>
                <a:gdLst/>
                <a:ahLst/>
                <a:cxnLst/>
                <a:rect l="l" t="t" r="r" b="b"/>
                <a:pathLst>
                  <a:path w="1259850" h="369294">
                    <a:moveTo>
                      <a:pt x="0" y="0"/>
                    </a:moveTo>
                    <a:lnTo>
                      <a:pt x="1259850" y="0"/>
                    </a:lnTo>
                    <a:lnTo>
                      <a:pt x="1259850" y="369294"/>
                    </a:lnTo>
                    <a:lnTo>
                      <a:pt x="0" y="369294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259850" cy="407394"/>
              </a:xfrm>
              <a:prstGeom prst="rect">
                <a:avLst/>
              </a:prstGeom>
            </p:spPr>
            <p:txBody>
              <a:bodyPr lIns="38405" tIns="38405" rIns="38405" bIns="3840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1720171" y="316037"/>
              <a:ext cx="1445164" cy="1264519"/>
            </a:xfrm>
            <a:custGeom>
              <a:avLst/>
              <a:gdLst/>
              <a:ahLst/>
              <a:cxnLst/>
              <a:rect l="l" t="t" r="r" b="b"/>
              <a:pathLst>
                <a:path w="1445164" h="1264519">
                  <a:moveTo>
                    <a:pt x="0" y="0"/>
                  </a:moveTo>
                  <a:lnTo>
                    <a:pt x="1445165" y="0"/>
                  </a:lnTo>
                  <a:lnTo>
                    <a:pt x="1445165" y="1264519"/>
                  </a:lnTo>
                  <a:lnTo>
                    <a:pt x="0" y="1264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8597" y="1672631"/>
              <a:ext cx="4285918" cy="9959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99"/>
                </a:lnSpc>
              </a:pPr>
              <a:r>
                <a:rPr lang="en-US" sz="3999" b="1" dirty="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400</a:t>
              </a:r>
            </a:p>
            <a:p>
              <a:pPr algn="just">
                <a:lnSpc>
                  <a:spcPts val="1738"/>
                </a:lnSpc>
              </a:pPr>
              <a:r>
                <a:rPr lang="en-US" sz="1738" spc="86" dirty="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Employer Connect employers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4223508" y="3175548"/>
            <a:ext cx="3837584" cy="2205580"/>
            <a:chOff x="0" y="0"/>
            <a:chExt cx="5116779" cy="2940773"/>
          </a:xfrm>
        </p:grpSpPr>
        <p:grpSp>
          <p:nvGrpSpPr>
            <p:cNvPr id="34" name="Group 34"/>
            <p:cNvGrpSpPr/>
            <p:nvPr/>
          </p:nvGrpSpPr>
          <p:grpSpPr>
            <a:xfrm>
              <a:off x="1165114" y="0"/>
              <a:ext cx="2210605" cy="2210605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8405" tIns="38405" rIns="38405" bIns="3840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0" y="1383529"/>
              <a:ext cx="4821821" cy="1413397"/>
              <a:chOff x="0" y="0"/>
              <a:chExt cx="1259850" cy="369294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259850" cy="369294"/>
              </a:xfrm>
              <a:custGeom>
                <a:avLst/>
                <a:gdLst/>
                <a:ahLst/>
                <a:cxnLst/>
                <a:rect l="l" t="t" r="r" b="b"/>
                <a:pathLst>
                  <a:path w="1259850" h="369294">
                    <a:moveTo>
                      <a:pt x="0" y="0"/>
                    </a:moveTo>
                    <a:lnTo>
                      <a:pt x="1259850" y="0"/>
                    </a:lnTo>
                    <a:lnTo>
                      <a:pt x="1259850" y="369294"/>
                    </a:lnTo>
                    <a:lnTo>
                      <a:pt x="0" y="369294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1259850" cy="407394"/>
              </a:xfrm>
              <a:prstGeom prst="rect">
                <a:avLst/>
              </a:prstGeom>
            </p:spPr>
            <p:txBody>
              <a:bodyPr lIns="38405" tIns="38405" rIns="38405" bIns="38405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0" name="Freeform 40"/>
            <p:cNvSpPr/>
            <p:nvPr/>
          </p:nvSpPr>
          <p:spPr>
            <a:xfrm>
              <a:off x="1494078" y="353519"/>
              <a:ext cx="1552677" cy="1319776"/>
            </a:xfrm>
            <a:custGeom>
              <a:avLst/>
              <a:gdLst/>
              <a:ahLst/>
              <a:cxnLst/>
              <a:rect l="l" t="t" r="r" b="b"/>
              <a:pathLst>
                <a:path w="1552677" h="1319776">
                  <a:moveTo>
                    <a:pt x="0" y="0"/>
                  </a:moveTo>
                  <a:lnTo>
                    <a:pt x="1552677" y="0"/>
                  </a:lnTo>
                  <a:lnTo>
                    <a:pt x="1552677" y="1319776"/>
                  </a:lnTo>
                  <a:lnTo>
                    <a:pt x="0" y="131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77800" y="1652673"/>
              <a:ext cx="4938979" cy="1288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99"/>
                </a:lnSpc>
              </a:pPr>
              <a:r>
                <a:rPr lang="en-US" sz="3999" b="1" dirty="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$9,600</a:t>
              </a:r>
            </a:p>
            <a:p>
              <a:pPr algn="just">
                <a:lnSpc>
                  <a:spcPts val="1738"/>
                </a:lnSpc>
              </a:pPr>
              <a:r>
                <a:rPr lang="en-US" sz="1738" spc="-69" dirty="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Eligible new-hire wage reimbursement</a:t>
              </a:r>
            </a:p>
            <a:p>
              <a:pPr algn="just">
                <a:lnSpc>
                  <a:spcPts val="1738"/>
                </a:lnSpc>
              </a:pPr>
              <a:endParaRPr lang="en-US" sz="1738" spc="-69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3009519" y="6353875"/>
            <a:ext cx="5864156" cy="241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00"/>
              </a:lnSpc>
            </a:pPr>
            <a:r>
              <a:rPr lang="en-US" sz="2300" spc="-115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Connected residents to employment, training, supportive services, and economic opportunity.</a:t>
            </a:r>
          </a:p>
          <a:p>
            <a:pPr algn="just">
              <a:lnSpc>
                <a:spcPts val="1500"/>
              </a:lnSpc>
            </a:pPr>
            <a:endParaRPr lang="en-US" sz="2300" spc="-115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just">
              <a:lnSpc>
                <a:spcPts val="2300"/>
              </a:lnSpc>
            </a:pPr>
            <a:r>
              <a:rPr lang="en-US" sz="2300" spc="-115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Expanded employer engagement and strengthened connections between businesses and local talent.</a:t>
            </a:r>
          </a:p>
          <a:p>
            <a:pPr algn="just">
              <a:lnSpc>
                <a:spcPts val="1500"/>
              </a:lnSpc>
            </a:pPr>
            <a:endParaRPr lang="en-US" sz="2300" spc="-115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just">
              <a:lnSpc>
                <a:spcPts val="2300"/>
              </a:lnSpc>
            </a:pPr>
            <a:r>
              <a:rPr lang="en-US" sz="2300" spc="-115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Used multiple programs and funding streams to address barriers to employment and stability.</a:t>
            </a:r>
          </a:p>
          <a:p>
            <a:pPr algn="just">
              <a:lnSpc>
                <a:spcPts val="2300"/>
              </a:lnSpc>
            </a:pPr>
            <a:endParaRPr lang="en-US" sz="2300" spc="-115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grpSp>
        <p:nvGrpSpPr>
          <p:cNvPr id="43" name="Group 43"/>
          <p:cNvGrpSpPr/>
          <p:nvPr/>
        </p:nvGrpSpPr>
        <p:grpSpPr>
          <a:xfrm rot="8711618">
            <a:off x="-3240304" y="9507598"/>
            <a:ext cx="6791151" cy="1601596"/>
            <a:chOff x="0" y="0"/>
            <a:chExt cx="3024458" cy="71327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 rot="5400000">
            <a:off x="-4446295" y="4953054"/>
            <a:ext cx="9835071" cy="3913423"/>
            <a:chOff x="0" y="0"/>
            <a:chExt cx="1005540" cy="400109"/>
          </a:xfrm>
        </p:grpSpPr>
        <p:sp>
          <p:nvSpPr>
            <p:cNvPr id="47" name="Freeform 47"/>
            <p:cNvSpPr/>
            <p:nvPr/>
          </p:nvSpPr>
          <p:spPr>
            <a:xfrm rot="-5400000">
              <a:off x="302715" y="-302715"/>
              <a:ext cx="400109" cy="1005540"/>
            </a:xfrm>
            <a:custGeom>
              <a:avLst/>
              <a:gdLst/>
              <a:ahLst/>
              <a:cxnLst/>
              <a:rect l="l" t="t" r="r" b="b"/>
              <a:pathLst>
                <a:path w="400109" h="1005540">
                  <a:moveTo>
                    <a:pt x="400110" y="802340"/>
                  </a:moveTo>
                  <a:lnTo>
                    <a:pt x="400110" y="0"/>
                  </a:lnTo>
                  <a:lnTo>
                    <a:pt x="0" y="203200"/>
                  </a:lnTo>
                  <a:lnTo>
                    <a:pt x="0" y="1005540"/>
                  </a:lnTo>
                  <a:lnTo>
                    <a:pt x="400110" y="802340"/>
                  </a:lnTo>
                  <a:close/>
                </a:path>
              </a:pathLst>
            </a:custGeom>
            <a:blipFill>
              <a:blip r:embed="rId11"/>
              <a:stretch>
                <a:fillRect l="-117892" r="-231288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Freeform 48"/>
          <p:cNvSpPr/>
          <p:nvPr/>
        </p:nvSpPr>
        <p:spPr>
          <a:xfrm>
            <a:off x="0" y="-15333"/>
            <a:ext cx="18288000" cy="2684810"/>
          </a:xfrm>
          <a:custGeom>
            <a:avLst/>
            <a:gdLst/>
            <a:ahLst/>
            <a:cxnLst/>
            <a:rect l="l" t="t" r="r" b="b"/>
            <a:pathLst>
              <a:path w="18288000" h="2684810">
                <a:moveTo>
                  <a:pt x="0" y="0"/>
                </a:moveTo>
                <a:lnTo>
                  <a:pt x="18288000" y="0"/>
                </a:lnTo>
                <a:lnTo>
                  <a:pt x="18288000" y="2684810"/>
                </a:lnTo>
                <a:lnTo>
                  <a:pt x="0" y="26848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24000"/>
            </a:blip>
            <a:stretch>
              <a:fillRect l="-270" t="-22152" r="-6780" b="-28619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9" name="Group 49"/>
          <p:cNvGrpSpPr/>
          <p:nvPr/>
        </p:nvGrpSpPr>
        <p:grpSpPr>
          <a:xfrm rot="-10800000">
            <a:off x="-10670916" y="7712661"/>
            <a:ext cx="13689960" cy="1554646"/>
            <a:chOff x="0" y="0"/>
            <a:chExt cx="5368038" cy="6096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4775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9646137" y="6279106"/>
            <a:ext cx="8119680" cy="23884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795"/>
              </a:lnSpc>
            </a:pPr>
            <a:r>
              <a:rPr lang="en-US" sz="2300" spc="-92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325 individuals experiencing homelessness connected to employment</a:t>
            </a:r>
          </a:p>
          <a:p>
            <a:pPr algn="just">
              <a:lnSpc>
                <a:spcPts val="3795"/>
              </a:lnSpc>
            </a:pPr>
            <a:r>
              <a:rPr lang="en-US" sz="2300" spc="-92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1,057 total participants served and placed into training or employment</a:t>
            </a:r>
          </a:p>
          <a:p>
            <a:pPr algn="just">
              <a:lnSpc>
                <a:spcPts val="3795"/>
              </a:lnSpc>
            </a:pPr>
            <a:r>
              <a:rPr lang="en-US" sz="2300" spc="-92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856 employers </a:t>
            </a:r>
            <a:r>
              <a:rPr lang="en-US" sz="2300" spc="-92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and community partners engaged and are                                                                                                                    administering grant-funded programs</a:t>
            </a:r>
          </a:p>
          <a:p>
            <a:pPr algn="just">
              <a:lnSpc>
                <a:spcPts val="3795"/>
              </a:lnSpc>
            </a:pPr>
            <a:endParaRPr lang="en-US" sz="2300" spc="-92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2999994" y="5851826"/>
            <a:ext cx="3985119" cy="798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COMMUNITY OUTCOMES</a:t>
            </a:r>
          </a:p>
          <a:p>
            <a:pPr algn="just">
              <a:lnSpc>
                <a:spcPts val="3220"/>
              </a:lnSpc>
            </a:pPr>
            <a:endParaRPr lang="en-US" sz="2300" b="1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9646137" y="5851826"/>
            <a:ext cx="4467539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HWS-WIDE METRICS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547434" y="8978330"/>
            <a:ext cx="1329650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00"/>
              </a:lnSpc>
            </a:pPr>
            <a:r>
              <a:rPr lang="en-US" sz="23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Key message: measure success by participant stability, employment connections, employer engagement, and stronger community delivery capacity.</a:t>
            </a:r>
          </a:p>
          <a:p>
            <a:pPr algn="just">
              <a:lnSpc>
                <a:spcPts val="2300"/>
              </a:lnSpc>
            </a:pPr>
            <a:endParaRPr lang="en-US" sz="23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214338" y="1253512"/>
            <a:ext cx="16532210" cy="907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6864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OUTCOMES &amp; COMMUNITY 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1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088381">
            <a:off x="14523570" y="6413973"/>
            <a:ext cx="6791151" cy="1601596"/>
            <a:chOff x="0" y="0"/>
            <a:chExt cx="3024458" cy="7132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6690683" y="2582335"/>
            <a:ext cx="6032466" cy="7804385"/>
            <a:chOff x="0" y="0"/>
            <a:chExt cx="700940" cy="906828"/>
          </a:xfrm>
        </p:grpSpPr>
        <p:sp>
          <p:nvSpPr>
            <p:cNvPr id="6" name="Freeform 6"/>
            <p:cNvSpPr/>
            <p:nvPr/>
          </p:nvSpPr>
          <p:spPr>
            <a:xfrm rot="-5400000">
              <a:off x="-102944" y="102944"/>
              <a:ext cx="906828" cy="700940"/>
            </a:xfrm>
            <a:custGeom>
              <a:avLst/>
              <a:gdLst/>
              <a:ahLst/>
              <a:cxnLst/>
              <a:rect l="l" t="t" r="r" b="b"/>
              <a:pathLst>
                <a:path w="906828" h="700940">
                  <a:moveTo>
                    <a:pt x="906828" y="497740"/>
                  </a:moveTo>
                  <a:lnTo>
                    <a:pt x="906828" y="0"/>
                  </a:lnTo>
                  <a:lnTo>
                    <a:pt x="0" y="203200"/>
                  </a:lnTo>
                  <a:lnTo>
                    <a:pt x="0" y="700940"/>
                  </a:lnTo>
                  <a:lnTo>
                    <a:pt x="906828" y="497740"/>
                  </a:lnTo>
                  <a:close/>
                </a:path>
              </a:pathLst>
            </a:custGeom>
            <a:blipFill>
              <a:blip r:embed="rId2"/>
              <a:stretch>
                <a:fillRect l="-59229" t="-6612" r="-18548" b="-22760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16735168" y="-1987132"/>
            <a:ext cx="6032466" cy="7804385"/>
            <a:chOff x="0" y="0"/>
            <a:chExt cx="700940" cy="906828"/>
          </a:xfrm>
        </p:grpSpPr>
        <p:sp>
          <p:nvSpPr>
            <p:cNvPr id="8" name="Freeform 8"/>
            <p:cNvSpPr/>
            <p:nvPr/>
          </p:nvSpPr>
          <p:spPr>
            <a:xfrm rot="-5400000">
              <a:off x="-102944" y="102944"/>
              <a:ext cx="906828" cy="700940"/>
            </a:xfrm>
            <a:custGeom>
              <a:avLst/>
              <a:gdLst/>
              <a:ahLst/>
              <a:cxnLst/>
              <a:rect l="l" t="t" r="r" b="b"/>
              <a:pathLst>
                <a:path w="906828" h="700940">
                  <a:moveTo>
                    <a:pt x="906828" y="497740"/>
                  </a:moveTo>
                  <a:lnTo>
                    <a:pt x="906828" y="0"/>
                  </a:lnTo>
                  <a:lnTo>
                    <a:pt x="0" y="203200"/>
                  </a:lnTo>
                  <a:lnTo>
                    <a:pt x="0" y="700940"/>
                  </a:lnTo>
                  <a:lnTo>
                    <a:pt x="906828" y="497740"/>
                  </a:lnTo>
                  <a:close/>
                </a:path>
              </a:pathLst>
            </a:custGeom>
            <a:blipFill>
              <a:blip r:embed="rId3"/>
              <a:stretch>
                <a:fillRect l="-50000" b="-29373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055372" y="8255859"/>
            <a:ext cx="13689960" cy="1554646"/>
            <a:chOff x="0" y="0"/>
            <a:chExt cx="5368038" cy="60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4775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14606" y="4132512"/>
            <a:ext cx="3458763" cy="2498727"/>
            <a:chOff x="0" y="0"/>
            <a:chExt cx="4611684" cy="3331636"/>
          </a:xfrm>
        </p:grpSpPr>
        <p:grpSp>
          <p:nvGrpSpPr>
            <p:cNvPr id="13" name="Group 13"/>
            <p:cNvGrpSpPr/>
            <p:nvPr/>
          </p:nvGrpSpPr>
          <p:grpSpPr>
            <a:xfrm>
              <a:off x="1121237" y="0"/>
              <a:ext cx="2300649" cy="2300649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5483" tIns="35483" rIns="35483" bIns="3548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1437750"/>
              <a:ext cx="4611684" cy="1470968"/>
              <a:chOff x="0" y="0"/>
              <a:chExt cx="1157786" cy="36929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157786" cy="369294"/>
              </a:xfrm>
              <a:custGeom>
                <a:avLst/>
                <a:gdLst/>
                <a:ahLst/>
                <a:cxnLst/>
                <a:rect l="l" t="t" r="r" b="b"/>
                <a:pathLst>
                  <a:path w="1157786" h="369294">
                    <a:moveTo>
                      <a:pt x="0" y="0"/>
                    </a:moveTo>
                    <a:lnTo>
                      <a:pt x="1157786" y="0"/>
                    </a:lnTo>
                    <a:lnTo>
                      <a:pt x="1157786" y="369294"/>
                    </a:lnTo>
                    <a:lnTo>
                      <a:pt x="0" y="369294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157786" cy="407394"/>
              </a:xfrm>
              <a:prstGeom prst="rect">
                <a:avLst/>
              </a:prstGeom>
            </p:spPr>
            <p:txBody>
              <a:bodyPr lIns="35483" tIns="35483" rIns="35483" bIns="3548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1533265" y="271273"/>
              <a:ext cx="1545155" cy="1328833"/>
            </a:xfrm>
            <a:custGeom>
              <a:avLst/>
              <a:gdLst/>
              <a:ahLst/>
              <a:cxnLst/>
              <a:rect l="l" t="t" r="r" b="b"/>
              <a:pathLst>
                <a:path w="1545155" h="1328833">
                  <a:moveTo>
                    <a:pt x="0" y="0"/>
                  </a:moveTo>
                  <a:lnTo>
                    <a:pt x="1545154" y="0"/>
                  </a:lnTo>
                  <a:lnTo>
                    <a:pt x="1545154" y="1328833"/>
                  </a:lnTo>
                  <a:lnTo>
                    <a:pt x="0" y="1328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6083" y="1767894"/>
              <a:ext cx="4126989" cy="15637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09"/>
                </a:lnSpc>
              </a:pPr>
              <a:r>
                <a:rPr lang="en-US" sz="1809" b="1" spc="-5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HWS TECHNICAL ASSISTANCE</a:t>
              </a:r>
            </a:p>
            <a:p>
              <a:pPr algn="ctr">
                <a:lnSpc>
                  <a:spcPts val="1809"/>
                </a:lnSpc>
              </a:pPr>
              <a:r>
                <a:rPr lang="en-US" sz="1809" spc="-5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Hands-on guidance and</a:t>
              </a:r>
            </a:p>
            <a:p>
              <a:pPr algn="ctr">
                <a:lnSpc>
                  <a:spcPts val="1809"/>
                </a:lnSpc>
              </a:pPr>
              <a:r>
                <a:rPr lang="en-US" sz="1809" spc="-50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ongoing support</a:t>
              </a:r>
            </a:p>
            <a:p>
              <a:pPr algn="ctr">
                <a:lnSpc>
                  <a:spcPts val="1809"/>
                </a:lnSpc>
              </a:pPr>
              <a:endParaRPr lang="en-US" sz="1809" spc="-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  <a:p>
              <a:pPr algn="ctr">
                <a:lnSpc>
                  <a:spcPts val="1809"/>
                </a:lnSpc>
              </a:pPr>
              <a:endParaRPr lang="en-US" sz="1809" spc="-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35953" y="4130912"/>
            <a:ext cx="3458763" cy="2488802"/>
            <a:chOff x="0" y="0"/>
            <a:chExt cx="4611684" cy="3318402"/>
          </a:xfrm>
        </p:grpSpPr>
        <p:grpSp>
          <p:nvGrpSpPr>
            <p:cNvPr id="22" name="Group 22"/>
            <p:cNvGrpSpPr/>
            <p:nvPr/>
          </p:nvGrpSpPr>
          <p:grpSpPr>
            <a:xfrm>
              <a:off x="1141212" y="0"/>
              <a:ext cx="2300649" cy="2300649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5483" tIns="35483" rIns="35483" bIns="3548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1439883"/>
              <a:ext cx="4611684" cy="1470968"/>
              <a:chOff x="0" y="0"/>
              <a:chExt cx="1157786" cy="369294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157786" cy="369294"/>
              </a:xfrm>
              <a:custGeom>
                <a:avLst/>
                <a:gdLst/>
                <a:ahLst/>
                <a:cxnLst/>
                <a:rect l="l" t="t" r="r" b="b"/>
                <a:pathLst>
                  <a:path w="1157786" h="369294">
                    <a:moveTo>
                      <a:pt x="0" y="0"/>
                    </a:moveTo>
                    <a:lnTo>
                      <a:pt x="1157786" y="0"/>
                    </a:lnTo>
                    <a:lnTo>
                      <a:pt x="1157786" y="369294"/>
                    </a:lnTo>
                    <a:lnTo>
                      <a:pt x="0" y="369294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157786" cy="407394"/>
              </a:xfrm>
              <a:prstGeom prst="rect">
                <a:avLst/>
              </a:prstGeom>
            </p:spPr>
            <p:txBody>
              <a:bodyPr lIns="35483" tIns="35483" rIns="35483" bIns="3548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1792357" y="245995"/>
              <a:ext cx="1110096" cy="1298358"/>
            </a:xfrm>
            <a:custGeom>
              <a:avLst/>
              <a:gdLst/>
              <a:ahLst/>
              <a:cxnLst/>
              <a:rect l="l" t="t" r="r" b="b"/>
              <a:pathLst>
                <a:path w="1110096" h="1298358">
                  <a:moveTo>
                    <a:pt x="0" y="0"/>
                  </a:moveTo>
                  <a:lnTo>
                    <a:pt x="1110096" y="0"/>
                  </a:lnTo>
                  <a:lnTo>
                    <a:pt x="1110096" y="1298358"/>
                  </a:lnTo>
                  <a:lnTo>
                    <a:pt x="0" y="1298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3639" y="1754660"/>
              <a:ext cx="4364405" cy="15637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09"/>
                </a:lnSpc>
              </a:pPr>
              <a:r>
                <a:rPr lang="en-US" sz="1809" b="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STRONGER PRACTICES</a:t>
              </a:r>
            </a:p>
            <a:p>
              <a:pPr algn="ctr">
                <a:lnSpc>
                  <a:spcPts val="1809"/>
                </a:lnSpc>
              </a:pPr>
              <a:r>
                <a:rPr lang="en-US" sz="180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Improved reporting, documentation and compliance</a:t>
              </a:r>
            </a:p>
            <a:p>
              <a:pPr algn="ctr">
                <a:lnSpc>
                  <a:spcPts val="1809"/>
                </a:lnSpc>
              </a:pPr>
              <a:endParaRPr lang="en-US" sz="18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  <a:p>
              <a:pPr algn="ctr">
                <a:lnSpc>
                  <a:spcPts val="1809"/>
                </a:lnSpc>
              </a:pPr>
              <a:endParaRPr lang="en-US" sz="18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41097" y="4135160"/>
            <a:ext cx="3458763" cy="2492049"/>
            <a:chOff x="0" y="0"/>
            <a:chExt cx="4611684" cy="3322732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1434219"/>
              <a:ext cx="4611684" cy="1470968"/>
              <a:chOff x="0" y="0"/>
              <a:chExt cx="1157786" cy="369294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157786" cy="369294"/>
              </a:xfrm>
              <a:custGeom>
                <a:avLst/>
                <a:gdLst/>
                <a:ahLst/>
                <a:cxnLst/>
                <a:rect l="l" t="t" r="r" b="b"/>
                <a:pathLst>
                  <a:path w="1157786" h="369294">
                    <a:moveTo>
                      <a:pt x="0" y="0"/>
                    </a:moveTo>
                    <a:lnTo>
                      <a:pt x="1157786" y="0"/>
                    </a:lnTo>
                    <a:lnTo>
                      <a:pt x="1157786" y="369294"/>
                    </a:lnTo>
                    <a:lnTo>
                      <a:pt x="0" y="369294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157786" cy="407394"/>
              </a:xfrm>
              <a:prstGeom prst="rect">
                <a:avLst/>
              </a:prstGeom>
            </p:spPr>
            <p:txBody>
              <a:bodyPr lIns="35483" tIns="35483" rIns="35483" bIns="3548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245271" y="0"/>
              <a:ext cx="2300649" cy="2300649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5483" tIns="35483" rIns="35483" bIns="3548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1772950" y="240331"/>
              <a:ext cx="1245290" cy="1383655"/>
            </a:xfrm>
            <a:custGeom>
              <a:avLst/>
              <a:gdLst/>
              <a:ahLst/>
              <a:cxnLst/>
              <a:rect l="l" t="t" r="r" b="b"/>
              <a:pathLst>
                <a:path w="1245290" h="1383655">
                  <a:moveTo>
                    <a:pt x="0" y="0"/>
                  </a:moveTo>
                  <a:lnTo>
                    <a:pt x="1245290" y="0"/>
                  </a:lnTo>
                  <a:lnTo>
                    <a:pt x="1245290" y="1383655"/>
                  </a:lnTo>
                  <a:lnTo>
                    <a:pt x="0" y="13836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3846" y="1758990"/>
              <a:ext cx="4183991" cy="15637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09"/>
                </a:lnSpc>
              </a:pPr>
              <a:r>
                <a:rPr lang="en-US" sz="1809" b="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NEW VENDORS</a:t>
              </a:r>
            </a:p>
            <a:p>
              <a:pPr algn="ctr">
                <a:lnSpc>
                  <a:spcPts val="1809"/>
                </a:lnSpc>
              </a:pPr>
              <a:r>
                <a:rPr lang="en-US" sz="180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Limited experience with</a:t>
              </a:r>
            </a:p>
            <a:p>
              <a:pPr algn="ctr">
                <a:lnSpc>
                  <a:spcPts val="1809"/>
                </a:lnSpc>
              </a:pPr>
              <a:r>
                <a:rPr lang="en-US" sz="180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federal funding</a:t>
              </a:r>
            </a:p>
            <a:p>
              <a:pPr algn="ctr">
                <a:lnSpc>
                  <a:spcPts val="1809"/>
                </a:lnSpc>
              </a:pPr>
              <a:endParaRPr lang="en-US" sz="18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  <a:p>
              <a:pPr algn="ctr">
                <a:lnSpc>
                  <a:spcPts val="1809"/>
                </a:lnSpc>
              </a:pPr>
              <a:endParaRPr lang="en-US" sz="18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109730" y="4130912"/>
            <a:ext cx="3458763" cy="2488802"/>
            <a:chOff x="0" y="0"/>
            <a:chExt cx="4611684" cy="3318402"/>
          </a:xfrm>
        </p:grpSpPr>
        <p:grpSp>
          <p:nvGrpSpPr>
            <p:cNvPr id="40" name="Group 40"/>
            <p:cNvGrpSpPr/>
            <p:nvPr/>
          </p:nvGrpSpPr>
          <p:grpSpPr>
            <a:xfrm>
              <a:off x="1155518" y="0"/>
              <a:ext cx="2300649" cy="2300649"/>
              <a:chOff x="0" y="0"/>
              <a:chExt cx="812800" cy="8128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5483" tIns="35483" rIns="35483" bIns="3548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0" y="1439883"/>
              <a:ext cx="4611684" cy="1470968"/>
              <a:chOff x="0" y="0"/>
              <a:chExt cx="1157786" cy="36929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157786" cy="369294"/>
              </a:xfrm>
              <a:custGeom>
                <a:avLst/>
                <a:gdLst/>
                <a:ahLst/>
                <a:cxnLst/>
                <a:rect l="l" t="t" r="r" b="b"/>
                <a:pathLst>
                  <a:path w="1157786" h="369294">
                    <a:moveTo>
                      <a:pt x="0" y="0"/>
                    </a:moveTo>
                    <a:lnTo>
                      <a:pt x="1157786" y="0"/>
                    </a:lnTo>
                    <a:lnTo>
                      <a:pt x="1157786" y="369294"/>
                    </a:lnTo>
                    <a:lnTo>
                      <a:pt x="0" y="369294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38100"/>
                <a:ext cx="1157786" cy="407394"/>
              </a:xfrm>
              <a:prstGeom prst="rect">
                <a:avLst/>
              </a:prstGeom>
            </p:spPr>
            <p:txBody>
              <a:bodyPr lIns="35483" tIns="35483" rIns="35483" bIns="3548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46" name="Freeform 46"/>
            <p:cNvSpPr/>
            <p:nvPr/>
          </p:nvSpPr>
          <p:spPr>
            <a:xfrm>
              <a:off x="1624312" y="273406"/>
              <a:ext cx="1363060" cy="1356244"/>
            </a:xfrm>
            <a:custGeom>
              <a:avLst/>
              <a:gdLst/>
              <a:ahLst/>
              <a:cxnLst/>
              <a:rect l="l" t="t" r="r" b="b"/>
              <a:pathLst>
                <a:path w="1363060" h="1356244">
                  <a:moveTo>
                    <a:pt x="0" y="0"/>
                  </a:moveTo>
                  <a:lnTo>
                    <a:pt x="1363060" y="0"/>
                  </a:lnTo>
                  <a:lnTo>
                    <a:pt x="1363060" y="1356244"/>
                  </a:lnTo>
                  <a:lnTo>
                    <a:pt x="0" y="1356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552" y="1754660"/>
              <a:ext cx="4431279" cy="15637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09"/>
                </a:lnSpc>
              </a:pPr>
              <a:r>
                <a:rPr lang="en-US" sz="1809" b="1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COMMUNITY CAPACITY</a:t>
              </a:r>
            </a:p>
            <a:p>
              <a:pPr algn="ctr">
                <a:lnSpc>
                  <a:spcPts val="1809"/>
                </a:lnSpc>
              </a:pPr>
              <a:r>
                <a:rPr lang="en-US" sz="180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Partners better prepared</a:t>
              </a:r>
            </a:p>
            <a:p>
              <a:pPr algn="ctr">
                <a:lnSpc>
                  <a:spcPts val="1809"/>
                </a:lnSpc>
              </a:pPr>
              <a:r>
                <a:rPr lang="en-US" sz="180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for future funding</a:t>
              </a:r>
            </a:p>
            <a:p>
              <a:pPr algn="ctr">
                <a:lnSpc>
                  <a:spcPts val="1809"/>
                </a:lnSpc>
              </a:pPr>
              <a:endParaRPr lang="en-US" sz="18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  <a:p>
              <a:pPr algn="ctr">
                <a:lnSpc>
                  <a:spcPts val="1809"/>
                </a:lnSpc>
              </a:pPr>
              <a:endParaRPr lang="en-US" sz="180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792134" y="7525879"/>
            <a:ext cx="6260021" cy="1941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300" spc="-115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Technical assistance on contract requirements, allowable costs, invoicing and documentation.</a:t>
            </a:r>
          </a:p>
          <a:p>
            <a:pPr algn="l">
              <a:lnSpc>
                <a:spcPts val="700"/>
              </a:lnSpc>
            </a:pPr>
            <a:endParaRPr lang="en-US" sz="2300" spc="-115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2300"/>
              </a:lnSpc>
            </a:pPr>
            <a:r>
              <a:rPr lang="en-US" sz="2300" spc="-115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Support with participant eligibility, performance reporting, grant compliance and monitoring.</a:t>
            </a:r>
          </a:p>
          <a:p>
            <a:pPr algn="l">
              <a:lnSpc>
                <a:spcPts val="700"/>
              </a:lnSpc>
            </a:pPr>
            <a:endParaRPr lang="en-US" sz="2300" spc="-115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2300"/>
              </a:lnSpc>
            </a:pPr>
            <a:r>
              <a:rPr lang="en-US" sz="2300" spc="-115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Frequent follow-up and coordination across Programs, Fiscal, Contracts, Data, Compliance and Administration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82609" y="7040814"/>
            <a:ext cx="6928212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WHAT IS REQUIRED FROM HWS TEAMS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048581" y="7525879"/>
            <a:ext cx="6354076" cy="223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300" spc="-115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Vendors gained hands-on experience administering grant-funded programs.</a:t>
            </a:r>
          </a:p>
          <a:p>
            <a:pPr algn="l">
              <a:lnSpc>
                <a:spcPts val="700"/>
              </a:lnSpc>
            </a:pPr>
            <a:endParaRPr lang="en-US" sz="2300" spc="-115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2300"/>
              </a:lnSpc>
            </a:pPr>
            <a:r>
              <a:rPr lang="en-US" sz="2300" spc="-115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Partners strengthened fiscal, reporting and compliance practices.</a:t>
            </a:r>
          </a:p>
          <a:p>
            <a:pPr algn="l">
              <a:lnSpc>
                <a:spcPts val="700"/>
              </a:lnSpc>
            </a:pPr>
            <a:endParaRPr lang="en-US" sz="2300" spc="-115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2300"/>
              </a:lnSpc>
            </a:pPr>
            <a:r>
              <a:rPr lang="en-US" sz="2300" spc="-115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Riverside County now has more community organizations prepared to administer future public funding.</a:t>
            </a:r>
          </a:p>
          <a:p>
            <a:pPr algn="l">
              <a:lnSpc>
                <a:spcPts val="2300"/>
              </a:lnSpc>
            </a:pPr>
            <a:endParaRPr lang="en-US" sz="2300" spc="-115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8048581" y="7040814"/>
            <a:ext cx="6928212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POSITIVE OUTCOME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6094" y="2803630"/>
            <a:ext cx="13805653" cy="798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SOME PARTNERS WERE ADMINISTERING FEDERAL OR GRANT-FUNDED PROGRAMS FOR THE FIRST TIME</a:t>
            </a:r>
          </a:p>
          <a:p>
            <a:pPr algn="just">
              <a:lnSpc>
                <a:spcPts val="3220"/>
              </a:lnSpc>
            </a:pPr>
            <a:endParaRPr lang="en-US" sz="2300" b="1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773084" y="904136"/>
            <a:ext cx="11394343" cy="907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6864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LESSONS LEARNED: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01433" y="1820929"/>
            <a:ext cx="11394343" cy="530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spc="-79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BUILDING VENDOR CAPACITY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1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8711618">
            <a:off x="-1264877" y="9616011"/>
            <a:ext cx="6894380" cy="1625941"/>
            <a:chOff x="0" y="0"/>
            <a:chExt cx="3024458" cy="7132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180581" y="-1582345"/>
            <a:ext cx="8258559" cy="11965169"/>
            <a:chOff x="0" y="0"/>
            <a:chExt cx="911861" cy="1321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1861" cy="1321123"/>
            </a:xfrm>
            <a:custGeom>
              <a:avLst/>
              <a:gdLst/>
              <a:ahLst/>
              <a:cxnLst/>
              <a:rect l="l" t="t" r="r" b="b"/>
              <a:pathLst>
                <a:path w="911861" h="1321123">
                  <a:moveTo>
                    <a:pt x="708661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911861" y="1321123"/>
                  </a:lnTo>
                  <a:lnTo>
                    <a:pt x="708661" y="0"/>
                  </a:lnTo>
                  <a:close/>
                </a:path>
              </a:pathLst>
            </a:custGeom>
            <a:blipFill>
              <a:blip r:embed="rId2"/>
              <a:stretch>
                <a:fillRect l="-99157" r="-5863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-8808438" y="7793790"/>
            <a:ext cx="13898056" cy="1578278"/>
            <a:chOff x="0" y="0"/>
            <a:chExt cx="5368038" cy="60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4775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2088381">
            <a:off x="13915753" y="5802395"/>
            <a:ext cx="6791151" cy="1601596"/>
            <a:chOff x="0" y="0"/>
            <a:chExt cx="3024458" cy="7132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066170" y="-1082911"/>
            <a:ext cx="5765593" cy="11369911"/>
            <a:chOff x="0" y="0"/>
            <a:chExt cx="669931" cy="132112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9931" cy="1321123"/>
            </a:xfrm>
            <a:custGeom>
              <a:avLst/>
              <a:gdLst/>
              <a:ahLst/>
              <a:cxnLst/>
              <a:rect l="l" t="t" r="r" b="b"/>
              <a:pathLst>
                <a:path w="669931" h="1321123">
                  <a:moveTo>
                    <a:pt x="466731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669931" y="1321123"/>
                  </a:lnTo>
                  <a:lnTo>
                    <a:pt x="466731" y="0"/>
                  </a:lnTo>
                  <a:close/>
                </a:path>
              </a:pathLst>
            </a:custGeom>
            <a:blipFill>
              <a:blip r:embed="rId3"/>
              <a:stretch>
                <a:fillRect l="-107552" r="-1437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447555" y="7644281"/>
            <a:ext cx="13689960" cy="1554646"/>
            <a:chOff x="0" y="0"/>
            <a:chExt cx="5368038" cy="609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4775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849378" y="4061666"/>
            <a:ext cx="5208783" cy="3494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Earlier cross-functional coordination improves implementation.</a:t>
            </a:r>
          </a:p>
          <a:p>
            <a:pPr algn="l">
              <a:lnSpc>
                <a:spcPts val="770"/>
              </a:lnSpc>
            </a:pPr>
            <a:endParaRPr lang="en-US" sz="230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2530"/>
              </a:lnSpc>
            </a:pP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Clear expectations and standardized reporting reduce downstream issues.</a:t>
            </a:r>
          </a:p>
          <a:p>
            <a:pPr algn="l">
              <a:lnSpc>
                <a:spcPts val="770"/>
              </a:lnSpc>
            </a:pPr>
            <a:endParaRPr lang="en-US" sz="230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2530"/>
              </a:lnSpc>
            </a:pP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Newer providers often require more structured onboarding and follow-up.</a:t>
            </a:r>
          </a:p>
          <a:p>
            <a:pPr algn="l">
              <a:lnSpc>
                <a:spcPts val="770"/>
              </a:lnSpc>
            </a:pPr>
            <a:endParaRPr lang="en-US" sz="230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2530"/>
              </a:lnSpc>
            </a:pP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Technical assistance should be planned as part of program delivery—not added only after issues arise.</a:t>
            </a:r>
          </a:p>
          <a:p>
            <a:pPr algn="l">
              <a:lnSpc>
                <a:spcPts val="2530"/>
              </a:lnSpc>
            </a:pPr>
            <a:endParaRPr lang="en-US" sz="230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849378" y="3599154"/>
            <a:ext cx="5360396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WHAT WE LEARNED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199178" y="803425"/>
            <a:ext cx="11394343" cy="907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6864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LESSONS LEARNED: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17080" y="2631406"/>
            <a:ext cx="1415462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00"/>
              </a:lnSpc>
            </a:pPr>
            <a:r>
              <a:rPr lang="en-US" sz="2300" b="1" spc="-69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PROGRAM SUCCESS DEPENDED ON COORDINATED ADMINISTRATION</a:t>
            </a:r>
          </a:p>
          <a:p>
            <a:pPr algn="just">
              <a:lnSpc>
                <a:spcPts val="2300"/>
              </a:lnSpc>
            </a:pPr>
            <a:r>
              <a:rPr lang="en-US" sz="2300" b="1" spc="-69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NOT PROGRAM OPERATIONS ALONE</a:t>
            </a:r>
          </a:p>
          <a:p>
            <a:pPr algn="just">
              <a:lnSpc>
                <a:spcPts val="2300"/>
              </a:lnSpc>
            </a:pPr>
            <a:endParaRPr lang="en-US" sz="2300" b="1" spc="-69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432249" y="4027070"/>
            <a:ext cx="5360396" cy="3494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Stronger collaboration across Programs, Fiscal, Contracts, Data, Compliance and Administration.</a:t>
            </a:r>
          </a:p>
          <a:p>
            <a:pPr algn="l">
              <a:lnSpc>
                <a:spcPts val="770"/>
              </a:lnSpc>
            </a:pPr>
            <a:endParaRPr lang="en-US" sz="230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2530"/>
              </a:lnSpc>
            </a:pP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Greater experience managing diverse funding requirements and provider needs.</a:t>
            </a:r>
          </a:p>
          <a:p>
            <a:pPr algn="l">
              <a:lnSpc>
                <a:spcPts val="770"/>
              </a:lnSpc>
            </a:pPr>
            <a:endParaRPr lang="en-US" sz="230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2530"/>
              </a:lnSpc>
            </a:pP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Improved ability to identify compliance and performance risks earlier.</a:t>
            </a:r>
          </a:p>
          <a:p>
            <a:pPr algn="l">
              <a:lnSpc>
                <a:spcPts val="770"/>
              </a:lnSpc>
            </a:pPr>
            <a:endParaRPr lang="en-US" sz="230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2530"/>
              </a:lnSpc>
            </a:pPr>
            <a:r>
              <a:rPr lang="en-US" sz="230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More consistent focus on documentation, accountability and measurable outcomes.</a:t>
            </a:r>
          </a:p>
          <a:p>
            <a:pPr algn="l">
              <a:lnSpc>
                <a:spcPts val="2530"/>
              </a:lnSpc>
            </a:pPr>
            <a:endParaRPr lang="en-US" sz="230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432249" y="3567614"/>
            <a:ext cx="5360396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HOW OUR TEAMS GREW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20989" y="8183919"/>
            <a:ext cx="9466906" cy="1554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45"/>
              </a:lnSpc>
            </a:pPr>
            <a:r>
              <a:rPr lang="en-US" sz="2300" spc="-34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Build pre-award readiness into implementation planning.</a:t>
            </a:r>
          </a:p>
          <a:p>
            <a:pPr algn="just">
              <a:lnSpc>
                <a:spcPts val="575"/>
              </a:lnSpc>
            </a:pPr>
            <a:endParaRPr lang="en-US" sz="2300" spc="-34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just">
              <a:lnSpc>
                <a:spcPts val="2645"/>
              </a:lnSpc>
            </a:pPr>
            <a:r>
              <a:rPr lang="en-US" sz="2300" spc="-34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 standardized vendor onboarding and TA resources.</a:t>
            </a:r>
          </a:p>
          <a:p>
            <a:pPr algn="just">
              <a:lnSpc>
                <a:spcPts val="575"/>
              </a:lnSpc>
            </a:pPr>
            <a:endParaRPr lang="en-US" sz="2300" spc="-34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just">
              <a:lnSpc>
                <a:spcPts val="2645"/>
              </a:lnSpc>
            </a:pPr>
            <a:r>
              <a:rPr lang="en-US" sz="2300" spc="-34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Establish clear milestones and reporting expectations at launch.</a:t>
            </a:r>
          </a:p>
          <a:p>
            <a:pPr algn="just">
              <a:lnSpc>
                <a:spcPts val="575"/>
              </a:lnSpc>
            </a:pPr>
            <a:endParaRPr lang="en-US" sz="2300" spc="-34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just">
              <a:lnSpc>
                <a:spcPts val="2645"/>
              </a:lnSpc>
            </a:pPr>
            <a:r>
              <a:rPr lang="en-US" sz="2300" spc="-34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 performance data and partner feedback to continuously improve services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01939" y="7709013"/>
            <a:ext cx="5360396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1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GOING FORWARD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265853" y="1720218"/>
            <a:ext cx="11394343" cy="530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spc="-79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STRENGTHENING OUR INTERNAL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533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</a:blip>
            <a:stretch>
              <a:fillRect l="-270" t="-5781" r="-6780" b="-79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8555214" y="2288084"/>
            <a:ext cx="27045646" cy="8067329"/>
            <a:chOff x="0" y="0"/>
            <a:chExt cx="1944917" cy="5801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44917" cy="580141"/>
            </a:xfrm>
            <a:custGeom>
              <a:avLst/>
              <a:gdLst/>
              <a:ahLst/>
              <a:cxnLst/>
              <a:rect l="l" t="t" r="r" b="b"/>
              <a:pathLst>
                <a:path w="1944917" h="580141">
                  <a:moveTo>
                    <a:pt x="1741717" y="0"/>
                  </a:moveTo>
                  <a:lnTo>
                    <a:pt x="0" y="0"/>
                  </a:lnTo>
                  <a:lnTo>
                    <a:pt x="203200" y="580141"/>
                  </a:lnTo>
                  <a:lnTo>
                    <a:pt x="1944917" y="580141"/>
                  </a:lnTo>
                  <a:lnTo>
                    <a:pt x="1741717" y="0"/>
                  </a:lnTo>
                  <a:close/>
                </a:path>
              </a:pathLst>
            </a:custGeom>
            <a:solidFill>
              <a:srgbClr val="E9E1D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1741717" cy="618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-4318423" y="3690916"/>
            <a:ext cx="9305625" cy="4417659"/>
            <a:chOff x="0" y="0"/>
            <a:chExt cx="1081264" cy="513308"/>
          </a:xfrm>
        </p:grpSpPr>
        <p:sp>
          <p:nvSpPr>
            <p:cNvPr id="7" name="Freeform 7"/>
            <p:cNvSpPr/>
            <p:nvPr/>
          </p:nvSpPr>
          <p:spPr>
            <a:xfrm rot="-5400000">
              <a:off x="283978" y="-283978"/>
              <a:ext cx="513308" cy="1081264"/>
            </a:xfrm>
            <a:custGeom>
              <a:avLst/>
              <a:gdLst/>
              <a:ahLst/>
              <a:cxnLst/>
              <a:rect l="l" t="t" r="r" b="b"/>
              <a:pathLst>
                <a:path w="513308" h="1081264">
                  <a:moveTo>
                    <a:pt x="513308" y="878064"/>
                  </a:moveTo>
                  <a:lnTo>
                    <a:pt x="513308" y="0"/>
                  </a:lnTo>
                  <a:lnTo>
                    <a:pt x="0" y="203200"/>
                  </a:lnTo>
                  <a:lnTo>
                    <a:pt x="0" y="1081264"/>
                  </a:lnTo>
                  <a:lnTo>
                    <a:pt x="513308" y="878064"/>
                  </a:lnTo>
                  <a:close/>
                </a:path>
              </a:pathLst>
            </a:custGeom>
            <a:blipFill>
              <a:blip r:embed="rId3"/>
              <a:stretch>
                <a:fillRect t="-2388" r="-293923" b="-2674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787740" y="580257"/>
            <a:ext cx="13953392" cy="264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6864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STRONGER PROGRAM IMPLEMENTATION MODEL</a:t>
            </a:r>
          </a:p>
          <a:p>
            <a:pPr algn="l">
              <a:lnSpc>
                <a:spcPts val="6864"/>
              </a:lnSpc>
            </a:pPr>
            <a:endParaRPr lang="en-US" sz="6864">
              <a:solidFill>
                <a:srgbClr val="66574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932461" y="2575201"/>
            <a:ext cx="14154622" cy="798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1" spc="115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APPLYING LESSONS LEARNED TO FUTURE HOUSING &amp; WORKFORCE INITIATIVES</a:t>
            </a:r>
          </a:p>
          <a:p>
            <a:pPr algn="just">
              <a:lnSpc>
                <a:spcPts val="3220"/>
              </a:lnSpc>
            </a:pPr>
            <a:endParaRPr lang="en-US" sz="2300" b="1" spc="115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929509" y="9141911"/>
            <a:ext cx="14097138" cy="1014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45"/>
              </a:lnSpc>
            </a:pPr>
            <a:r>
              <a:rPr lang="en-US" sz="2300" b="1" spc="-69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TECHNICAL ASSISTANCE IS NOT SEPARATE FROM PROGRAM SUCCESS.</a:t>
            </a:r>
          </a:p>
          <a:p>
            <a:pPr algn="just">
              <a:lnSpc>
                <a:spcPts val="2645"/>
              </a:lnSpc>
            </a:pPr>
            <a:r>
              <a:rPr lang="en-US" sz="2300" b="1" spc="-69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IT IS ONE OF THE TOOLS THAT MAKES SUCCESSFUL DELIVERY POSSIBLE.</a:t>
            </a:r>
          </a:p>
          <a:p>
            <a:pPr algn="just">
              <a:lnSpc>
                <a:spcPts val="2645"/>
              </a:lnSpc>
            </a:pPr>
            <a:endParaRPr lang="en-US" sz="2300" b="1" spc="-69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407801" y="3328047"/>
            <a:ext cx="4210078" cy="2440291"/>
            <a:chOff x="0" y="0"/>
            <a:chExt cx="5613437" cy="3253721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1608281"/>
              <a:ext cx="5613437" cy="1645440"/>
              <a:chOff x="0" y="0"/>
              <a:chExt cx="1259850" cy="36929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259850" cy="369294"/>
              </a:xfrm>
              <a:custGeom>
                <a:avLst/>
                <a:gdLst/>
                <a:ahLst/>
                <a:cxnLst/>
                <a:rect l="l" t="t" r="r" b="b"/>
                <a:pathLst>
                  <a:path w="1259850" h="369294">
                    <a:moveTo>
                      <a:pt x="0" y="0"/>
                    </a:moveTo>
                    <a:lnTo>
                      <a:pt x="1259850" y="0"/>
                    </a:lnTo>
                    <a:lnTo>
                      <a:pt x="1259850" y="369294"/>
                    </a:lnTo>
                    <a:lnTo>
                      <a:pt x="0" y="369294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259850" cy="407394"/>
              </a:xfrm>
              <a:prstGeom prst="rect">
                <a:avLst/>
              </a:prstGeom>
            </p:spPr>
            <p:txBody>
              <a:bodyPr lIns="44710" tIns="44710" rIns="44710" bIns="4471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481608" y="0"/>
              <a:ext cx="2573528" cy="2573528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44710" tIns="44710" rIns="44710" bIns="4471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2000495" y="262925"/>
              <a:ext cx="1539618" cy="1646651"/>
            </a:xfrm>
            <a:custGeom>
              <a:avLst/>
              <a:gdLst/>
              <a:ahLst/>
              <a:cxnLst/>
              <a:rect l="l" t="t" r="r" b="b"/>
              <a:pathLst>
                <a:path w="1539618" h="1646651">
                  <a:moveTo>
                    <a:pt x="0" y="0"/>
                  </a:moveTo>
                  <a:lnTo>
                    <a:pt x="1539618" y="0"/>
                  </a:lnTo>
                  <a:lnTo>
                    <a:pt x="1539618" y="1646651"/>
                  </a:lnTo>
                  <a:lnTo>
                    <a:pt x="0" y="1646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8638" y="1938151"/>
              <a:ext cx="5030978" cy="8114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04"/>
                </a:lnSpc>
              </a:pPr>
              <a:r>
                <a:rPr lang="en-US" sz="2304" b="1" spc="-64">
                  <a:solidFill>
                    <a:srgbClr val="3D3735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VENDOR ONBOARDING</a:t>
              </a:r>
            </a:p>
            <a:p>
              <a:pPr algn="ctr">
                <a:lnSpc>
                  <a:spcPts val="2304"/>
                </a:lnSpc>
              </a:pPr>
              <a:r>
                <a:rPr lang="en-US" sz="2304" spc="-64">
                  <a:solidFill>
                    <a:srgbClr val="3D373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Set expectations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852933" y="3326257"/>
            <a:ext cx="4210078" cy="2442081"/>
            <a:chOff x="0" y="0"/>
            <a:chExt cx="5613437" cy="3256107"/>
          </a:xfrm>
        </p:grpSpPr>
        <p:grpSp>
          <p:nvGrpSpPr>
            <p:cNvPr id="21" name="Group 21"/>
            <p:cNvGrpSpPr/>
            <p:nvPr/>
          </p:nvGrpSpPr>
          <p:grpSpPr>
            <a:xfrm>
              <a:off x="1356395" y="0"/>
              <a:ext cx="2573528" cy="2573528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44710" tIns="44710" rIns="44710" bIns="4471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1610668"/>
              <a:ext cx="5613437" cy="1645440"/>
              <a:chOff x="0" y="0"/>
              <a:chExt cx="1259850" cy="36929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259850" cy="369294"/>
              </a:xfrm>
              <a:custGeom>
                <a:avLst/>
                <a:gdLst/>
                <a:ahLst/>
                <a:cxnLst/>
                <a:rect l="l" t="t" r="r" b="b"/>
                <a:pathLst>
                  <a:path w="1259850" h="369294">
                    <a:moveTo>
                      <a:pt x="0" y="0"/>
                    </a:moveTo>
                    <a:lnTo>
                      <a:pt x="1259850" y="0"/>
                    </a:lnTo>
                    <a:lnTo>
                      <a:pt x="1259850" y="369294"/>
                    </a:lnTo>
                    <a:lnTo>
                      <a:pt x="0" y="369294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259850" cy="407394"/>
              </a:xfrm>
              <a:prstGeom prst="rect">
                <a:avLst/>
              </a:prstGeom>
            </p:spPr>
            <p:txBody>
              <a:bodyPr lIns="44710" tIns="44710" rIns="44710" bIns="4471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1942001" y="380510"/>
              <a:ext cx="1402316" cy="1381281"/>
            </a:xfrm>
            <a:custGeom>
              <a:avLst/>
              <a:gdLst/>
              <a:ahLst/>
              <a:cxnLst/>
              <a:rect l="l" t="t" r="r" b="b"/>
              <a:pathLst>
                <a:path w="1402316" h="1381281">
                  <a:moveTo>
                    <a:pt x="0" y="0"/>
                  </a:moveTo>
                  <a:lnTo>
                    <a:pt x="1402316" y="0"/>
                  </a:lnTo>
                  <a:lnTo>
                    <a:pt x="1402316" y="1381281"/>
                  </a:lnTo>
                  <a:lnTo>
                    <a:pt x="0" y="1381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4475" y="1916685"/>
              <a:ext cx="5167266" cy="1223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2"/>
                </a:lnSpc>
              </a:pPr>
              <a:r>
                <a:rPr lang="en-US" sz="2382" b="1">
                  <a:solidFill>
                    <a:srgbClr val="3D3735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TRAINING &amp; TECHNICAL</a:t>
              </a:r>
            </a:p>
            <a:p>
              <a:pPr algn="ctr">
                <a:lnSpc>
                  <a:spcPts val="2382"/>
                </a:lnSpc>
              </a:pPr>
              <a:r>
                <a:rPr lang="en-US" sz="2382" b="1">
                  <a:solidFill>
                    <a:srgbClr val="3D3735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ASSISTANCE</a:t>
              </a:r>
            </a:p>
            <a:p>
              <a:pPr algn="ctr">
                <a:lnSpc>
                  <a:spcPts val="2382"/>
                </a:lnSpc>
              </a:pPr>
              <a:r>
                <a:rPr lang="en-US" sz="2382">
                  <a:solidFill>
                    <a:srgbClr val="3D373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Build capacity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962994" y="3331009"/>
            <a:ext cx="4210078" cy="2437329"/>
            <a:chOff x="0" y="0"/>
            <a:chExt cx="5613437" cy="3249772"/>
          </a:xfrm>
        </p:grpSpPr>
        <p:grpSp>
          <p:nvGrpSpPr>
            <p:cNvPr id="30" name="Group 30"/>
            <p:cNvGrpSpPr/>
            <p:nvPr/>
          </p:nvGrpSpPr>
          <p:grpSpPr>
            <a:xfrm>
              <a:off x="1620353" y="0"/>
              <a:ext cx="2573528" cy="2573528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44710" tIns="44710" rIns="44710" bIns="4471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0" y="1604332"/>
              <a:ext cx="5613437" cy="1645440"/>
              <a:chOff x="0" y="0"/>
              <a:chExt cx="1259850" cy="36929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259850" cy="369294"/>
              </a:xfrm>
              <a:custGeom>
                <a:avLst/>
                <a:gdLst/>
                <a:ahLst/>
                <a:cxnLst/>
                <a:rect l="l" t="t" r="r" b="b"/>
                <a:pathLst>
                  <a:path w="1259850" h="369294">
                    <a:moveTo>
                      <a:pt x="0" y="0"/>
                    </a:moveTo>
                    <a:lnTo>
                      <a:pt x="1259850" y="0"/>
                    </a:lnTo>
                    <a:lnTo>
                      <a:pt x="1259850" y="369294"/>
                    </a:lnTo>
                    <a:lnTo>
                      <a:pt x="0" y="369294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1259850" cy="407394"/>
              </a:xfrm>
              <a:prstGeom prst="rect">
                <a:avLst/>
              </a:prstGeom>
            </p:spPr>
            <p:txBody>
              <a:bodyPr lIns="44710" tIns="44710" rIns="44710" bIns="4471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36" name="Freeform 36"/>
            <p:cNvSpPr/>
            <p:nvPr/>
          </p:nvSpPr>
          <p:spPr>
            <a:xfrm>
              <a:off x="2309793" y="248463"/>
              <a:ext cx="1461783" cy="1506993"/>
            </a:xfrm>
            <a:custGeom>
              <a:avLst/>
              <a:gdLst/>
              <a:ahLst/>
              <a:cxnLst/>
              <a:rect l="l" t="t" r="r" b="b"/>
              <a:pathLst>
                <a:path w="1461783" h="1506993">
                  <a:moveTo>
                    <a:pt x="0" y="0"/>
                  </a:moveTo>
                  <a:lnTo>
                    <a:pt x="1461783" y="0"/>
                  </a:lnTo>
                  <a:lnTo>
                    <a:pt x="1461783" y="1506992"/>
                  </a:lnTo>
                  <a:lnTo>
                    <a:pt x="0" y="1506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13454" y="1934201"/>
              <a:ext cx="5154156" cy="8114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04"/>
                </a:lnSpc>
              </a:pPr>
              <a:r>
                <a:rPr lang="en-US" sz="2304" b="1">
                  <a:solidFill>
                    <a:srgbClr val="3D3735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PRE-AWARD ASSESSMENT</a:t>
              </a:r>
            </a:p>
            <a:p>
              <a:pPr algn="ctr">
                <a:lnSpc>
                  <a:spcPts val="2304"/>
                </a:lnSpc>
              </a:pPr>
              <a:r>
                <a:rPr lang="en-US" sz="2304">
                  <a:solidFill>
                    <a:srgbClr val="3D373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Understand readiness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932461" y="6306420"/>
            <a:ext cx="4210078" cy="2442081"/>
            <a:chOff x="0" y="0"/>
            <a:chExt cx="5613437" cy="3256107"/>
          </a:xfrm>
        </p:grpSpPr>
        <p:grpSp>
          <p:nvGrpSpPr>
            <p:cNvPr id="39" name="Group 39"/>
            <p:cNvGrpSpPr/>
            <p:nvPr/>
          </p:nvGrpSpPr>
          <p:grpSpPr>
            <a:xfrm>
              <a:off x="1356395" y="0"/>
              <a:ext cx="2573528" cy="2573528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44710" tIns="44710" rIns="44710" bIns="4471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1610668"/>
              <a:ext cx="5613437" cy="1645440"/>
              <a:chOff x="0" y="0"/>
              <a:chExt cx="1259850" cy="369294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259850" cy="369294"/>
              </a:xfrm>
              <a:custGeom>
                <a:avLst/>
                <a:gdLst/>
                <a:ahLst/>
                <a:cxnLst/>
                <a:rect l="l" t="t" r="r" b="b"/>
                <a:pathLst>
                  <a:path w="1259850" h="369294">
                    <a:moveTo>
                      <a:pt x="0" y="0"/>
                    </a:moveTo>
                    <a:lnTo>
                      <a:pt x="1259850" y="0"/>
                    </a:lnTo>
                    <a:lnTo>
                      <a:pt x="1259850" y="369294"/>
                    </a:lnTo>
                    <a:lnTo>
                      <a:pt x="0" y="369294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38100"/>
                <a:ext cx="1259850" cy="407394"/>
              </a:xfrm>
              <a:prstGeom prst="rect">
                <a:avLst/>
              </a:prstGeom>
            </p:spPr>
            <p:txBody>
              <a:bodyPr lIns="44710" tIns="44710" rIns="44710" bIns="4471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45" name="Freeform 45"/>
            <p:cNvSpPr/>
            <p:nvPr/>
          </p:nvSpPr>
          <p:spPr>
            <a:xfrm>
              <a:off x="1880818" y="327358"/>
              <a:ext cx="1524681" cy="1456070"/>
            </a:xfrm>
            <a:custGeom>
              <a:avLst/>
              <a:gdLst/>
              <a:ahLst/>
              <a:cxnLst/>
              <a:rect l="l" t="t" r="r" b="b"/>
              <a:pathLst>
                <a:path w="1524681" h="1456070">
                  <a:moveTo>
                    <a:pt x="0" y="0"/>
                  </a:moveTo>
                  <a:lnTo>
                    <a:pt x="1524681" y="0"/>
                  </a:lnTo>
                  <a:lnTo>
                    <a:pt x="1524681" y="1456070"/>
                  </a:lnTo>
                  <a:lnTo>
                    <a:pt x="0" y="145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65216" y="1916685"/>
              <a:ext cx="5143104" cy="1223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2"/>
                </a:lnSpc>
              </a:pPr>
              <a:r>
                <a:rPr lang="en-US" sz="2382" b="1" spc="-95">
                  <a:solidFill>
                    <a:srgbClr val="3D3735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PERFORMANCE MONITORING</a:t>
              </a:r>
            </a:p>
            <a:p>
              <a:pPr algn="ctr">
                <a:lnSpc>
                  <a:spcPts val="2382"/>
                </a:lnSpc>
              </a:pPr>
              <a:r>
                <a:rPr lang="en-US" sz="2382">
                  <a:solidFill>
                    <a:srgbClr val="3D373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Partners better prepared</a:t>
              </a:r>
            </a:p>
            <a:p>
              <a:pPr algn="ctr">
                <a:lnSpc>
                  <a:spcPts val="2382"/>
                </a:lnSpc>
              </a:pPr>
              <a:r>
                <a:rPr lang="en-US" sz="2382">
                  <a:solidFill>
                    <a:srgbClr val="3D373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for Track results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380490" y="6312961"/>
            <a:ext cx="4210078" cy="2440291"/>
            <a:chOff x="0" y="0"/>
            <a:chExt cx="5613437" cy="3253721"/>
          </a:xfrm>
        </p:grpSpPr>
        <p:grpSp>
          <p:nvGrpSpPr>
            <p:cNvPr id="48" name="Group 48"/>
            <p:cNvGrpSpPr/>
            <p:nvPr/>
          </p:nvGrpSpPr>
          <p:grpSpPr>
            <a:xfrm>
              <a:off x="0" y="1608281"/>
              <a:ext cx="5613437" cy="1645440"/>
              <a:chOff x="0" y="0"/>
              <a:chExt cx="1259850" cy="369294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259850" cy="369294"/>
              </a:xfrm>
              <a:custGeom>
                <a:avLst/>
                <a:gdLst/>
                <a:ahLst/>
                <a:cxnLst/>
                <a:rect l="l" t="t" r="r" b="b"/>
                <a:pathLst>
                  <a:path w="1259850" h="369294">
                    <a:moveTo>
                      <a:pt x="0" y="0"/>
                    </a:moveTo>
                    <a:lnTo>
                      <a:pt x="1259850" y="0"/>
                    </a:lnTo>
                    <a:lnTo>
                      <a:pt x="1259850" y="369294"/>
                    </a:lnTo>
                    <a:lnTo>
                      <a:pt x="0" y="369294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38100"/>
                <a:ext cx="1259850" cy="407394"/>
              </a:xfrm>
              <a:prstGeom prst="rect">
                <a:avLst/>
              </a:prstGeom>
            </p:spPr>
            <p:txBody>
              <a:bodyPr lIns="44710" tIns="44710" rIns="44710" bIns="4471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1481608" y="0"/>
              <a:ext cx="2573528" cy="2573528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44710" tIns="44710" rIns="44710" bIns="4471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54" name="Freeform 54"/>
            <p:cNvSpPr/>
            <p:nvPr/>
          </p:nvSpPr>
          <p:spPr>
            <a:xfrm>
              <a:off x="1926813" y="234567"/>
              <a:ext cx="1683118" cy="1624209"/>
            </a:xfrm>
            <a:custGeom>
              <a:avLst/>
              <a:gdLst/>
              <a:ahLst/>
              <a:cxnLst/>
              <a:rect l="l" t="t" r="r" b="b"/>
              <a:pathLst>
                <a:path w="1683118" h="1624209">
                  <a:moveTo>
                    <a:pt x="0" y="0"/>
                  </a:moveTo>
                  <a:lnTo>
                    <a:pt x="1683118" y="0"/>
                  </a:lnTo>
                  <a:lnTo>
                    <a:pt x="1683118" y="1624209"/>
                  </a:lnTo>
                  <a:lnTo>
                    <a:pt x="0" y="16242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93119" y="1938878"/>
              <a:ext cx="5062911" cy="8114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04"/>
                </a:lnSpc>
              </a:pPr>
              <a:r>
                <a:rPr lang="en-US" sz="2304" b="1" spc="-64">
                  <a:solidFill>
                    <a:srgbClr val="3D3735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CORRECTIVE SUPPORT</a:t>
              </a:r>
            </a:p>
            <a:p>
              <a:pPr algn="ctr">
                <a:lnSpc>
                  <a:spcPts val="2304"/>
                </a:lnSpc>
              </a:pPr>
              <a:r>
                <a:rPr lang="en-US" sz="2304" spc="-64">
                  <a:solidFill>
                    <a:srgbClr val="3D373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Address gaps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1825622" y="6311171"/>
            <a:ext cx="4210078" cy="2442081"/>
            <a:chOff x="0" y="0"/>
            <a:chExt cx="5613437" cy="3256107"/>
          </a:xfrm>
        </p:grpSpPr>
        <p:grpSp>
          <p:nvGrpSpPr>
            <p:cNvPr id="57" name="Group 57"/>
            <p:cNvGrpSpPr/>
            <p:nvPr/>
          </p:nvGrpSpPr>
          <p:grpSpPr>
            <a:xfrm>
              <a:off x="1356395" y="0"/>
              <a:ext cx="2573528" cy="2573528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44710" tIns="44710" rIns="44710" bIns="4471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0" y="1610668"/>
              <a:ext cx="5613437" cy="1645440"/>
              <a:chOff x="0" y="0"/>
              <a:chExt cx="1259850" cy="369294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1259850" cy="369294"/>
              </a:xfrm>
              <a:custGeom>
                <a:avLst/>
                <a:gdLst/>
                <a:ahLst/>
                <a:cxnLst/>
                <a:rect l="l" t="t" r="r" b="b"/>
                <a:pathLst>
                  <a:path w="1259850" h="369294">
                    <a:moveTo>
                      <a:pt x="0" y="0"/>
                    </a:moveTo>
                    <a:lnTo>
                      <a:pt x="1259850" y="0"/>
                    </a:lnTo>
                    <a:lnTo>
                      <a:pt x="1259850" y="369294"/>
                    </a:lnTo>
                    <a:lnTo>
                      <a:pt x="0" y="369294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0" y="-38100"/>
                <a:ext cx="1259850" cy="407394"/>
              </a:xfrm>
              <a:prstGeom prst="rect">
                <a:avLst/>
              </a:prstGeom>
            </p:spPr>
            <p:txBody>
              <a:bodyPr lIns="44710" tIns="44710" rIns="44710" bIns="4471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63" name="Freeform 63"/>
            <p:cNvSpPr/>
            <p:nvPr/>
          </p:nvSpPr>
          <p:spPr>
            <a:xfrm>
              <a:off x="2030538" y="236953"/>
              <a:ext cx="1250641" cy="1624209"/>
            </a:xfrm>
            <a:custGeom>
              <a:avLst/>
              <a:gdLst/>
              <a:ahLst/>
              <a:cxnLst/>
              <a:rect l="l" t="t" r="r" b="b"/>
              <a:pathLst>
                <a:path w="1250641" h="1624209">
                  <a:moveTo>
                    <a:pt x="0" y="0"/>
                  </a:moveTo>
                  <a:lnTo>
                    <a:pt x="1250641" y="0"/>
                  </a:lnTo>
                  <a:lnTo>
                    <a:pt x="1250641" y="1624209"/>
                  </a:lnTo>
                  <a:lnTo>
                    <a:pt x="0" y="16242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77236" y="1923049"/>
              <a:ext cx="4942380" cy="8299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2"/>
                </a:lnSpc>
              </a:pPr>
              <a:r>
                <a:rPr lang="en-US" sz="2382" b="1">
                  <a:solidFill>
                    <a:srgbClr val="3D3735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SUCCESSFUL DELIVERY</a:t>
              </a:r>
            </a:p>
            <a:p>
              <a:pPr algn="ctr">
                <a:lnSpc>
                  <a:spcPts val="2382"/>
                </a:lnSpc>
              </a:pPr>
              <a:r>
                <a:rPr lang="en-US" sz="2382">
                  <a:solidFill>
                    <a:srgbClr val="3D373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Sustain outcomes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1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088381">
            <a:off x="1080822" y="6834659"/>
            <a:ext cx="3156062" cy="1171870"/>
            <a:chOff x="0" y="0"/>
            <a:chExt cx="1920982" cy="7132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20982" cy="713275"/>
            </a:xfrm>
            <a:custGeom>
              <a:avLst/>
              <a:gdLst/>
              <a:ahLst/>
              <a:cxnLst/>
              <a:rect l="l" t="t" r="r" b="b"/>
              <a:pathLst>
                <a:path w="1920982" h="713275">
                  <a:moveTo>
                    <a:pt x="203200" y="0"/>
                  </a:moveTo>
                  <a:lnTo>
                    <a:pt x="1920982" y="0"/>
                  </a:lnTo>
                  <a:lnTo>
                    <a:pt x="1717782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1717782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771094" y="4930371"/>
            <a:ext cx="4413889" cy="3558858"/>
            <a:chOff x="0" y="0"/>
            <a:chExt cx="700940" cy="565158"/>
          </a:xfrm>
        </p:grpSpPr>
        <p:sp>
          <p:nvSpPr>
            <p:cNvPr id="6" name="Freeform 6"/>
            <p:cNvSpPr/>
            <p:nvPr/>
          </p:nvSpPr>
          <p:spPr>
            <a:xfrm rot="-5400000">
              <a:off x="67891" y="-67891"/>
              <a:ext cx="565158" cy="700940"/>
            </a:xfrm>
            <a:custGeom>
              <a:avLst/>
              <a:gdLst/>
              <a:ahLst/>
              <a:cxnLst/>
              <a:rect l="l" t="t" r="r" b="b"/>
              <a:pathLst>
                <a:path w="565158" h="700940">
                  <a:moveTo>
                    <a:pt x="565158" y="497740"/>
                  </a:moveTo>
                  <a:lnTo>
                    <a:pt x="565158" y="0"/>
                  </a:lnTo>
                  <a:lnTo>
                    <a:pt x="0" y="203200"/>
                  </a:lnTo>
                  <a:lnTo>
                    <a:pt x="0" y="700940"/>
                  </a:lnTo>
                  <a:lnTo>
                    <a:pt x="565158" y="497740"/>
                  </a:lnTo>
                  <a:close/>
                </a:path>
              </a:pathLst>
            </a:custGeom>
            <a:blipFill>
              <a:blip r:embed="rId2"/>
              <a:stretch>
                <a:fillRect l="-91532" t="-8113" r="-82314" b="-1628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07755" y="7664927"/>
            <a:ext cx="4945166" cy="1137517"/>
            <a:chOff x="0" y="0"/>
            <a:chExt cx="2650134" cy="609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50134" cy="609600"/>
            </a:xfrm>
            <a:custGeom>
              <a:avLst/>
              <a:gdLst/>
              <a:ahLst/>
              <a:cxnLst/>
              <a:rect l="l" t="t" r="r" b="b"/>
              <a:pathLst>
                <a:path w="2650134" h="609600">
                  <a:moveTo>
                    <a:pt x="2446934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2650134" y="609600"/>
                  </a:lnTo>
                  <a:lnTo>
                    <a:pt x="2446934" y="0"/>
                  </a:lnTo>
                  <a:close/>
                </a:path>
              </a:pathLst>
            </a:custGeom>
            <a:solidFill>
              <a:srgbClr val="4775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600" y="-38100"/>
              <a:ext cx="2446934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2088381">
            <a:off x="6584012" y="6834659"/>
            <a:ext cx="3156062" cy="1171870"/>
            <a:chOff x="0" y="0"/>
            <a:chExt cx="1920982" cy="713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20982" cy="713275"/>
            </a:xfrm>
            <a:custGeom>
              <a:avLst/>
              <a:gdLst/>
              <a:ahLst/>
              <a:cxnLst/>
              <a:rect l="l" t="t" r="r" b="b"/>
              <a:pathLst>
                <a:path w="1920982" h="713275">
                  <a:moveTo>
                    <a:pt x="203200" y="0"/>
                  </a:moveTo>
                  <a:lnTo>
                    <a:pt x="1920982" y="0"/>
                  </a:lnTo>
                  <a:lnTo>
                    <a:pt x="1717782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600" y="-38100"/>
              <a:ext cx="1717782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5400000">
            <a:off x="7274283" y="4930371"/>
            <a:ext cx="4413889" cy="3558858"/>
            <a:chOff x="0" y="0"/>
            <a:chExt cx="700940" cy="565158"/>
          </a:xfrm>
        </p:grpSpPr>
        <p:sp>
          <p:nvSpPr>
            <p:cNvPr id="14" name="Freeform 14"/>
            <p:cNvSpPr/>
            <p:nvPr/>
          </p:nvSpPr>
          <p:spPr>
            <a:xfrm rot="-5400000">
              <a:off x="67891" y="-67891"/>
              <a:ext cx="565158" cy="700940"/>
            </a:xfrm>
            <a:custGeom>
              <a:avLst/>
              <a:gdLst/>
              <a:ahLst/>
              <a:cxnLst/>
              <a:rect l="l" t="t" r="r" b="b"/>
              <a:pathLst>
                <a:path w="565158" h="700940">
                  <a:moveTo>
                    <a:pt x="565158" y="497740"/>
                  </a:moveTo>
                  <a:lnTo>
                    <a:pt x="565158" y="0"/>
                  </a:lnTo>
                  <a:lnTo>
                    <a:pt x="0" y="203200"/>
                  </a:lnTo>
                  <a:lnTo>
                    <a:pt x="0" y="700940"/>
                  </a:lnTo>
                  <a:lnTo>
                    <a:pt x="565158" y="497740"/>
                  </a:lnTo>
                  <a:close/>
                </a:path>
              </a:pathLst>
            </a:custGeom>
            <a:blipFill>
              <a:blip r:embed="rId3"/>
              <a:stretch>
                <a:fillRect l="-81724" t="-8309" r="-79174" b="-10018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10944" y="7664927"/>
            <a:ext cx="4945166" cy="1137517"/>
            <a:chOff x="0" y="0"/>
            <a:chExt cx="2650134" cy="609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650134" cy="609600"/>
            </a:xfrm>
            <a:custGeom>
              <a:avLst/>
              <a:gdLst/>
              <a:ahLst/>
              <a:cxnLst/>
              <a:rect l="l" t="t" r="r" b="b"/>
              <a:pathLst>
                <a:path w="2650134" h="609600">
                  <a:moveTo>
                    <a:pt x="2446934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2650134" y="609600"/>
                  </a:lnTo>
                  <a:lnTo>
                    <a:pt x="2446934" y="0"/>
                  </a:lnTo>
                  <a:close/>
                </a:path>
              </a:pathLst>
            </a:custGeom>
            <a:solidFill>
              <a:srgbClr val="4775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1600" y="-38100"/>
              <a:ext cx="2446934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2088381">
            <a:off x="12084458" y="6834659"/>
            <a:ext cx="3156062" cy="1171870"/>
            <a:chOff x="0" y="0"/>
            <a:chExt cx="1920982" cy="7132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20982" cy="713275"/>
            </a:xfrm>
            <a:custGeom>
              <a:avLst/>
              <a:gdLst/>
              <a:ahLst/>
              <a:cxnLst/>
              <a:rect l="l" t="t" r="r" b="b"/>
              <a:pathLst>
                <a:path w="1920982" h="713275">
                  <a:moveTo>
                    <a:pt x="203200" y="0"/>
                  </a:moveTo>
                  <a:lnTo>
                    <a:pt x="1920982" y="0"/>
                  </a:lnTo>
                  <a:lnTo>
                    <a:pt x="1717782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600" y="-38100"/>
              <a:ext cx="1717782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5400000">
            <a:off x="12774729" y="4930371"/>
            <a:ext cx="4413889" cy="3558858"/>
            <a:chOff x="0" y="0"/>
            <a:chExt cx="700940" cy="565158"/>
          </a:xfrm>
        </p:grpSpPr>
        <p:sp>
          <p:nvSpPr>
            <p:cNvPr id="22" name="Freeform 22"/>
            <p:cNvSpPr/>
            <p:nvPr/>
          </p:nvSpPr>
          <p:spPr>
            <a:xfrm rot="5400000" flipV="1">
              <a:off x="67891" y="-67891"/>
              <a:ext cx="565158" cy="700940"/>
            </a:xfrm>
            <a:custGeom>
              <a:avLst/>
              <a:gdLst/>
              <a:ahLst/>
              <a:cxnLst/>
              <a:rect l="l" t="t" r="r" b="b"/>
              <a:pathLst>
                <a:path w="565158" h="700940">
                  <a:moveTo>
                    <a:pt x="0" y="497740"/>
                  </a:moveTo>
                  <a:lnTo>
                    <a:pt x="0" y="0"/>
                  </a:lnTo>
                  <a:lnTo>
                    <a:pt x="565158" y="203200"/>
                  </a:lnTo>
                  <a:lnTo>
                    <a:pt x="565158" y="700940"/>
                  </a:lnTo>
                  <a:lnTo>
                    <a:pt x="0" y="497740"/>
                  </a:lnTo>
                  <a:close/>
                </a:path>
              </a:pathLst>
            </a:custGeom>
            <a:blipFill>
              <a:blip r:embed="rId4"/>
              <a:stretch>
                <a:fillRect l="-68304" t="-16948" r="-151140" b="-2793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311391" y="7664927"/>
            <a:ext cx="4945166" cy="1137517"/>
            <a:chOff x="0" y="0"/>
            <a:chExt cx="2650134" cy="609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650134" cy="609600"/>
            </a:xfrm>
            <a:custGeom>
              <a:avLst/>
              <a:gdLst/>
              <a:ahLst/>
              <a:cxnLst/>
              <a:rect l="l" t="t" r="r" b="b"/>
              <a:pathLst>
                <a:path w="2650134" h="609600">
                  <a:moveTo>
                    <a:pt x="2446934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2650134" y="609600"/>
                  </a:lnTo>
                  <a:lnTo>
                    <a:pt x="2446934" y="0"/>
                  </a:lnTo>
                  <a:close/>
                </a:path>
              </a:pathLst>
            </a:custGeom>
            <a:solidFill>
              <a:srgbClr val="4775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600" y="-38100"/>
              <a:ext cx="2446934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4078151" y="2529520"/>
            <a:ext cx="1113072" cy="1438361"/>
          </a:xfrm>
          <a:custGeom>
            <a:avLst/>
            <a:gdLst/>
            <a:ahLst/>
            <a:cxnLst/>
            <a:rect l="l" t="t" r="r" b="b"/>
            <a:pathLst>
              <a:path w="1113072" h="1438361">
                <a:moveTo>
                  <a:pt x="0" y="0"/>
                </a:moveTo>
                <a:lnTo>
                  <a:pt x="1113073" y="0"/>
                </a:lnTo>
                <a:lnTo>
                  <a:pt x="1113073" y="1438361"/>
                </a:lnTo>
                <a:lnTo>
                  <a:pt x="0" y="14383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5454921" y="2606055"/>
            <a:ext cx="2883496" cy="1367837"/>
          </a:xfrm>
          <a:custGeom>
            <a:avLst/>
            <a:gdLst/>
            <a:ahLst/>
            <a:cxnLst/>
            <a:rect l="l" t="t" r="r" b="b"/>
            <a:pathLst>
              <a:path w="2883496" h="1367837">
                <a:moveTo>
                  <a:pt x="0" y="0"/>
                </a:moveTo>
                <a:lnTo>
                  <a:pt x="2883496" y="0"/>
                </a:lnTo>
                <a:lnTo>
                  <a:pt x="2883496" y="1367837"/>
                </a:lnTo>
                <a:lnTo>
                  <a:pt x="0" y="13678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366" t="-63391" b="-6294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8372339" y="2791838"/>
            <a:ext cx="3220715" cy="980263"/>
            <a:chOff x="0" y="0"/>
            <a:chExt cx="4294287" cy="1307017"/>
          </a:xfrm>
        </p:grpSpPr>
        <p:sp>
          <p:nvSpPr>
            <p:cNvPr id="29" name="Freeform 29"/>
            <p:cNvSpPr/>
            <p:nvPr/>
          </p:nvSpPr>
          <p:spPr>
            <a:xfrm>
              <a:off x="362275" y="0"/>
              <a:ext cx="3539233" cy="1300668"/>
            </a:xfrm>
            <a:custGeom>
              <a:avLst/>
              <a:gdLst/>
              <a:ahLst/>
              <a:cxnLst/>
              <a:rect l="l" t="t" r="r" b="b"/>
              <a:pathLst>
                <a:path w="3539233" h="1300668">
                  <a:moveTo>
                    <a:pt x="0" y="0"/>
                  </a:moveTo>
                  <a:lnTo>
                    <a:pt x="3539233" y="0"/>
                  </a:lnTo>
                  <a:lnTo>
                    <a:pt x="3539233" y="1300668"/>
                  </a:lnTo>
                  <a:lnTo>
                    <a:pt x="0" y="1300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923049"/>
              <a:ext cx="4294287" cy="3839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05"/>
                </a:lnSpc>
              </a:pPr>
              <a:r>
                <a:rPr lang="en-US" sz="2005" b="1">
                  <a:solidFill>
                    <a:srgbClr val="1B2E9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HOMELESS SERVICES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3877" y="697155"/>
              <a:ext cx="3487211" cy="2795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45"/>
                </a:lnSpc>
                <a:spcBef>
                  <a:spcPct val="0"/>
                </a:spcBef>
              </a:pPr>
              <a:r>
                <a:rPr lang="en-US" sz="1246" b="1">
                  <a:solidFill>
                    <a:srgbClr val="1B2E9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COUNTY OF RIVERSIDE OFFICE OF 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2004749" y="2606055"/>
            <a:ext cx="1347466" cy="1351829"/>
          </a:xfrm>
          <a:custGeom>
            <a:avLst/>
            <a:gdLst/>
            <a:ahLst/>
            <a:cxnLst/>
            <a:rect l="l" t="t" r="r" b="b"/>
            <a:pathLst>
              <a:path w="1347466" h="1351829">
                <a:moveTo>
                  <a:pt x="0" y="0"/>
                </a:moveTo>
                <a:lnTo>
                  <a:pt x="1347467" y="0"/>
                </a:lnTo>
                <a:lnTo>
                  <a:pt x="1347467" y="1351829"/>
                </a:lnTo>
                <a:lnTo>
                  <a:pt x="0" y="13518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r="-3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2879615" y="2699488"/>
            <a:ext cx="1974698" cy="1098426"/>
          </a:xfrm>
          <a:custGeom>
            <a:avLst/>
            <a:gdLst/>
            <a:ahLst/>
            <a:cxnLst/>
            <a:rect l="l" t="t" r="r" b="b"/>
            <a:pathLst>
              <a:path w="1974698" h="1098426">
                <a:moveTo>
                  <a:pt x="0" y="0"/>
                </a:moveTo>
                <a:lnTo>
                  <a:pt x="1974698" y="0"/>
                </a:lnTo>
                <a:lnTo>
                  <a:pt x="1974698" y="1098425"/>
                </a:lnTo>
                <a:lnTo>
                  <a:pt x="0" y="10984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935464" y="8176536"/>
            <a:ext cx="3863000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Director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16414" y="7834884"/>
            <a:ext cx="3863000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HEIDI MARSHALL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83052" y="8176536"/>
            <a:ext cx="3863000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Deputy Director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54477" y="7834884"/>
            <a:ext cx="3863000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STEPHANIE ADAMS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709608" y="8176536"/>
            <a:ext cx="4203566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Principal Development Specialist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852474" y="7834884"/>
            <a:ext cx="3863000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ADRIANA ESCOBEDO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916414" y="8954844"/>
            <a:ext cx="3863000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HMARSHALL@RIVCO.ORG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454477" y="8954844"/>
            <a:ext cx="3863000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SJADAMS@RIVCO.ORG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852474" y="8954844"/>
            <a:ext cx="3863000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AESCOBEDO@RIVCO.ORG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680365" y="585893"/>
            <a:ext cx="7089218" cy="1943627"/>
            <a:chOff x="0" y="0"/>
            <a:chExt cx="9452291" cy="2591503"/>
          </a:xfrm>
        </p:grpSpPr>
        <p:grpSp>
          <p:nvGrpSpPr>
            <p:cNvPr id="44" name="Group 44"/>
            <p:cNvGrpSpPr/>
            <p:nvPr/>
          </p:nvGrpSpPr>
          <p:grpSpPr>
            <a:xfrm>
              <a:off x="604078" y="532785"/>
              <a:ext cx="1525933" cy="1525933"/>
              <a:chOff x="0" y="0"/>
              <a:chExt cx="812800" cy="8128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7" name="Freeform 47"/>
            <p:cNvSpPr/>
            <p:nvPr/>
          </p:nvSpPr>
          <p:spPr>
            <a:xfrm>
              <a:off x="0" y="0"/>
              <a:ext cx="9452291" cy="2591503"/>
            </a:xfrm>
            <a:custGeom>
              <a:avLst/>
              <a:gdLst/>
              <a:ahLst/>
              <a:cxnLst/>
              <a:rect l="l" t="t" r="r" b="b"/>
              <a:pathLst>
                <a:path w="9452291" h="2591503">
                  <a:moveTo>
                    <a:pt x="0" y="0"/>
                  </a:moveTo>
                  <a:lnTo>
                    <a:pt x="9452291" y="0"/>
                  </a:lnTo>
                  <a:lnTo>
                    <a:pt x="9452291" y="2591503"/>
                  </a:lnTo>
                  <a:lnTo>
                    <a:pt x="0" y="2591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893</Words>
  <Application>Microsoft Office PowerPoint</Application>
  <PresentationFormat>Custom</PresentationFormat>
  <Paragraphs>155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Poppins Bold</vt:lpstr>
      <vt:lpstr>League Spartan</vt:lpstr>
      <vt:lpstr>Glacial Indifference Bold</vt:lpstr>
      <vt:lpstr>Glacial Indifference</vt:lpstr>
      <vt:lpstr>Maharlika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Connecting Workforce &amp; Housing HWS Presentation</dc:title>
  <dc:creator>Escobedo, Adriana</dc:creator>
  <cp:lastModifiedBy>Adams, Stephanie</cp:lastModifiedBy>
  <cp:revision>4</cp:revision>
  <dcterms:created xsi:type="dcterms:W3CDTF">2006-08-16T00:00:00Z</dcterms:created>
  <dcterms:modified xsi:type="dcterms:W3CDTF">2026-08-26T20:03:08Z</dcterms:modified>
  <dc:identifier>DAHS31tpekQ</dc:identifier>
</cp:coreProperties>
</file>