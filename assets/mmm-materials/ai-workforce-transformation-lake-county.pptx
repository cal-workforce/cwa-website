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02" r:id="rId4"/>
  </p:sldMasterIdLst>
  <p:notesMasterIdLst>
    <p:notesMasterId r:id="rId36"/>
  </p:notesMasterIdLst>
  <p:handoutMasterIdLst>
    <p:handoutMasterId r:id="rId37"/>
  </p:handoutMasterIdLst>
  <p:sldIdLst>
    <p:sldId id="2147483461" r:id="rId5"/>
    <p:sldId id="2147483467" r:id="rId6"/>
    <p:sldId id="397" r:id="rId7"/>
    <p:sldId id="2147483465" r:id="rId8"/>
    <p:sldId id="1661" r:id="rId9"/>
    <p:sldId id="1677" r:id="rId10"/>
    <p:sldId id="2147483468" r:id="rId11"/>
    <p:sldId id="2147483458" r:id="rId12"/>
    <p:sldId id="1663" r:id="rId13"/>
    <p:sldId id="1683" r:id="rId14"/>
    <p:sldId id="1682" r:id="rId15"/>
    <p:sldId id="2147483453" r:id="rId16"/>
    <p:sldId id="260" r:id="rId17"/>
    <p:sldId id="1691" r:id="rId18"/>
    <p:sldId id="261" r:id="rId19"/>
    <p:sldId id="259" r:id="rId20"/>
    <p:sldId id="2147483466" r:id="rId21"/>
    <p:sldId id="2147483452" r:id="rId22"/>
    <p:sldId id="264" r:id="rId23"/>
    <p:sldId id="265" r:id="rId24"/>
    <p:sldId id="266" r:id="rId25"/>
    <p:sldId id="268" r:id="rId26"/>
    <p:sldId id="2147483454" r:id="rId27"/>
    <p:sldId id="2147483464" r:id="rId28"/>
    <p:sldId id="2147483459" r:id="rId29"/>
    <p:sldId id="2147483455" r:id="rId30"/>
    <p:sldId id="2147483451" r:id="rId31"/>
    <p:sldId id="2147483463" r:id="rId32"/>
    <p:sldId id="267" r:id="rId33"/>
    <p:sldId id="2147483460" r:id="rId34"/>
    <p:sldId id="451" r:id="rId35"/>
  </p:sldIdLst>
  <p:sldSz cx="12192000" cy="6858000"/>
  <p:notesSz cx="7315200" cy="9601200"/>
  <p:embeddedFontLs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boldItalic r:id="rId43"/>
    </p:embeddedFont>
    <p:embeddedFont>
      <p:font typeface="Poppins" panose="00000500000000000000" pitchFamily="2" charset="0"/>
      <p:regular r:id="rId44"/>
      <p:bold r:id="rId45"/>
      <p:italic r:id="rId46"/>
      <p:boldItalic r:id="rId47"/>
    </p:embeddedFont>
    <p:embeddedFont>
      <p:font typeface="Poppins Bold" panose="00000800000000000000" pitchFamily="2" charset="0"/>
      <p:bold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s, Ashannti" initials="RA" lastIdx="1" clrIdx="0">
    <p:extLst>
      <p:ext uri="{19B8F6BF-5375-455C-9EA6-DF929625EA0E}">
        <p15:presenceInfo xmlns:p15="http://schemas.microsoft.com/office/powerpoint/2012/main" userId="S::ARoss@lakecountyil.gov::cf9f6131-2d7f-47e0-8ee9-8dc4ab8d20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3084"/>
    <a:srgbClr val="044692"/>
    <a:srgbClr val="F78026"/>
    <a:srgbClr val="FFDDDD"/>
    <a:srgbClr val="C4112F"/>
    <a:srgbClr val="FFB9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6.xml"/><Relationship Id="rId41" Type="http://schemas.openxmlformats.org/officeDocument/2006/relationships/font" Target="fonts/font4.fntdata"/><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Nordstrom" userId="26f2b578-9168-4d94-8d85-ca90246bc72b" providerId="ADAL" clId="{607526A5-D01C-40A2-8E09-27CC1AA35686}"/>
    <pc:docChg chg="custSel modSld">
      <pc:chgData name="Eric Nordstrom" userId="26f2b578-9168-4d94-8d85-ca90246bc72b" providerId="ADAL" clId="{607526A5-D01C-40A2-8E09-27CC1AA35686}" dt="2026-09-09T16:50:23.494" v="157" actId="207"/>
      <pc:docMkLst>
        <pc:docMk/>
      </pc:docMkLst>
      <pc:sldChg chg="modSp mod">
        <pc:chgData name="Eric Nordstrom" userId="26f2b578-9168-4d94-8d85-ca90246bc72b" providerId="ADAL" clId="{607526A5-D01C-40A2-8E09-27CC1AA35686}" dt="2026-09-09T16:50:23.494" v="157" actId="207"/>
        <pc:sldMkLst>
          <pc:docMk/>
          <pc:sldMk cId="643308780" sldId="1677"/>
        </pc:sldMkLst>
        <pc:spChg chg="mod">
          <ac:chgData name="Eric Nordstrom" userId="26f2b578-9168-4d94-8d85-ca90246bc72b" providerId="ADAL" clId="{607526A5-D01C-40A2-8E09-27CC1AA35686}" dt="2026-09-09T16:50:23.494" v="157" actId="207"/>
          <ac:spMkLst>
            <pc:docMk/>
            <pc:sldMk cId="643308780" sldId="1677"/>
            <ac:spMk id="5" creationId="{714232DF-42D6-7385-0B84-97E95C1FFC6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2"/>
            <a:ext cx="3271864" cy="475390"/>
          </a:xfrm>
          <a:prstGeom prst="rect">
            <a:avLst/>
          </a:prstGeom>
        </p:spPr>
        <p:txBody>
          <a:bodyPr vert="horz" lIns="96651" tIns="48325" rIns="96651" bIns="48325" rtlCol="0"/>
          <a:lstStyle>
            <a:lvl1pPr algn="l">
              <a:defRPr sz="1200"/>
            </a:lvl1pPr>
          </a:lstStyle>
          <a:p>
            <a:endParaRPr lang="en-US"/>
          </a:p>
        </p:txBody>
      </p:sp>
      <p:sp>
        <p:nvSpPr>
          <p:cNvPr id="3" name="Date Placeholder 2"/>
          <p:cNvSpPr>
            <a:spLocks noGrp="1"/>
          </p:cNvSpPr>
          <p:nvPr>
            <p:ph type="dt" sz="quarter" idx="1"/>
          </p:nvPr>
        </p:nvSpPr>
        <p:spPr>
          <a:xfrm>
            <a:off x="4275312" y="2"/>
            <a:ext cx="3271864" cy="475390"/>
          </a:xfrm>
          <a:prstGeom prst="rect">
            <a:avLst/>
          </a:prstGeom>
        </p:spPr>
        <p:txBody>
          <a:bodyPr vert="horz" lIns="96651" tIns="48325" rIns="96651" bIns="48325" rtlCol="0"/>
          <a:lstStyle>
            <a:lvl1pPr algn="r">
              <a:defRPr sz="1200"/>
            </a:lvl1pPr>
          </a:lstStyle>
          <a:p>
            <a:fld id="{2588E047-BA61-4597-A1E7-B36F69BE2C71}" type="datetimeFigureOut">
              <a:rPr lang="en-US" smtClean="0"/>
              <a:t>9/9/2026</a:t>
            </a:fld>
            <a:endParaRPr lang="en-US"/>
          </a:p>
        </p:txBody>
      </p:sp>
      <p:sp>
        <p:nvSpPr>
          <p:cNvPr id="4" name="Footer Placeholder 3"/>
          <p:cNvSpPr>
            <a:spLocks noGrp="1"/>
          </p:cNvSpPr>
          <p:nvPr>
            <p:ph type="ftr" sz="quarter" idx="2"/>
          </p:nvPr>
        </p:nvSpPr>
        <p:spPr>
          <a:xfrm>
            <a:off x="7" y="9027501"/>
            <a:ext cx="3271864" cy="475390"/>
          </a:xfrm>
          <a:prstGeom prst="rect">
            <a:avLst/>
          </a:prstGeom>
        </p:spPr>
        <p:txBody>
          <a:bodyPr vert="horz" lIns="96651" tIns="48325" rIns="96651" bIns="48325" rtlCol="0" anchor="b"/>
          <a:lstStyle>
            <a:lvl1pPr algn="l">
              <a:defRPr sz="1200"/>
            </a:lvl1pPr>
          </a:lstStyle>
          <a:p>
            <a:endParaRPr lang="en-US"/>
          </a:p>
        </p:txBody>
      </p:sp>
      <p:sp>
        <p:nvSpPr>
          <p:cNvPr id="5" name="Slide Number Placeholder 4"/>
          <p:cNvSpPr>
            <a:spLocks noGrp="1"/>
          </p:cNvSpPr>
          <p:nvPr>
            <p:ph type="sldNum" sz="quarter" idx="3"/>
          </p:nvPr>
        </p:nvSpPr>
        <p:spPr>
          <a:xfrm>
            <a:off x="4275312" y="9027501"/>
            <a:ext cx="3271864" cy="475390"/>
          </a:xfrm>
          <a:prstGeom prst="rect">
            <a:avLst/>
          </a:prstGeom>
        </p:spPr>
        <p:txBody>
          <a:bodyPr vert="horz" lIns="96651" tIns="48325" rIns="96651" bIns="48325" rtlCol="0" anchor="b"/>
          <a:lstStyle>
            <a:lvl1pPr algn="r">
              <a:defRPr sz="1200"/>
            </a:lvl1pPr>
          </a:lstStyle>
          <a:p>
            <a:fld id="{F25E08DF-E902-4788-A089-B7EA724DC23E}" type="slidenum">
              <a:rPr lang="en-US" smtClean="0"/>
              <a:t>‹#›</a:t>
            </a:fld>
            <a:endParaRPr lang="en-US"/>
          </a:p>
        </p:txBody>
      </p:sp>
    </p:spTree>
    <p:extLst>
      <p:ext uri="{BB962C8B-B14F-4D97-AF65-F5344CB8AC3E}">
        <p14:creationId xmlns:p14="http://schemas.microsoft.com/office/powerpoint/2010/main" val="3258541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271182" cy="475226"/>
          </a:xfrm>
          <a:prstGeom prst="rect">
            <a:avLst/>
          </a:prstGeom>
        </p:spPr>
        <p:txBody>
          <a:bodyPr vert="horz" lIns="98119" tIns="49060" rIns="98119" bIns="49060" rtlCol="0"/>
          <a:lstStyle>
            <a:lvl1pPr algn="l">
              <a:defRPr sz="1200"/>
            </a:lvl1pPr>
          </a:lstStyle>
          <a:p>
            <a:endParaRPr lang="en-US"/>
          </a:p>
        </p:txBody>
      </p:sp>
      <p:sp>
        <p:nvSpPr>
          <p:cNvPr id="3" name="Date Placeholder 2"/>
          <p:cNvSpPr>
            <a:spLocks noGrp="1"/>
          </p:cNvSpPr>
          <p:nvPr>
            <p:ph type="dt" idx="1"/>
          </p:nvPr>
        </p:nvSpPr>
        <p:spPr>
          <a:xfrm>
            <a:off x="4275953" y="1"/>
            <a:ext cx="3271182" cy="475226"/>
          </a:xfrm>
          <a:prstGeom prst="rect">
            <a:avLst/>
          </a:prstGeom>
        </p:spPr>
        <p:txBody>
          <a:bodyPr vert="horz" lIns="98119" tIns="49060" rIns="98119" bIns="49060" rtlCol="0"/>
          <a:lstStyle>
            <a:lvl1pPr algn="r">
              <a:defRPr sz="1200"/>
            </a:lvl1pPr>
          </a:lstStyle>
          <a:p>
            <a:fld id="{92B7CB1B-5C75-4870-B701-2858CDE1C2FB}" type="datetimeFigureOut">
              <a:rPr lang="en-US" smtClean="0"/>
              <a:pPr/>
              <a:t>9/9/2026</a:t>
            </a:fld>
            <a:endParaRPr lang="en-US"/>
          </a:p>
        </p:txBody>
      </p:sp>
      <p:sp>
        <p:nvSpPr>
          <p:cNvPr id="4" name="Slide Image Placeholder 3"/>
          <p:cNvSpPr>
            <a:spLocks noGrp="1" noRot="1" noChangeAspect="1"/>
          </p:cNvSpPr>
          <p:nvPr>
            <p:ph type="sldImg" idx="2"/>
          </p:nvPr>
        </p:nvSpPr>
        <p:spPr>
          <a:xfrm>
            <a:off x="606425" y="711200"/>
            <a:ext cx="6337300" cy="3565525"/>
          </a:xfrm>
          <a:prstGeom prst="rect">
            <a:avLst/>
          </a:prstGeom>
          <a:noFill/>
          <a:ln w="12700">
            <a:solidFill>
              <a:prstClr val="black"/>
            </a:solidFill>
          </a:ln>
        </p:spPr>
        <p:txBody>
          <a:bodyPr vert="horz" lIns="98119" tIns="49060" rIns="98119" bIns="49060" rtlCol="0" anchor="ctr"/>
          <a:lstStyle/>
          <a:p>
            <a:endParaRPr lang="en-US"/>
          </a:p>
        </p:txBody>
      </p:sp>
      <p:sp>
        <p:nvSpPr>
          <p:cNvPr id="5" name="Notes Placeholder 4"/>
          <p:cNvSpPr>
            <a:spLocks noGrp="1"/>
          </p:cNvSpPr>
          <p:nvPr>
            <p:ph type="body" sz="quarter" idx="3"/>
          </p:nvPr>
        </p:nvSpPr>
        <p:spPr>
          <a:xfrm>
            <a:off x="754888" y="4514649"/>
            <a:ext cx="6039104" cy="4277034"/>
          </a:xfrm>
          <a:prstGeom prst="rect">
            <a:avLst/>
          </a:prstGeom>
        </p:spPr>
        <p:txBody>
          <a:bodyPr vert="horz" lIns="98119" tIns="49060" rIns="98119" bIns="4906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027646"/>
            <a:ext cx="3271182" cy="475226"/>
          </a:xfrm>
          <a:prstGeom prst="rect">
            <a:avLst/>
          </a:prstGeom>
        </p:spPr>
        <p:txBody>
          <a:bodyPr vert="horz" lIns="98119" tIns="49060" rIns="98119" bIns="49060" rtlCol="0" anchor="b"/>
          <a:lstStyle>
            <a:lvl1pPr algn="l">
              <a:defRPr sz="1200"/>
            </a:lvl1pPr>
          </a:lstStyle>
          <a:p>
            <a:endParaRPr lang="en-US"/>
          </a:p>
        </p:txBody>
      </p:sp>
      <p:sp>
        <p:nvSpPr>
          <p:cNvPr id="7" name="Slide Number Placeholder 6"/>
          <p:cNvSpPr>
            <a:spLocks noGrp="1"/>
          </p:cNvSpPr>
          <p:nvPr>
            <p:ph type="sldNum" sz="quarter" idx="5"/>
          </p:nvPr>
        </p:nvSpPr>
        <p:spPr>
          <a:xfrm>
            <a:off x="4275953" y="9027646"/>
            <a:ext cx="3271182" cy="475226"/>
          </a:xfrm>
          <a:prstGeom prst="rect">
            <a:avLst/>
          </a:prstGeom>
        </p:spPr>
        <p:txBody>
          <a:bodyPr vert="horz" lIns="98119" tIns="49060" rIns="98119" bIns="49060" rtlCol="0" anchor="b"/>
          <a:lstStyle>
            <a:lvl1pPr algn="r">
              <a:defRPr sz="1200"/>
            </a:lvl1pPr>
          </a:lstStyle>
          <a:p>
            <a:fld id="{3781A5EA-C2E9-4039-9713-25DBFBF2006D}" type="slidenum">
              <a:rPr lang="en-US" smtClean="0"/>
              <a:pPr/>
              <a:t>‹#›</a:t>
            </a:fld>
            <a:endParaRPr lang="en-US"/>
          </a:p>
        </p:txBody>
      </p:sp>
    </p:spTree>
    <p:extLst>
      <p:ext uri="{BB962C8B-B14F-4D97-AF65-F5344CB8AC3E}">
        <p14:creationId xmlns:p14="http://schemas.microsoft.com/office/powerpoint/2010/main" val="875592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6DE1F-E5BB-7F3E-AEED-83F8A45213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73DC1-3D47-D0CE-EAB0-68571EDFBAC8}"/>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389C1315-C685-633B-327A-948C6EE33B33}"/>
              </a:ext>
            </a:extLst>
          </p:cNvPr>
          <p:cNvSpPr>
            <a:spLocks noGrp="1"/>
          </p:cNvSpPr>
          <p:nvPr>
            <p:ph type="body" idx="1"/>
          </p:nvPr>
        </p:nvSpPr>
        <p:spPr/>
        <p:txBody>
          <a:bodyPr/>
          <a:lstStyle/>
          <a:p>
            <a:r>
              <a:rPr lang="en-US"/>
              <a:t>Welcome - Rason</a:t>
            </a:r>
          </a:p>
        </p:txBody>
      </p:sp>
      <p:sp>
        <p:nvSpPr>
          <p:cNvPr id="4" name="Slide Number Placeholder 3">
            <a:extLst>
              <a:ext uri="{FF2B5EF4-FFF2-40B4-BE49-F238E27FC236}">
                <a16:creationId xmlns:a16="http://schemas.microsoft.com/office/drawing/2014/main" id="{2AF7459D-F1F1-0F1E-1485-C899F7FFF85A}"/>
              </a:ext>
            </a:extLst>
          </p:cNvPr>
          <p:cNvSpPr>
            <a:spLocks noGrp="1"/>
          </p:cNvSpPr>
          <p:nvPr>
            <p:ph type="sldNum" sz="quarter" idx="10"/>
          </p:nvPr>
        </p:nvSpPr>
        <p:spPr/>
        <p:txBody>
          <a:bodyPr/>
          <a:lstStyle/>
          <a:p>
            <a:fld id="{3781A5EA-C2E9-4039-9713-25DBFBF2006D}" type="slidenum">
              <a:rPr lang="en-US" smtClean="0"/>
              <a:pPr/>
              <a:t>1</a:t>
            </a:fld>
            <a:endParaRPr lang="en-US"/>
          </a:p>
        </p:txBody>
      </p:sp>
    </p:spTree>
    <p:extLst>
      <p:ext uri="{BB962C8B-B14F-4D97-AF65-F5344CB8AC3E}">
        <p14:creationId xmlns:p14="http://schemas.microsoft.com/office/powerpoint/2010/main" val="1029145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9F1DD-D600-8526-76EF-86A5AF6B9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B033F-1868-1E2D-8ED7-5500533B554D}"/>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888D98CF-A3C9-F312-7674-EB8F26ED3E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340DE-E7A7-172E-251E-A32FCFB129F0}"/>
              </a:ext>
            </a:extLst>
          </p:cNvPr>
          <p:cNvSpPr>
            <a:spLocks noGrp="1"/>
          </p:cNvSpPr>
          <p:nvPr>
            <p:ph type="sldNum" sz="quarter" idx="10"/>
          </p:nvPr>
        </p:nvSpPr>
        <p:spPr/>
        <p:txBody>
          <a:bodyPr/>
          <a:lstStyle/>
          <a:p>
            <a:fld id="{3781A5EA-C2E9-4039-9713-25DBFBF2006D}" type="slidenum">
              <a:rPr lang="en-US" smtClean="0"/>
              <a:pPr/>
              <a:t>2</a:t>
            </a:fld>
            <a:endParaRPr lang="en-US"/>
          </a:p>
        </p:txBody>
      </p:sp>
    </p:spTree>
    <p:extLst>
      <p:ext uri="{BB962C8B-B14F-4D97-AF65-F5344CB8AC3E}">
        <p14:creationId xmlns:p14="http://schemas.microsoft.com/office/powerpoint/2010/main" val="663639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66738" y="695325"/>
            <a:ext cx="6196012" cy="3486150"/>
          </a:xfrm>
        </p:spPr>
        <p:txBody>
          <a:bodyPr/>
          <a:lstStyle/>
          <a:p>
            <a:endParaRPr lang="en-US"/>
          </a:p>
        </p:txBody>
      </p:sp>
      <p:sp>
        <p:nvSpPr>
          <p:cNvPr id="3" name="Notes Placeholder 2"/>
          <p:cNvSpPr>
            <a:spLocks noGrp="1"/>
          </p:cNvSpPr>
          <p:nvPr>
            <p:ph type="body" idx="1"/>
          </p:nvPr>
        </p:nvSpPr>
        <p:spPr/>
        <p:txBody>
          <a:bodyPr/>
          <a:lstStyle/>
          <a:p>
            <a:r>
              <a:rPr lang="en-US"/>
              <a:t>Rason- Welcome &amp; Introduction of speakers</a:t>
            </a:r>
          </a:p>
          <a:p>
            <a:r>
              <a:rPr lang="en-US"/>
              <a:t>Lake County Workforce Development AI Initiative – Jen S</a:t>
            </a:r>
          </a:p>
          <a:p>
            <a:r>
              <a:rPr lang="en-US"/>
              <a:t>AI Research and Impact – Clark</a:t>
            </a:r>
          </a:p>
          <a:p>
            <a:r>
              <a:rPr lang="en-US"/>
              <a:t>Q &amp; A – Rason</a:t>
            </a:r>
          </a:p>
          <a:p>
            <a:r>
              <a:rPr lang="en-US"/>
              <a:t>Closing Remarks - Eric</a:t>
            </a:r>
          </a:p>
        </p:txBody>
      </p:sp>
      <p:sp>
        <p:nvSpPr>
          <p:cNvPr id="4" name="Slide Number Placeholder 3"/>
          <p:cNvSpPr>
            <a:spLocks noGrp="1"/>
          </p:cNvSpPr>
          <p:nvPr>
            <p:ph type="sldNum" sz="quarter" idx="10"/>
          </p:nvPr>
        </p:nvSpPr>
        <p:spPr/>
        <p:txBody>
          <a:bodyPr/>
          <a:lstStyle/>
          <a:p>
            <a:fld id="{3781A5EA-C2E9-4039-9713-25DBFBF2006D}" type="slidenum">
              <a:rPr lang="en-US" smtClean="0"/>
              <a:pPr/>
              <a:t>3</a:t>
            </a:fld>
            <a:endParaRPr lang="en-US"/>
          </a:p>
        </p:txBody>
      </p:sp>
    </p:spTree>
    <p:extLst>
      <p:ext uri="{BB962C8B-B14F-4D97-AF65-F5344CB8AC3E}">
        <p14:creationId xmlns:p14="http://schemas.microsoft.com/office/powerpoint/2010/main" val="1673009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D7A59-C6A6-D7FD-B76A-EC7974EE5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02779-48DA-8F71-5248-B882547323AF}"/>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C227892B-C9C7-68D1-FA79-A8CD765131CE}"/>
              </a:ext>
            </a:extLst>
          </p:cNvPr>
          <p:cNvSpPr>
            <a:spLocks noGrp="1"/>
          </p:cNvSpPr>
          <p:nvPr>
            <p:ph type="body" idx="1"/>
          </p:nvPr>
        </p:nvSpPr>
        <p:spPr/>
        <p:txBody>
          <a:bodyPr/>
          <a:lstStyle/>
          <a:p>
            <a:r>
              <a:rPr lang="en-US"/>
              <a:t>Welcome - Rason</a:t>
            </a:r>
          </a:p>
        </p:txBody>
      </p:sp>
      <p:sp>
        <p:nvSpPr>
          <p:cNvPr id="4" name="Slide Number Placeholder 3">
            <a:extLst>
              <a:ext uri="{FF2B5EF4-FFF2-40B4-BE49-F238E27FC236}">
                <a16:creationId xmlns:a16="http://schemas.microsoft.com/office/drawing/2014/main" id="{75A58E1F-8CE9-81CF-468D-BE33AF3F3B77}"/>
              </a:ext>
            </a:extLst>
          </p:cNvPr>
          <p:cNvSpPr>
            <a:spLocks noGrp="1"/>
          </p:cNvSpPr>
          <p:nvPr>
            <p:ph type="sldNum" sz="quarter" idx="10"/>
          </p:nvPr>
        </p:nvSpPr>
        <p:spPr/>
        <p:txBody>
          <a:bodyPr/>
          <a:lstStyle/>
          <a:p>
            <a:fld id="{3781A5EA-C2E9-4039-9713-25DBFBF2006D}" type="slidenum">
              <a:rPr lang="en-US" smtClean="0"/>
              <a:pPr/>
              <a:t>4</a:t>
            </a:fld>
            <a:endParaRPr lang="en-US"/>
          </a:p>
        </p:txBody>
      </p:sp>
    </p:spTree>
    <p:extLst>
      <p:ext uri="{BB962C8B-B14F-4D97-AF65-F5344CB8AC3E}">
        <p14:creationId xmlns:p14="http://schemas.microsoft.com/office/powerpoint/2010/main" val="933783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04D08-7F92-5012-4EA4-DD96D8AF8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8D0B5-42DC-67B6-D977-806D1468FE07}"/>
              </a:ext>
            </a:extLst>
          </p:cNvPr>
          <p:cNvSpPr>
            <a:spLocks noGrp="1" noRot="1" noChangeAspect="1"/>
          </p:cNvSpPr>
          <p:nvPr>
            <p:ph type="sldImg"/>
          </p:nvPr>
        </p:nvSpPr>
        <p:spPr>
          <a:xfrm>
            <a:off x="606425" y="711200"/>
            <a:ext cx="6337300" cy="3565525"/>
          </a:xfrm>
        </p:spPr>
        <p:txBody>
          <a:bodyPr/>
          <a:lstStyle/>
          <a:p>
            <a:endParaRPr lang="en-US"/>
          </a:p>
        </p:txBody>
      </p:sp>
      <p:sp>
        <p:nvSpPr>
          <p:cNvPr id="3" name="Notes Placeholder 2">
            <a:extLst>
              <a:ext uri="{FF2B5EF4-FFF2-40B4-BE49-F238E27FC236}">
                <a16:creationId xmlns:a16="http://schemas.microsoft.com/office/drawing/2014/main" id="{A0BDF50A-D29E-A464-AC96-CD68FF49EDB8}"/>
              </a:ext>
            </a:extLst>
          </p:cNvPr>
          <p:cNvSpPr>
            <a:spLocks noGrp="1"/>
          </p:cNvSpPr>
          <p:nvPr>
            <p:ph type="body" idx="1"/>
          </p:nvPr>
        </p:nvSpPr>
        <p:spPr/>
        <p:txBody>
          <a:bodyPr/>
          <a:lstStyle/>
          <a:p>
            <a:r>
              <a:rPr lang="en-US"/>
              <a:t>Eric/Rason</a:t>
            </a:r>
          </a:p>
        </p:txBody>
      </p:sp>
      <p:sp>
        <p:nvSpPr>
          <p:cNvPr id="4" name="Slide Number Placeholder 3">
            <a:extLst>
              <a:ext uri="{FF2B5EF4-FFF2-40B4-BE49-F238E27FC236}">
                <a16:creationId xmlns:a16="http://schemas.microsoft.com/office/drawing/2014/main" id="{72D12D7F-DB97-A10D-1818-647A291A1A77}"/>
              </a:ext>
            </a:extLst>
          </p:cNvPr>
          <p:cNvSpPr>
            <a:spLocks noGrp="1"/>
          </p:cNvSpPr>
          <p:nvPr>
            <p:ph type="sldNum" sz="quarter" idx="10"/>
          </p:nvPr>
        </p:nvSpPr>
        <p:spPr/>
        <p:txBody>
          <a:bodyPr/>
          <a:lstStyle/>
          <a:p>
            <a:fld id="{3781A5EA-C2E9-4039-9713-25DBFBF2006D}" type="slidenum">
              <a:rPr lang="en-US" smtClean="0"/>
              <a:pPr/>
              <a:t>5</a:t>
            </a:fld>
            <a:endParaRPr lang="en-US"/>
          </a:p>
        </p:txBody>
      </p:sp>
    </p:spTree>
    <p:extLst>
      <p:ext uri="{BB962C8B-B14F-4D97-AF65-F5344CB8AC3E}">
        <p14:creationId xmlns:p14="http://schemas.microsoft.com/office/powerpoint/2010/main" val="2152776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AED17-2D31-C77E-5EC7-D6B8BECFC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74FBB-4D6E-F0C2-62B7-F5D57EB10A96}"/>
              </a:ext>
            </a:extLst>
          </p:cNvPr>
          <p:cNvSpPr>
            <a:spLocks noGrp="1" noRot="1" noChangeAspect="1"/>
          </p:cNvSpPr>
          <p:nvPr>
            <p:ph type="sldImg"/>
          </p:nvPr>
        </p:nvSpPr>
        <p:spPr>
          <a:xfrm>
            <a:off x="606425" y="711200"/>
            <a:ext cx="6337300" cy="3565525"/>
          </a:xfrm>
        </p:spPr>
        <p:txBody>
          <a:bodyPr/>
          <a:lstStyle/>
          <a:p>
            <a:endParaRPr lang="en-US"/>
          </a:p>
        </p:txBody>
      </p:sp>
      <p:sp>
        <p:nvSpPr>
          <p:cNvPr id="3" name="Notes Placeholder 2">
            <a:extLst>
              <a:ext uri="{FF2B5EF4-FFF2-40B4-BE49-F238E27FC236}">
                <a16:creationId xmlns:a16="http://schemas.microsoft.com/office/drawing/2014/main" id="{6921DF14-3088-F62E-7CC0-2E4111E59B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1C5BD0-38CF-DBA8-F2E3-4782FBEF8620}"/>
              </a:ext>
            </a:extLst>
          </p:cNvPr>
          <p:cNvSpPr>
            <a:spLocks noGrp="1"/>
          </p:cNvSpPr>
          <p:nvPr>
            <p:ph type="sldNum" sz="quarter" idx="10"/>
          </p:nvPr>
        </p:nvSpPr>
        <p:spPr/>
        <p:txBody>
          <a:bodyPr/>
          <a:lstStyle/>
          <a:p>
            <a:fld id="{3781A5EA-C2E9-4039-9713-25DBFBF2006D}" type="slidenum">
              <a:rPr lang="en-US" smtClean="0"/>
              <a:pPr/>
              <a:t>6</a:t>
            </a:fld>
            <a:endParaRPr lang="en-US"/>
          </a:p>
        </p:txBody>
      </p:sp>
    </p:spTree>
    <p:extLst>
      <p:ext uri="{BB962C8B-B14F-4D97-AF65-F5344CB8AC3E}">
        <p14:creationId xmlns:p14="http://schemas.microsoft.com/office/powerpoint/2010/main" val="3816048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F7972-8790-47B0-E3DD-D87C0A5EB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D9FF8-DE53-FE86-C221-E533A6F7E75F}"/>
              </a:ext>
            </a:extLst>
          </p:cNvPr>
          <p:cNvSpPr>
            <a:spLocks noGrp="1" noRot="1" noChangeAspect="1"/>
          </p:cNvSpPr>
          <p:nvPr>
            <p:ph type="sldImg"/>
          </p:nvPr>
        </p:nvSpPr>
        <p:spPr>
          <a:xfrm>
            <a:off x="606425" y="711200"/>
            <a:ext cx="6337300" cy="3565525"/>
          </a:xfrm>
        </p:spPr>
        <p:txBody>
          <a:bodyPr/>
          <a:lstStyle/>
          <a:p>
            <a:endParaRPr lang="en-US"/>
          </a:p>
        </p:txBody>
      </p:sp>
      <p:sp>
        <p:nvSpPr>
          <p:cNvPr id="3" name="Notes Placeholder 2">
            <a:extLst>
              <a:ext uri="{FF2B5EF4-FFF2-40B4-BE49-F238E27FC236}">
                <a16:creationId xmlns:a16="http://schemas.microsoft.com/office/drawing/2014/main" id="{5AB47B7D-CD4C-9F68-4B02-C01E300BA4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8A3E3D-9956-2CB2-2540-8D09E9DB2EA5}"/>
              </a:ext>
            </a:extLst>
          </p:cNvPr>
          <p:cNvSpPr>
            <a:spLocks noGrp="1"/>
          </p:cNvSpPr>
          <p:nvPr>
            <p:ph type="sldNum" sz="quarter" idx="10"/>
          </p:nvPr>
        </p:nvSpPr>
        <p:spPr/>
        <p:txBody>
          <a:bodyPr/>
          <a:lstStyle/>
          <a:p>
            <a:fld id="{3781A5EA-C2E9-4039-9713-25DBFBF2006D}" type="slidenum">
              <a:rPr lang="en-US" smtClean="0"/>
              <a:pPr/>
              <a:t>7</a:t>
            </a:fld>
            <a:endParaRPr lang="en-US"/>
          </a:p>
        </p:txBody>
      </p:sp>
    </p:spTree>
    <p:extLst>
      <p:ext uri="{BB962C8B-B14F-4D97-AF65-F5344CB8AC3E}">
        <p14:creationId xmlns:p14="http://schemas.microsoft.com/office/powerpoint/2010/main" val="1059043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C0C27-8EA0-6A07-750B-934C53DF0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98EDD-D0F3-B699-CA8B-8487E57EF58D}"/>
              </a:ext>
            </a:extLst>
          </p:cNvPr>
          <p:cNvSpPr>
            <a:spLocks noGrp="1" noRot="1" noChangeAspect="1"/>
          </p:cNvSpPr>
          <p:nvPr>
            <p:ph type="sldImg"/>
          </p:nvPr>
        </p:nvSpPr>
        <p:spPr>
          <a:xfrm>
            <a:off x="606425" y="711200"/>
            <a:ext cx="6337300" cy="3565525"/>
          </a:xfrm>
        </p:spPr>
        <p:txBody>
          <a:bodyPr/>
          <a:lstStyle/>
          <a:p>
            <a:endParaRPr lang="en-US"/>
          </a:p>
        </p:txBody>
      </p:sp>
      <p:sp>
        <p:nvSpPr>
          <p:cNvPr id="3" name="Notes Placeholder 2">
            <a:extLst>
              <a:ext uri="{FF2B5EF4-FFF2-40B4-BE49-F238E27FC236}">
                <a16:creationId xmlns:a16="http://schemas.microsoft.com/office/drawing/2014/main" id="{87E78F85-3B5C-0756-FCD2-EE08A3506060}"/>
              </a:ext>
            </a:extLst>
          </p:cNvPr>
          <p:cNvSpPr>
            <a:spLocks noGrp="1"/>
          </p:cNvSpPr>
          <p:nvPr>
            <p:ph type="body" idx="1"/>
          </p:nvPr>
        </p:nvSpPr>
        <p:spPr/>
        <p:txBody>
          <a:bodyPr/>
          <a:lstStyle/>
          <a:p>
            <a:r>
              <a:rPr lang="en-US"/>
              <a:t>Rason</a:t>
            </a:r>
          </a:p>
        </p:txBody>
      </p:sp>
      <p:sp>
        <p:nvSpPr>
          <p:cNvPr id="4" name="Slide Number Placeholder 3">
            <a:extLst>
              <a:ext uri="{FF2B5EF4-FFF2-40B4-BE49-F238E27FC236}">
                <a16:creationId xmlns:a16="http://schemas.microsoft.com/office/drawing/2014/main" id="{898ED49C-52E1-6372-82F9-D0EE38C678E5}"/>
              </a:ext>
            </a:extLst>
          </p:cNvPr>
          <p:cNvSpPr>
            <a:spLocks noGrp="1"/>
          </p:cNvSpPr>
          <p:nvPr>
            <p:ph type="sldNum" sz="quarter" idx="10"/>
          </p:nvPr>
        </p:nvSpPr>
        <p:spPr/>
        <p:txBody>
          <a:bodyPr/>
          <a:lstStyle/>
          <a:p>
            <a:fld id="{3781A5EA-C2E9-4039-9713-25DBFBF2006D}" type="slidenum">
              <a:rPr lang="en-US" smtClean="0"/>
              <a:pPr/>
              <a:t>8</a:t>
            </a:fld>
            <a:endParaRPr lang="en-US"/>
          </a:p>
        </p:txBody>
      </p:sp>
    </p:spTree>
    <p:extLst>
      <p:ext uri="{BB962C8B-B14F-4D97-AF65-F5344CB8AC3E}">
        <p14:creationId xmlns:p14="http://schemas.microsoft.com/office/powerpoint/2010/main" val="3593811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8AE8-A17F-8966-9BFD-9BC3EF84A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65CF7-D482-93A1-9EB7-2098FD0CA548}"/>
              </a:ext>
            </a:extLst>
          </p:cNvPr>
          <p:cNvSpPr>
            <a:spLocks noGrp="1" noRot="1" noChangeAspect="1"/>
          </p:cNvSpPr>
          <p:nvPr>
            <p:ph type="sldImg"/>
          </p:nvPr>
        </p:nvSpPr>
        <p:spPr>
          <a:xfrm>
            <a:off x="606425" y="711200"/>
            <a:ext cx="6337300" cy="3565525"/>
          </a:xfrm>
        </p:spPr>
        <p:txBody>
          <a:bodyPr/>
          <a:lstStyle/>
          <a:p>
            <a:endParaRPr lang="en-US"/>
          </a:p>
        </p:txBody>
      </p:sp>
      <p:sp>
        <p:nvSpPr>
          <p:cNvPr id="3" name="Notes Placeholder 2">
            <a:extLst>
              <a:ext uri="{FF2B5EF4-FFF2-40B4-BE49-F238E27FC236}">
                <a16:creationId xmlns:a16="http://schemas.microsoft.com/office/drawing/2014/main" id="{0ECD4105-6B97-0620-FB14-20690FC1EC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Poppins" panose="00000500000000000000" pitchFamily="2" charset="0"/>
                <a:cs typeface="Poppins" panose="00000500000000000000" pitchFamily="2" charset="0"/>
              </a:rPr>
              <a:t>Use either 7/8</a:t>
            </a:r>
          </a:p>
          <a:p>
            <a:endParaRPr lang="en-US"/>
          </a:p>
        </p:txBody>
      </p:sp>
      <p:sp>
        <p:nvSpPr>
          <p:cNvPr id="4" name="Slide Number Placeholder 3">
            <a:extLst>
              <a:ext uri="{FF2B5EF4-FFF2-40B4-BE49-F238E27FC236}">
                <a16:creationId xmlns:a16="http://schemas.microsoft.com/office/drawing/2014/main" id="{3B2DAA63-D917-187F-5374-A855195FA42D}"/>
              </a:ext>
            </a:extLst>
          </p:cNvPr>
          <p:cNvSpPr>
            <a:spLocks noGrp="1"/>
          </p:cNvSpPr>
          <p:nvPr>
            <p:ph type="sldNum" sz="quarter" idx="10"/>
          </p:nvPr>
        </p:nvSpPr>
        <p:spPr/>
        <p:txBody>
          <a:bodyPr/>
          <a:lstStyle/>
          <a:p>
            <a:fld id="{3781A5EA-C2E9-4039-9713-25DBFBF2006D}" type="slidenum">
              <a:rPr lang="en-US" smtClean="0"/>
              <a:pPr/>
              <a:t>9</a:t>
            </a:fld>
            <a:endParaRPr lang="en-US"/>
          </a:p>
        </p:txBody>
      </p:sp>
    </p:spTree>
    <p:extLst>
      <p:ext uri="{BB962C8B-B14F-4D97-AF65-F5344CB8AC3E}">
        <p14:creationId xmlns:p14="http://schemas.microsoft.com/office/powerpoint/2010/main" val="1457292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BE677-0F8A-8247-4006-6AA9CB88E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46D97-FB2E-CAB4-41D0-4F25F61301CC}"/>
              </a:ext>
            </a:extLst>
          </p:cNvPr>
          <p:cNvSpPr>
            <a:spLocks noGrp="1" noRot="1" noChangeAspect="1"/>
          </p:cNvSpPr>
          <p:nvPr>
            <p:ph type="sldImg"/>
          </p:nvPr>
        </p:nvSpPr>
        <p:spPr>
          <a:xfrm>
            <a:off x="606425" y="711200"/>
            <a:ext cx="6337300" cy="3565525"/>
          </a:xfrm>
        </p:spPr>
        <p:txBody>
          <a:bodyPr/>
          <a:lstStyle/>
          <a:p>
            <a:endParaRPr lang="en-US"/>
          </a:p>
        </p:txBody>
      </p:sp>
      <p:sp>
        <p:nvSpPr>
          <p:cNvPr id="3" name="Notes Placeholder 2">
            <a:extLst>
              <a:ext uri="{FF2B5EF4-FFF2-40B4-BE49-F238E27FC236}">
                <a16:creationId xmlns:a16="http://schemas.microsoft.com/office/drawing/2014/main" id="{6483630A-D2D9-A971-9777-81247A013425}"/>
              </a:ext>
            </a:extLst>
          </p:cNvPr>
          <p:cNvSpPr>
            <a:spLocks noGrp="1"/>
          </p:cNvSpPr>
          <p:nvPr>
            <p:ph type="body" idx="1"/>
          </p:nvPr>
        </p:nvSpPr>
        <p:spPr/>
        <p:txBody>
          <a:bodyPr/>
          <a:lstStyle/>
          <a:p>
            <a:r>
              <a:rPr lang="en-US"/>
              <a:t>Rason</a:t>
            </a:r>
          </a:p>
        </p:txBody>
      </p:sp>
      <p:sp>
        <p:nvSpPr>
          <p:cNvPr id="4" name="Slide Number Placeholder 3">
            <a:extLst>
              <a:ext uri="{FF2B5EF4-FFF2-40B4-BE49-F238E27FC236}">
                <a16:creationId xmlns:a16="http://schemas.microsoft.com/office/drawing/2014/main" id="{2879F61C-57A4-5CF5-55F4-37F2C26E612D}"/>
              </a:ext>
            </a:extLst>
          </p:cNvPr>
          <p:cNvSpPr>
            <a:spLocks noGrp="1"/>
          </p:cNvSpPr>
          <p:nvPr>
            <p:ph type="sldNum" sz="quarter" idx="10"/>
          </p:nvPr>
        </p:nvSpPr>
        <p:spPr/>
        <p:txBody>
          <a:bodyPr/>
          <a:lstStyle/>
          <a:p>
            <a:fld id="{3781A5EA-C2E9-4039-9713-25DBFBF2006D}" type="slidenum">
              <a:rPr lang="en-US" smtClean="0"/>
              <a:pPr/>
              <a:t>10</a:t>
            </a:fld>
            <a:endParaRPr lang="en-US"/>
          </a:p>
        </p:txBody>
      </p:sp>
    </p:spTree>
    <p:extLst>
      <p:ext uri="{BB962C8B-B14F-4D97-AF65-F5344CB8AC3E}">
        <p14:creationId xmlns:p14="http://schemas.microsoft.com/office/powerpoint/2010/main" val="427176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F7F63-BCF2-C677-187F-ADB1A819E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8B9ED-D97A-BFB3-17D8-1FA2097FAD73}"/>
              </a:ext>
            </a:extLst>
          </p:cNvPr>
          <p:cNvSpPr>
            <a:spLocks noGrp="1" noRot="1" noChangeAspect="1"/>
          </p:cNvSpPr>
          <p:nvPr>
            <p:ph type="sldImg"/>
          </p:nvPr>
        </p:nvSpPr>
        <p:spPr>
          <a:xfrm>
            <a:off x="606425" y="711200"/>
            <a:ext cx="6337300" cy="3565525"/>
          </a:xfrm>
        </p:spPr>
        <p:txBody>
          <a:bodyPr/>
          <a:lstStyle/>
          <a:p>
            <a:endParaRPr lang="en-US"/>
          </a:p>
        </p:txBody>
      </p:sp>
      <p:sp>
        <p:nvSpPr>
          <p:cNvPr id="3" name="Notes Placeholder 2">
            <a:extLst>
              <a:ext uri="{FF2B5EF4-FFF2-40B4-BE49-F238E27FC236}">
                <a16:creationId xmlns:a16="http://schemas.microsoft.com/office/drawing/2014/main" id="{C3F8974B-DC2C-EA3A-FFA1-9CDD4DC47237}"/>
              </a:ext>
            </a:extLst>
          </p:cNvPr>
          <p:cNvSpPr>
            <a:spLocks noGrp="1"/>
          </p:cNvSpPr>
          <p:nvPr>
            <p:ph type="body" idx="1"/>
          </p:nvPr>
        </p:nvSpPr>
        <p:spPr/>
        <p:txBody>
          <a:bodyPr/>
          <a:lstStyle/>
          <a:p>
            <a:r>
              <a:rPr lang="en-US"/>
              <a:t>Eric</a:t>
            </a:r>
          </a:p>
        </p:txBody>
      </p:sp>
      <p:sp>
        <p:nvSpPr>
          <p:cNvPr id="4" name="Slide Number Placeholder 3">
            <a:extLst>
              <a:ext uri="{FF2B5EF4-FFF2-40B4-BE49-F238E27FC236}">
                <a16:creationId xmlns:a16="http://schemas.microsoft.com/office/drawing/2014/main" id="{50D1B872-C487-16D6-AA82-0C6D17CD88E1}"/>
              </a:ext>
            </a:extLst>
          </p:cNvPr>
          <p:cNvSpPr>
            <a:spLocks noGrp="1"/>
          </p:cNvSpPr>
          <p:nvPr>
            <p:ph type="sldNum" sz="quarter" idx="10"/>
          </p:nvPr>
        </p:nvSpPr>
        <p:spPr/>
        <p:txBody>
          <a:bodyPr/>
          <a:lstStyle/>
          <a:p>
            <a:fld id="{3781A5EA-C2E9-4039-9713-25DBFBF2006D}" type="slidenum">
              <a:rPr lang="en-US" smtClean="0"/>
              <a:pPr/>
              <a:t>11</a:t>
            </a:fld>
            <a:endParaRPr lang="en-US"/>
          </a:p>
        </p:txBody>
      </p:sp>
    </p:spTree>
    <p:extLst>
      <p:ext uri="{BB962C8B-B14F-4D97-AF65-F5344CB8AC3E}">
        <p14:creationId xmlns:p14="http://schemas.microsoft.com/office/powerpoint/2010/main" val="138854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76A40-6EAF-2E12-9FD2-9954695EF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19C0D-AE26-DEAC-6E0B-5F2765BFE5C0}"/>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F10D7A27-0438-4542-1D8E-D43544B4CB4D}"/>
              </a:ext>
            </a:extLst>
          </p:cNvPr>
          <p:cNvSpPr>
            <a:spLocks noGrp="1"/>
          </p:cNvSpPr>
          <p:nvPr>
            <p:ph type="body" idx="1"/>
          </p:nvPr>
        </p:nvSpPr>
        <p:spPr/>
        <p:txBody>
          <a:bodyPr/>
          <a:lstStyle/>
          <a:p>
            <a:r>
              <a:rPr lang="en-US"/>
              <a:t>Welcome - Rason</a:t>
            </a:r>
          </a:p>
        </p:txBody>
      </p:sp>
      <p:sp>
        <p:nvSpPr>
          <p:cNvPr id="4" name="Slide Number Placeholder 3">
            <a:extLst>
              <a:ext uri="{FF2B5EF4-FFF2-40B4-BE49-F238E27FC236}">
                <a16:creationId xmlns:a16="http://schemas.microsoft.com/office/drawing/2014/main" id="{7EF2A344-F830-CD1B-7C8C-5E8DECBCCA3F}"/>
              </a:ext>
            </a:extLst>
          </p:cNvPr>
          <p:cNvSpPr>
            <a:spLocks noGrp="1"/>
          </p:cNvSpPr>
          <p:nvPr>
            <p:ph type="sldNum" sz="quarter" idx="10"/>
          </p:nvPr>
        </p:nvSpPr>
        <p:spPr/>
        <p:txBody>
          <a:bodyPr/>
          <a:lstStyle/>
          <a:p>
            <a:fld id="{3781A5EA-C2E9-4039-9713-25DBFBF2006D}" type="slidenum">
              <a:rPr lang="en-US" smtClean="0"/>
              <a:pPr/>
              <a:t>12</a:t>
            </a:fld>
            <a:endParaRPr lang="en-US"/>
          </a:p>
        </p:txBody>
      </p:sp>
    </p:spTree>
    <p:extLst>
      <p:ext uri="{BB962C8B-B14F-4D97-AF65-F5344CB8AC3E}">
        <p14:creationId xmlns:p14="http://schemas.microsoft.com/office/powerpoint/2010/main" val="514691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Clark</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57715-F5E2-9ACC-5B6F-22A8AB01F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49055-441B-63BC-98CE-87849A502657}"/>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5CA0C749-9EDB-B294-1F60-B707A41661A2}"/>
              </a:ext>
            </a:extLst>
          </p:cNvPr>
          <p:cNvSpPr>
            <a:spLocks noGrp="1"/>
          </p:cNvSpPr>
          <p:nvPr>
            <p:ph type="body" idx="1"/>
          </p:nvPr>
        </p:nvSpPr>
        <p:spPr/>
        <p:txBody>
          <a:bodyPr/>
          <a:lstStyle/>
          <a:p>
            <a:pPr marL="0" indent="0">
              <a:buNone/>
            </a:pPr>
            <a:r>
              <a:rPr lang="en-US"/>
              <a:t>All this aligns with DOL’s AI Literacy Framework</a:t>
            </a:r>
          </a:p>
        </p:txBody>
      </p:sp>
      <p:sp>
        <p:nvSpPr>
          <p:cNvPr id="4" name="Slide Number Placeholder 3">
            <a:extLst>
              <a:ext uri="{FF2B5EF4-FFF2-40B4-BE49-F238E27FC236}">
                <a16:creationId xmlns:a16="http://schemas.microsoft.com/office/drawing/2014/main" id="{C6464807-B7D7-3AFD-5C60-F784DB001DD8}"/>
              </a:ext>
            </a:extLst>
          </p:cNvPr>
          <p:cNvSpPr>
            <a:spLocks noGrp="1"/>
          </p:cNvSpPr>
          <p:nvPr>
            <p:ph type="sldNum" sz="quarter" idx="10"/>
          </p:nvPr>
        </p:nvSpPr>
        <p:spPr/>
        <p:txBody>
          <a:bodyPr/>
          <a:lstStyle/>
          <a:p>
            <a:fld id="{3781A5EA-C2E9-4039-9713-25DBFBF2006D}" type="slidenum">
              <a:rPr lang="en-US" smtClean="0"/>
              <a:pPr/>
              <a:t>14</a:t>
            </a:fld>
            <a:endParaRPr lang="en-US"/>
          </a:p>
        </p:txBody>
      </p:sp>
    </p:spTree>
    <p:extLst>
      <p:ext uri="{BB962C8B-B14F-4D97-AF65-F5344CB8AC3E}">
        <p14:creationId xmlns:p14="http://schemas.microsoft.com/office/powerpoint/2010/main" val="2890999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Clark</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Clark</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7CBD2-956E-744B-384D-2E34A41FE8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65A25F-FEA3-8EB1-0773-80AD6A78160D}"/>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B06402CF-E76E-3E1A-F957-9C2DC592657A}"/>
              </a:ext>
            </a:extLst>
          </p:cNvPr>
          <p:cNvSpPr>
            <a:spLocks noGrp="1"/>
          </p:cNvSpPr>
          <p:nvPr>
            <p:ph type="body" idx="1"/>
          </p:nvPr>
        </p:nvSpPr>
        <p:spPr/>
        <p:txBody>
          <a:bodyPr/>
          <a:lstStyle/>
          <a:p>
            <a:r>
              <a:rPr lang="en-US"/>
              <a:t>Welcome - Rason</a:t>
            </a:r>
          </a:p>
        </p:txBody>
      </p:sp>
      <p:sp>
        <p:nvSpPr>
          <p:cNvPr id="4" name="Slide Number Placeholder 3">
            <a:extLst>
              <a:ext uri="{FF2B5EF4-FFF2-40B4-BE49-F238E27FC236}">
                <a16:creationId xmlns:a16="http://schemas.microsoft.com/office/drawing/2014/main" id="{95A46F9A-A6F3-A778-9221-5A81A37DC5D4}"/>
              </a:ext>
            </a:extLst>
          </p:cNvPr>
          <p:cNvSpPr>
            <a:spLocks noGrp="1"/>
          </p:cNvSpPr>
          <p:nvPr>
            <p:ph type="sldNum" sz="quarter" idx="10"/>
          </p:nvPr>
        </p:nvSpPr>
        <p:spPr/>
        <p:txBody>
          <a:bodyPr/>
          <a:lstStyle/>
          <a:p>
            <a:fld id="{3781A5EA-C2E9-4039-9713-25DBFBF2006D}" type="slidenum">
              <a:rPr lang="en-US" smtClean="0"/>
              <a:pPr/>
              <a:t>17</a:t>
            </a:fld>
            <a:endParaRPr lang="en-US"/>
          </a:p>
        </p:txBody>
      </p:sp>
    </p:spTree>
    <p:extLst>
      <p:ext uri="{BB962C8B-B14F-4D97-AF65-F5344CB8AC3E}">
        <p14:creationId xmlns:p14="http://schemas.microsoft.com/office/powerpoint/2010/main" val="2611056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420DD-588B-690E-DDEF-FACA1E3AE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DD176-9B58-E75D-E8F1-DC7A30DCA6A0}"/>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5D0971F0-B3AB-1E73-54A2-E547B971CF48}"/>
              </a:ext>
            </a:extLst>
          </p:cNvPr>
          <p:cNvSpPr>
            <a:spLocks noGrp="1"/>
          </p:cNvSpPr>
          <p:nvPr>
            <p:ph type="body" idx="1"/>
          </p:nvPr>
        </p:nvSpPr>
        <p:spPr/>
        <p:txBody>
          <a:bodyPr/>
          <a:lstStyle/>
          <a:p>
            <a:pPr marL="0" indent="0">
              <a:buNone/>
            </a:pPr>
            <a:r>
              <a:rPr lang="en-US"/>
              <a:t>Timeline</a:t>
            </a:r>
          </a:p>
        </p:txBody>
      </p:sp>
      <p:sp>
        <p:nvSpPr>
          <p:cNvPr id="4" name="Slide Number Placeholder 3">
            <a:extLst>
              <a:ext uri="{FF2B5EF4-FFF2-40B4-BE49-F238E27FC236}">
                <a16:creationId xmlns:a16="http://schemas.microsoft.com/office/drawing/2014/main" id="{7CD9BF68-5FB3-AF50-6618-307084BEEB09}"/>
              </a:ext>
            </a:extLst>
          </p:cNvPr>
          <p:cNvSpPr>
            <a:spLocks noGrp="1"/>
          </p:cNvSpPr>
          <p:nvPr>
            <p:ph type="sldNum" sz="quarter" idx="10"/>
          </p:nvPr>
        </p:nvSpPr>
        <p:spPr/>
        <p:txBody>
          <a:bodyPr/>
          <a:lstStyle/>
          <a:p>
            <a:fld id="{3781A5EA-C2E9-4039-9713-25DBFBF2006D}" type="slidenum">
              <a:rPr lang="en-US" smtClean="0"/>
              <a:pPr/>
              <a:t>18</a:t>
            </a:fld>
            <a:endParaRPr lang="en-US"/>
          </a:p>
        </p:txBody>
      </p:sp>
    </p:spTree>
    <p:extLst>
      <p:ext uri="{BB962C8B-B14F-4D97-AF65-F5344CB8AC3E}">
        <p14:creationId xmlns:p14="http://schemas.microsoft.com/office/powerpoint/2010/main" val="609889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781A5EA-C2E9-4039-9713-25DBFBF2006D}" type="slidenum">
              <a:rPr lang="en-US" smtClean="0"/>
              <a:pPr/>
              <a:t>20</a:t>
            </a:fld>
            <a:endParaRPr lang="en-US"/>
          </a:p>
        </p:txBody>
      </p:sp>
    </p:spTree>
    <p:extLst>
      <p:ext uri="{BB962C8B-B14F-4D97-AF65-F5344CB8AC3E}">
        <p14:creationId xmlns:p14="http://schemas.microsoft.com/office/powerpoint/2010/main" val="2597790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7857CD-F556-41E4-9347-EB3BF355149D}" type="slidenum">
              <a:rPr lang="en-US" smtClean="0"/>
              <a:t>21</a:t>
            </a:fld>
            <a:endParaRPr lang="en-US"/>
          </a:p>
        </p:txBody>
      </p:sp>
    </p:spTree>
    <p:extLst>
      <p:ext uri="{BB962C8B-B14F-4D97-AF65-F5344CB8AC3E}">
        <p14:creationId xmlns:p14="http://schemas.microsoft.com/office/powerpoint/2010/main" val="2997903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58 participated</a:t>
            </a:r>
          </a:p>
        </p:txBody>
      </p:sp>
      <p:sp>
        <p:nvSpPr>
          <p:cNvPr id="4" name="Slide Number Placeholder 3"/>
          <p:cNvSpPr>
            <a:spLocks noGrp="1"/>
          </p:cNvSpPr>
          <p:nvPr>
            <p:ph type="sldNum" sz="quarter" idx="5"/>
          </p:nvPr>
        </p:nvSpPr>
        <p:spPr/>
        <p:txBody>
          <a:bodyPr/>
          <a:lstStyle/>
          <a:p>
            <a:fld id="{8D7857CD-F556-41E4-9347-EB3BF355149D}" type="slidenum">
              <a:rPr lang="en-US" smtClean="0"/>
              <a:t>22</a:t>
            </a:fld>
            <a:endParaRPr lang="en-US"/>
          </a:p>
        </p:txBody>
      </p:sp>
    </p:spTree>
    <p:extLst>
      <p:ext uri="{BB962C8B-B14F-4D97-AF65-F5344CB8AC3E}">
        <p14:creationId xmlns:p14="http://schemas.microsoft.com/office/powerpoint/2010/main" val="1016626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B5956-9824-5F64-BC53-A9C923659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A26B8-689B-4739-AE9C-AFBED0A4C6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782A4A-E5A6-2ABE-4343-904D21263438}"/>
              </a:ext>
            </a:extLst>
          </p:cNvPr>
          <p:cNvSpPr>
            <a:spLocks noGrp="1"/>
          </p:cNvSpPr>
          <p:nvPr>
            <p:ph type="body" idx="1"/>
          </p:nvPr>
        </p:nvSpPr>
        <p:spPr/>
        <p:txBody>
          <a:bodyPr/>
          <a:lstStyle/>
          <a:p>
            <a:r>
              <a:rPr lang="en-US"/>
              <a:t>need more pictures from Eric</a:t>
            </a:r>
          </a:p>
        </p:txBody>
      </p:sp>
      <p:sp>
        <p:nvSpPr>
          <p:cNvPr id="4" name="Slide Number Placeholder 3">
            <a:extLst>
              <a:ext uri="{FF2B5EF4-FFF2-40B4-BE49-F238E27FC236}">
                <a16:creationId xmlns:a16="http://schemas.microsoft.com/office/drawing/2014/main" id="{342350C2-D707-BD5E-5AAD-B9D86B11F69D}"/>
              </a:ext>
            </a:extLst>
          </p:cNvPr>
          <p:cNvSpPr>
            <a:spLocks noGrp="1"/>
          </p:cNvSpPr>
          <p:nvPr>
            <p:ph type="sldNum" sz="quarter" idx="5"/>
          </p:nvPr>
        </p:nvSpPr>
        <p:spPr/>
        <p:txBody>
          <a:bodyPr/>
          <a:lstStyle/>
          <a:p>
            <a:fld id="{8D7857CD-F556-41E4-9347-EB3BF355149D}" type="slidenum">
              <a:rPr lang="en-US" smtClean="0"/>
              <a:t>23</a:t>
            </a:fld>
            <a:endParaRPr lang="en-US"/>
          </a:p>
        </p:txBody>
      </p:sp>
    </p:spTree>
    <p:extLst>
      <p:ext uri="{BB962C8B-B14F-4D97-AF65-F5344CB8AC3E}">
        <p14:creationId xmlns:p14="http://schemas.microsoft.com/office/powerpoint/2010/main" val="2210107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A9E9B-A668-EEFF-73A1-9F135A44F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3054F-592C-4D14-3305-DD2D815339C5}"/>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96F8774E-78FD-3198-47D7-B321041EF181}"/>
              </a:ext>
            </a:extLst>
          </p:cNvPr>
          <p:cNvSpPr>
            <a:spLocks noGrp="1"/>
          </p:cNvSpPr>
          <p:nvPr>
            <p:ph type="body" idx="1"/>
          </p:nvPr>
        </p:nvSpPr>
        <p:spPr/>
        <p:txBody>
          <a:bodyPr/>
          <a:lstStyle/>
          <a:p>
            <a:r>
              <a:rPr lang="en-US"/>
              <a:t>Welcome - Rason</a:t>
            </a:r>
          </a:p>
        </p:txBody>
      </p:sp>
      <p:sp>
        <p:nvSpPr>
          <p:cNvPr id="4" name="Slide Number Placeholder 3">
            <a:extLst>
              <a:ext uri="{FF2B5EF4-FFF2-40B4-BE49-F238E27FC236}">
                <a16:creationId xmlns:a16="http://schemas.microsoft.com/office/drawing/2014/main" id="{E76C88DE-51C0-30E0-E83F-7A5599D46E30}"/>
              </a:ext>
            </a:extLst>
          </p:cNvPr>
          <p:cNvSpPr>
            <a:spLocks noGrp="1"/>
          </p:cNvSpPr>
          <p:nvPr>
            <p:ph type="sldNum" sz="quarter" idx="10"/>
          </p:nvPr>
        </p:nvSpPr>
        <p:spPr/>
        <p:txBody>
          <a:bodyPr/>
          <a:lstStyle/>
          <a:p>
            <a:fld id="{3781A5EA-C2E9-4039-9713-25DBFBF2006D}" type="slidenum">
              <a:rPr lang="en-US" smtClean="0"/>
              <a:pPr/>
              <a:t>24</a:t>
            </a:fld>
            <a:endParaRPr lang="en-US"/>
          </a:p>
        </p:txBody>
      </p:sp>
    </p:spTree>
    <p:extLst>
      <p:ext uri="{BB962C8B-B14F-4D97-AF65-F5344CB8AC3E}">
        <p14:creationId xmlns:p14="http://schemas.microsoft.com/office/powerpoint/2010/main" val="1550112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7DAD8-4BFF-C322-EC1D-AE5FDD2CE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88193-9211-551E-E4A5-AF14420ABB11}"/>
              </a:ext>
            </a:extLst>
          </p:cNvPr>
          <p:cNvSpPr>
            <a:spLocks noGrp="1" noRot="1" noChangeAspect="1"/>
          </p:cNvSpPr>
          <p:nvPr>
            <p:ph type="sldImg"/>
          </p:nvPr>
        </p:nvSpPr>
        <p:spPr>
          <a:xfrm>
            <a:off x="606425" y="711200"/>
            <a:ext cx="6337300" cy="3565525"/>
          </a:xfrm>
        </p:spPr>
        <p:txBody>
          <a:bodyPr/>
          <a:lstStyle/>
          <a:p>
            <a:endParaRPr lang="en-US"/>
          </a:p>
        </p:txBody>
      </p:sp>
      <p:sp>
        <p:nvSpPr>
          <p:cNvPr id="3" name="Notes Placeholder 2">
            <a:extLst>
              <a:ext uri="{FF2B5EF4-FFF2-40B4-BE49-F238E27FC236}">
                <a16:creationId xmlns:a16="http://schemas.microsoft.com/office/drawing/2014/main" id="{C59772C7-3A51-8044-2158-9452ADE831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1200" b="1" kern="100">
                <a:latin typeface="Aptos"/>
                <a:cs typeface="Times New Roman"/>
              </a:rPr>
              <a:t>Northstar Digital Learning </a:t>
            </a:r>
            <a:r>
              <a:rPr lang="en-US" sz="1200" kern="100">
                <a:latin typeface="Aptos"/>
                <a:cs typeface="Times New Roman"/>
              </a:rPr>
              <a:t>is a software aimed at teaching basic digital skills to learners. </a:t>
            </a:r>
          </a:p>
          <a:p>
            <a:pPr marL="342900" indent="-342900">
              <a:buFont typeface="Arial" panose="020B0604020202020204" pitchFamily="34" charset="0"/>
              <a:buChar char="•"/>
            </a:pPr>
            <a:r>
              <a:rPr lang="en-US" sz="1200" kern="100">
                <a:latin typeface="Aptos"/>
                <a:cs typeface="Times New Roman"/>
              </a:rPr>
              <a:t>Curriculum or self-paced online modules with exams</a:t>
            </a:r>
          </a:p>
          <a:p>
            <a:pPr marL="342900" indent="-342900">
              <a:buFont typeface="Arial" panose="020B0604020202020204" pitchFamily="34" charset="0"/>
              <a:buChar char="•"/>
            </a:pPr>
            <a:r>
              <a:rPr lang="en-US" sz="1200" b="1" kern="100">
                <a:latin typeface="Aptos"/>
                <a:cs typeface="Times New Roman"/>
              </a:rPr>
              <a:t>No-cost Laptop Opportunity </a:t>
            </a:r>
            <a:r>
              <a:rPr lang="en-US" sz="1200" kern="100">
                <a:latin typeface="Aptos"/>
                <a:cs typeface="Times New Roman"/>
              </a:rPr>
              <a:t>for participants who complete Northstar learning and proctored exams at partner locations:</a:t>
            </a:r>
          </a:p>
          <a:p>
            <a:endParaRPr lang="en-US"/>
          </a:p>
        </p:txBody>
      </p:sp>
      <p:sp>
        <p:nvSpPr>
          <p:cNvPr id="4" name="Slide Number Placeholder 3">
            <a:extLst>
              <a:ext uri="{FF2B5EF4-FFF2-40B4-BE49-F238E27FC236}">
                <a16:creationId xmlns:a16="http://schemas.microsoft.com/office/drawing/2014/main" id="{9596113D-1A98-3F0D-92BB-F212C856CE02}"/>
              </a:ext>
            </a:extLst>
          </p:cNvPr>
          <p:cNvSpPr>
            <a:spLocks noGrp="1"/>
          </p:cNvSpPr>
          <p:nvPr>
            <p:ph type="sldNum" sz="quarter" idx="10"/>
          </p:nvPr>
        </p:nvSpPr>
        <p:spPr/>
        <p:txBody>
          <a:bodyPr/>
          <a:lstStyle/>
          <a:p>
            <a:fld id="{3781A5EA-C2E9-4039-9713-25DBFBF2006D}" type="slidenum">
              <a:rPr lang="en-US" smtClean="0"/>
              <a:pPr/>
              <a:t>25</a:t>
            </a:fld>
            <a:endParaRPr lang="en-US"/>
          </a:p>
        </p:txBody>
      </p:sp>
    </p:spTree>
    <p:extLst>
      <p:ext uri="{BB962C8B-B14F-4D97-AF65-F5344CB8AC3E}">
        <p14:creationId xmlns:p14="http://schemas.microsoft.com/office/powerpoint/2010/main" val="23922102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8C8A0-7EDF-AE5E-12E8-28505B09E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F4090-CF60-E479-8B4D-4A823354B56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A0D768-ED43-2EBA-2CF3-1F613FF89843}"/>
              </a:ext>
            </a:extLst>
          </p:cNvPr>
          <p:cNvSpPr>
            <a:spLocks noGrp="1"/>
          </p:cNvSpPr>
          <p:nvPr>
            <p:ph type="body" idx="1"/>
          </p:nvPr>
        </p:nvSpPr>
        <p:spPr/>
        <p:txBody>
          <a:bodyPr/>
          <a:lstStyle/>
          <a:p>
            <a:r>
              <a:rPr lang="en-US">
                <a:ea typeface="Calibri"/>
                <a:cs typeface="Calibri"/>
              </a:rPr>
              <a:t>Speaker: Kim Lunt </a:t>
            </a:r>
          </a:p>
          <a:p>
            <a:pPr marL="171450" indent="-171450">
              <a:buFont typeface="Arial" panose="020B0604020202020204" pitchFamily="34" charset="0"/>
              <a:buChar char="•"/>
            </a:pPr>
            <a:r>
              <a:rPr lang="en-US">
                <a:ea typeface="Calibri"/>
                <a:cs typeface="Calibri"/>
              </a:rPr>
              <a:t>Overview of Northstar Digital Literacy </a:t>
            </a:r>
          </a:p>
          <a:p>
            <a:pPr marL="171450" indent="-171450">
              <a:buFont typeface="Arial" panose="020B0604020202020204" pitchFamily="34" charset="0"/>
              <a:buChar char="•"/>
            </a:pPr>
            <a:r>
              <a:rPr lang="en-US">
                <a:ea typeface="Calibri"/>
                <a:cs typeface="Calibri"/>
              </a:rPr>
              <a:t>Device Distribution Model and Events </a:t>
            </a:r>
          </a:p>
          <a:p>
            <a:pPr marL="171450" indent="-171450">
              <a:buFont typeface="Arial" panose="020B0604020202020204" pitchFamily="34" charset="0"/>
              <a:buChar char="•"/>
            </a:pPr>
            <a:r>
              <a:rPr lang="en-US">
                <a:ea typeface="Calibri"/>
                <a:cs typeface="Calibri"/>
              </a:rPr>
              <a:t>Community Partners </a:t>
            </a:r>
          </a:p>
        </p:txBody>
      </p:sp>
      <p:sp>
        <p:nvSpPr>
          <p:cNvPr id="4" name="Slide Number Placeholder 3">
            <a:extLst>
              <a:ext uri="{FF2B5EF4-FFF2-40B4-BE49-F238E27FC236}">
                <a16:creationId xmlns:a16="http://schemas.microsoft.com/office/drawing/2014/main" id="{4AA634D2-D05F-3773-0D94-835AF9C61D66}"/>
              </a:ext>
            </a:extLst>
          </p:cNvPr>
          <p:cNvSpPr>
            <a:spLocks noGrp="1"/>
          </p:cNvSpPr>
          <p:nvPr>
            <p:ph type="sldNum" sz="quarter" idx="5"/>
          </p:nvPr>
        </p:nvSpPr>
        <p:spPr/>
        <p:txBody>
          <a:bodyPr/>
          <a:lstStyle/>
          <a:p>
            <a:fld id="{7D3F9C0A-955A-4730-8E27-662E093EB81B}" type="slidenum">
              <a:rPr lang="en-US" smtClean="0"/>
              <a:t>26</a:t>
            </a:fld>
            <a:endParaRPr lang="en-US"/>
          </a:p>
        </p:txBody>
      </p:sp>
    </p:spTree>
    <p:extLst>
      <p:ext uri="{BB962C8B-B14F-4D97-AF65-F5344CB8AC3E}">
        <p14:creationId xmlns:p14="http://schemas.microsoft.com/office/powerpoint/2010/main" val="14224321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7F17-E294-3B24-D6CF-C97511FCF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41F07-2A12-2836-6DE7-7737B3660680}"/>
              </a:ext>
            </a:extLst>
          </p:cNvPr>
          <p:cNvSpPr>
            <a:spLocks noGrp="1" noRot="1" noChangeAspect="1"/>
          </p:cNvSpPr>
          <p:nvPr>
            <p:ph type="sldImg"/>
          </p:nvPr>
        </p:nvSpPr>
        <p:spPr>
          <a:xfrm>
            <a:off x="538163" y="684213"/>
            <a:ext cx="6096000" cy="3429000"/>
          </a:xfrm>
        </p:spPr>
        <p:txBody>
          <a:bodyPr/>
          <a:lstStyle/>
          <a:p>
            <a:endParaRPr lang="en-US"/>
          </a:p>
        </p:txBody>
      </p:sp>
      <p:sp>
        <p:nvSpPr>
          <p:cNvPr id="3" name="Notes Placeholder 2">
            <a:extLst>
              <a:ext uri="{FF2B5EF4-FFF2-40B4-BE49-F238E27FC236}">
                <a16:creationId xmlns:a16="http://schemas.microsoft.com/office/drawing/2014/main" id="{7308D0BF-9A29-69FC-174F-8E1901E6624E}"/>
              </a:ext>
            </a:extLst>
          </p:cNvPr>
          <p:cNvSpPr>
            <a:spLocks noGrp="1"/>
          </p:cNvSpPr>
          <p:nvPr>
            <p:ph type="body" idx="1"/>
          </p:nvPr>
        </p:nvSpPr>
        <p:spPr/>
        <p:txBody>
          <a:bodyPr/>
          <a:lstStyle/>
          <a:p>
            <a:pPr algn="l"/>
            <a:r>
              <a:rPr lang="en-US"/>
              <a:t>.</a:t>
            </a:r>
          </a:p>
          <a:p>
            <a:pPr algn="l"/>
            <a:r>
              <a:rPr lang="en-US"/>
              <a:t>I had a participant who seemed to distance himself from using technology because he was having a hard time learning all the little tricks to use applications. He kept expressing who he didn't know much and that he didn't know what he was doing. As the classes went by, I noticed he became more comfortable with using his laptop and browsing the internet. I think the activities helped him practice the skills we learned, which made a big difference. He was also very attentive during class and asked questions, which I think also helped him learn a lot. He passed the class with a great score and was very happy at the end of the classes</a:t>
            </a:r>
          </a:p>
          <a:p>
            <a:endParaRPr lang="en-US"/>
          </a:p>
        </p:txBody>
      </p:sp>
      <p:sp>
        <p:nvSpPr>
          <p:cNvPr id="4" name="Slide Number Placeholder 3">
            <a:extLst>
              <a:ext uri="{FF2B5EF4-FFF2-40B4-BE49-F238E27FC236}">
                <a16:creationId xmlns:a16="http://schemas.microsoft.com/office/drawing/2014/main" id="{49B3DD8C-F045-C0C9-710A-0074AD4BA6B3}"/>
              </a:ext>
            </a:extLst>
          </p:cNvPr>
          <p:cNvSpPr>
            <a:spLocks noGrp="1"/>
          </p:cNvSpPr>
          <p:nvPr>
            <p:ph type="sldNum" sz="quarter" idx="10"/>
          </p:nvPr>
        </p:nvSpPr>
        <p:spPr/>
        <p:txBody>
          <a:bodyPr/>
          <a:lstStyle/>
          <a:p>
            <a:fld id="{3781A5EA-C2E9-4039-9713-25DBFBF2006D}" type="slidenum">
              <a:rPr lang="en-US" smtClean="0"/>
              <a:pPr/>
              <a:t>27</a:t>
            </a:fld>
            <a:endParaRPr lang="en-US"/>
          </a:p>
        </p:txBody>
      </p:sp>
    </p:spTree>
    <p:extLst>
      <p:ext uri="{BB962C8B-B14F-4D97-AF65-F5344CB8AC3E}">
        <p14:creationId xmlns:p14="http://schemas.microsoft.com/office/powerpoint/2010/main" val="3990302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BDAE-65B9-853D-34D6-1864BFE66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FEFDA-9976-FA0F-8ACB-0D2824A9992F}"/>
              </a:ext>
            </a:extLst>
          </p:cNvPr>
          <p:cNvSpPr>
            <a:spLocks noGrp="1" noRot="1" noChangeAspect="1"/>
          </p:cNvSpPr>
          <p:nvPr>
            <p:ph type="sldImg"/>
          </p:nvPr>
        </p:nvSpPr>
        <p:spPr>
          <a:xfrm>
            <a:off x="566738" y="695325"/>
            <a:ext cx="6196012" cy="3486150"/>
          </a:xfrm>
        </p:spPr>
        <p:txBody>
          <a:bodyPr/>
          <a:lstStyle/>
          <a:p>
            <a:endParaRPr lang="en-US"/>
          </a:p>
        </p:txBody>
      </p:sp>
      <p:sp>
        <p:nvSpPr>
          <p:cNvPr id="3" name="Notes Placeholder 2">
            <a:extLst>
              <a:ext uri="{FF2B5EF4-FFF2-40B4-BE49-F238E27FC236}">
                <a16:creationId xmlns:a16="http://schemas.microsoft.com/office/drawing/2014/main" id="{CC1C2C22-23F1-1114-545F-B2872853CDF0}"/>
              </a:ext>
            </a:extLst>
          </p:cNvPr>
          <p:cNvSpPr>
            <a:spLocks noGrp="1"/>
          </p:cNvSpPr>
          <p:nvPr>
            <p:ph type="body" idx="1"/>
          </p:nvPr>
        </p:nvSpPr>
        <p:spPr/>
        <p:txBody>
          <a:bodyPr/>
          <a:lstStyle/>
          <a:p>
            <a:r>
              <a:rPr lang="en-US"/>
              <a:t>Welcome - Rason</a:t>
            </a:r>
          </a:p>
        </p:txBody>
      </p:sp>
      <p:sp>
        <p:nvSpPr>
          <p:cNvPr id="4" name="Slide Number Placeholder 3">
            <a:extLst>
              <a:ext uri="{FF2B5EF4-FFF2-40B4-BE49-F238E27FC236}">
                <a16:creationId xmlns:a16="http://schemas.microsoft.com/office/drawing/2014/main" id="{E6946BED-B396-705E-6311-F493D3AD06C5}"/>
              </a:ext>
            </a:extLst>
          </p:cNvPr>
          <p:cNvSpPr>
            <a:spLocks noGrp="1"/>
          </p:cNvSpPr>
          <p:nvPr>
            <p:ph type="sldNum" sz="quarter" idx="10"/>
          </p:nvPr>
        </p:nvSpPr>
        <p:spPr/>
        <p:txBody>
          <a:bodyPr/>
          <a:lstStyle/>
          <a:p>
            <a:fld id="{3781A5EA-C2E9-4039-9713-25DBFBF2006D}" type="slidenum">
              <a:rPr lang="en-US" smtClean="0"/>
              <a:pPr/>
              <a:t>28</a:t>
            </a:fld>
            <a:endParaRPr lang="en-US"/>
          </a:p>
        </p:txBody>
      </p:sp>
    </p:spTree>
    <p:extLst>
      <p:ext uri="{BB962C8B-B14F-4D97-AF65-F5344CB8AC3E}">
        <p14:creationId xmlns:p14="http://schemas.microsoft.com/office/powerpoint/2010/main" val="15835001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45F17-F1B1-8AED-1358-A45D5F79270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D522F06-3EB2-C436-C185-39AC8F982EA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B09A526-3854-F99B-815C-CF079B21863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AD6253B-69DD-CCAE-D871-DFDFCBD96BE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AB2DDD7-3424-3847-60FD-6C17AA7E381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ormAutofit fontScale="70000" lnSpcReduction="20000"/>
          </a:bodyPr>
          <a:lstStyle/>
          <a:p>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Lake County Workforce Development will build upon the successful foundation established by Lake County’s Digital Growth Initiative by offering localized </a:t>
            </a:r>
            <a:r>
              <a:rPr lang="en-US" sz="1200" b="1" i="0" u="none" strike="noStrike" kern="1200" baseline="0">
                <a:solidFill>
                  <a:schemeClr val="tx1"/>
                </a:solidFill>
                <a:latin typeface="+mn-lt"/>
                <a:ea typeface="+mn-ea"/>
                <a:cs typeface="+mn-cs"/>
              </a:rPr>
              <a:t>Digital Skill Bootcamps </a:t>
            </a:r>
          </a:p>
          <a:p>
            <a:endParaRPr lang="en-US" sz="1200" b="1" i="0" u="none" strike="noStrike" kern="1200" baseline="0">
              <a:solidFill>
                <a:schemeClr val="tx1"/>
              </a:solidFill>
              <a:latin typeface="+mn-lt"/>
              <a:ea typeface="+mn-ea"/>
              <a:cs typeface="+mn-cs"/>
            </a:endParaRPr>
          </a:p>
          <a:p>
            <a:r>
              <a:rPr lang="en-US" sz="1200" b="1" i="0" u="none" strike="noStrike" kern="1200" baseline="0">
                <a:solidFill>
                  <a:schemeClr val="tx1"/>
                </a:solidFill>
                <a:latin typeface="+mn-lt"/>
                <a:ea typeface="+mn-ea"/>
                <a:cs typeface="+mn-cs"/>
              </a:rPr>
              <a:t>Goal of the digital bootcamps</a:t>
            </a:r>
          </a:p>
          <a:p>
            <a:endParaRPr lang="en-US" sz="1200" b="0" i="0" u="none" strike="noStrike" kern="1200" baseline="0">
              <a:solidFill>
                <a:schemeClr val="tx1"/>
              </a:solidFill>
              <a:latin typeface="+mn-lt"/>
              <a:ea typeface="+mn-ea"/>
              <a:cs typeface="+mn-cs"/>
            </a:endParaRPr>
          </a:p>
          <a:p>
            <a:r>
              <a:rPr lang="en-US" sz="1200" b="1" i="0" u="none" strike="noStrike" kern="1200" baseline="0">
                <a:solidFill>
                  <a:schemeClr val="tx1"/>
                </a:solidFill>
                <a:latin typeface="+mn-lt"/>
                <a:ea typeface="+mn-ea"/>
                <a:cs typeface="+mn-cs"/>
              </a:rPr>
              <a:t>Bootcamp Focus Areas</a:t>
            </a:r>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NorthStar Digital Literacy Curriculum</a:t>
            </a:r>
          </a:p>
          <a:p>
            <a:r>
              <a:rPr lang="en-US" sz="1200" b="0" i="0" u="none" strike="noStrike" kern="1200" baseline="0">
                <a:solidFill>
                  <a:schemeClr val="tx1"/>
                </a:solidFill>
                <a:latin typeface="+mn-lt"/>
                <a:ea typeface="+mn-ea"/>
                <a:cs typeface="+mn-cs"/>
              </a:rPr>
              <a:t>Digital Certificates &amp; Certifications </a:t>
            </a:r>
          </a:p>
          <a:p>
            <a:r>
              <a:rPr lang="en-US" sz="1200" b="0" i="0" u="none" strike="noStrike" kern="1200" baseline="0">
                <a:solidFill>
                  <a:schemeClr val="tx1"/>
                </a:solidFill>
                <a:latin typeface="+mn-lt"/>
                <a:ea typeface="+mn-ea"/>
                <a:cs typeface="+mn-cs"/>
              </a:rPr>
              <a:t>Technology-Enabled Job Search Skills</a:t>
            </a:r>
          </a:p>
          <a:p>
            <a:endParaRPr lang="en-US" sz="1200" b="0" i="0" u="none" strike="noStrike" kern="1200" baseline="0">
              <a:solidFill>
                <a:schemeClr val="tx1"/>
              </a:solidFill>
              <a:latin typeface="+mn-lt"/>
              <a:ea typeface="+mn-ea"/>
              <a:cs typeface="+mn-cs"/>
            </a:endParaRPr>
          </a:p>
          <a:p>
            <a:r>
              <a:rPr lang="en-US" sz="1200" b="1" i="0" u="none" strike="noStrike" kern="1200" baseline="0">
                <a:solidFill>
                  <a:schemeClr val="tx1"/>
                </a:solidFill>
                <a:latin typeface="+mn-lt"/>
                <a:ea typeface="+mn-ea"/>
                <a:cs typeface="+mn-cs"/>
              </a:rPr>
              <a:t>Purpose &amp; Impact</a:t>
            </a:r>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Strengthen Workforce Readiness</a:t>
            </a:r>
          </a:p>
          <a:p>
            <a:r>
              <a:rPr lang="en-US" sz="1200" b="0" i="0" u="none" strike="noStrike" kern="1200" baseline="0">
                <a:solidFill>
                  <a:schemeClr val="tx1"/>
                </a:solidFill>
                <a:latin typeface="+mn-lt"/>
                <a:ea typeface="+mn-ea"/>
                <a:cs typeface="+mn-cs"/>
              </a:rPr>
              <a:t>Support Layoff-Impacted Workers</a:t>
            </a:r>
          </a:p>
          <a:p>
            <a:r>
              <a:rPr lang="en-US" sz="1200" b="0" i="0" u="none" strike="noStrike" kern="1200" baseline="0">
                <a:solidFill>
                  <a:schemeClr val="tx1"/>
                </a:solidFill>
                <a:latin typeface="+mn-lt"/>
                <a:ea typeface="+mn-ea"/>
                <a:cs typeface="+mn-cs"/>
              </a:rPr>
              <a:t>Enhance Countywide Digital Capacity</a:t>
            </a:r>
          </a:p>
          <a:p>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Metrics</a:t>
            </a:r>
          </a:p>
          <a:p>
            <a:endParaRPr lang="en-US" sz="1200" b="0" i="0" u="none" strike="noStrike" kern="1200" baseline="0">
              <a:solidFill>
                <a:schemeClr val="tx1"/>
              </a:solidFill>
              <a:latin typeface="+mn-lt"/>
              <a:ea typeface="+mn-ea"/>
              <a:cs typeface="+mn-cs"/>
            </a:endParaRPr>
          </a:p>
          <a:p>
            <a:r>
              <a:rPr lang="en-US" sz="1200" b="1" i="0" u="none" strike="noStrike" kern="1200" baseline="0">
                <a:solidFill>
                  <a:schemeClr val="tx1"/>
                </a:solidFill>
                <a:latin typeface="+mn-lt"/>
                <a:ea typeface="+mn-ea"/>
                <a:cs typeface="+mn-cs"/>
              </a:rPr>
              <a:t>Participant Outcomes</a:t>
            </a:r>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25 WIOA-eligible dislocated workers served</a:t>
            </a:r>
          </a:p>
          <a:p>
            <a:r>
              <a:rPr lang="en-US" sz="1200" b="0" i="0" u="none" strike="noStrike" kern="1200" baseline="0">
                <a:solidFill>
                  <a:schemeClr val="tx1"/>
                </a:solidFill>
                <a:latin typeface="+mn-lt"/>
                <a:ea typeface="+mn-ea"/>
                <a:cs typeface="+mn-cs"/>
              </a:rPr>
              <a:t>15 dislocated workers receiving occupational skills training</a:t>
            </a:r>
          </a:p>
          <a:p>
            <a:r>
              <a:rPr lang="en-US" sz="1200" b="0" i="0" u="none" strike="noStrike" kern="1200" baseline="0">
                <a:solidFill>
                  <a:schemeClr val="tx1"/>
                </a:solidFill>
                <a:latin typeface="+mn-lt"/>
                <a:ea typeface="+mn-ea"/>
                <a:cs typeface="+mn-cs"/>
              </a:rPr>
              <a:t>10 dislocated workers receiving paid work experience / OJT</a:t>
            </a:r>
          </a:p>
          <a:p>
            <a:r>
              <a:rPr lang="en-US" sz="1200" b="0" i="0" u="none" strike="noStrike" kern="1200" baseline="0">
                <a:solidFill>
                  <a:schemeClr val="tx1"/>
                </a:solidFill>
                <a:latin typeface="+mn-lt"/>
                <a:ea typeface="+mn-ea"/>
                <a:cs typeface="+mn-cs"/>
              </a:rPr>
              <a:t>15 dislocated workers receiving a laptop</a:t>
            </a:r>
          </a:p>
          <a:p>
            <a:r>
              <a:rPr lang="en-US" sz="1200" b="0" i="0" u="none" strike="noStrike" kern="1200" baseline="0">
                <a:solidFill>
                  <a:schemeClr val="tx1"/>
                </a:solidFill>
                <a:latin typeface="+mn-lt"/>
                <a:ea typeface="+mn-ea"/>
                <a:cs typeface="+mn-cs"/>
              </a:rPr>
              <a:t>76% securing full-time employment (19 of 25)</a:t>
            </a:r>
          </a:p>
          <a:p>
            <a:r>
              <a:rPr lang="en-US" sz="1200" b="0" i="0" u="none" strike="noStrike" kern="1200" baseline="0">
                <a:solidFill>
                  <a:schemeClr val="tx1"/>
                </a:solidFill>
                <a:latin typeface="+mn-lt"/>
                <a:ea typeface="+mn-ea"/>
                <a:cs typeface="+mn-cs"/>
              </a:rPr>
              <a:t>125 residents receiving no-cost digital skills training</a:t>
            </a:r>
          </a:p>
          <a:p>
            <a:endParaRPr lang="en-US" sz="1200" b="0" i="0" u="none" strike="noStrike" kern="1200" baseline="0">
              <a:solidFill>
                <a:schemeClr val="tx1"/>
              </a:solidFill>
              <a:latin typeface="+mn-lt"/>
              <a:ea typeface="+mn-ea"/>
              <a:cs typeface="+mn-cs"/>
            </a:endParaRPr>
          </a:p>
          <a:p>
            <a:r>
              <a:rPr lang="en-US" sz="1200" b="1" i="0" u="none" strike="noStrike" kern="1200" baseline="0">
                <a:solidFill>
                  <a:schemeClr val="tx1"/>
                </a:solidFill>
                <a:latin typeface="+mn-lt"/>
                <a:ea typeface="+mn-ea"/>
                <a:cs typeface="+mn-cs"/>
              </a:rPr>
              <a:t>Employer Outcomes</a:t>
            </a:r>
            <a:endParaRPr lang="en-US" sz="1200" b="0" i="0" u="none" strike="noStrike" kern="1200" baseline="0">
              <a:solidFill>
                <a:schemeClr val="tx1"/>
              </a:solidFill>
              <a:latin typeface="+mn-lt"/>
              <a:ea typeface="+mn-ea"/>
              <a:cs typeface="+mn-cs"/>
            </a:endParaRPr>
          </a:p>
          <a:p>
            <a:pPr lvl="1"/>
            <a:r>
              <a:rPr lang="en-US" sz="1200" b="0" i="0" u="none" strike="noStrike" kern="1200" baseline="0">
                <a:solidFill>
                  <a:schemeClr val="tx1"/>
                </a:solidFill>
                <a:latin typeface="+mn-lt"/>
                <a:ea typeface="+mn-ea"/>
                <a:cs typeface="+mn-cs"/>
              </a:rPr>
              <a:t>20 employers supported Gain access to a job-ready digital workforce, reduced onboarding time, improved retention, and strengthened layoff-aversion outcomes.</a:t>
            </a:r>
          </a:p>
          <a:p>
            <a:pPr lvl="1"/>
            <a:endParaRPr lang="en-US" sz="1200" b="0" i="0" u="none" strike="noStrike" kern="1200" baseline="0">
              <a:solidFill>
                <a:schemeClr val="tx1"/>
              </a:solidFill>
              <a:latin typeface="+mn-lt"/>
              <a:ea typeface="+mn-ea"/>
              <a:cs typeface="+mn-cs"/>
            </a:endParaRPr>
          </a:p>
          <a:p>
            <a:endParaRPr lang="en-US" sz="1200" b="0" i="0" u="none" strike="noStrike" kern="1200" baseline="0">
              <a:solidFill>
                <a:schemeClr val="tx1"/>
              </a:solidFill>
              <a:latin typeface="+mn-lt"/>
              <a:ea typeface="+mn-ea"/>
              <a:cs typeface="+mn-cs"/>
            </a:endParaRPr>
          </a:p>
          <a:p>
            <a:endParaRPr lang="en-US"/>
          </a:p>
        </p:txBody>
      </p:sp>
      <p:sp>
        <p:nvSpPr>
          <p:cNvPr id="6" name="Footer Placeholder 5">
            <a:extLst>
              <a:ext uri="{FF2B5EF4-FFF2-40B4-BE49-F238E27FC236}">
                <a16:creationId xmlns:a16="http://schemas.microsoft.com/office/drawing/2014/main" id="{E8E5C829-6F54-0FA7-7C55-EFC02B95CCE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AF4E392-5B16-C278-952C-7FB52BAF5A2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011183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1860-A924-B9BA-6B08-336E811E470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65BC19-6AF0-CFC3-48C7-3DF5CED69AA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D1DE222-F653-E390-53ED-B3439D71AA8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0577649-AD89-8758-646E-34E2E7F1923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77E1B18-11D5-24B2-6492-596EFB0374E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AI in the background, curing cancer/eradicating illiteracy</a:t>
            </a:r>
          </a:p>
          <a:p>
            <a:pPr marL="285750" indent="-285750">
              <a:buFont typeface="Arial" panose="020B0604020202020204" pitchFamily="34" charset="0"/>
              <a:buChar char="•"/>
            </a:pPr>
            <a:r>
              <a:rPr lang="en-US">
                <a:latin typeface="Poppins" panose="00000500000000000000" pitchFamily="2" charset="0"/>
                <a:cs typeface="Poppins" panose="00000500000000000000" pitchFamily="2" charset="0"/>
              </a:rPr>
              <a:t>Keynote speakers </a:t>
            </a:r>
          </a:p>
          <a:p>
            <a:pPr marL="742950" lvl="1" indent="-285750">
              <a:buFont typeface="Arial" panose="020B0604020202020204" pitchFamily="34" charset="0"/>
              <a:buChar char="•"/>
            </a:pPr>
            <a:r>
              <a:rPr lang="en-US">
                <a:latin typeface="Poppins" panose="00000500000000000000" pitchFamily="2" charset="0"/>
                <a:cs typeface="Poppins" panose="00000500000000000000" pitchFamily="2" charset="0"/>
              </a:rPr>
              <a:t>Existential risks concerning AI</a:t>
            </a:r>
          </a:p>
          <a:p>
            <a:pPr marL="742950" lvl="1" indent="-285750">
              <a:buFont typeface="Arial" panose="020B0604020202020204" pitchFamily="34" charset="0"/>
              <a:buChar char="•"/>
            </a:pPr>
            <a:r>
              <a:rPr lang="en-US">
                <a:latin typeface="Poppins" panose="00000500000000000000" pitchFamily="2" charset="0"/>
                <a:cs typeface="Poppins" panose="00000500000000000000" pitchFamily="2" charset="0"/>
              </a:rPr>
              <a:t>Is AI beyond human control (escaping from sandboxes)</a:t>
            </a:r>
          </a:p>
          <a:p>
            <a:pPr marL="742950" lvl="1" indent="-285750">
              <a:buFont typeface="Arial" panose="020B0604020202020204" pitchFamily="34" charset="0"/>
              <a:buChar char="•"/>
            </a:pPr>
            <a:r>
              <a:rPr lang="en-US">
                <a:latin typeface="Poppins" panose="00000500000000000000" pitchFamily="2" charset="0"/>
                <a:cs typeface="Poppins" panose="00000500000000000000" pitchFamily="2" charset="0"/>
              </a:rPr>
              <a:t>AI’s impact on jobs (upskilling is key)</a:t>
            </a:r>
          </a:p>
          <a:p>
            <a:pPr marL="742950" lvl="1" indent="-285750">
              <a:buFont typeface="Arial" panose="020B0604020202020204" pitchFamily="34" charset="0"/>
              <a:buChar char="•"/>
            </a:pPr>
            <a:r>
              <a:rPr lang="en-US">
                <a:latin typeface="Poppins" panose="00000500000000000000" pitchFamily="2" charset="0"/>
                <a:cs typeface="Poppins" panose="00000500000000000000" pitchFamily="2" charset="0"/>
              </a:rPr>
              <a:t>Increased productivity but not shared prosperity</a:t>
            </a:r>
          </a:p>
          <a:p>
            <a:endParaRPr lang="en-US"/>
          </a:p>
        </p:txBody>
      </p:sp>
      <p:sp>
        <p:nvSpPr>
          <p:cNvPr id="6" name="Footer Placeholder 5">
            <a:extLst>
              <a:ext uri="{FF2B5EF4-FFF2-40B4-BE49-F238E27FC236}">
                <a16:creationId xmlns:a16="http://schemas.microsoft.com/office/drawing/2014/main" id="{8EB810FF-56FE-B6B7-6812-04332AE080E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D389EC-DA4E-35F2-EE60-00AB8895241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738705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66738" y="695325"/>
            <a:ext cx="6196012" cy="3486150"/>
          </a:xfrm>
        </p:spPr>
        <p:txBody>
          <a:bodyPr/>
          <a:lstStyle/>
          <a:p>
            <a:endParaRPr lang="en-US"/>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3781A5EA-C2E9-4039-9713-25DBFBF2006D}" type="slidenum">
              <a:rPr lang="en-US" smtClean="0"/>
              <a:pPr/>
              <a:t>31</a:t>
            </a:fld>
            <a:endParaRPr lang="en-US"/>
          </a:p>
        </p:txBody>
      </p:sp>
    </p:spTree>
    <p:extLst>
      <p:ext uri="{BB962C8B-B14F-4D97-AF65-F5344CB8AC3E}">
        <p14:creationId xmlns:p14="http://schemas.microsoft.com/office/powerpoint/2010/main" val="1126679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6207F-8D58-4D7E-AB99-3B0E8D59E701}"/>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7D98B01-063B-4614-9E93-2CC380FAFBB5}"/>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8DCE9C8-EEAA-4387-A14C-73A51F37B25A}"/>
              </a:ext>
            </a:extLst>
          </p:cNvPr>
          <p:cNvSpPr>
            <a:spLocks noGrp="1"/>
          </p:cNvSpPr>
          <p:nvPr>
            <p:ph type="dt" sz="half" idx="10"/>
          </p:nvPr>
        </p:nvSpPr>
        <p:spPr/>
        <p:txBody>
          <a:bodyPr/>
          <a:lstStyle/>
          <a:p>
            <a:fld id="{D42F50F2-01C2-4010-B62B-7CAD50221EEF}" type="datetime1">
              <a:rPr lang="en-US" smtClean="0"/>
              <a:t>9/9/2026</a:t>
            </a:fld>
            <a:endParaRPr lang="en-US"/>
          </a:p>
        </p:txBody>
      </p:sp>
      <p:sp>
        <p:nvSpPr>
          <p:cNvPr id="5" name="Footer Placeholder 4">
            <a:extLst>
              <a:ext uri="{FF2B5EF4-FFF2-40B4-BE49-F238E27FC236}">
                <a16:creationId xmlns:a16="http://schemas.microsoft.com/office/drawing/2014/main" id="{BDC32011-78D1-40EE-90D8-485FB2568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9F2B6C-8396-4975-B59C-6F9917FC284D}"/>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2353950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83C50-E85A-4188-8034-AF928B1AE1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679509-BE94-44B9-85C4-AD137C8394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9EC7F2-ECCC-4CA7-A9DF-3A4ED5611A84}"/>
              </a:ext>
            </a:extLst>
          </p:cNvPr>
          <p:cNvSpPr>
            <a:spLocks noGrp="1"/>
          </p:cNvSpPr>
          <p:nvPr>
            <p:ph type="dt" sz="half" idx="10"/>
          </p:nvPr>
        </p:nvSpPr>
        <p:spPr/>
        <p:txBody>
          <a:bodyPr/>
          <a:lstStyle/>
          <a:p>
            <a:fld id="{98EBB6CE-CF2C-476C-B313-FFA5ECBA72AC}" type="datetime1">
              <a:rPr lang="en-US" smtClean="0"/>
              <a:t>9/9/2026</a:t>
            </a:fld>
            <a:endParaRPr lang="en-US"/>
          </a:p>
        </p:txBody>
      </p:sp>
      <p:sp>
        <p:nvSpPr>
          <p:cNvPr id="5" name="Footer Placeholder 4">
            <a:extLst>
              <a:ext uri="{FF2B5EF4-FFF2-40B4-BE49-F238E27FC236}">
                <a16:creationId xmlns:a16="http://schemas.microsoft.com/office/drawing/2014/main" id="{7DBCD034-1F76-4934-A162-FA655736E8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346836-C92F-4B17-8409-F3EA4BC0C5F1}"/>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1419114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F4208-B5A1-4C93-A30B-905FD8DAEF73}"/>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BB456AC-83BF-4F3F-A822-ADF7CDE6EC7D}"/>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FD4AF0-2C11-48E9-82DF-3A07C127D7A7}"/>
              </a:ext>
            </a:extLst>
          </p:cNvPr>
          <p:cNvSpPr>
            <a:spLocks noGrp="1"/>
          </p:cNvSpPr>
          <p:nvPr>
            <p:ph type="dt" sz="half" idx="10"/>
          </p:nvPr>
        </p:nvSpPr>
        <p:spPr/>
        <p:txBody>
          <a:bodyPr/>
          <a:lstStyle/>
          <a:p>
            <a:fld id="{780A531C-409F-4854-B1F4-5F92837E6345}" type="datetime1">
              <a:rPr lang="en-US" smtClean="0"/>
              <a:t>9/9/2026</a:t>
            </a:fld>
            <a:endParaRPr lang="en-US"/>
          </a:p>
        </p:txBody>
      </p:sp>
      <p:sp>
        <p:nvSpPr>
          <p:cNvPr id="5" name="Footer Placeholder 4">
            <a:extLst>
              <a:ext uri="{FF2B5EF4-FFF2-40B4-BE49-F238E27FC236}">
                <a16:creationId xmlns:a16="http://schemas.microsoft.com/office/drawing/2014/main" id="{42603DBF-49D6-43FC-A438-E50E72640B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DA4FF-BF99-42B1-879F-CD59766A2B58}"/>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405604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F06D2-56EE-4D9E-AAF8-0076EC1274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8E8BB7-242C-4693-BC8D-21C9F901E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D204A6-D4CE-42AD-9CF5-11F5E8B2A4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4BAC2B-D012-4416-8816-2A48B4B3DDF3}"/>
              </a:ext>
            </a:extLst>
          </p:cNvPr>
          <p:cNvSpPr>
            <a:spLocks noGrp="1"/>
          </p:cNvSpPr>
          <p:nvPr>
            <p:ph type="dt" sz="half" idx="10"/>
          </p:nvPr>
        </p:nvSpPr>
        <p:spPr/>
        <p:txBody>
          <a:bodyPr/>
          <a:lstStyle/>
          <a:p>
            <a:fld id="{6CCDFDDF-7C97-4BBF-BFB8-364C1FF5667D}" type="datetime1">
              <a:rPr lang="en-US" smtClean="0"/>
              <a:t>9/9/2026</a:t>
            </a:fld>
            <a:endParaRPr lang="en-US"/>
          </a:p>
        </p:txBody>
      </p:sp>
      <p:sp>
        <p:nvSpPr>
          <p:cNvPr id="6" name="Footer Placeholder 5">
            <a:extLst>
              <a:ext uri="{FF2B5EF4-FFF2-40B4-BE49-F238E27FC236}">
                <a16:creationId xmlns:a16="http://schemas.microsoft.com/office/drawing/2014/main" id="{A54902F2-F7CF-4C61-96EB-D7C29A27E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3DBC77-EF54-4E6E-BBCE-E5A26FAD8D67}"/>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2421898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E95CD-6001-4848-97D7-64B4F270713D}"/>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377881-3AC6-4D9E-A8D7-548CAE64636D}"/>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29A2-256A-4AE2-89AF-275FB4F91CCA}"/>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057A3C-7555-4619-92DF-BD9BE8B9163A}"/>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C48BC07-6211-4579-B347-739524F235F6}"/>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79FC23-8F56-477D-856B-C3A083D9C123}"/>
              </a:ext>
            </a:extLst>
          </p:cNvPr>
          <p:cNvSpPr>
            <a:spLocks noGrp="1"/>
          </p:cNvSpPr>
          <p:nvPr>
            <p:ph type="dt" sz="half" idx="10"/>
          </p:nvPr>
        </p:nvSpPr>
        <p:spPr/>
        <p:txBody>
          <a:bodyPr/>
          <a:lstStyle/>
          <a:p>
            <a:fld id="{6B85C726-12AC-432A-B7AE-330876375674}" type="datetime1">
              <a:rPr lang="en-US" smtClean="0"/>
              <a:t>9/9/2026</a:t>
            </a:fld>
            <a:endParaRPr lang="en-US"/>
          </a:p>
        </p:txBody>
      </p:sp>
      <p:sp>
        <p:nvSpPr>
          <p:cNvPr id="8" name="Footer Placeholder 7">
            <a:extLst>
              <a:ext uri="{FF2B5EF4-FFF2-40B4-BE49-F238E27FC236}">
                <a16:creationId xmlns:a16="http://schemas.microsoft.com/office/drawing/2014/main" id="{008E354C-3211-47B5-AB54-D2860E253F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4D92A2-C140-47C3-9E60-302DE221E9CD}"/>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573170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98F79-067F-4AF8-BB1D-6B44CDA1D4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70055E-F996-4E3D-BCC7-44D1E6C2FD27}"/>
              </a:ext>
            </a:extLst>
          </p:cNvPr>
          <p:cNvSpPr>
            <a:spLocks noGrp="1"/>
          </p:cNvSpPr>
          <p:nvPr>
            <p:ph type="dt" sz="half" idx="10"/>
          </p:nvPr>
        </p:nvSpPr>
        <p:spPr/>
        <p:txBody>
          <a:bodyPr/>
          <a:lstStyle/>
          <a:p>
            <a:fld id="{AEEC8D86-9F2C-4252-9811-CEE61E060CBE}" type="datetime1">
              <a:rPr lang="en-US" smtClean="0"/>
              <a:t>9/9/2026</a:t>
            </a:fld>
            <a:endParaRPr lang="en-US"/>
          </a:p>
        </p:txBody>
      </p:sp>
      <p:sp>
        <p:nvSpPr>
          <p:cNvPr id="4" name="Footer Placeholder 3">
            <a:extLst>
              <a:ext uri="{FF2B5EF4-FFF2-40B4-BE49-F238E27FC236}">
                <a16:creationId xmlns:a16="http://schemas.microsoft.com/office/drawing/2014/main" id="{41A7D6D4-C8DC-497C-8D91-3209494FEE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D36433-90A2-4644-8A94-2DAF4A2A8D9A}"/>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3841595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AE7220-88E8-408F-AB09-FD969E6803BC}"/>
              </a:ext>
            </a:extLst>
          </p:cNvPr>
          <p:cNvSpPr>
            <a:spLocks noGrp="1"/>
          </p:cNvSpPr>
          <p:nvPr>
            <p:ph type="dt" sz="half" idx="10"/>
          </p:nvPr>
        </p:nvSpPr>
        <p:spPr/>
        <p:txBody>
          <a:bodyPr/>
          <a:lstStyle/>
          <a:p>
            <a:fld id="{3D0AD600-2A5A-49B4-A798-A84F0DABB011}" type="datetime1">
              <a:rPr lang="en-US" smtClean="0"/>
              <a:t>9/9/2026</a:t>
            </a:fld>
            <a:endParaRPr lang="en-US"/>
          </a:p>
        </p:txBody>
      </p:sp>
      <p:sp>
        <p:nvSpPr>
          <p:cNvPr id="3" name="Footer Placeholder 2">
            <a:extLst>
              <a:ext uri="{FF2B5EF4-FFF2-40B4-BE49-F238E27FC236}">
                <a16:creationId xmlns:a16="http://schemas.microsoft.com/office/drawing/2014/main" id="{C0C36B61-6F76-4FF1-8C1A-75FD07AF0F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0ECC40-7839-471C-8494-439F4D299152}"/>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349491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48028-67C0-40EF-BDB0-7AC131A4B06E}"/>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49AC70A-6FA6-4167-A43C-7E654E2E777A}"/>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C91C2A-1D72-4F8B-8716-1B865957AD8C}"/>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807F209-3D4F-4B77-8289-90284137EAD4}"/>
              </a:ext>
            </a:extLst>
          </p:cNvPr>
          <p:cNvSpPr>
            <a:spLocks noGrp="1"/>
          </p:cNvSpPr>
          <p:nvPr>
            <p:ph type="dt" sz="half" idx="10"/>
          </p:nvPr>
        </p:nvSpPr>
        <p:spPr/>
        <p:txBody>
          <a:bodyPr/>
          <a:lstStyle/>
          <a:p>
            <a:fld id="{8F340829-0C6F-4781-8F7B-5AE317655B8E}" type="datetime1">
              <a:rPr lang="en-US" smtClean="0"/>
              <a:t>9/9/2026</a:t>
            </a:fld>
            <a:endParaRPr lang="en-US"/>
          </a:p>
        </p:txBody>
      </p:sp>
      <p:sp>
        <p:nvSpPr>
          <p:cNvPr id="6" name="Footer Placeholder 5">
            <a:extLst>
              <a:ext uri="{FF2B5EF4-FFF2-40B4-BE49-F238E27FC236}">
                <a16:creationId xmlns:a16="http://schemas.microsoft.com/office/drawing/2014/main" id="{85EDE1DF-B0DB-42F9-9499-18A8F0E446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7E2A13-E9DB-4A43-8423-4035C7E4FE99}"/>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3985082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12F9F-E90B-4CC6-A226-EA1A59798D3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0BD6479-7483-4693-9F23-75BDBD679685}"/>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00B4891-B377-4478-8135-60E07A3FE1B9}"/>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7C0EAA6-16DB-46B2-86AC-03B573A41529}"/>
              </a:ext>
            </a:extLst>
          </p:cNvPr>
          <p:cNvSpPr>
            <a:spLocks noGrp="1"/>
          </p:cNvSpPr>
          <p:nvPr>
            <p:ph type="dt" sz="half" idx="10"/>
          </p:nvPr>
        </p:nvSpPr>
        <p:spPr/>
        <p:txBody>
          <a:bodyPr/>
          <a:lstStyle/>
          <a:p>
            <a:fld id="{F4C65DF6-A84B-483D-A8E4-A22927602072}" type="datetime1">
              <a:rPr lang="en-US" smtClean="0"/>
              <a:t>9/9/2026</a:t>
            </a:fld>
            <a:endParaRPr lang="en-US"/>
          </a:p>
        </p:txBody>
      </p:sp>
      <p:sp>
        <p:nvSpPr>
          <p:cNvPr id="6" name="Footer Placeholder 5">
            <a:extLst>
              <a:ext uri="{FF2B5EF4-FFF2-40B4-BE49-F238E27FC236}">
                <a16:creationId xmlns:a16="http://schemas.microsoft.com/office/drawing/2014/main" id="{BA97EEB7-89D6-42C4-98E0-2C15653DFD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CF1A7-F6AD-4A81-8D2A-0554468647A2}"/>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278446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7131A-FFD3-441A-B6EA-063101573E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6AB35D-97DA-4E48-9897-AA6631CFD3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9BDB34-2ACA-4A1B-BA0B-07827426389E}"/>
              </a:ext>
            </a:extLst>
          </p:cNvPr>
          <p:cNvSpPr>
            <a:spLocks noGrp="1"/>
          </p:cNvSpPr>
          <p:nvPr>
            <p:ph type="dt" sz="half" idx="10"/>
          </p:nvPr>
        </p:nvSpPr>
        <p:spPr/>
        <p:txBody>
          <a:bodyPr/>
          <a:lstStyle/>
          <a:p>
            <a:fld id="{4B65B065-1F5D-4BA2-A2ED-85A64E0F32E6}" type="datetime1">
              <a:rPr lang="en-US" smtClean="0"/>
              <a:t>9/9/2026</a:t>
            </a:fld>
            <a:endParaRPr lang="en-US"/>
          </a:p>
        </p:txBody>
      </p:sp>
      <p:sp>
        <p:nvSpPr>
          <p:cNvPr id="5" name="Footer Placeholder 4">
            <a:extLst>
              <a:ext uri="{FF2B5EF4-FFF2-40B4-BE49-F238E27FC236}">
                <a16:creationId xmlns:a16="http://schemas.microsoft.com/office/drawing/2014/main" id="{91B2FC26-064E-406A-BEB1-B52313B2AC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EF1393-08BF-4981-B3D2-37A4EB3FAB16}"/>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3027567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71238E-145E-4EAD-800A-916CDB24D468}"/>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046FC6-754B-4435-9511-BE31226DEFA0}"/>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1F981-11C9-4B75-83CE-58E1C0744342}"/>
              </a:ext>
            </a:extLst>
          </p:cNvPr>
          <p:cNvSpPr>
            <a:spLocks noGrp="1"/>
          </p:cNvSpPr>
          <p:nvPr>
            <p:ph type="dt" sz="half" idx="10"/>
          </p:nvPr>
        </p:nvSpPr>
        <p:spPr/>
        <p:txBody>
          <a:bodyPr/>
          <a:lstStyle/>
          <a:p>
            <a:fld id="{7361C1E5-7619-4F2C-9CAE-556508B03B75}" type="datetime1">
              <a:rPr lang="en-US" smtClean="0"/>
              <a:t>9/9/2026</a:t>
            </a:fld>
            <a:endParaRPr lang="en-US"/>
          </a:p>
        </p:txBody>
      </p:sp>
      <p:sp>
        <p:nvSpPr>
          <p:cNvPr id="5" name="Footer Placeholder 4">
            <a:extLst>
              <a:ext uri="{FF2B5EF4-FFF2-40B4-BE49-F238E27FC236}">
                <a16:creationId xmlns:a16="http://schemas.microsoft.com/office/drawing/2014/main" id="{D7BBF48E-3832-49BB-B80B-A1E31454FD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320EDC-929D-4FE5-8395-6D4A49CD3862}"/>
              </a:ext>
            </a:extLst>
          </p:cNvPr>
          <p:cNvSpPr>
            <a:spLocks noGrp="1"/>
          </p:cNvSpPr>
          <p:nvPr>
            <p:ph type="sldNum" sz="quarter" idx="12"/>
          </p:nvPr>
        </p:nvSpPr>
        <p:spPr/>
        <p:txBody>
          <a:bodyPr/>
          <a:lstStyle/>
          <a:p>
            <a:fld id="{0D06D882-AB59-4AF3-BFF8-983A7E7E971E}" type="slidenum">
              <a:rPr lang="en-US" smtClean="0"/>
              <a:pPr/>
              <a:t>‹#›</a:t>
            </a:fld>
            <a:endParaRPr lang="en-US"/>
          </a:p>
        </p:txBody>
      </p:sp>
    </p:spTree>
    <p:extLst>
      <p:ext uri="{BB962C8B-B14F-4D97-AF65-F5344CB8AC3E}">
        <p14:creationId xmlns:p14="http://schemas.microsoft.com/office/powerpoint/2010/main" val="13934611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6271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FE5888-7140-4E41-A87B-06EBD62972EF}"/>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A70681-18B7-46B6-9221-30A7074C54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32723-733E-4BF9-84E6-AD47AE839B63}"/>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7F370E2-F955-4B17-BA6F-B18D3B779E1D}" type="datetime1">
              <a:rPr lang="en-US" smtClean="0"/>
              <a:t>9/9/2026</a:t>
            </a:fld>
            <a:endParaRPr lang="en-US"/>
          </a:p>
        </p:txBody>
      </p:sp>
      <p:sp>
        <p:nvSpPr>
          <p:cNvPr id="5" name="Footer Placeholder 4">
            <a:extLst>
              <a:ext uri="{FF2B5EF4-FFF2-40B4-BE49-F238E27FC236}">
                <a16:creationId xmlns:a16="http://schemas.microsoft.com/office/drawing/2014/main" id="{7A0AF4AB-9852-49F7-BE04-F4B003D01AD5}"/>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2128D1-1A64-4E9C-9FAF-5DF055D2B15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D06D882-AB59-4AF3-BFF8-983A7E7E971E}" type="slidenum">
              <a:rPr lang="en-US" smtClean="0"/>
              <a:pPr/>
              <a:t>‹#›</a:t>
            </a:fld>
            <a:endParaRPr lang="en-US"/>
          </a:p>
        </p:txBody>
      </p:sp>
    </p:spTree>
    <p:extLst>
      <p:ext uri="{BB962C8B-B14F-4D97-AF65-F5344CB8AC3E}">
        <p14:creationId xmlns:p14="http://schemas.microsoft.com/office/powerpoint/2010/main" val="412360060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5.sv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1.png"/><Relationship Id="rId7" Type="http://schemas.openxmlformats.org/officeDocument/2006/relationships/image" Target="../media/image26.png"/><Relationship Id="rId12"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jpeg"/><Relationship Id="rId4" Type="http://schemas.openxmlformats.org/officeDocument/2006/relationships/image" Target="../media/image23.jpeg"/><Relationship Id="rId9" Type="http://schemas.openxmlformats.org/officeDocument/2006/relationships/image" Target="../media/image28.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1.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9.jpeg"/><Relationship Id="rId4" Type="http://schemas.openxmlformats.org/officeDocument/2006/relationships/image" Target="../media/image38.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8.jpe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3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345CC-279F-1FDE-CD4E-1351646FCCFA}"/>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91A1565E-EA8D-4832-9BF4-D287593313FE}"/>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7" name="Title 6">
            <a:extLst>
              <a:ext uri="{FF2B5EF4-FFF2-40B4-BE49-F238E27FC236}">
                <a16:creationId xmlns:a16="http://schemas.microsoft.com/office/drawing/2014/main" id="{3B8FF44E-682E-EDF0-4EF9-8A5F05758AAD}"/>
              </a:ext>
            </a:extLst>
          </p:cNvPr>
          <p:cNvSpPr txBox="1">
            <a:spLocks noGrp="1"/>
          </p:cNvSpPr>
          <p:nvPr>
            <p:ph type="title" idx="4294967295"/>
          </p:nvPr>
        </p:nvSpPr>
        <p:spPr>
          <a:xfrm>
            <a:off x="98259" y="695525"/>
            <a:ext cx="8073189" cy="280076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044692"/>
                </a:solidFill>
                <a:effectLst/>
                <a:uLnTx/>
                <a:uFillTx/>
                <a:latin typeface="Poppins"/>
                <a:ea typeface="+mn-ea"/>
                <a:cs typeface="Poppins"/>
              </a:rPr>
              <a:t>Artificial Intelligence, Workforce Transformation, &amp; the Future of Work in Lake County</a:t>
            </a:r>
            <a:endParaRPr kumimoji="0" lang="en-US" sz="4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a:extLst>
              <a:ext uri="{FF2B5EF4-FFF2-40B4-BE49-F238E27FC236}">
                <a16:creationId xmlns:a16="http://schemas.microsoft.com/office/drawing/2014/main" id="{120C36FA-89B7-1A8E-DDDD-D20203B73120}"/>
              </a:ext>
            </a:extLst>
          </p:cNvPr>
          <p:cNvSpPr txBox="1"/>
          <p:nvPr/>
        </p:nvSpPr>
        <p:spPr>
          <a:xfrm>
            <a:off x="98259" y="3958785"/>
            <a:ext cx="7357533" cy="1484379"/>
          </a:xfrm>
          <a:prstGeom prst="rect">
            <a:avLst/>
          </a:prstGeom>
          <a:noFill/>
        </p:spPr>
        <p:txBody>
          <a:bodyPr wrap="square" lIns="91440" tIns="45720" rIns="91440" bIns="45720" rtlCol="0" anchor="t">
            <a:noAutofit/>
          </a:bodyPr>
          <a:lstStyle/>
          <a:p>
            <a:pPr>
              <a:spcBef>
                <a:spcPts val="600"/>
              </a:spcBef>
              <a:spcAft>
                <a:spcPts val="600"/>
              </a:spcAft>
            </a:pPr>
            <a:r>
              <a:rPr lang="en-US" sz="3200" b="1" dirty="0">
                <a:latin typeface="Poppins" pitchFamily="2" charset="77"/>
                <a:cs typeface="Poppins" pitchFamily="2" charset="77"/>
              </a:rPr>
              <a:t>Presented By:</a:t>
            </a:r>
          </a:p>
          <a:p>
            <a:pPr>
              <a:spcBef>
                <a:spcPts val="600"/>
              </a:spcBef>
              <a:spcAft>
                <a:spcPts val="600"/>
              </a:spcAft>
            </a:pPr>
            <a:r>
              <a:rPr lang="en-US" sz="3200" b="1" dirty="0">
                <a:latin typeface="Poppins" pitchFamily="2" charset="77"/>
                <a:cs typeface="Poppins" pitchFamily="2" charset="77"/>
              </a:rPr>
              <a:t>Eric Nordstrom &amp; Demar Harris</a:t>
            </a:r>
            <a:endParaRPr lang="en-US" sz="3200" dirty="0">
              <a:latin typeface="Poppins" pitchFamily="2" charset="77"/>
              <a:cs typeface="Poppins" pitchFamily="2" charset="77"/>
            </a:endParaRPr>
          </a:p>
        </p:txBody>
      </p:sp>
      <p:pic>
        <p:nvPicPr>
          <p:cNvPr id="2" name="Picture 1" descr="Text">
            <a:extLst>
              <a:ext uri="{FF2B5EF4-FFF2-40B4-BE49-F238E27FC236}">
                <a16:creationId xmlns:a16="http://schemas.microsoft.com/office/drawing/2014/main" id="{600868D6-01DE-90FF-B73C-C857864FA6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9402" y="5905658"/>
            <a:ext cx="3470148" cy="614137"/>
          </a:xfrm>
          <a:prstGeom prst="rect">
            <a:avLst/>
          </a:prstGeom>
        </p:spPr>
      </p:pic>
      <p:pic>
        <p:nvPicPr>
          <p:cNvPr id="8" name="Picture 7" descr="Image of AI on a circuit board">
            <a:extLst>
              <a:ext uri="{FF2B5EF4-FFF2-40B4-BE49-F238E27FC236}">
                <a16:creationId xmlns:a16="http://schemas.microsoft.com/office/drawing/2014/main" id="{957AEC91-4B1A-B101-8175-1F9310F7DA4C}"/>
              </a:ext>
            </a:extLst>
          </p:cNvPr>
          <p:cNvPicPr>
            <a:picLocks noChangeAspect="1"/>
          </p:cNvPicPr>
          <p:nvPr/>
        </p:nvPicPr>
        <p:blipFill>
          <a:blip r:embed="rId5"/>
          <a:srcRect l="36269" r="29322"/>
          <a:stretch>
            <a:fillRect/>
          </a:stretch>
        </p:blipFill>
        <p:spPr>
          <a:xfrm>
            <a:off x="8269705" y="273394"/>
            <a:ext cx="3922295" cy="6445796"/>
          </a:xfrm>
          <a:prstGeom prst="rect">
            <a:avLst/>
          </a:prstGeom>
        </p:spPr>
      </p:pic>
      <p:pic>
        <p:nvPicPr>
          <p:cNvPr id="18" name="Picture 17">
            <a:extLst>
              <a:ext uri="{FF2B5EF4-FFF2-40B4-BE49-F238E27FC236}">
                <a16:creationId xmlns:a16="http://schemas.microsoft.com/office/drawing/2014/main" id="{053DB5C9-3B26-088C-20AC-819F883CDE48}"/>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a:ln>
            <a:solidFill>
              <a:srgbClr val="4472C4"/>
            </a:solidFill>
          </a:ln>
        </p:spPr>
      </p:pic>
    </p:spTree>
    <p:extLst>
      <p:ext uri="{BB962C8B-B14F-4D97-AF65-F5344CB8AC3E}">
        <p14:creationId xmlns:p14="http://schemas.microsoft.com/office/powerpoint/2010/main" val="3792139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6FE67-1EDB-467F-8407-6915541F1B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1B7BE5-7434-7A7F-B7D5-79C490F9EE4E}"/>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pic>
        <p:nvPicPr>
          <p:cNvPr id="4" name="Picture 3">
            <a:extLst>
              <a:ext uri="{FF2B5EF4-FFF2-40B4-BE49-F238E27FC236}">
                <a16:creationId xmlns:a16="http://schemas.microsoft.com/office/drawing/2014/main" id="{6706083D-E887-4AA7-B17B-AB334EF11132}"/>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pic>
        <p:nvPicPr>
          <p:cNvPr id="3" name="Picture 2">
            <a:extLst>
              <a:ext uri="{FF2B5EF4-FFF2-40B4-BE49-F238E27FC236}">
                <a16:creationId xmlns:a16="http://schemas.microsoft.com/office/drawing/2014/main" id="{456BF425-6852-F607-EA2B-CEEFCA387963}"/>
              </a:ext>
            </a:extLst>
          </p:cNvPr>
          <p:cNvPicPr>
            <a:picLocks noChangeAspect="1"/>
          </p:cNvPicPr>
          <p:nvPr/>
        </p:nvPicPr>
        <p:blipFill>
          <a:blip r:embed="rId5">
            <a:extLst>
              <a:ext uri="{28A0092B-C50C-407E-A947-70E740481C1C}">
                <a14:useLocalDpi xmlns:a14="http://schemas.microsoft.com/office/drawing/2010/main" val="0"/>
              </a:ext>
            </a:extLst>
          </a:blip>
          <a:srcRect b="47426"/>
          <a:stretch>
            <a:fillRect/>
          </a:stretch>
        </p:blipFill>
        <p:spPr>
          <a:xfrm>
            <a:off x="5207004" y="877873"/>
            <a:ext cx="6832596" cy="5692267"/>
          </a:xfrm>
          <a:prstGeom prst="rect">
            <a:avLst/>
          </a:prstGeom>
        </p:spPr>
      </p:pic>
      <p:cxnSp>
        <p:nvCxnSpPr>
          <p:cNvPr id="7" name="Straight Arrow Connector 6">
            <a:extLst>
              <a:ext uri="{FF2B5EF4-FFF2-40B4-BE49-F238E27FC236}">
                <a16:creationId xmlns:a16="http://schemas.microsoft.com/office/drawing/2014/main" id="{943A103B-F0B9-9879-673A-2DD5CEEB760D}"/>
              </a:ext>
            </a:extLst>
          </p:cNvPr>
          <p:cNvCxnSpPr>
            <a:cxnSpLocks/>
          </p:cNvCxnSpPr>
          <p:nvPr/>
        </p:nvCxnSpPr>
        <p:spPr>
          <a:xfrm>
            <a:off x="10621418" y="685807"/>
            <a:ext cx="0" cy="561931"/>
          </a:xfrm>
          <a:prstGeom prst="straightConnector1">
            <a:avLst/>
          </a:prstGeom>
          <a:ln w="762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Oval 10">
            <a:extLst>
              <a:ext uri="{FF2B5EF4-FFF2-40B4-BE49-F238E27FC236}">
                <a16:creationId xmlns:a16="http://schemas.microsoft.com/office/drawing/2014/main" id="{B25FA26B-B9C7-A76C-DD39-2E30F57E4650}"/>
              </a:ext>
            </a:extLst>
          </p:cNvPr>
          <p:cNvSpPr/>
          <p:nvPr/>
        </p:nvSpPr>
        <p:spPr>
          <a:xfrm>
            <a:off x="10388599" y="1303874"/>
            <a:ext cx="465639" cy="284479"/>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a:extLst>
              <a:ext uri="{FF2B5EF4-FFF2-40B4-BE49-F238E27FC236}">
                <a16:creationId xmlns:a16="http://schemas.microsoft.com/office/drawing/2014/main" id="{6892A9C5-5542-AEDD-AFDF-7A4A31491966}"/>
              </a:ext>
            </a:extLst>
          </p:cNvPr>
          <p:cNvSpPr txBox="1">
            <a:spLocks/>
          </p:cNvSpPr>
          <p:nvPr/>
        </p:nvSpPr>
        <p:spPr>
          <a:xfrm>
            <a:off x="585679" y="1743203"/>
            <a:ext cx="6336144" cy="4649129"/>
          </a:xfrm>
          <a:prstGeom prst="rect">
            <a:avLst/>
          </a:prstGeom>
        </p:spPr>
        <p:txBody>
          <a:bodyPr lIns="91440" tIns="45720" rIns="91440" bIns="45720" anchor="t">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600"/>
              </a:spcBef>
              <a:spcAft>
                <a:spcPts val="600"/>
              </a:spcAft>
            </a:pPr>
            <a:r>
              <a:rPr lang="en-US" sz="2400" dirty="0">
                <a:latin typeface="Poppins"/>
                <a:cs typeface="Poppins"/>
              </a:rPr>
              <a:t>Population: ~720,000</a:t>
            </a:r>
          </a:p>
          <a:p>
            <a:pPr lvl="1">
              <a:lnSpc>
                <a:spcPct val="100000"/>
              </a:lnSpc>
              <a:spcBef>
                <a:spcPts val="600"/>
              </a:spcBef>
              <a:spcAft>
                <a:spcPts val="600"/>
              </a:spcAft>
            </a:pPr>
            <a:r>
              <a:rPr lang="en-US" sz="2100" dirty="0">
                <a:latin typeface="Poppins"/>
                <a:cs typeface="Poppins"/>
              </a:rPr>
              <a:t>3</a:t>
            </a:r>
            <a:r>
              <a:rPr lang="en-US" sz="2100" baseline="30000" dirty="0">
                <a:latin typeface="Poppins"/>
                <a:cs typeface="Poppins"/>
              </a:rPr>
              <a:t>rd</a:t>
            </a:r>
            <a:r>
              <a:rPr lang="en-US" sz="2100" dirty="0">
                <a:latin typeface="Poppins"/>
                <a:cs typeface="Poppins"/>
              </a:rPr>
              <a:t> highest in Illinois</a:t>
            </a:r>
          </a:p>
          <a:p>
            <a:pPr>
              <a:lnSpc>
                <a:spcPct val="100000"/>
              </a:lnSpc>
              <a:spcBef>
                <a:spcPts val="600"/>
              </a:spcBef>
              <a:spcAft>
                <a:spcPts val="600"/>
              </a:spcAft>
            </a:pPr>
            <a:r>
              <a:rPr lang="en-US" sz="2400" dirty="0">
                <a:latin typeface="Poppins"/>
                <a:cs typeface="Poppins"/>
              </a:rPr>
              <a:t>Local Workforce Innovation Area 1</a:t>
            </a:r>
          </a:p>
          <a:p>
            <a:pPr>
              <a:lnSpc>
                <a:spcPct val="100000"/>
              </a:lnSpc>
              <a:spcBef>
                <a:spcPts val="600"/>
              </a:spcBef>
              <a:spcAft>
                <a:spcPts val="600"/>
              </a:spcAft>
            </a:pPr>
            <a:r>
              <a:rPr lang="en-US" sz="2400" dirty="0">
                <a:latin typeface="Poppins"/>
                <a:cs typeface="Poppins"/>
              </a:rPr>
              <a:t>Major Industries:</a:t>
            </a:r>
          </a:p>
          <a:p>
            <a:pPr lvl="1">
              <a:lnSpc>
                <a:spcPct val="100000"/>
              </a:lnSpc>
              <a:spcBef>
                <a:spcPts val="600"/>
              </a:spcBef>
              <a:spcAft>
                <a:spcPts val="600"/>
              </a:spcAft>
            </a:pPr>
            <a:r>
              <a:rPr lang="en-US" sz="2100" dirty="0">
                <a:latin typeface="Poppins"/>
                <a:cs typeface="Poppins"/>
              </a:rPr>
              <a:t>Manufacturing</a:t>
            </a:r>
          </a:p>
          <a:p>
            <a:pPr lvl="1">
              <a:lnSpc>
                <a:spcPct val="100000"/>
              </a:lnSpc>
              <a:spcBef>
                <a:spcPts val="600"/>
              </a:spcBef>
              <a:spcAft>
                <a:spcPts val="600"/>
              </a:spcAft>
            </a:pPr>
            <a:r>
              <a:rPr lang="en-US" sz="2100" dirty="0">
                <a:latin typeface="Poppins"/>
                <a:cs typeface="Poppins"/>
              </a:rPr>
              <a:t>Healthcare</a:t>
            </a:r>
          </a:p>
          <a:p>
            <a:pPr lvl="1">
              <a:lnSpc>
                <a:spcPct val="100000"/>
              </a:lnSpc>
              <a:spcBef>
                <a:spcPts val="600"/>
              </a:spcBef>
              <a:spcAft>
                <a:spcPts val="600"/>
              </a:spcAft>
            </a:pPr>
            <a:r>
              <a:rPr lang="en-US" sz="2100" dirty="0">
                <a:latin typeface="Poppins"/>
                <a:cs typeface="Poppins"/>
              </a:rPr>
              <a:t>Retail &amp; Hospitality</a:t>
            </a:r>
          </a:p>
          <a:p>
            <a:pPr lvl="1">
              <a:lnSpc>
                <a:spcPct val="100000"/>
              </a:lnSpc>
              <a:spcBef>
                <a:spcPts val="600"/>
              </a:spcBef>
              <a:spcAft>
                <a:spcPts val="600"/>
              </a:spcAft>
            </a:pPr>
            <a:r>
              <a:rPr lang="en-US" sz="2100" dirty="0">
                <a:latin typeface="Poppins"/>
                <a:cs typeface="Poppins"/>
              </a:rPr>
              <a:t>Government &amp; Public Sector</a:t>
            </a:r>
          </a:p>
        </p:txBody>
      </p:sp>
      <p:sp>
        <p:nvSpPr>
          <p:cNvPr id="9" name="Title 2">
            <a:extLst>
              <a:ext uri="{FF2B5EF4-FFF2-40B4-BE49-F238E27FC236}">
                <a16:creationId xmlns:a16="http://schemas.microsoft.com/office/drawing/2014/main" id="{4DBE2B47-402C-62B9-6830-386C39662C4E}"/>
              </a:ext>
            </a:extLst>
          </p:cNvPr>
          <p:cNvSpPr txBox="1">
            <a:spLocks noGrp="1"/>
          </p:cNvSpPr>
          <p:nvPr>
            <p:ph type="title" idx="4294967295"/>
          </p:nvPr>
        </p:nvSpPr>
        <p:spPr>
          <a:xfrm>
            <a:off x="585679" y="274320"/>
            <a:ext cx="6336144"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44692"/>
                </a:solidFill>
                <a:effectLst/>
                <a:uLnTx/>
                <a:uFillTx/>
                <a:latin typeface="Poppins" pitchFamily="2" charset="77"/>
                <a:ea typeface="+mj-ea"/>
                <a:cs typeface="Poppins" pitchFamily="2" charset="77"/>
              </a:rPr>
              <a:t>Lake County, IL (not CA)</a:t>
            </a:r>
            <a:br>
              <a:rPr kumimoji="0" lang="en-US" sz="3200" b="0" i="0" u="none" strike="noStrike" kern="1200" cap="none" spc="0" normalizeH="0" baseline="0" noProof="0" dirty="0">
                <a:ln>
                  <a:noFill/>
                </a:ln>
                <a:solidFill>
                  <a:srgbClr val="044692"/>
                </a:solidFill>
                <a:effectLst/>
                <a:uLnTx/>
                <a:uFillTx/>
                <a:latin typeface="Poppins" pitchFamily="2" charset="77"/>
                <a:ea typeface="+mj-ea"/>
                <a:cs typeface="Poppins" pitchFamily="2" charset="77"/>
              </a:rPr>
            </a:br>
            <a:r>
              <a:rPr lang="en-US" sz="3200" dirty="0">
                <a:solidFill>
                  <a:srgbClr val="044692"/>
                </a:solidFill>
                <a:latin typeface="Poppins" pitchFamily="2" charset="77"/>
                <a:cs typeface="Poppins" pitchFamily="2" charset="77"/>
              </a:rPr>
              <a:t>A</a:t>
            </a:r>
            <a:r>
              <a:rPr kumimoji="0" lang="en-US" sz="3200" b="0" i="0" u="none" strike="noStrike" kern="1200" cap="none" spc="0" normalizeH="0" baseline="0" noProof="0" dirty="0">
                <a:ln>
                  <a:noFill/>
                </a:ln>
                <a:solidFill>
                  <a:srgbClr val="044692"/>
                </a:solidFill>
                <a:effectLst/>
                <a:uLnTx/>
                <a:uFillTx/>
                <a:latin typeface="Poppins" pitchFamily="2" charset="77"/>
                <a:ea typeface="+mj-ea"/>
                <a:cs typeface="Poppins" pitchFamily="2" charset="77"/>
              </a:rPr>
              <a:t>t-a-Glance</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752383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F32EC561-3951-7695-7539-6E22FF8E2C00}"/>
              </a:ext>
            </a:extLst>
          </p:cNvPr>
          <p:cNvSpPr txBox="1">
            <a:spLocks noGrp="1"/>
          </p:cNvSpPr>
          <p:nvPr>
            <p:ph type="title" idx="4294967295"/>
          </p:nvPr>
        </p:nvSpPr>
        <p:spPr>
          <a:xfrm>
            <a:off x="585679" y="274320"/>
            <a:ext cx="6336144"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44692"/>
                </a:solidFill>
                <a:effectLst/>
                <a:uLnTx/>
                <a:uFillTx/>
                <a:latin typeface="Poppins" pitchFamily="2" charset="77"/>
                <a:ea typeface="+mj-ea"/>
                <a:cs typeface="Poppins" pitchFamily="2" charset="77"/>
              </a:rPr>
              <a:t>Agenda</a:t>
            </a:r>
            <a:endParaRPr kumimoji="0" lang="en-US" sz="3200" b="0" i="0" u="none" strike="noStrike" kern="1200" cap="none" spc="0" normalizeH="0" baseline="0" noProof="0">
              <a:ln>
                <a:noFill/>
              </a:ln>
              <a:solidFill>
                <a:schemeClr val="tx1"/>
              </a:solidFill>
              <a:effectLst/>
              <a:uLnTx/>
              <a:uFillTx/>
              <a:latin typeface="+mj-lt"/>
              <a:ea typeface="+mj-ea"/>
              <a:cs typeface="+mj-cs"/>
            </a:endParaRPr>
          </a:p>
        </p:txBody>
      </p:sp>
      <p:sp>
        <p:nvSpPr>
          <p:cNvPr id="10" name="Content Placeholder 3">
            <a:extLst>
              <a:ext uri="{FF2B5EF4-FFF2-40B4-BE49-F238E27FC236}">
                <a16:creationId xmlns:a16="http://schemas.microsoft.com/office/drawing/2014/main" id="{32F84078-5D45-C056-8CF2-9FCDB124EE57}"/>
              </a:ext>
            </a:extLst>
          </p:cNvPr>
          <p:cNvSpPr txBox="1">
            <a:spLocks/>
          </p:cNvSpPr>
          <p:nvPr/>
        </p:nvSpPr>
        <p:spPr>
          <a:xfrm>
            <a:off x="585679" y="1743204"/>
            <a:ext cx="6336144" cy="3523738"/>
          </a:xfrm>
          <a:prstGeom prst="rect">
            <a:avLst/>
          </a:prstGeom>
        </p:spPr>
        <p:txBody>
          <a:bodyPr lIns="91440" tIns="45720" rIns="91440" bIns="45720" anchor="t">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600"/>
              </a:spcBef>
              <a:spcAft>
                <a:spcPts val="600"/>
              </a:spcAft>
            </a:pPr>
            <a:r>
              <a:rPr lang="en-US" sz="2400" dirty="0">
                <a:latin typeface="Poppins"/>
                <a:cs typeface="Poppins"/>
              </a:rPr>
              <a:t>Lake County Workforce Development AI Initiative</a:t>
            </a:r>
          </a:p>
          <a:p>
            <a:pPr>
              <a:lnSpc>
                <a:spcPct val="100000"/>
              </a:lnSpc>
              <a:spcBef>
                <a:spcPts val="600"/>
              </a:spcBef>
              <a:spcAft>
                <a:spcPts val="600"/>
              </a:spcAft>
            </a:pPr>
            <a:r>
              <a:rPr lang="en-US" sz="2400" dirty="0">
                <a:latin typeface="Poppins"/>
                <a:cs typeface="Poppins"/>
              </a:rPr>
              <a:t>Local AI Research &amp; Impact Report</a:t>
            </a:r>
          </a:p>
          <a:p>
            <a:pPr>
              <a:lnSpc>
                <a:spcPct val="100000"/>
              </a:lnSpc>
              <a:spcBef>
                <a:spcPts val="600"/>
              </a:spcBef>
              <a:spcAft>
                <a:spcPts val="600"/>
              </a:spcAft>
            </a:pPr>
            <a:r>
              <a:rPr lang="en-US" sz="2400" dirty="0">
                <a:latin typeface="Poppins"/>
                <a:cs typeface="Poppins"/>
              </a:rPr>
              <a:t>Data-Driven Training Plan for the Workforce Ecosystem</a:t>
            </a:r>
          </a:p>
          <a:p>
            <a:pPr>
              <a:lnSpc>
                <a:spcPct val="100000"/>
              </a:lnSpc>
              <a:spcBef>
                <a:spcPts val="600"/>
              </a:spcBef>
              <a:spcAft>
                <a:spcPts val="600"/>
              </a:spcAft>
            </a:pPr>
            <a:r>
              <a:rPr lang="en-US" sz="2400" dirty="0">
                <a:latin typeface="Poppins"/>
                <a:cs typeface="Poppins"/>
              </a:rPr>
              <a:t>Building Digital Literacy in Partnership</a:t>
            </a:r>
          </a:p>
          <a:p>
            <a:pPr>
              <a:lnSpc>
                <a:spcPct val="100000"/>
              </a:lnSpc>
              <a:spcBef>
                <a:spcPts val="600"/>
              </a:spcBef>
              <a:spcAft>
                <a:spcPts val="600"/>
              </a:spcAft>
            </a:pPr>
            <a:r>
              <a:rPr lang="en-US" sz="2400" dirty="0">
                <a:latin typeface="Poppins"/>
                <a:cs typeface="Poppins"/>
              </a:rPr>
              <a:t>Sustainability Plan</a:t>
            </a:r>
          </a:p>
          <a:p>
            <a:pPr>
              <a:lnSpc>
                <a:spcPct val="100000"/>
              </a:lnSpc>
              <a:spcBef>
                <a:spcPts val="600"/>
              </a:spcBef>
              <a:spcAft>
                <a:spcPts val="600"/>
              </a:spcAft>
            </a:pPr>
            <a:r>
              <a:rPr lang="en-US" sz="2400" dirty="0">
                <a:latin typeface="Poppins"/>
                <a:cs typeface="Poppins"/>
              </a:rPr>
              <a:t>Questions</a:t>
            </a:r>
          </a:p>
        </p:txBody>
      </p:sp>
      <p:pic>
        <p:nvPicPr>
          <p:cNvPr id="8" name="Picture 7" descr="Hourglass and a calendar">
            <a:extLst>
              <a:ext uri="{FF2B5EF4-FFF2-40B4-BE49-F238E27FC236}">
                <a16:creationId xmlns:a16="http://schemas.microsoft.com/office/drawing/2014/main" id="{94E65A92-A4AB-76A7-071F-F489B85F8479}"/>
              </a:ext>
            </a:extLst>
          </p:cNvPr>
          <p:cNvPicPr>
            <a:picLocks noChangeAspect="1"/>
          </p:cNvPicPr>
          <p:nvPr/>
        </p:nvPicPr>
        <p:blipFill rotWithShape="1">
          <a:blip r:embed="rId3">
            <a:extLst>
              <a:ext uri="{28A0092B-C50C-407E-A947-70E740481C1C}">
                <a14:useLocalDpi xmlns:a14="http://schemas.microsoft.com/office/drawing/2010/main" val="0"/>
              </a:ext>
            </a:extLst>
          </a:blip>
          <a:srcRect l="48263" r="2329"/>
          <a:stretch/>
        </p:blipFill>
        <p:spPr>
          <a:xfrm>
            <a:off x="7160149" y="-811"/>
            <a:ext cx="5031540" cy="6857161"/>
          </a:xfrm>
          <a:prstGeom prst="rect">
            <a:avLst/>
          </a:prstGeom>
        </p:spPr>
      </p:pic>
      <p:pic>
        <p:nvPicPr>
          <p:cNvPr id="5" name="Picture 4">
            <a:extLst>
              <a:ext uri="{FF2B5EF4-FFF2-40B4-BE49-F238E27FC236}">
                <a16:creationId xmlns:a16="http://schemas.microsoft.com/office/drawing/2014/main" id="{44A01B63-FCCB-5133-921F-5ED6C78086F0}"/>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pic>
        <p:nvPicPr>
          <p:cNvPr id="4" name="Picture 3">
            <a:extLst>
              <a:ext uri="{FF2B5EF4-FFF2-40B4-BE49-F238E27FC236}">
                <a16:creationId xmlns:a16="http://schemas.microsoft.com/office/drawing/2014/main" id="{1102FCED-BBE0-E861-4BB4-2933B42FCCB8}"/>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Tree>
    <p:extLst>
      <p:ext uri="{BB962C8B-B14F-4D97-AF65-F5344CB8AC3E}">
        <p14:creationId xmlns:p14="http://schemas.microsoft.com/office/powerpoint/2010/main" val="3615109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CB03-FAF8-70B2-BC06-22EAD18DE94E}"/>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573BE0E-86C6-8FC9-6FF4-B6C450CB7645}"/>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7" name="Title 6">
            <a:extLst>
              <a:ext uri="{FF2B5EF4-FFF2-40B4-BE49-F238E27FC236}">
                <a16:creationId xmlns:a16="http://schemas.microsoft.com/office/drawing/2014/main" id="{0B84A8E3-18FF-478E-BF21-FF1D4BAFB24C}"/>
              </a:ext>
            </a:extLst>
          </p:cNvPr>
          <p:cNvSpPr txBox="1">
            <a:spLocks noGrp="1"/>
          </p:cNvSpPr>
          <p:nvPr>
            <p:ph type="title" idx="4294967295"/>
          </p:nvPr>
        </p:nvSpPr>
        <p:spPr>
          <a:xfrm>
            <a:off x="654014" y="1905141"/>
            <a:ext cx="10883972" cy="17543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5400" b="1" dirty="0">
                <a:solidFill>
                  <a:srgbClr val="044692"/>
                </a:solidFill>
                <a:latin typeface="Poppins"/>
                <a:ea typeface="+mn-ea"/>
                <a:cs typeface="Poppins"/>
              </a:rPr>
              <a:t>Lake County Workforce Development AI Initiative</a:t>
            </a:r>
            <a:endParaRPr kumimoji="0" lang="en-US" sz="5400" b="0" i="0" u="none" strike="noStrike" kern="1200" cap="none" spc="0" normalizeH="0" baseline="0" noProof="0" dirty="0">
              <a:ln>
                <a:noFill/>
              </a:ln>
              <a:solidFill>
                <a:schemeClr val="tx1"/>
              </a:solidFill>
              <a:effectLst/>
              <a:uLnTx/>
              <a:uFillTx/>
              <a:latin typeface="+mn-lt"/>
              <a:ea typeface="+mn-ea"/>
              <a:cs typeface="+mn-cs"/>
            </a:endParaRPr>
          </a:p>
        </p:txBody>
      </p:sp>
      <p:pic>
        <p:nvPicPr>
          <p:cNvPr id="18" name="Picture 17">
            <a:extLst>
              <a:ext uri="{FF2B5EF4-FFF2-40B4-BE49-F238E27FC236}">
                <a16:creationId xmlns:a16="http://schemas.microsoft.com/office/drawing/2014/main" id="{EBE3E7DE-DCD2-4296-3241-0164D06EC12B}"/>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a:ln>
            <a:solidFill>
              <a:srgbClr val="4472C4"/>
            </a:solidFill>
          </a:ln>
        </p:spPr>
      </p:pic>
    </p:spTree>
    <p:extLst>
      <p:ext uri="{BB962C8B-B14F-4D97-AF65-F5344CB8AC3E}">
        <p14:creationId xmlns:p14="http://schemas.microsoft.com/office/powerpoint/2010/main" val="1609849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275A0-0C78-BBF5-54C9-470532E29683}"/>
            </a:ext>
          </a:extLst>
        </p:cNvPr>
        <p:cNvGrpSpPr/>
        <p:nvPr/>
      </p:nvGrpSpPr>
      <p:grpSpPr>
        <a:xfrm>
          <a:off x="0" y="0"/>
          <a:ext cx="0" cy="0"/>
          <a:chOff x="0" y="0"/>
          <a:chExt cx="0" cy="0"/>
        </a:xfrm>
      </p:grpSpPr>
      <p:sp>
        <p:nvSpPr>
          <p:cNvPr id="14" name="Title 2">
            <a:extLst>
              <a:ext uri="{FF2B5EF4-FFF2-40B4-BE49-F238E27FC236}">
                <a16:creationId xmlns:a16="http://schemas.microsoft.com/office/drawing/2014/main" id="{43D1606F-5DBF-B7E1-8487-32B90A64EA92}"/>
              </a:ext>
            </a:extLst>
          </p:cNvPr>
          <p:cNvSpPr txBox="1">
            <a:spLocks noGrp="1"/>
          </p:cNvSpPr>
          <p:nvPr>
            <p:ph type="title" idx="4294967295"/>
          </p:nvPr>
        </p:nvSpPr>
        <p:spPr>
          <a:xfrm>
            <a:off x="478403" y="517927"/>
            <a:ext cx="11235193" cy="105641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44692"/>
                </a:solidFill>
                <a:effectLst/>
                <a:uLnTx/>
                <a:uFillTx/>
                <a:latin typeface="Poppins" pitchFamily="2" charset="77"/>
                <a:ea typeface="+mj-ea"/>
                <a:cs typeface="Poppins" pitchFamily="2" charset="77"/>
              </a:rPr>
              <a:t>Project Managers</a:t>
            </a:r>
          </a:p>
        </p:txBody>
      </p:sp>
      <p:sp>
        <p:nvSpPr>
          <p:cNvPr id="5" name="Content Placeholder 2">
            <a:extLst>
              <a:ext uri="{FF2B5EF4-FFF2-40B4-BE49-F238E27FC236}">
                <a16:creationId xmlns:a16="http://schemas.microsoft.com/office/drawing/2014/main" id="{448405CF-3E40-376A-E083-5840B8BE2E9E}"/>
              </a:ext>
            </a:extLst>
          </p:cNvPr>
          <p:cNvSpPr>
            <a:spLocks noGrp="1"/>
          </p:cNvSpPr>
          <p:nvPr>
            <p:ph sz="half" idx="1"/>
          </p:nvPr>
        </p:nvSpPr>
        <p:spPr>
          <a:xfrm>
            <a:off x="1097050" y="5233999"/>
            <a:ext cx="4072978" cy="617156"/>
          </a:xfrm>
        </p:spPr>
        <p:txBody>
          <a:bodyPr numCol="1" spcCol="457200">
            <a:noAutofit/>
          </a:bodyPr>
          <a:lstStyle/>
          <a:p>
            <a:pPr marL="0" indent="0" algn="ctr" defTabSz="914400" eaLnBrk="0" fontAlgn="base" hangingPunct="0">
              <a:lnSpc>
                <a:spcPct val="100000"/>
              </a:lnSpc>
              <a:spcBef>
                <a:spcPts val="300"/>
              </a:spcBef>
              <a:spcAft>
                <a:spcPts val="300"/>
              </a:spcAft>
              <a:buNone/>
            </a:pPr>
            <a:r>
              <a:rPr lang="en-US" altLang="en-US" sz="1400" b="1">
                <a:latin typeface="Poppins" panose="00000500000000000000" pitchFamily="2" charset="0"/>
                <a:cs typeface="Poppins" panose="00000500000000000000" pitchFamily="2" charset="0"/>
              </a:rPr>
              <a:t>Rason Grant</a:t>
            </a:r>
          </a:p>
          <a:p>
            <a:pPr marL="0" indent="0" algn="ctr" defTabSz="914400" eaLnBrk="0" fontAlgn="base" hangingPunct="0">
              <a:lnSpc>
                <a:spcPct val="100000"/>
              </a:lnSpc>
              <a:spcBef>
                <a:spcPts val="300"/>
              </a:spcBef>
              <a:spcAft>
                <a:spcPts val="300"/>
              </a:spcAft>
              <a:buNone/>
            </a:pPr>
            <a:r>
              <a:rPr lang="en-US" altLang="en-US" sz="1400">
                <a:latin typeface="Poppins" panose="00000500000000000000" pitchFamily="2" charset="0"/>
                <a:cs typeface="Poppins" panose="00000500000000000000" pitchFamily="2" charset="0"/>
              </a:rPr>
              <a:t>Job Center on the Move Coordinator</a:t>
            </a:r>
          </a:p>
          <a:p>
            <a:pPr marL="0" indent="0" algn="ctr" defTabSz="914400" eaLnBrk="0" fontAlgn="base" hangingPunct="0">
              <a:lnSpc>
                <a:spcPct val="100000"/>
              </a:lnSpc>
              <a:spcBef>
                <a:spcPts val="300"/>
              </a:spcBef>
              <a:spcAft>
                <a:spcPts val="300"/>
              </a:spcAft>
              <a:buNone/>
            </a:pPr>
            <a:r>
              <a:rPr lang="en-US" altLang="en-US" sz="1400">
                <a:latin typeface="Poppins" panose="00000500000000000000" pitchFamily="2" charset="0"/>
                <a:cs typeface="Poppins" panose="00000500000000000000" pitchFamily="2" charset="0"/>
              </a:rPr>
              <a:t>Lake County Workforce Department  </a:t>
            </a:r>
          </a:p>
        </p:txBody>
      </p:sp>
      <p:pic>
        <p:nvPicPr>
          <p:cNvPr id="3" name="Picture 2" descr="A person wearing glasses by the name of Rason Grant">
            <a:extLst>
              <a:ext uri="{FF2B5EF4-FFF2-40B4-BE49-F238E27FC236}">
                <a16:creationId xmlns:a16="http://schemas.microsoft.com/office/drawing/2014/main" id="{04870A17-4B4E-5F73-9397-9FD04DBF2207}"/>
              </a:ext>
            </a:extLst>
          </p:cNvPr>
          <p:cNvPicPr>
            <a:picLocks noChangeAspect="1"/>
          </p:cNvPicPr>
          <p:nvPr/>
        </p:nvPicPr>
        <p:blipFill>
          <a:blip r:embed="rId3" cstate="print">
            <a:extLst>
              <a:ext uri="{28A0092B-C50C-407E-A947-70E740481C1C}">
                <a14:useLocalDpi xmlns:a14="http://schemas.microsoft.com/office/drawing/2010/main" val="0"/>
              </a:ext>
            </a:extLst>
          </a:blip>
          <a:srcRect l="1375" r="1377" b="2"/>
          <a:stretch>
            <a:fillRect/>
          </a:stretch>
        </p:blipFill>
        <p:spPr>
          <a:xfrm>
            <a:off x="1525200" y="1851200"/>
            <a:ext cx="3216679" cy="321667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4" name="Content Placeholder 2">
            <a:extLst>
              <a:ext uri="{FF2B5EF4-FFF2-40B4-BE49-F238E27FC236}">
                <a16:creationId xmlns:a16="http://schemas.microsoft.com/office/drawing/2014/main" id="{97D9D43C-E221-D009-866A-E9E67BF79602}"/>
              </a:ext>
            </a:extLst>
          </p:cNvPr>
          <p:cNvSpPr txBox="1">
            <a:spLocks/>
          </p:cNvSpPr>
          <p:nvPr/>
        </p:nvSpPr>
        <p:spPr>
          <a:xfrm>
            <a:off x="6855832" y="5233999"/>
            <a:ext cx="4072978" cy="1056415"/>
          </a:xfrm>
          <a:prstGeom prst="rect">
            <a:avLst/>
          </a:prstGeom>
        </p:spPr>
        <p:txBody>
          <a:bodyPr vert="horz" lIns="91440" tIns="45720" rIns="91440" bIns="45720" numCol="1" spcCol="45720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914400" eaLnBrk="0" fontAlgn="base" hangingPunct="0">
              <a:lnSpc>
                <a:spcPct val="100000"/>
              </a:lnSpc>
              <a:spcBef>
                <a:spcPts val="300"/>
              </a:spcBef>
              <a:spcAft>
                <a:spcPts val="300"/>
              </a:spcAft>
              <a:buFont typeface="Arial" panose="020B0604020202020204" pitchFamily="34" charset="0"/>
              <a:buNone/>
            </a:pPr>
            <a:r>
              <a:rPr lang="en-US" altLang="en-US" sz="1400" b="1" dirty="0">
                <a:latin typeface="Poppins" panose="00000500000000000000" pitchFamily="2" charset="0"/>
                <a:cs typeface="Poppins" panose="00000500000000000000" pitchFamily="2" charset="0"/>
              </a:rPr>
              <a:t>Eric Nordstrom</a:t>
            </a:r>
          </a:p>
          <a:p>
            <a:pPr marL="0" indent="0" algn="ctr" defTabSz="914400" eaLnBrk="0" fontAlgn="base" hangingPunct="0">
              <a:lnSpc>
                <a:spcPct val="100000"/>
              </a:lnSpc>
              <a:spcBef>
                <a:spcPts val="300"/>
              </a:spcBef>
              <a:spcAft>
                <a:spcPts val="300"/>
              </a:spcAft>
              <a:buFont typeface="Arial" panose="020B0604020202020204" pitchFamily="34" charset="0"/>
              <a:buNone/>
            </a:pPr>
            <a:r>
              <a:rPr lang="en-US" altLang="en-US" sz="1400" dirty="0">
                <a:latin typeface="Poppins" panose="00000500000000000000" pitchFamily="2" charset="0"/>
                <a:cs typeface="Poppins" panose="00000500000000000000" pitchFamily="2" charset="0"/>
              </a:rPr>
              <a:t>Project Analyst</a:t>
            </a:r>
          </a:p>
          <a:p>
            <a:pPr marL="0" indent="0" algn="ctr" defTabSz="914400" eaLnBrk="0" fontAlgn="base" hangingPunct="0">
              <a:lnSpc>
                <a:spcPct val="100000"/>
              </a:lnSpc>
              <a:spcBef>
                <a:spcPts val="300"/>
              </a:spcBef>
              <a:spcAft>
                <a:spcPts val="300"/>
              </a:spcAft>
              <a:buFont typeface="Arial" panose="020B0604020202020204" pitchFamily="34" charset="0"/>
              <a:buNone/>
            </a:pPr>
            <a:r>
              <a:rPr lang="en-US" altLang="en-US" sz="1400" dirty="0">
                <a:latin typeface="Poppins" panose="00000500000000000000" pitchFamily="2" charset="0"/>
                <a:cs typeface="Poppins" panose="00000500000000000000" pitchFamily="2" charset="0"/>
              </a:rPr>
              <a:t>Lake County Workforce Department  </a:t>
            </a:r>
          </a:p>
        </p:txBody>
      </p:sp>
      <p:pic>
        <p:nvPicPr>
          <p:cNvPr id="6" name="Picture 5" descr="Man by the name of Eric Nordstrom">
            <a:extLst>
              <a:ext uri="{FF2B5EF4-FFF2-40B4-BE49-F238E27FC236}">
                <a16:creationId xmlns:a16="http://schemas.microsoft.com/office/drawing/2014/main" id="{0E15631F-6D01-100F-87F2-81072D87C49C}"/>
              </a:ext>
            </a:extLst>
          </p:cNvPr>
          <p:cNvPicPr>
            <a:picLocks noChangeAspect="1"/>
          </p:cNvPicPr>
          <p:nvPr/>
        </p:nvPicPr>
        <p:blipFill>
          <a:blip r:embed="rId4"/>
          <a:srcRect t="10957" b="10957"/>
          <a:stretch/>
        </p:blipFill>
        <p:spPr>
          <a:xfrm>
            <a:off x="7282977" y="1851200"/>
            <a:ext cx="3218688" cy="3218688"/>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pic>
        <p:nvPicPr>
          <p:cNvPr id="2" name="Picture 1">
            <a:extLst>
              <a:ext uri="{FF2B5EF4-FFF2-40B4-BE49-F238E27FC236}">
                <a16:creationId xmlns:a16="http://schemas.microsoft.com/office/drawing/2014/main" id="{15B9ADC8-9C8E-6E7F-158A-76F829CA0449}"/>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pic>
        <p:nvPicPr>
          <p:cNvPr id="7" name="Picture 6">
            <a:extLst>
              <a:ext uri="{FF2B5EF4-FFF2-40B4-BE49-F238E27FC236}">
                <a16:creationId xmlns:a16="http://schemas.microsoft.com/office/drawing/2014/main" id="{F045A1DE-A5B8-D7A3-5912-5C1705AE1B04}"/>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Tree>
    <p:extLst>
      <p:ext uri="{BB962C8B-B14F-4D97-AF65-F5344CB8AC3E}">
        <p14:creationId xmlns:p14="http://schemas.microsoft.com/office/powerpoint/2010/main" val="3869838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977F4-E8BF-C7F9-EBC9-DA7721DB237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EA866B8-15B7-8A07-AC9F-B7D0C77A8ADA}"/>
              </a:ext>
              <a:ext uri="{C183D7F6-B498-43B3-948B-1728B52AA6E4}">
                <adec:decorative xmlns:adec="http://schemas.microsoft.com/office/drawing/2017/decorative" val="1"/>
              </a:ext>
            </a:extLst>
          </p:cNvPr>
          <p:cNvPicPr>
            <a:picLocks noChangeAspect="1"/>
          </p:cNvPicPr>
          <p:nvPr/>
        </p:nvPicPr>
        <p:blipFill>
          <a:blip r:embed="rId3"/>
          <a:srcRect b="65775"/>
          <a:stretch>
            <a:fillRect/>
          </a:stretch>
        </p:blipFill>
        <p:spPr>
          <a:xfrm>
            <a:off x="8494844" y="-1870"/>
            <a:ext cx="3695631" cy="1627085"/>
          </a:xfrm>
          <a:prstGeom prst="rect">
            <a:avLst/>
          </a:prstGeom>
        </p:spPr>
      </p:pic>
      <p:sp>
        <p:nvSpPr>
          <p:cNvPr id="14" name="Title 2">
            <a:extLst>
              <a:ext uri="{FF2B5EF4-FFF2-40B4-BE49-F238E27FC236}">
                <a16:creationId xmlns:a16="http://schemas.microsoft.com/office/drawing/2014/main" id="{D1458A32-FA20-17F0-2770-E947A90CEFBD}"/>
              </a:ext>
            </a:extLst>
          </p:cNvPr>
          <p:cNvSpPr txBox="1">
            <a:spLocks noGrp="1"/>
          </p:cNvSpPr>
          <p:nvPr>
            <p:ph type="title" idx="4294967295"/>
          </p:nvPr>
        </p:nvSpPr>
        <p:spPr>
          <a:xfrm>
            <a:off x="405590" y="472509"/>
            <a:ext cx="11235193" cy="105641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44692"/>
                </a:solidFill>
                <a:effectLst/>
                <a:uLnTx/>
                <a:uFillTx/>
                <a:latin typeface="Poppins" pitchFamily="2" charset="77"/>
                <a:ea typeface="+mj-ea"/>
                <a:cs typeface="Poppins" pitchFamily="2" charset="77"/>
              </a:rPr>
              <a:t>Background</a:t>
            </a:r>
          </a:p>
        </p:txBody>
      </p:sp>
      <p:sp>
        <p:nvSpPr>
          <p:cNvPr id="5" name="Content Placeholder 2">
            <a:extLst>
              <a:ext uri="{FF2B5EF4-FFF2-40B4-BE49-F238E27FC236}">
                <a16:creationId xmlns:a16="http://schemas.microsoft.com/office/drawing/2014/main" id="{714232DF-42D6-7385-0B84-97E95C1FFC66}"/>
              </a:ext>
            </a:extLst>
          </p:cNvPr>
          <p:cNvSpPr>
            <a:spLocks noGrp="1"/>
          </p:cNvSpPr>
          <p:nvPr>
            <p:ph sz="half" idx="1"/>
          </p:nvPr>
        </p:nvSpPr>
        <p:spPr>
          <a:xfrm>
            <a:off x="405589" y="1422400"/>
            <a:ext cx="9826982" cy="5159629"/>
          </a:xfrm>
        </p:spPr>
        <p:txBody>
          <a:bodyPr numCol="1" spcCol="457200">
            <a:noAutofit/>
          </a:bodyPr>
          <a:lstStyle/>
          <a:p>
            <a:pPr marL="0" indent="0" defTabSz="914400" eaLnBrk="0" fontAlgn="base" hangingPunct="0">
              <a:lnSpc>
                <a:spcPct val="100000"/>
              </a:lnSpc>
              <a:spcBef>
                <a:spcPts val="300"/>
              </a:spcBef>
              <a:spcAft>
                <a:spcPts val="300"/>
              </a:spcAft>
              <a:buNone/>
            </a:pPr>
            <a:r>
              <a:rPr lang="en-US" altLang="en-US" sz="1600" dirty="0">
                <a:latin typeface="Poppins" panose="00000500000000000000" pitchFamily="2" charset="0"/>
                <a:cs typeface="Poppins" panose="00000500000000000000" pitchFamily="2" charset="0"/>
              </a:rPr>
              <a:t>The demand for Artificial Intelligence (AI) education and workforce solutions is accelerating. AI-related roles now represent ~10% of the IT workforce, with projected growth of 40% over the next five years. </a:t>
            </a:r>
          </a:p>
          <a:p>
            <a:pPr marL="0" indent="0" defTabSz="914400" eaLnBrk="0" fontAlgn="base" hangingPunct="0">
              <a:lnSpc>
                <a:spcPct val="100000"/>
              </a:lnSpc>
              <a:spcBef>
                <a:spcPts val="300"/>
              </a:spcBef>
              <a:spcAft>
                <a:spcPts val="300"/>
              </a:spcAft>
              <a:buNone/>
            </a:pPr>
            <a:endParaRPr lang="en-US" altLang="en-US" sz="1600" b="1" dirty="0">
              <a:latin typeface="Poppins" panose="00000500000000000000" pitchFamily="2" charset="0"/>
              <a:cs typeface="Poppins" panose="00000500000000000000" pitchFamily="2" charset="0"/>
            </a:endParaRPr>
          </a:p>
          <a:p>
            <a:pPr marL="0" indent="0" defTabSz="914400" eaLnBrk="0" fontAlgn="base" hangingPunct="0">
              <a:lnSpc>
                <a:spcPct val="100000"/>
              </a:lnSpc>
              <a:spcBef>
                <a:spcPts val="300"/>
              </a:spcBef>
              <a:spcAft>
                <a:spcPts val="300"/>
              </a:spcAft>
              <a:buNone/>
            </a:pPr>
            <a:r>
              <a:rPr lang="en-US" altLang="en-US" sz="1600" b="1" dirty="0">
                <a:latin typeface="Poppins" panose="00000500000000000000" pitchFamily="2" charset="0"/>
                <a:cs typeface="Poppins" panose="00000500000000000000" pitchFamily="2" charset="0"/>
              </a:rPr>
              <a:t>Why a Sector Strategy for AI Implementation &amp; Integration?</a:t>
            </a:r>
          </a:p>
          <a:p>
            <a:pPr marL="0" indent="0" defTabSz="914400" eaLnBrk="0" fontAlgn="base" hangingPunct="0">
              <a:lnSpc>
                <a:spcPct val="100000"/>
              </a:lnSpc>
              <a:spcBef>
                <a:spcPts val="300"/>
              </a:spcBef>
              <a:spcAft>
                <a:spcPts val="300"/>
              </a:spcAft>
              <a:buNone/>
            </a:pPr>
            <a:r>
              <a:rPr lang="en-US" altLang="en-US" sz="1600" dirty="0">
                <a:latin typeface="Poppins" panose="00000500000000000000" pitchFamily="2" charset="0"/>
                <a:cs typeface="Poppins" panose="00000500000000000000" pitchFamily="2" charset="0"/>
              </a:rPr>
              <a:t>This RFP supports a strategic, equity-driven approach to:</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Expand AI literacy and career pathways for job seekers and businesses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Equip the workforce with ethical, hands-on training in AI technologies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Support local employers with AI adoption, consultation, and workflow integration</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Build sustainable systems for AI education across sectors</a:t>
            </a:r>
            <a:endParaRPr lang="en-US" altLang="en-US" sz="1600" b="1" dirty="0">
              <a:latin typeface="Poppins" panose="00000500000000000000" pitchFamily="2" charset="0"/>
              <a:cs typeface="Poppins" panose="00000500000000000000" pitchFamily="2" charset="0"/>
            </a:endParaRPr>
          </a:p>
          <a:p>
            <a:pPr marL="0" indent="0" defTabSz="914400" eaLnBrk="0" fontAlgn="base" hangingPunct="0">
              <a:lnSpc>
                <a:spcPct val="100000"/>
              </a:lnSpc>
              <a:spcBef>
                <a:spcPts val="300"/>
              </a:spcBef>
              <a:spcAft>
                <a:spcPts val="300"/>
              </a:spcAft>
              <a:buNone/>
            </a:pPr>
            <a:r>
              <a:rPr lang="en-US" altLang="en-US" sz="1600" b="1" dirty="0">
                <a:latin typeface="Poppins" panose="00000500000000000000" pitchFamily="2" charset="0"/>
                <a:cs typeface="Poppins" panose="00000500000000000000" pitchFamily="2" charset="0"/>
              </a:rPr>
              <a:t>AI Sector Impact</a:t>
            </a:r>
          </a:p>
          <a:p>
            <a:pPr marL="0" indent="0" defTabSz="914400" eaLnBrk="0" fontAlgn="base" hangingPunct="0">
              <a:lnSpc>
                <a:spcPct val="100000"/>
              </a:lnSpc>
              <a:spcBef>
                <a:spcPts val="300"/>
              </a:spcBef>
              <a:spcAft>
                <a:spcPts val="300"/>
              </a:spcAft>
              <a:buNone/>
            </a:pPr>
            <a:r>
              <a:rPr lang="en-US" altLang="en-US" sz="1600" dirty="0">
                <a:latin typeface="Poppins" panose="00000500000000000000" pitchFamily="2" charset="0"/>
                <a:cs typeface="Poppins" panose="00000500000000000000" pitchFamily="2" charset="0"/>
              </a:rPr>
              <a:t>AI is reshaping industries including:</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Healthcare, Transportation, Finance, Manufacturing, and Professional Services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Significant potential benefits (amplified drug discovery) need to be balanced with potential job displacement and possibly forgoing ethical use for the sake of progress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Workforce strategies must adapt to ensure economic resilience and equitable access</a:t>
            </a:r>
          </a:p>
        </p:txBody>
      </p:sp>
      <p:pic>
        <p:nvPicPr>
          <p:cNvPr id="2" name="Picture 1">
            <a:extLst>
              <a:ext uri="{FF2B5EF4-FFF2-40B4-BE49-F238E27FC236}">
                <a16:creationId xmlns:a16="http://schemas.microsoft.com/office/drawing/2014/main" id="{B3DE969C-2C00-4751-5B61-16F0A6165323}"/>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pic>
        <p:nvPicPr>
          <p:cNvPr id="3" name="Picture 2">
            <a:extLst>
              <a:ext uri="{FF2B5EF4-FFF2-40B4-BE49-F238E27FC236}">
                <a16:creationId xmlns:a16="http://schemas.microsoft.com/office/drawing/2014/main" id="{1F8E58B9-638A-D058-EE3D-5B1CFB9EC47B}"/>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Tree>
    <p:extLst>
      <p:ext uri="{BB962C8B-B14F-4D97-AF65-F5344CB8AC3E}">
        <p14:creationId xmlns:p14="http://schemas.microsoft.com/office/powerpoint/2010/main" val="643308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C500-B508-9381-CC4D-87D1C339515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3B3EFB6-DE8F-1651-B49E-F0A154951792}"/>
              </a:ext>
              <a:ext uri="{C183D7F6-B498-43B3-948B-1728B52AA6E4}">
                <adec:decorative xmlns:adec="http://schemas.microsoft.com/office/drawing/2017/decorative" val="1"/>
              </a:ext>
            </a:extLst>
          </p:cNvPr>
          <p:cNvPicPr>
            <a:picLocks noChangeAspect="1"/>
          </p:cNvPicPr>
          <p:nvPr/>
        </p:nvPicPr>
        <p:blipFill>
          <a:blip r:embed="rId3"/>
          <a:srcRect b="65775"/>
          <a:stretch>
            <a:fillRect/>
          </a:stretch>
        </p:blipFill>
        <p:spPr>
          <a:xfrm>
            <a:off x="8494844" y="-1870"/>
            <a:ext cx="3695631" cy="1627085"/>
          </a:xfrm>
          <a:prstGeom prst="rect">
            <a:avLst/>
          </a:prstGeom>
        </p:spPr>
      </p:pic>
      <p:sp>
        <p:nvSpPr>
          <p:cNvPr id="14" name="Title 2">
            <a:extLst>
              <a:ext uri="{FF2B5EF4-FFF2-40B4-BE49-F238E27FC236}">
                <a16:creationId xmlns:a16="http://schemas.microsoft.com/office/drawing/2014/main" id="{1C605F73-C0C6-EAEC-C298-DABAEB0C498A}"/>
              </a:ext>
            </a:extLst>
          </p:cNvPr>
          <p:cNvSpPr txBox="1">
            <a:spLocks noGrp="1"/>
          </p:cNvSpPr>
          <p:nvPr>
            <p:ph type="title" idx="4294967295"/>
          </p:nvPr>
        </p:nvSpPr>
        <p:spPr>
          <a:xfrm>
            <a:off x="405590" y="472509"/>
            <a:ext cx="11235193" cy="105641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44692"/>
                </a:solidFill>
                <a:effectLst/>
                <a:uLnTx/>
                <a:uFillTx/>
                <a:latin typeface="Poppins" pitchFamily="2" charset="77"/>
                <a:ea typeface="+mj-ea"/>
                <a:cs typeface="Poppins" pitchFamily="2" charset="77"/>
              </a:rPr>
              <a:t>Intent</a:t>
            </a:r>
          </a:p>
        </p:txBody>
      </p:sp>
      <p:sp>
        <p:nvSpPr>
          <p:cNvPr id="5" name="Content Placeholder 2">
            <a:extLst>
              <a:ext uri="{FF2B5EF4-FFF2-40B4-BE49-F238E27FC236}">
                <a16:creationId xmlns:a16="http://schemas.microsoft.com/office/drawing/2014/main" id="{C53F2E6E-2D72-BEF9-4B05-E747FB873854}"/>
              </a:ext>
            </a:extLst>
          </p:cNvPr>
          <p:cNvSpPr>
            <a:spLocks noGrp="1"/>
          </p:cNvSpPr>
          <p:nvPr>
            <p:ph sz="half" idx="1"/>
          </p:nvPr>
        </p:nvSpPr>
        <p:spPr>
          <a:xfrm>
            <a:off x="405589" y="1422400"/>
            <a:ext cx="9826982" cy="5159629"/>
          </a:xfrm>
        </p:spPr>
        <p:txBody>
          <a:bodyPr numCol="1" spcCol="457200">
            <a:noAutofit/>
          </a:bodyPr>
          <a:lstStyle/>
          <a:p>
            <a:pPr marL="0" indent="0" defTabSz="914400" eaLnBrk="0" fontAlgn="base" hangingPunct="0">
              <a:lnSpc>
                <a:spcPct val="100000"/>
              </a:lnSpc>
              <a:spcBef>
                <a:spcPts val="300"/>
              </a:spcBef>
              <a:spcAft>
                <a:spcPts val="600"/>
              </a:spcAft>
              <a:buNone/>
            </a:pPr>
            <a:r>
              <a:rPr lang="en-US" altLang="en-US" sz="1600" dirty="0">
                <a:latin typeface="Poppins" panose="00000500000000000000" pitchFamily="2" charset="0"/>
                <a:cs typeface="Poppins" panose="00000500000000000000" pitchFamily="2" charset="0"/>
              </a:rPr>
              <a:t>Lake County Workforce Development entered into a professional service agreement (PSA) with Deloitte Consulting LLP to deliver comprehensive AI solutions that enhance workforce capabilities, streamline operations, and responsibly integrate AI into workforce systems.</a:t>
            </a:r>
          </a:p>
          <a:p>
            <a:pPr marL="0" indent="0" defTabSz="914400" eaLnBrk="0" fontAlgn="base" hangingPunct="0">
              <a:lnSpc>
                <a:spcPct val="100000"/>
              </a:lnSpc>
              <a:spcBef>
                <a:spcPts val="600"/>
              </a:spcBef>
              <a:spcAft>
                <a:spcPts val="300"/>
              </a:spcAft>
              <a:buNone/>
            </a:pPr>
            <a:r>
              <a:rPr lang="en-US" altLang="en-US" sz="1600" b="1" dirty="0">
                <a:latin typeface="Poppins" panose="00000500000000000000" pitchFamily="2" charset="0"/>
                <a:cs typeface="Poppins" panose="00000500000000000000" pitchFamily="2" charset="0"/>
              </a:rPr>
              <a:t>Proposed Services Should Include</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AI tools for workforce and employer services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Onsite/hybrid training modules and hands-on workshops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100 hours of consultation for local businesses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Industry case studies and career pathway development</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Micro-credentials and train-the-trainer models</a:t>
            </a:r>
          </a:p>
          <a:p>
            <a:pPr defTabSz="914400" eaLnBrk="0" fontAlgn="base" hangingPunct="0">
              <a:lnSpc>
                <a:spcPct val="100000"/>
              </a:lnSpc>
              <a:spcBef>
                <a:spcPts val="300"/>
              </a:spcBef>
              <a:spcAft>
                <a:spcPts val="600"/>
              </a:spcAft>
            </a:pPr>
            <a:r>
              <a:rPr lang="en-US" altLang="en-US" sz="1600" dirty="0">
                <a:latin typeface="Poppins" panose="00000500000000000000" pitchFamily="2" charset="0"/>
                <a:cs typeface="Poppins" panose="00000500000000000000" pitchFamily="2" charset="0"/>
              </a:rPr>
              <a:t>Recorded content to expand access and reinforce learning</a:t>
            </a:r>
          </a:p>
          <a:p>
            <a:pPr marL="0" indent="0" defTabSz="914400" eaLnBrk="0" fontAlgn="base" hangingPunct="0">
              <a:lnSpc>
                <a:spcPct val="100000"/>
              </a:lnSpc>
              <a:spcBef>
                <a:spcPts val="300"/>
              </a:spcBef>
              <a:spcAft>
                <a:spcPts val="300"/>
              </a:spcAft>
              <a:buNone/>
            </a:pPr>
            <a:r>
              <a:rPr lang="en-US" altLang="en-US" sz="1600" b="1" dirty="0">
                <a:latin typeface="Poppins" panose="00000500000000000000" pitchFamily="2" charset="0"/>
                <a:cs typeface="Poppins" panose="00000500000000000000" pitchFamily="2" charset="0"/>
              </a:rPr>
              <a:t>Strategic Goals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Advance scalable, ethical AI applications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Integrate AI into workforce and business systems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Expand equitable access to training and tools</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Educate stakeholders on automation, ethics, and personalization</a:t>
            </a:r>
          </a:p>
          <a:p>
            <a:pPr defTabSz="914400" eaLnBrk="0" fontAlgn="base" hangingPunct="0">
              <a:lnSpc>
                <a:spcPct val="100000"/>
              </a:lnSpc>
              <a:spcBef>
                <a:spcPts val="300"/>
              </a:spcBef>
              <a:spcAft>
                <a:spcPts val="300"/>
              </a:spcAft>
            </a:pPr>
            <a:r>
              <a:rPr lang="en-US" altLang="en-US" sz="1600" dirty="0">
                <a:latin typeface="Poppins" panose="00000500000000000000" pitchFamily="2" charset="0"/>
                <a:cs typeface="Poppins" panose="00000500000000000000" pitchFamily="2" charset="0"/>
              </a:rPr>
              <a:t>Improve productivity and reduce administrative burdens</a:t>
            </a:r>
          </a:p>
        </p:txBody>
      </p:sp>
      <p:pic>
        <p:nvPicPr>
          <p:cNvPr id="2" name="Picture 1">
            <a:extLst>
              <a:ext uri="{FF2B5EF4-FFF2-40B4-BE49-F238E27FC236}">
                <a16:creationId xmlns:a16="http://schemas.microsoft.com/office/drawing/2014/main" id="{C969656D-6AD6-F92E-0EA8-4BA8FC8CD7FA}"/>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pic>
        <p:nvPicPr>
          <p:cNvPr id="3" name="Picture 2">
            <a:extLst>
              <a:ext uri="{FF2B5EF4-FFF2-40B4-BE49-F238E27FC236}">
                <a16:creationId xmlns:a16="http://schemas.microsoft.com/office/drawing/2014/main" id="{21C5C37F-951C-21D5-0C93-1F6E1E230A6D}"/>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Tree>
    <p:extLst>
      <p:ext uri="{BB962C8B-B14F-4D97-AF65-F5344CB8AC3E}">
        <p14:creationId xmlns:p14="http://schemas.microsoft.com/office/powerpoint/2010/main" val="2466878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474C0-1C87-5BDA-76D2-CBAB769331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C10AEB-9B36-9DFB-06D7-4768B7ACFA62}"/>
              </a:ext>
              <a:ext uri="{C183D7F6-B498-43B3-948B-1728B52AA6E4}">
                <adec:decorative xmlns:adec="http://schemas.microsoft.com/office/drawing/2017/decorative" val="1"/>
              </a:ext>
            </a:extLst>
          </p:cNvPr>
          <p:cNvPicPr>
            <a:picLocks noChangeAspect="1"/>
          </p:cNvPicPr>
          <p:nvPr/>
        </p:nvPicPr>
        <p:blipFill>
          <a:blip r:embed="rId3"/>
          <a:srcRect b="65775"/>
          <a:stretch>
            <a:fillRect/>
          </a:stretch>
        </p:blipFill>
        <p:spPr>
          <a:xfrm>
            <a:off x="8494844" y="-1870"/>
            <a:ext cx="3695631" cy="1627085"/>
          </a:xfrm>
          <a:prstGeom prst="rect">
            <a:avLst/>
          </a:prstGeom>
        </p:spPr>
      </p:pic>
      <p:sp>
        <p:nvSpPr>
          <p:cNvPr id="14" name="Title 2">
            <a:extLst>
              <a:ext uri="{FF2B5EF4-FFF2-40B4-BE49-F238E27FC236}">
                <a16:creationId xmlns:a16="http://schemas.microsoft.com/office/drawing/2014/main" id="{8769AAA7-6AAE-3259-AB77-B214AB062A2F}"/>
              </a:ext>
            </a:extLst>
          </p:cNvPr>
          <p:cNvSpPr txBox="1">
            <a:spLocks noGrp="1"/>
          </p:cNvSpPr>
          <p:nvPr>
            <p:ph type="title" idx="4294967295"/>
          </p:nvPr>
        </p:nvSpPr>
        <p:spPr>
          <a:xfrm>
            <a:off x="330089" y="505189"/>
            <a:ext cx="9296511" cy="105641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44692"/>
                </a:solidFill>
                <a:effectLst/>
                <a:uLnTx/>
                <a:uFillTx/>
                <a:latin typeface="Poppins"/>
                <a:ea typeface="+mj-ea"/>
                <a:cs typeface="Poppins"/>
              </a:rPr>
              <a:t>Scope of Work: Research and Impact Report</a:t>
            </a:r>
            <a:endParaRPr kumimoji="0" lang="en-US" sz="3500" b="0" i="0" u="none" strike="noStrike" kern="1200" cap="none" spc="0" normalizeH="0" baseline="0" noProof="0" dirty="0">
              <a:ln>
                <a:noFill/>
              </a:ln>
              <a:solidFill>
                <a:srgbClr val="044692"/>
              </a:solidFill>
              <a:effectLst/>
              <a:uLnTx/>
              <a:uFillTx/>
              <a:latin typeface="Poppins"/>
              <a:ea typeface="+mj-ea"/>
              <a:cs typeface="Poppins"/>
            </a:endParaRPr>
          </a:p>
        </p:txBody>
      </p:sp>
      <p:sp>
        <p:nvSpPr>
          <p:cNvPr id="5" name="Content Placeholder 2">
            <a:extLst>
              <a:ext uri="{FF2B5EF4-FFF2-40B4-BE49-F238E27FC236}">
                <a16:creationId xmlns:a16="http://schemas.microsoft.com/office/drawing/2014/main" id="{ABCFCD5C-EEB6-1B10-5E8C-F1746A103EDE}"/>
              </a:ext>
            </a:extLst>
          </p:cNvPr>
          <p:cNvSpPr>
            <a:spLocks noGrp="1"/>
          </p:cNvSpPr>
          <p:nvPr>
            <p:ph sz="half" idx="1"/>
          </p:nvPr>
        </p:nvSpPr>
        <p:spPr>
          <a:xfrm>
            <a:off x="408072" y="1754030"/>
            <a:ext cx="9396327" cy="5231135"/>
          </a:xfrm>
        </p:spPr>
        <p:txBody>
          <a:bodyPr vert="horz" lIns="91440" tIns="45720" rIns="91440" bIns="45720" numCol="1" spcCol="457200" rtlCol="0" anchor="t">
            <a:noAutofit/>
          </a:bodyPr>
          <a:lstStyle/>
          <a:p>
            <a:pPr marL="0" defTabSz="914400">
              <a:buNone/>
            </a:pPr>
            <a:r>
              <a:rPr lang="en-US" sz="1800" b="1" dirty="0">
                <a:latin typeface="Poppins"/>
                <a:cs typeface="Poppins"/>
              </a:rPr>
              <a:t>Intent: </a:t>
            </a:r>
            <a:r>
              <a:rPr lang="en-US" sz="1800" dirty="0">
                <a:latin typeface="Poppins"/>
                <a:cs typeface="Poppins"/>
              </a:rPr>
              <a:t>Advance equitable, scalable AI integration across Lake County’s workforce systems</a:t>
            </a:r>
          </a:p>
          <a:p>
            <a:pPr defTabSz="914400">
              <a:buNone/>
            </a:pPr>
            <a:endParaRPr lang="en-US" sz="1800" dirty="0">
              <a:latin typeface="Poppins" panose="00000500000000000000" pitchFamily="2" charset="0"/>
              <a:cs typeface="Poppins" panose="00000500000000000000" pitchFamily="2" charset="0"/>
            </a:endParaRPr>
          </a:p>
          <a:p>
            <a:pPr defTabSz="914400">
              <a:buNone/>
            </a:pPr>
            <a:r>
              <a:rPr lang="en-US" sz="1800" b="1" dirty="0">
                <a:latin typeface="Poppins"/>
                <a:cs typeface="Poppins"/>
              </a:rPr>
              <a:t>Research Analysis &amp; Assessment Report</a:t>
            </a:r>
          </a:p>
          <a:p>
            <a:pPr defTabSz="914400"/>
            <a:r>
              <a:rPr lang="en-US" sz="1800" dirty="0">
                <a:latin typeface="Poppins"/>
                <a:cs typeface="Poppins"/>
              </a:rPr>
              <a:t>Conduct an up to 6-month impact study on AI’s effects across major industries</a:t>
            </a:r>
          </a:p>
          <a:p>
            <a:pPr defTabSz="914400"/>
            <a:r>
              <a:rPr lang="en-US" sz="1800" dirty="0">
                <a:latin typeface="Poppins"/>
                <a:cs typeface="Poppins"/>
              </a:rPr>
              <a:t>Deliver quantitative + qualitative findings on job seekers and economic trends</a:t>
            </a:r>
          </a:p>
          <a:p>
            <a:pPr defTabSz="914400"/>
            <a:r>
              <a:rPr lang="en-US" sz="1800" dirty="0">
                <a:latin typeface="Poppins" panose="00000500000000000000" pitchFamily="2" charset="0"/>
                <a:cs typeface="Poppins" panose="00000500000000000000" pitchFamily="2" charset="0"/>
              </a:rPr>
              <a:t>Research is focused on the impact of artificial intelligence on high-demand industries such as Professional Services and Business, Manufacturing, Healthcare, Information Technology, Transportation and Logistics, and Education</a:t>
            </a:r>
          </a:p>
          <a:p>
            <a:pPr defTabSz="914400"/>
            <a:r>
              <a:rPr lang="en-US" sz="1800" dirty="0">
                <a:latin typeface="Poppins"/>
                <a:cs typeface="Poppins"/>
              </a:rPr>
              <a:t>Provide strategic recommendations to guide program design</a:t>
            </a:r>
          </a:p>
        </p:txBody>
      </p:sp>
      <p:pic>
        <p:nvPicPr>
          <p:cNvPr id="4" name="Picture 3">
            <a:extLst>
              <a:ext uri="{FF2B5EF4-FFF2-40B4-BE49-F238E27FC236}">
                <a16:creationId xmlns:a16="http://schemas.microsoft.com/office/drawing/2014/main" id="{50837A9B-F998-5964-66E1-480A92A56D32}"/>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pic>
        <p:nvPicPr>
          <p:cNvPr id="6" name="Picture 5">
            <a:extLst>
              <a:ext uri="{FF2B5EF4-FFF2-40B4-BE49-F238E27FC236}">
                <a16:creationId xmlns:a16="http://schemas.microsoft.com/office/drawing/2014/main" id="{9129E97D-204D-88A2-B7CB-6039EB440563}"/>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4" y="6579939"/>
            <a:ext cx="12283402" cy="276411"/>
          </a:xfrm>
          <a:prstGeom prst="rect">
            <a:avLst/>
          </a:prstGeom>
        </p:spPr>
      </p:pic>
    </p:spTree>
    <p:extLst>
      <p:ext uri="{BB962C8B-B14F-4D97-AF65-F5344CB8AC3E}">
        <p14:creationId xmlns:p14="http://schemas.microsoft.com/office/powerpoint/2010/main" val="2563010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E8B29-5A79-AFCA-9D02-8C731A650E7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39F1582-C32C-96EE-A985-94CC63C96794}"/>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2192000" cy="352234"/>
          </a:xfrm>
          <a:prstGeom prst="rect">
            <a:avLst/>
          </a:prstGeom>
        </p:spPr>
      </p:pic>
      <p:sp>
        <p:nvSpPr>
          <p:cNvPr id="14" name="Title 2">
            <a:extLst>
              <a:ext uri="{FF2B5EF4-FFF2-40B4-BE49-F238E27FC236}">
                <a16:creationId xmlns:a16="http://schemas.microsoft.com/office/drawing/2014/main" id="{266452C1-E7FB-A0D0-C248-BCD85AAE0426}"/>
              </a:ext>
            </a:extLst>
          </p:cNvPr>
          <p:cNvSpPr txBox="1">
            <a:spLocks noGrp="1"/>
          </p:cNvSpPr>
          <p:nvPr>
            <p:ph type="title" idx="4294967295"/>
          </p:nvPr>
        </p:nvSpPr>
        <p:spPr>
          <a:xfrm>
            <a:off x="256032" y="-713064"/>
            <a:ext cx="11539727" cy="18377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a:ln>
                  <a:noFill/>
                </a:ln>
                <a:solidFill>
                  <a:schemeClr val="bg1"/>
                </a:solidFill>
                <a:effectLst/>
                <a:uLnTx/>
                <a:uFillTx/>
                <a:latin typeface="Poppins" pitchFamily="2" charset="77"/>
                <a:ea typeface="+mj-ea"/>
                <a:cs typeface="Poppins" pitchFamily="2" charset="77"/>
              </a:rPr>
              <a:t>Scope of Work – Program Overview</a:t>
            </a:r>
          </a:p>
        </p:txBody>
      </p:sp>
      <p:sp>
        <p:nvSpPr>
          <p:cNvPr id="5" name="Content Placeholder 2">
            <a:extLst>
              <a:ext uri="{FF2B5EF4-FFF2-40B4-BE49-F238E27FC236}">
                <a16:creationId xmlns:a16="http://schemas.microsoft.com/office/drawing/2014/main" id="{11745A6D-CA7F-E980-2F0A-00BBB32D7C38}"/>
              </a:ext>
            </a:extLst>
          </p:cNvPr>
          <p:cNvSpPr>
            <a:spLocks noGrp="1"/>
          </p:cNvSpPr>
          <p:nvPr>
            <p:ph sz="half" idx="1"/>
          </p:nvPr>
        </p:nvSpPr>
        <p:spPr>
          <a:xfrm>
            <a:off x="256032" y="681419"/>
            <a:ext cx="11497055" cy="5824728"/>
          </a:xfrm>
        </p:spPr>
        <p:txBody>
          <a:bodyPr vert="horz" lIns="91440" tIns="45720" rIns="91440" bIns="45720" numCol="1" spcCol="457200" rtlCol="0" anchor="t">
            <a:noAutofit/>
          </a:bodyPr>
          <a:lstStyle/>
          <a:p>
            <a:pPr marL="285750" indent="0">
              <a:spcBef>
                <a:spcPts val="600"/>
              </a:spcBef>
              <a:spcAft>
                <a:spcPts val="600"/>
              </a:spcAft>
              <a:buNone/>
            </a:pPr>
            <a:r>
              <a:rPr lang="en-US" sz="1800" b="1">
                <a:latin typeface="Poppins" panose="00000500000000000000" pitchFamily="2" charset="0"/>
                <a:cs typeface="Poppins" panose="00000500000000000000" pitchFamily="2" charset="0"/>
              </a:rPr>
              <a:t>AI Literacy &amp; Awareness: </a:t>
            </a:r>
            <a:r>
              <a:rPr lang="en-US" sz="1800">
                <a:solidFill>
                  <a:srgbClr val="2C3084"/>
                </a:solidFill>
                <a:latin typeface="Poppins" panose="00000500000000000000" pitchFamily="2" charset="0"/>
                <a:cs typeface="Poppins" panose="00000500000000000000" pitchFamily="2" charset="0"/>
              </a:rPr>
              <a:t>Audience: </a:t>
            </a:r>
            <a:r>
              <a:rPr lang="en-US" sz="1800">
                <a:solidFill>
                  <a:srgbClr val="2C3084"/>
                </a:solidFill>
                <a:latin typeface="Poppins" panose="00000500000000000000" pitchFamily="2" charset="0"/>
                <a:ea typeface="Poppins"/>
                <a:cs typeface="Poppins" panose="00000500000000000000" pitchFamily="2" charset="0"/>
                <a:sym typeface="Poppins Bold"/>
              </a:rPr>
              <a:t>Municipalities, e</a:t>
            </a:r>
            <a:r>
              <a:rPr lang="en-US" sz="1800">
                <a:solidFill>
                  <a:srgbClr val="2C3084"/>
                </a:solidFill>
                <a:latin typeface="Poppins" panose="00000500000000000000" pitchFamily="2" charset="0"/>
                <a:cs typeface="Poppins" panose="00000500000000000000" pitchFamily="2" charset="0"/>
              </a:rPr>
              <a:t>mployers, businesses &amp; Industry associations, job seekers, governmental units, workforce clients, contractors, partner agencies, and academia </a:t>
            </a:r>
            <a:endParaRPr lang="en-US" sz="1400" b="1">
              <a:latin typeface="Poppins" panose="00000500000000000000" pitchFamily="2" charset="0"/>
              <a:cs typeface="Poppins" panose="00000500000000000000" pitchFamily="2" charset="0"/>
            </a:endParaRPr>
          </a:p>
          <a:p>
            <a:pPr marL="800100" lvl="1">
              <a:lnSpc>
                <a:spcPct val="100000"/>
              </a:lnSpc>
              <a:spcBef>
                <a:spcPts val="200"/>
              </a:spcBef>
              <a:spcAft>
                <a:spcPts val="200"/>
              </a:spcAft>
            </a:pPr>
            <a:r>
              <a:rPr lang="en-US">
                <a:latin typeface="Poppins" panose="00000500000000000000" pitchFamily="2" charset="0"/>
                <a:cs typeface="Poppins" panose="00000500000000000000" pitchFamily="2" charset="0"/>
              </a:rPr>
              <a:t>Real-world case studies</a:t>
            </a:r>
          </a:p>
          <a:p>
            <a:pPr marL="800100" lvl="1">
              <a:lnSpc>
                <a:spcPct val="100000"/>
              </a:lnSpc>
              <a:spcBef>
                <a:spcPts val="200"/>
              </a:spcBef>
              <a:spcAft>
                <a:spcPts val="200"/>
              </a:spcAft>
            </a:pPr>
            <a:r>
              <a:rPr lang="en-US">
                <a:latin typeface="Poppins" panose="00000500000000000000" pitchFamily="2" charset="0"/>
                <a:cs typeface="Poppins" panose="00000500000000000000" pitchFamily="2" charset="0"/>
              </a:rPr>
              <a:t>AI trends  in high demand sectors </a:t>
            </a:r>
          </a:p>
          <a:p>
            <a:pPr marL="800100" lvl="1">
              <a:lnSpc>
                <a:spcPct val="100000"/>
              </a:lnSpc>
              <a:spcBef>
                <a:spcPts val="200"/>
              </a:spcBef>
              <a:spcAft>
                <a:spcPts val="200"/>
              </a:spcAft>
            </a:pPr>
            <a:r>
              <a:rPr lang="en-US">
                <a:latin typeface="Poppins" panose="00000500000000000000" pitchFamily="2" charset="0"/>
                <a:cs typeface="Poppins" panose="00000500000000000000" pitchFamily="2" charset="0"/>
              </a:rPr>
              <a:t>Career pathways</a:t>
            </a:r>
          </a:p>
          <a:p>
            <a:pPr marL="285750" indent="0">
              <a:spcBef>
                <a:spcPts val="600"/>
              </a:spcBef>
              <a:spcAft>
                <a:spcPts val="600"/>
              </a:spcAft>
              <a:buNone/>
            </a:pPr>
            <a:r>
              <a:rPr lang="en-US" sz="1800" b="1">
                <a:latin typeface="Poppins" panose="00000500000000000000" pitchFamily="2" charset="0"/>
                <a:cs typeface="Poppins" panose="00000500000000000000" pitchFamily="2" charset="0"/>
              </a:rPr>
              <a:t>Applied AI for Workforce &amp; Community: </a:t>
            </a:r>
            <a:r>
              <a:rPr lang="en-US" sz="1800">
                <a:solidFill>
                  <a:srgbClr val="2C3084"/>
                </a:solidFill>
                <a:latin typeface="Poppins" panose="00000500000000000000" pitchFamily="2" charset="0"/>
                <a:cs typeface="Poppins" panose="00000500000000000000" pitchFamily="2" charset="0"/>
              </a:rPr>
              <a:t>Audience: </a:t>
            </a:r>
            <a:r>
              <a:rPr lang="en-US" sz="1800">
                <a:solidFill>
                  <a:srgbClr val="2C3084"/>
                </a:solidFill>
                <a:latin typeface="Poppins" panose="00000500000000000000" pitchFamily="2" charset="0"/>
                <a:ea typeface="Poppins"/>
                <a:cs typeface="Poppins" panose="00000500000000000000" pitchFamily="2" charset="0"/>
                <a:sym typeface="Poppins Bold"/>
              </a:rPr>
              <a:t>Municipalities, e</a:t>
            </a:r>
            <a:r>
              <a:rPr lang="en-US" sz="1800">
                <a:solidFill>
                  <a:srgbClr val="2C3084"/>
                </a:solidFill>
                <a:latin typeface="Poppins" panose="00000500000000000000" pitchFamily="2" charset="0"/>
                <a:cs typeface="Poppins" panose="00000500000000000000" pitchFamily="2" charset="0"/>
              </a:rPr>
              <a:t>mployers, businesses &amp; Industry associations, job seekers, governmental units, workforce clients, contractors, partner agencies, and academia </a:t>
            </a:r>
            <a:endParaRPr lang="en-US" sz="1800" b="1">
              <a:latin typeface="Poppins" panose="00000500000000000000" pitchFamily="2" charset="0"/>
              <a:cs typeface="Poppins" panose="00000500000000000000" pitchFamily="2" charset="0"/>
            </a:endParaRPr>
          </a:p>
          <a:p>
            <a:pPr marL="800100" lvl="1">
              <a:lnSpc>
                <a:spcPct val="100000"/>
              </a:lnSpc>
              <a:spcBef>
                <a:spcPts val="200"/>
              </a:spcBef>
              <a:spcAft>
                <a:spcPts val="200"/>
              </a:spcAft>
            </a:pPr>
            <a:r>
              <a:rPr lang="en-US">
                <a:latin typeface="Poppins" panose="00000500000000000000" pitchFamily="2" charset="0"/>
                <a:cs typeface="Poppins" panose="00000500000000000000" pitchFamily="2" charset="0"/>
              </a:rPr>
              <a:t>Bias awareness modules</a:t>
            </a:r>
          </a:p>
          <a:p>
            <a:pPr marL="800100" lvl="1">
              <a:lnSpc>
                <a:spcPct val="100000"/>
              </a:lnSpc>
              <a:spcBef>
                <a:spcPts val="200"/>
              </a:spcBef>
              <a:spcAft>
                <a:spcPts val="200"/>
              </a:spcAft>
            </a:pPr>
            <a:r>
              <a:rPr lang="en-US">
                <a:latin typeface="Poppins" panose="00000500000000000000" pitchFamily="2" charset="0"/>
                <a:cs typeface="Poppins" panose="00000500000000000000" pitchFamily="2" charset="0"/>
              </a:rPr>
              <a:t>Ethical &amp; Inclusive AI Use</a:t>
            </a:r>
          </a:p>
          <a:p>
            <a:pPr marL="800100" lvl="1">
              <a:lnSpc>
                <a:spcPct val="100000"/>
              </a:lnSpc>
              <a:spcBef>
                <a:spcPts val="200"/>
              </a:spcBef>
              <a:spcAft>
                <a:spcPts val="200"/>
              </a:spcAft>
            </a:pPr>
            <a:r>
              <a:rPr lang="en-US">
                <a:latin typeface="Poppins" panose="00000500000000000000" pitchFamily="2" charset="0"/>
                <a:cs typeface="Poppins" panose="00000500000000000000" pitchFamily="2" charset="0"/>
              </a:rPr>
              <a:t>Responsible data practices &amp; governance</a:t>
            </a:r>
          </a:p>
          <a:p>
            <a:pPr marL="285750" indent="0">
              <a:spcBef>
                <a:spcPts val="600"/>
              </a:spcBef>
              <a:spcAft>
                <a:spcPts val="600"/>
              </a:spcAft>
              <a:buNone/>
            </a:pPr>
            <a:r>
              <a:rPr lang="en-US" sz="1800" b="1">
                <a:latin typeface="Poppins"/>
                <a:cs typeface="Poppins"/>
              </a:rPr>
              <a:t>Dual-Track Approach:       </a:t>
            </a:r>
            <a:br>
              <a:rPr lang="en-US" sz="1400" b="1">
                <a:latin typeface="Poppins" panose="00000500000000000000" pitchFamily="2" charset="0"/>
                <a:cs typeface="Poppins" panose="00000500000000000000" pitchFamily="2" charset="0"/>
              </a:rPr>
            </a:br>
            <a:r>
              <a:rPr lang="en-US" sz="1800">
                <a:solidFill>
                  <a:srgbClr val="2C3084"/>
                </a:solidFill>
                <a:latin typeface="Poppins" panose="00000500000000000000" pitchFamily="2" charset="0"/>
                <a:cs typeface="Poppins" panose="00000500000000000000" pitchFamily="2" charset="0"/>
              </a:rPr>
              <a:t>Audience: Workforce Development Internal Staff, Partners, and Jobseekers</a:t>
            </a:r>
          </a:p>
          <a:p>
            <a:pPr marL="800100" lvl="1">
              <a:lnSpc>
                <a:spcPct val="100000"/>
              </a:lnSpc>
              <a:spcBef>
                <a:spcPts val="200"/>
              </a:spcBef>
              <a:spcAft>
                <a:spcPts val="200"/>
              </a:spcAft>
            </a:pPr>
            <a:r>
              <a:rPr lang="en-US">
                <a:latin typeface="Poppins" panose="00000500000000000000" pitchFamily="2" charset="0"/>
                <a:cs typeface="Poppins" panose="00000500000000000000" pitchFamily="2" charset="0"/>
              </a:rPr>
              <a:t>Training for managers on leading AI integration</a:t>
            </a:r>
          </a:p>
          <a:p>
            <a:pPr marL="800100" lvl="1">
              <a:lnSpc>
                <a:spcPct val="100000"/>
              </a:lnSpc>
              <a:spcBef>
                <a:spcPts val="200"/>
              </a:spcBef>
              <a:spcAft>
                <a:spcPts val="200"/>
              </a:spcAft>
            </a:pPr>
            <a:r>
              <a:rPr lang="en-US">
                <a:latin typeface="Poppins" panose="00000500000000000000" pitchFamily="2" charset="0"/>
                <a:cs typeface="Poppins" panose="00000500000000000000" pitchFamily="2" charset="0"/>
              </a:rPr>
              <a:t>Training for front-line staff empowerment </a:t>
            </a:r>
          </a:p>
          <a:p>
            <a:pPr marL="800100" lvl="1">
              <a:lnSpc>
                <a:spcPct val="100000"/>
              </a:lnSpc>
              <a:spcBef>
                <a:spcPts val="200"/>
              </a:spcBef>
              <a:spcAft>
                <a:spcPts val="200"/>
              </a:spcAft>
            </a:pPr>
            <a:r>
              <a:rPr lang="en-US">
                <a:latin typeface="Poppins"/>
                <a:cs typeface="Poppins"/>
              </a:rPr>
              <a:t>Hands-On-Training and micro-credentialing</a:t>
            </a:r>
            <a:endParaRPr lang="en-US">
              <a:latin typeface="Poppins" panose="00000500000000000000" pitchFamily="2" charset="0"/>
              <a:cs typeface="Poppins" panose="00000500000000000000" pitchFamily="2" charset="0"/>
            </a:endParaRPr>
          </a:p>
          <a:p>
            <a:pPr marL="800100" lvl="1">
              <a:lnSpc>
                <a:spcPct val="100000"/>
              </a:lnSpc>
              <a:spcBef>
                <a:spcPts val="200"/>
              </a:spcBef>
              <a:spcAft>
                <a:spcPts val="200"/>
              </a:spcAft>
            </a:pPr>
            <a:r>
              <a:rPr lang="en-US">
                <a:latin typeface="Poppins"/>
                <a:cs typeface="Poppins"/>
              </a:rPr>
              <a:t>Use of AI tools in daily workflows and AI use cases</a:t>
            </a:r>
          </a:p>
          <a:p>
            <a:pPr marL="628650" lvl="1" indent="0">
              <a:lnSpc>
                <a:spcPct val="100000"/>
              </a:lnSpc>
              <a:spcBef>
                <a:spcPts val="200"/>
              </a:spcBef>
              <a:spcAft>
                <a:spcPts val="200"/>
              </a:spcAft>
              <a:buNone/>
            </a:pPr>
            <a:r>
              <a:rPr lang="en-US" sz="1400">
                <a:latin typeface="Poppins"/>
                <a:cs typeface="Poppins"/>
              </a:rPr>
              <a:t> </a:t>
            </a:r>
            <a:endParaRPr lang="en-US">
              <a:ea typeface="Calibri" panose="020F0502020204030204"/>
              <a:cs typeface="Calibri" panose="020F0502020204030204"/>
            </a:endParaRPr>
          </a:p>
          <a:p>
            <a:pPr marL="800100" lvl="1">
              <a:lnSpc>
                <a:spcPct val="100000"/>
              </a:lnSpc>
              <a:spcBef>
                <a:spcPts val="200"/>
              </a:spcBef>
              <a:spcAft>
                <a:spcPts val="200"/>
              </a:spcAft>
            </a:pPr>
            <a:endParaRPr lang="en-US" sz="1400">
              <a:latin typeface="Poppins" panose="00000500000000000000" pitchFamily="2" charset="0"/>
              <a:cs typeface="Poppins" panose="00000500000000000000" pitchFamily="2" charset="0"/>
            </a:endParaRPr>
          </a:p>
          <a:p>
            <a:pPr marL="285750" indent="0">
              <a:spcBef>
                <a:spcPts val="600"/>
              </a:spcBef>
              <a:spcAft>
                <a:spcPts val="600"/>
              </a:spcAft>
              <a:buNone/>
            </a:pPr>
            <a:endParaRPr lang="en-US" sz="1400" b="1">
              <a:solidFill>
                <a:srgbClr val="000000"/>
              </a:solidFill>
              <a:latin typeface="Poppins" panose="00000500000000000000" pitchFamily="2" charset="0"/>
              <a:ea typeface="Times New Roman" panose="02020603050405020304" pitchFamily="18" charset="0"/>
              <a:cs typeface="Poppins" panose="00000500000000000000" pitchFamily="2" charset="0"/>
            </a:endParaRPr>
          </a:p>
          <a:p>
            <a:pPr marL="0" indent="0" defTabSz="914400" eaLnBrk="0" fontAlgn="base" hangingPunct="0">
              <a:lnSpc>
                <a:spcPct val="100000"/>
              </a:lnSpc>
              <a:spcBef>
                <a:spcPts val="600"/>
              </a:spcBef>
              <a:spcAft>
                <a:spcPts val="600"/>
              </a:spcAft>
              <a:buNone/>
            </a:pPr>
            <a:endParaRPr lang="en-US" altLang="en-US" sz="1400">
              <a:latin typeface="Poppins" panose="00000500000000000000" pitchFamily="2" charset="0"/>
              <a:cs typeface="Poppins" panose="00000500000000000000" pitchFamily="2" charset="0"/>
            </a:endParaRPr>
          </a:p>
        </p:txBody>
      </p:sp>
      <p:pic>
        <p:nvPicPr>
          <p:cNvPr id="3" name="Picture 2">
            <a:extLst>
              <a:ext uri="{FF2B5EF4-FFF2-40B4-BE49-F238E27FC236}">
                <a16:creationId xmlns:a16="http://schemas.microsoft.com/office/drawing/2014/main" id="{53B48E94-62CC-9173-FB98-15D9AB88D13F}"/>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79939"/>
            <a:ext cx="12283402" cy="276411"/>
          </a:xfrm>
          <a:prstGeom prst="rect">
            <a:avLst/>
          </a:prstGeom>
        </p:spPr>
      </p:pic>
    </p:spTree>
    <p:extLst>
      <p:ext uri="{BB962C8B-B14F-4D97-AF65-F5344CB8AC3E}">
        <p14:creationId xmlns:p14="http://schemas.microsoft.com/office/powerpoint/2010/main" val="2423422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C3B5C-39AF-BA75-634E-347566F768F5}"/>
            </a:ext>
          </a:extLst>
        </p:cNvPr>
        <p:cNvGrpSpPr/>
        <p:nvPr/>
      </p:nvGrpSpPr>
      <p:grpSpPr>
        <a:xfrm>
          <a:off x="0" y="0"/>
          <a:ext cx="0" cy="0"/>
          <a:chOff x="0" y="0"/>
          <a:chExt cx="0" cy="0"/>
        </a:xfrm>
      </p:grpSpPr>
      <p:sp>
        <p:nvSpPr>
          <p:cNvPr id="14" name="Title 2">
            <a:extLst>
              <a:ext uri="{FF2B5EF4-FFF2-40B4-BE49-F238E27FC236}">
                <a16:creationId xmlns:a16="http://schemas.microsoft.com/office/drawing/2014/main" id="{B3A1B237-3EA9-44E3-0AC3-BEC5E32063DF}"/>
              </a:ext>
            </a:extLst>
          </p:cNvPr>
          <p:cNvSpPr txBox="1">
            <a:spLocks noGrp="1"/>
          </p:cNvSpPr>
          <p:nvPr>
            <p:ph type="title" idx="4294967295"/>
          </p:nvPr>
        </p:nvSpPr>
        <p:spPr>
          <a:xfrm>
            <a:off x="294118" y="250446"/>
            <a:ext cx="11480887" cy="105641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44692"/>
                </a:solidFill>
                <a:effectLst/>
                <a:uLnTx/>
                <a:uFillTx/>
                <a:latin typeface="Poppins" pitchFamily="2" charset="77"/>
                <a:ea typeface="+mj-ea"/>
                <a:cs typeface="Poppins" pitchFamily="2" charset="77"/>
              </a:rPr>
              <a:t>Funding &amp; Duration</a:t>
            </a:r>
          </a:p>
        </p:txBody>
      </p:sp>
      <p:sp>
        <p:nvSpPr>
          <p:cNvPr id="5" name="Content Placeholder 2">
            <a:extLst>
              <a:ext uri="{FF2B5EF4-FFF2-40B4-BE49-F238E27FC236}">
                <a16:creationId xmlns:a16="http://schemas.microsoft.com/office/drawing/2014/main" id="{2D8124E4-9C82-80F6-D37F-84028A510B6B}"/>
              </a:ext>
            </a:extLst>
          </p:cNvPr>
          <p:cNvSpPr>
            <a:spLocks noGrp="1"/>
          </p:cNvSpPr>
          <p:nvPr>
            <p:ph sz="half" idx="1"/>
          </p:nvPr>
        </p:nvSpPr>
        <p:spPr>
          <a:xfrm>
            <a:off x="294118" y="1408274"/>
            <a:ext cx="6844977" cy="5183679"/>
          </a:xfrm>
        </p:spPr>
        <p:txBody>
          <a:bodyPr numCol="1" spcCol="457200">
            <a:noAutofit/>
          </a:bodyPr>
          <a:lstStyle/>
          <a:p>
            <a:pPr defTabSz="914400" eaLnBrk="0" fontAlgn="base" hangingPunct="0">
              <a:lnSpc>
                <a:spcPct val="100000"/>
              </a:lnSpc>
              <a:spcBef>
                <a:spcPts val="600"/>
              </a:spcBef>
              <a:spcAft>
                <a:spcPts val="600"/>
              </a:spcAft>
            </a:pPr>
            <a:r>
              <a:rPr lang="en-US" sz="1700" b="1" dirty="0">
                <a:effectLst/>
                <a:latin typeface="Poppins" panose="00000500000000000000" pitchFamily="2" charset="0"/>
                <a:ea typeface="Times New Roman" panose="02020603050405020304" pitchFamily="18" charset="0"/>
                <a:cs typeface="Poppins" panose="00000500000000000000" pitchFamily="2" charset="0"/>
              </a:rPr>
              <a:t>$100,000</a:t>
            </a:r>
            <a:r>
              <a:rPr lang="en-US" sz="1700" dirty="0">
                <a:effectLst/>
                <a:latin typeface="Poppins" panose="00000500000000000000" pitchFamily="2" charset="0"/>
                <a:ea typeface="Times New Roman" panose="02020603050405020304" pitchFamily="18" charset="0"/>
                <a:cs typeface="Poppins" panose="00000500000000000000" pitchFamily="2" charset="0"/>
              </a:rPr>
              <a:t> in total WIOA funds awarded to entity. </a:t>
            </a:r>
            <a:r>
              <a:rPr lang="en-US" sz="1700" dirty="0">
                <a:latin typeface="Poppins" panose="00000500000000000000" pitchFamily="2" charset="0"/>
                <a:ea typeface="Times New Roman" panose="02020603050405020304" pitchFamily="18" charset="0"/>
                <a:cs typeface="Poppins" panose="00000500000000000000" pitchFamily="2" charset="0"/>
              </a:rPr>
              <a:t>Services will </a:t>
            </a:r>
            <a:r>
              <a:rPr lang="en-US" sz="1700" dirty="0">
                <a:effectLst/>
                <a:latin typeface="Poppins" panose="00000500000000000000" pitchFamily="2" charset="0"/>
                <a:ea typeface="Times New Roman" panose="02020603050405020304" pitchFamily="18" charset="0"/>
                <a:cs typeface="Poppins" panose="00000500000000000000" pitchFamily="2" charset="0"/>
              </a:rPr>
              <a:t>provide </a:t>
            </a:r>
            <a:r>
              <a:rPr lang="en-US" sz="1700" dirty="0">
                <a:latin typeface="Poppins" panose="00000500000000000000" pitchFamily="2" charset="0"/>
                <a:ea typeface="Times New Roman" panose="02020603050405020304" pitchFamily="18" charset="0"/>
                <a:cs typeface="Poppins" panose="00000500000000000000" pitchFamily="2" charset="0"/>
              </a:rPr>
              <a:t>AI integrated services to the following stakeholders:</a:t>
            </a:r>
          </a:p>
          <a:p>
            <a:pPr lvl="1" defTabSz="914400" eaLnBrk="0" fontAlgn="base" hangingPunct="0">
              <a:lnSpc>
                <a:spcPct val="100000"/>
              </a:lnSpc>
              <a:spcBef>
                <a:spcPts val="200"/>
              </a:spcBef>
              <a:spcAft>
                <a:spcPts val="200"/>
              </a:spcAft>
            </a:pPr>
            <a:r>
              <a:rPr lang="en-US" sz="1700" dirty="0">
                <a:latin typeface="Poppins" panose="00000500000000000000" pitchFamily="2" charset="0"/>
                <a:ea typeface="Times New Roman" panose="02020603050405020304" pitchFamily="18" charset="0"/>
                <a:cs typeface="Poppins" panose="00000500000000000000" pitchFamily="2" charset="0"/>
              </a:rPr>
              <a:t>Employers/Businesses, Incumbent Workers, Non-Profits, &amp; Industry Associations</a:t>
            </a:r>
          </a:p>
          <a:p>
            <a:pPr lvl="1" defTabSz="914400" eaLnBrk="0" fontAlgn="base" hangingPunct="0">
              <a:lnSpc>
                <a:spcPct val="100000"/>
              </a:lnSpc>
              <a:spcBef>
                <a:spcPts val="200"/>
              </a:spcBef>
              <a:spcAft>
                <a:spcPts val="200"/>
              </a:spcAft>
            </a:pPr>
            <a:r>
              <a:rPr lang="en-US" sz="1700" dirty="0">
                <a:effectLst/>
                <a:latin typeface="Poppins" panose="00000500000000000000" pitchFamily="2" charset="0"/>
                <a:ea typeface="Times New Roman" panose="02020603050405020304" pitchFamily="18" charset="0"/>
                <a:cs typeface="Poppins" panose="00000500000000000000" pitchFamily="2" charset="0"/>
              </a:rPr>
              <a:t>Jo</a:t>
            </a:r>
            <a:r>
              <a:rPr lang="en-US" sz="1700" dirty="0">
                <a:latin typeface="Poppins" panose="00000500000000000000" pitchFamily="2" charset="0"/>
                <a:ea typeface="Times New Roman" panose="02020603050405020304" pitchFamily="18" charset="0"/>
                <a:cs typeface="Poppins" panose="00000500000000000000" pitchFamily="2" charset="0"/>
              </a:rPr>
              <a:t>b Seekers, Tech Campus, and WIOA Clients</a:t>
            </a:r>
          </a:p>
          <a:p>
            <a:pPr lvl="1" defTabSz="914400" eaLnBrk="0" fontAlgn="base" hangingPunct="0">
              <a:lnSpc>
                <a:spcPct val="100000"/>
              </a:lnSpc>
              <a:spcBef>
                <a:spcPts val="200"/>
              </a:spcBef>
              <a:spcAft>
                <a:spcPts val="200"/>
              </a:spcAft>
            </a:pPr>
            <a:r>
              <a:rPr lang="en-US" sz="1700" dirty="0">
                <a:effectLst/>
                <a:latin typeface="Poppins" panose="00000500000000000000" pitchFamily="2" charset="0"/>
                <a:ea typeface="Times New Roman" panose="02020603050405020304" pitchFamily="18" charset="0"/>
                <a:cs typeface="Poppins" panose="00000500000000000000" pitchFamily="2" charset="0"/>
              </a:rPr>
              <a:t>Municipalities, Lake County Partners, &amp; Governmental Units</a:t>
            </a:r>
          </a:p>
          <a:p>
            <a:pPr lvl="1" defTabSz="914400" eaLnBrk="0" fontAlgn="base" hangingPunct="0">
              <a:lnSpc>
                <a:spcPct val="100000"/>
              </a:lnSpc>
              <a:spcBef>
                <a:spcPts val="200"/>
              </a:spcBef>
              <a:spcAft>
                <a:spcPts val="200"/>
              </a:spcAft>
            </a:pPr>
            <a:r>
              <a:rPr lang="en-US" sz="1700" dirty="0">
                <a:effectLst/>
                <a:latin typeface="Poppins" panose="00000500000000000000" pitchFamily="2" charset="0"/>
                <a:ea typeface="Times New Roman" panose="02020603050405020304" pitchFamily="18" charset="0"/>
                <a:cs typeface="Poppins" panose="00000500000000000000" pitchFamily="2" charset="0"/>
              </a:rPr>
              <a:t>Workforce Clients, WD Staff, Youth Contractors, and Job Center Partner Agencies </a:t>
            </a:r>
          </a:p>
          <a:p>
            <a:pPr lvl="1" defTabSz="914400" eaLnBrk="0" fontAlgn="base" hangingPunct="0">
              <a:lnSpc>
                <a:spcPct val="100000"/>
              </a:lnSpc>
              <a:spcBef>
                <a:spcPts val="200"/>
              </a:spcBef>
              <a:spcAft>
                <a:spcPts val="200"/>
              </a:spcAft>
            </a:pPr>
            <a:r>
              <a:rPr lang="en-US" sz="1700" dirty="0">
                <a:latin typeface="Poppins" panose="00000500000000000000" pitchFamily="2" charset="0"/>
                <a:ea typeface="Times New Roman" panose="02020603050405020304" pitchFamily="18" charset="0"/>
                <a:cs typeface="Poppins" panose="00000500000000000000" pitchFamily="2" charset="0"/>
              </a:rPr>
              <a:t>ROE Schools, University Center, &amp; Summer Program Workshop</a:t>
            </a:r>
            <a:endParaRPr lang="en-US" sz="1700" dirty="0">
              <a:effectLst/>
              <a:latin typeface="Poppins" panose="00000500000000000000" pitchFamily="2" charset="0"/>
              <a:ea typeface="Times New Roman" panose="02020603050405020304" pitchFamily="18" charset="0"/>
              <a:cs typeface="Poppins" panose="00000500000000000000" pitchFamily="2" charset="0"/>
            </a:endParaRPr>
          </a:p>
          <a:p>
            <a:pPr defTabSz="914400" eaLnBrk="0" fontAlgn="base" hangingPunct="0">
              <a:lnSpc>
                <a:spcPct val="100000"/>
              </a:lnSpc>
              <a:spcBef>
                <a:spcPts val="600"/>
              </a:spcBef>
              <a:spcAft>
                <a:spcPts val="600"/>
              </a:spcAft>
            </a:pPr>
            <a:r>
              <a:rPr lang="en-US" sz="1700" dirty="0">
                <a:effectLst/>
                <a:latin typeface="Poppins" panose="00000500000000000000" pitchFamily="2" charset="0"/>
                <a:ea typeface="Times New Roman" panose="02020603050405020304" pitchFamily="18" charset="0"/>
                <a:cs typeface="Poppins" panose="00000500000000000000" pitchFamily="2" charset="0"/>
              </a:rPr>
              <a:t>The program </a:t>
            </a:r>
            <a:r>
              <a:rPr lang="en-US" sz="1700" dirty="0">
                <a:latin typeface="Poppins" panose="00000500000000000000" pitchFamily="2" charset="0"/>
                <a:ea typeface="Times New Roman" panose="02020603050405020304" pitchFamily="18" charset="0"/>
                <a:cs typeface="Poppins" panose="00000500000000000000" pitchFamily="2" charset="0"/>
              </a:rPr>
              <a:t>began </a:t>
            </a:r>
            <a:r>
              <a:rPr lang="en-US" sz="1700" dirty="0">
                <a:effectLst/>
                <a:latin typeface="Poppins" panose="00000500000000000000" pitchFamily="2" charset="0"/>
                <a:ea typeface="Times New Roman" panose="02020603050405020304" pitchFamily="18" charset="0"/>
                <a:cs typeface="Poppins" panose="00000500000000000000" pitchFamily="2" charset="0"/>
              </a:rPr>
              <a:t>January 2026. The Lake County Workforce Board awarded an </a:t>
            </a:r>
            <a:r>
              <a:rPr lang="en-US" sz="1700" b="1" dirty="0">
                <a:effectLst/>
                <a:latin typeface="Poppins" panose="00000500000000000000" pitchFamily="2" charset="0"/>
                <a:ea typeface="Times New Roman" panose="02020603050405020304" pitchFamily="18" charset="0"/>
                <a:cs typeface="Poppins" panose="00000500000000000000" pitchFamily="2" charset="0"/>
              </a:rPr>
              <a:t>18-month agreement, ending on June 30</a:t>
            </a:r>
            <a:r>
              <a:rPr lang="en-US" sz="1700" b="1" baseline="30000" dirty="0">
                <a:effectLst/>
                <a:latin typeface="Poppins" panose="00000500000000000000" pitchFamily="2" charset="0"/>
                <a:ea typeface="Times New Roman" panose="02020603050405020304" pitchFamily="18" charset="0"/>
                <a:cs typeface="Poppins" panose="00000500000000000000" pitchFamily="2" charset="0"/>
              </a:rPr>
              <a:t>th</a:t>
            </a:r>
            <a:r>
              <a:rPr lang="en-US" sz="1700" b="1" dirty="0">
                <a:effectLst/>
                <a:latin typeface="Poppins" panose="00000500000000000000" pitchFamily="2" charset="0"/>
                <a:ea typeface="Times New Roman" panose="02020603050405020304" pitchFamily="18" charset="0"/>
                <a:cs typeface="Poppins" panose="00000500000000000000" pitchFamily="2" charset="0"/>
              </a:rPr>
              <a:t>, 2027</a:t>
            </a:r>
            <a:r>
              <a:rPr lang="en-US" sz="1700" dirty="0">
                <a:effectLst/>
                <a:latin typeface="Poppins" panose="00000500000000000000" pitchFamily="2" charset="0"/>
                <a:ea typeface="Times New Roman" panose="02020603050405020304" pitchFamily="18" charset="0"/>
                <a:cs typeface="Poppins" panose="00000500000000000000" pitchFamily="2" charset="0"/>
              </a:rPr>
              <a:t>. The County reserved the right to renew the contract for </a:t>
            </a:r>
            <a:r>
              <a:rPr lang="en-US" sz="1700" b="1" dirty="0">
                <a:effectLst/>
                <a:latin typeface="Poppins" panose="00000500000000000000" pitchFamily="2" charset="0"/>
                <a:ea typeface="Times New Roman" panose="02020603050405020304" pitchFamily="18" charset="0"/>
                <a:cs typeface="Poppins" panose="00000500000000000000" pitchFamily="2" charset="0"/>
              </a:rPr>
              <a:t>1 additional year </a:t>
            </a:r>
            <a:r>
              <a:rPr lang="en-US" sz="1700" dirty="0">
                <a:effectLst/>
                <a:latin typeface="Poppins" panose="00000500000000000000" pitchFamily="2" charset="0"/>
                <a:ea typeface="Times New Roman" panose="02020603050405020304" pitchFamily="18" charset="0"/>
                <a:cs typeface="Poppins" panose="00000500000000000000" pitchFamily="2" charset="0"/>
              </a:rPr>
              <a:t>contingent upon acceptable performance and progress by the proposer and the appropriation of sufficient funds.</a:t>
            </a:r>
          </a:p>
          <a:p>
            <a:pPr defTabSz="914400" eaLnBrk="0" fontAlgn="base" hangingPunct="0">
              <a:lnSpc>
                <a:spcPct val="100000"/>
              </a:lnSpc>
              <a:spcBef>
                <a:spcPts val="600"/>
              </a:spcBef>
              <a:spcAft>
                <a:spcPts val="600"/>
              </a:spcAft>
            </a:pPr>
            <a:endParaRPr lang="en-US" sz="1600" dirty="0">
              <a:effectLst/>
              <a:latin typeface="Poppins" panose="00000500000000000000" pitchFamily="2" charset="0"/>
              <a:ea typeface="Times New Roman" panose="02020603050405020304" pitchFamily="18" charset="0"/>
              <a:cs typeface="Poppins" panose="00000500000000000000" pitchFamily="2" charset="0"/>
            </a:endParaRPr>
          </a:p>
          <a:p>
            <a:pPr defTabSz="914400" eaLnBrk="0" fontAlgn="base" hangingPunct="0">
              <a:lnSpc>
                <a:spcPct val="100000"/>
              </a:lnSpc>
              <a:spcBef>
                <a:spcPts val="600"/>
              </a:spcBef>
              <a:spcAft>
                <a:spcPts val="600"/>
              </a:spcAft>
            </a:pPr>
            <a:endParaRPr lang="en-US" altLang="en-US" sz="1600" dirty="0">
              <a:latin typeface="Poppins" panose="00000500000000000000" pitchFamily="2" charset="0"/>
              <a:cs typeface="Poppins" panose="00000500000000000000" pitchFamily="2" charset="0"/>
            </a:endParaRPr>
          </a:p>
          <a:p>
            <a:pPr defTabSz="914400" eaLnBrk="0" fontAlgn="base" hangingPunct="0">
              <a:lnSpc>
                <a:spcPct val="100000"/>
              </a:lnSpc>
              <a:spcBef>
                <a:spcPts val="600"/>
              </a:spcBef>
              <a:spcAft>
                <a:spcPts val="600"/>
              </a:spcAft>
            </a:pPr>
            <a:endParaRPr lang="en-US" altLang="en-US" sz="1600" dirty="0">
              <a:latin typeface="Poppins" panose="00000500000000000000" pitchFamily="2" charset="0"/>
              <a:cs typeface="Poppins" panose="00000500000000000000" pitchFamily="2" charset="0"/>
            </a:endParaRPr>
          </a:p>
        </p:txBody>
      </p:sp>
      <p:pic>
        <p:nvPicPr>
          <p:cNvPr id="9" name="Picture 8" descr="Person holding paper">
            <a:extLst>
              <a:ext uri="{FF2B5EF4-FFF2-40B4-BE49-F238E27FC236}">
                <a16:creationId xmlns:a16="http://schemas.microsoft.com/office/drawing/2014/main" id="{E67CFBD5-F79C-F18F-7434-0CC7AE31413F}"/>
              </a:ext>
            </a:extLst>
          </p:cNvPr>
          <p:cNvPicPr>
            <a:picLocks noChangeAspect="1"/>
          </p:cNvPicPr>
          <p:nvPr/>
        </p:nvPicPr>
        <p:blipFill>
          <a:blip r:embed="rId3" cstate="print">
            <a:extLst>
              <a:ext uri="{28A0092B-C50C-407E-A947-70E740481C1C}">
                <a14:useLocalDpi xmlns:a14="http://schemas.microsoft.com/office/drawing/2010/main" val="0"/>
              </a:ext>
            </a:extLst>
          </a:blip>
          <a:srcRect l="12939" r="30654" b="4822"/>
          <a:stretch/>
        </p:blipFill>
        <p:spPr>
          <a:xfrm>
            <a:off x="7560301" y="350585"/>
            <a:ext cx="5478987" cy="6505765"/>
          </a:xfrm>
          <a:prstGeom prst="rect">
            <a:avLst/>
          </a:prstGeom>
        </p:spPr>
      </p:pic>
      <p:pic>
        <p:nvPicPr>
          <p:cNvPr id="3" name="Picture 2">
            <a:extLst>
              <a:ext uri="{FF2B5EF4-FFF2-40B4-BE49-F238E27FC236}">
                <a16:creationId xmlns:a16="http://schemas.microsoft.com/office/drawing/2014/main" id="{66D62492-7EE8-3C8D-0CDB-95AE2AC7389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
            <a:ext cx="12192000" cy="352234"/>
          </a:xfrm>
          <a:prstGeom prst="rect">
            <a:avLst/>
          </a:prstGeom>
        </p:spPr>
      </p:pic>
      <p:pic>
        <p:nvPicPr>
          <p:cNvPr id="4" name="Picture 3">
            <a:extLst>
              <a:ext uri="{FF2B5EF4-FFF2-40B4-BE49-F238E27FC236}">
                <a16:creationId xmlns:a16="http://schemas.microsoft.com/office/drawing/2014/main" id="{C82EFC90-9217-E7EA-EE03-B374B70F1F82}"/>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4" y="6579939"/>
            <a:ext cx="12283402" cy="276411"/>
          </a:xfrm>
          <a:prstGeom prst="rect">
            <a:avLst/>
          </a:prstGeom>
        </p:spPr>
      </p:pic>
    </p:spTree>
    <p:extLst>
      <p:ext uri="{BB962C8B-B14F-4D97-AF65-F5344CB8AC3E}">
        <p14:creationId xmlns:p14="http://schemas.microsoft.com/office/powerpoint/2010/main" val="2779135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BD6C5B-56D9-A902-C36D-909E22E9E26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062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8A9A6641-8A98-FE3E-A07B-88D630BB07A4}"/>
              </a:ext>
            </a:extLst>
          </p:cNvPr>
          <p:cNvSpPr>
            <a:spLocks noGrp="1"/>
          </p:cNvSpPr>
          <p:nvPr>
            <p:ph sz="half" idx="1"/>
          </p:nvPr>
        </p:nvSpPr>
        <p:spPr>
          <a:xfrm>
            <a:off x="491393" y="509565"/>
            <a:ext cx="6216654" cy="4269263"/>
          </a:xfrm>
        </p:spPr>
        <p:txBody>
          <a:bodyPr vert="horz" lIns="91440" tIns="45720" rIns="91440" bIns="45720" numCol="1" spcCol="457200" rtlCol="0">
            <a:noAutofit/>
          </a:bodyPr>
          <a:lstStyle/>
          <a:p>
            <a:pPr marL="114300" indent="0" defTabSz="914400">
              <a:spcBef>
                <a:spcPts val="0"/>
              </a:spcBef>
              <a:buNone/>
            </a:pPr>
            <a:endParaRPr lang="en-US" sz="1400" b="1">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AI-Driven Tools Implementation</a:t>
            </a:r>
          </a:p>
          <a:p>
            <a:pPr lvl="2" indent="-228600" defTabSz="914400">
              <a:spcBef>
                <a:spcPts val="0"/>
              </a:spcBef>
            </a:pPr>
            <a:r>
              <a:rPr lang="en-US" sz="1400">
                <a:latin typeface="Poppins" panose="00000500000000000000" pitchFamily="2" charset="0"/>
                <a:cs typeface="Poppins" panose="00000500000000000000" pitchFamily="2" charset="0"/>
              </a:rPr>
              <a:t># of AI tools introduced</a:t>
            </a:r>
          </a:p>
          <a:p>
            <a:pPr marL="685800" lvl="2" indent="-228600" defTabSz="914400">
              <a:spcBef>
                <a:spcPts val="0"/>
              </a:spcBef>
            </a:pPr>
            <a:endParaRPr lang="en-US" sz="1400">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Foundational Training Modules </a:t>
            </a:r>
            <a:r>
              <a:rPr lang="en-US" sz="1400">
                <a:latin typeface="Poppins" panose="00000500000000000000" pitchFamily="2" charset="0"/>
                <a:cs typeface="Poppins" panose="00000500000000000000" pitchFamily="2" charset="0"/>
              </a:rPr>
              <a:t>(Onsite/Hybrid) </a:t>
            </a:r>
          </a:p>
          <a:p>
            <a:pPr lvl="2" indent="-228600" defTabSz="914400">
              <a:spcBef>
                <a:spcPts val="0"/>
              </a:spcBef>
            </a:pPr>
            <a:r>
              <a:rPr lang="en-US" sz="1400">
                <a:latin typeface="Poppins" panose="00000500000000000000" pitchFamily="2" charset="0"/>
                <a:cs typeface="Poppins" panose="00000500000000000000" pitchFamily="2" charset="0"/>
              </a:rPr>
              <a:t># of participants enrolled and</a:t>
            </a:r>
          </a:p>
          <a:p>
            <a:pPr lvl="2" indent="-228600" defTabSz="914400">
              <a:spcBef>
                <a:spcPts val="0"/>
              </a:spcBef>
            </a:pPr>
            <a:r>
              <a:rPr lang="en-US" sz="1400">
                <a:latin typeface="Poppins" panose="00000500000000000000" pitchFamily="2" charset="0"/>
                <a:cs typeface="Poppins" panose="00000500000000000000" pitchFamily="2" charset="0"/>
              </a:rPr>
              <a:t># completed training</a:t>
            </a:r>
          </a:p>
          <a:p>
            <a:pPr marL="685800" lvl="2" indent="-228600" defTabSz="914400">
              <a:spcBef>
                <a:spcPts val="0"/>
              </a:spcBef>
            </a:pPr>
            <a:endParaRPr lang="en-US" sz="1400">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Hands-On Workshops </a:t>
            </a:r>
          </a:p>
          <a:p>
            <a:pPr lvl="2" indent="-228600" defTabSz="914400">
              <a:spcBef>
                <a:spcPts val="0"/>
              </a:spcBef>
            </a:pPr>
            <a:r>
              <a:rPr lang="en-US" sz="1400">
                <a:latin typeface="Poppins" panose="00000500000000000000" pitchFamily="2" charset="0"/>
                <a:cs typeface="Poppins" panose="00000500000000000000" pitchFamily="2" charset="0"/>
              </a:rPr>
              <a:t># of workshops held and </a:t>
            </a:r>
          </a:p>
          <a:p>
            <a:pPr lvl="2" indent="-228600" defTabSz="914400">
              <a:spcBef>
                <a:spcPts val="0"/>
              </a:spcBef>
            </a:pPr>
            <a:r>
              <a:rPr lang="en-US" sz="1400">
                <a:latin typeface="Poppins" panose="00000500000000000000" pitchFamily="2" charset="0"/>
                <a:cs typeface="Poppins" panose="00000500000000000000" pitchFamily="2" charset="0"/>
              </a:rPr>
              <a:t># attendees per session</a:t>
            </a:r>
          </a:p>
          <a:p>
            <a:pPr marL="685800" lvl="2" indent="-228600" defTabSz="914400">
              <a:spcBef>
                <a:spcPts val="0"/>
              </a:spcBef>
            </a:pPr>
            <a:endParaRPr lang="en-US" sz="1400">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Consultant Hours </a:t>
            </a:r>
            <a:r>
              <a:rPr lang="en-US" sz="1400">
                <a:latin typeface="Poppins" panose="00000500000000000000" pitchFamily="2" charset="0"/>
                <a:cs typeface="Poppins" panose="00000500000000000000" pitchFamily="2" charset="0"/>
              </a:rPr>
              <a:t>(100 hours for business consultation) </a:t>
            </a:r>
          </a:p>
          <a:p>
            <a:pPr lvl="2" indent="-228600" defTabSz="914400">
              <a:spcBef>
                <a:spcPts val="0"/>
              </a:spcBef>
            </a:pPr>
            <a:r>
              <a:rPr lang="en-US" sz="1400">
                <a:latin typeface="Poppins" panose="00000500000000000000" pitchFamily="2" charset="0"/>
                <a:cs typeface="Poppins" panose="00000500000000000000" pitchFamily="2" charset="0"/>
              </a:rPr>
              <a:t># of businesses engaged and </a:t>
            </a:r>
          </a:p>
          <a:p>
            <a:pPr lvl="2" indent="-228600" defTabSz="914400">
              <a:spcBef>
                <a:spcPts val="0"/>
              </a:spcBef>
            </a:pPr>
            <a:r>
              <a:rPr lang="en-US" sz="1400">
                <a:latin typeface="Poppins" panose="00000500000000000000" pitchFamily="2" charset="0"/>
                <a:cs typeface="Poppins" panose="00000500000000000000" pitchFamily="2" charset="0"/>
              </a:rPr>
              <a:t># of consulting hours utilized</a:t>
            </a:r>
          </a:p>
          <a:p>
            <a:pPr marL="685800" lvl="2" indent="-228600" defTabSz="914400">
              <a:spcBef>
                <a:spcPts val="0"/>
              </a:spcBef>
            </a:pPr>
            <a:endParaRPr lang="en-US" sz="1400">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Industry-Relevant Case Studies </a:t>
            </a:r>
          </a:p>
          <a:p>
            <a:pPr lvl="2" indent="-228600" defTabSz="914400">
              <a:spcBef>
                <a:spcPts val="0"/>
              </a:spcBef>
            </a:pPr>
            <a:r>
              <a:rPr lang="en-US" sz="1400">
                <a:latin typeface="Poppins" panose="00000500000000000000" pitchFamily="2" charset="0"/>
                <a:cs typeface="Poppins" panose="00000500000000000000" pitchFamily="2" charset="0"/>
              </a:rPr>
              <a:t> of case studies developed and distributed</a:t>
            </a:r>
          </a:p>
          <a:p>
            <a:pPr marL="685800" lvl="2" indent="-228600" defTabSz="914400">
              <a:spcBef>
                <a:spcPts val="0"/>
              </a:spcBef>
            </a:pPr>
            <a:endParaRPr lang="en-US" sz="1400">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AI Career Pathway Development</a:t>
            </a:r>
          </a:p>
          <a:p>
            <a:pPr lvl="2" indent="-228600" defTabSz="914400">
              <a:spcBef>
                <a:spcPts val="0"/>
              </a:spcBef>
            </a:pPr>
            <a:r>
              <a:rPr lang="en-US" sz="1400">
                <a:latin typeface="Poppins" panose="00000500000000000000" pitchFamily="2" charset="0"/>
                <a:cs typeface="Poppins" panose="00000500000000000000" pitchFamily="2" charset="0"/>
              </a:rPr>
              <a:t># Career maps or pathways created/illustrated</a:t>
            </a:r>
          </a:p>
          <a:p>
            <a:pPr marL="685800" lvl="2" indent="-228600" defTabSz="914400">
              <a:spcBef>
                <a:spcPts val="0"/>
              </a:spcBef>
            </a:pPr>
            <a:endParaRPr lang="en-US" sz="1400">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Micro-Credentialing</a:t>
            </a:r>
            <a:r>
              <a:rPr lang="en-US" sz="1400">
                <a:latin typeface="Poppins" panose="00000500000000000000" pitchFamily="2" charset="0"/>
                <a:cs typeface="Poppins" panose="00000500000000000000" pitchFamily="2" charset="0"/>
              </a:rPr>
              <a:t> </a:t>
            </a:r>
          </a:p>
          <a:p>
            <a:pPr lvl="2" indent="-228600" defTabSz="914400">
              <a:spcBef>
                <a:spcPts val="0"/>
              </a:spcBef>
            </a:pPr>
            <a:r>
              <a:rPr lang="en-US" sz="1400">
                <a:latin typeface="Poppins" panose="00000500000000000000" pitchFamily="2" charset="0"/>
                <a:cs typeface="Poppins" panose="00000500000000000000" pitchFamily="2" charset="0"/>
              </a:rPr>
              <a:t># of credentials issued </a:t>
            </a:r>
          </a:p>
          <a:p>
            <a:pPr lvl="2" indent="-228600" defTabSz="914400">
              <a:spcBef>
                <a:spcPts val="0"/>
              </a:spcBef>
            </a:pPr>
            <a:r>
              <a:rPr lang="en-US" sz="1400">
                <a:latin typeface="Poppins" panose="00000500000000000000" pitchFamily="2" charset="0"/>
                <a:cs typeface="Poppins" panose="00000500000000000000" pitchFamily="2" charset="0"/>
              </a:rPr>
              <a:t>% credential completion </a:t>
            </a:r>
          </a:p>
          <a:p>
            <a:pPr marL="685800" lvl="2" indent="-228600" defTabSz="914400">
              <a:spcBef>
                <a:spcPts val="0"/>
              </a:spcBef>
            </a:pPr>
            <a:endParaRPr lang="en-US" sz="1400">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Train-the-Trainer model </a:t>
            </a:r>
            <a:r>
              <a:rPr lang="en-US" sz="1400">
                <a:latin typeface="Poppins" panose="00000500000000000000" pitchFamily="2" charset="0"/>
                <a:cs typeface="Poppins" panose="00000500000000000000" pitchFamily="2" charset="0"/>
              </a:rPr>
              <a:t>(Sustainability Plan)</a:t>
            </a:r>
          </a:p>
          <a:p>
            <a:pPr lvl="2" indent="-228600" defTabSz="914400">
              <a:spcBef>
                <a:spcPts val="0"/>
              </a:spcBef>
            </a:pPr>
            <a:r>
              <a:rPr lang="en-US" sz="1400">
                <a:latin typeface="Poppins" panose="00000500000000000000" pitchFamily="2" charset="0"/>
                <a:cs typeface="Poppins" panose="00000500000000000000" pitchFamily="2" charset="0"/>
              </a:rPr>
              <a:t># of staff trained as trainers</a:t>
            </a:r>
          </a:p>
          <a:p>
            <a:pPr marL="685800" lvl="2" indent="-228600" defTabSz="914400">
              <a:spcBef>
                <a:spcPts val="0"/>
              </a:spcBef>
            </a:pPr>
            <a:endParaRPr lang="en-US" sz="1400">
              <a:latin typeface="Poppins" panose="00000500000000000000" pitchFamily="2" charset="0"/>
              <a:cs typeface="Poppins" panose="00000500000000000000" pitchFamily="2" charset="0"/>
            </a:endParaRPr>
          </a:p>
          <a:p>
            <a:pPr marL="342900" indent="-228600" defTabSz="914400">
              <a:spcBef>
                <a:spcPts val="0"/>
              </a:spcBef>
            </a:pPr>
            <a:r>
              <a:rPr lang="en-US" sz="1400" b="1">
                <a:latin typeface="Poppins" panose="00000500000000000000" pitchFamily="2" charset="0"/>
                <a:cs typeface="Poppins" panose="00000500000000000000" pitchFamily="2" charset="0"/>
              </a:rPr>
              <a:t>Recorded Instructional Content </a:t>
            </a:r>
            <a:r>
              <a:rPr lang="en-US" sz="1400">
                <a:latin typeface="Poppins" panose="00000500000000000000" pitchFamily="2" charset="0"/>
                <a:cs typeface="Poppins" panose="00000500000000000000" pitchFamily="2" charset="0"/>
              </a:rPr>
              <a:t>(Sustainability Plan) </a:t>
            </a:r>
          </a:p>
          <a:p>
            <a:pPr lvl="2" indent="-228600" defTabSz="914400">
              <a:spcBef>
                <a:spcPts val="0"/>
              </a:spcBef>
            </a:pPr>
            <a:r>
              <a:rPr lang="en-US" sz="1400">
                <a:latin typeface="Poppins" panose="00000500000000000000" pitchFamily="2" charset="0"/>
                <a:cs typeface="Poppins" panose="00000500000000000000" pitchFamily="2" charset="0"/>
              </a:rPr>
              <a:t># of recorded sessions produced </a:t>
            </a:r>
          </a:p>
          <a:p>
            <a:pPr lvl="2" indent="-228600" defTabSz="914400">
              <a:spcBef>
                <a:spcPts val="0"/>
              </a:spcBef>
            </a:pPr>
            <a:r>
              <a:rPr lang="en-US" sz="1400">
                <a:latin typeface="Poppins" panose="00000500000000000000" pitchFamily="2" charset="0"/>
                <a:cs typeface="Poppins" panose="00000500000000000000" pitchFamily="2" charset="0"/>
              </a:rPr>
              <a:t># of views/access points</a:t>
            </a:r>
          </a:p>
          <a:p>
            <a:pPr marL="0" indent="-228600" defTabSz="914400">
              <a:spcBef>
                <a:spcPts val="600"/>
              </a:spcBef>
              <a:spcAft>
                <a:spcPts val="600"/>
              </a:spcAft>
            </a:pPr>
            <a:endParaRPr lang="en-US" sz="1400">
              <a:latin typeface="Poppins" panose="00000500000000000000" pitchFamily="2" charset="0"/>
              <a:cs typeface="Poppins" panose="00000500000000000000" pitchFamily="2" charset="0"/>
            </a:endParaRPr>
          </a:p>
        </p:txBody>
      </p:sp>
      <p:pic>
        <p:nvPicPr>
          <p:cNvPr id="6" name="Picture 5">
            <a:extLst>
              <a:ext uri="{FF2B5EF4-FFF2-40B4-BE49-F238E27FC236}">
                <a16:creationId xmlns:a16="http://schemas.microsoft.com/office/drawing/2014/main" id="{09FD1572-00EE-20DD-8CBA-5849DD6EA1B1}"/>
              </a:ext>
              <a:ext uri="{C183D7F6-B498-43B3-948B-1728B52AA6E4}">
                <adec:decorative xmlns:adec="http://schemas.microsoft.com/office/drawing/2017/decorative" val="1"/>
              </a:ext>
            </a:extLst>
          </p:cNvPr>
          <p:cNvPicPr>
            <a:picLocks noChangeAspect="1"/>
          </p:cNvPicPr>
          <p:nvPr/>
        </p:nvPicPr>
        <p:blipFill>
          <a:blip r:embed="rId3"/>
          <a:srcRect l="22244" r="30983" b="1"/>
          <a:stretch>
            <a:fillRect/>
          </a:stretch>
        </p:blipFill>
        <p:spPr>
          <a:xfrm>
            <a:off x="7199440" y="420623"/>
            <a:ext cx="4992560" cy="6858000"/>
          </a:xfrm>
          <a:prstGeom prst="rect">
            <a:avLst/>
          </a:prstGeom>
          <a:effectLst/>
        </p:spPr>
      </p:pic>
      <p:pic>
        <p:nvPicPr>
          <p:cNvPr id="3" name="Picture 2">
            <a:extLst>
              <a:ext uri="{FF2B5EF4-FFF2-40B4-BE49-F238E27FC236}">
                <a16:creationId xmlns:a16="http://schemas.microsoft.com/office/drawing/2014/main" id="{4A2EB1DE-2122-EFF1-50CF-54E9B09487FA}"/>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
            <a:ext cx="12184879" cy="513202"/>
          </a:xfrm>
          <a:prstGeom prst="rect">
            <a:avLst/>
          </a:prstGeom>
        </p:spPr>
      </p:pic>
      <p:pic>
        <p:nvPicPr>
          <p:cNvPr id="7" name="Picture 6">
            <a:extLst>
              <a:ext uri="{FF2B5EF4-FFF2-40B4-BE49-F238E27FC236}">
                <a16:creationId xmlns:a16="http://schemas.microsoft.com/office/drawing/2014/main" id="{1C5E1C4F-3AA5-D60A-F243-CF113414CAE5}"/>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50" y="7134510"/>
            <a:ext cx="12190476" cy="274320"/>
          </a:xfrm>
          <a:prstGeom prst="rect">
            <a:avLst/>
          </a:prstGeom>
        </p:spPr>
      </p:pic>
      <p:sp>
        <p:nvSpPr>
          <p:cNvPr id="8" name="Title 2">
            <a:extLst>
              <a:ext uri="{FF2B5EF4-FFF2-40B4-BE49-F238E27FC236}">
                <a16:creationId xmlns:a16="http://schemas.microsoft.com/office/drawing/2014/main" id="{33807866-DD51-3BFA-3A60-2C8F4ED680D9}"/>
              </a:ext>
            </a:extLst>
          </p:cNvPr>
          <p:cNvSpPr txBox="1">
            <a:spLocks noGrp="1"/>
          </p:cNvSpPr>
          <p:nvPr>
            <p:ph type="title" idx="4294967295"/>
          </p:nvPr>
        </p:nvSpPr>
        <p:spPr>
          <a:xfrm>
            <a:off x="4651961" y="-275168"/>
            <a:ext cx="2871000" cy="105641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solidFill>
                  <a:schemeClr val="bg1"/>
                </a:solidFill>
                <a:effectLst/>
                <a:uLnTx/>
                <a:uFillTx/>
                <a:latin typeface="Poppins"/>
                <a:ea typeface="+mj-ea"/>
                <a:cs typeface="Poppins"/>
              </a:rPr>
              <a:t>Key Metrics</a:t>
            </a:r>
            <a:endParaRPr kumimoji="0" lang="en-US" sz="3300" b="0" i="0" u="none" strike="noStrike" kern="1200" cap="none" spc="0" normalizeH="0" baseline="0" noProof="0">
              <a:ln>
                <a:noFill/>
              </a:ln>
              <a:solidFill>
                <a:schemeClr val="bg1"/>
              </a:solidFill>
              <a:effectLst/>
              <a:uLnTx/>
              <a:uFillTx/>
              <a:latin typeface="Poppins"/>
              <a:ea typeface="Calibri Light" panose="020F0302020204030204"/>
              <a:cs typeface="Poppins"/>
            </a:endParaRPr>
          </a:p>
        </p:txBody>
      </p:sp>
    </p:spTree>
    <p:extLst>
      <p:ext uri="{BB962C8B-B14F-4D97-AF65-F5344CB8AC3E}">
        <p14:creationId xmlns:p14="http://schemas.microsoft.com/office/powerpoint/2010/main" val="4020590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D8DCC-DABC-F507-3618-A53C788D6C9E}"/>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2932C2CE-B132-C919-F13E-E164914ED301}"/>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7" name="Title 6">
            <a:extLst>
              <a:ext uri="{FF2B5EF4-FFF2-40B4-BE49-F238E27FC236}">
                <a16:creationId xmlns:a16="http://schemas.microsoft.com/office/drawing/2014/main" id="{BDB04682-0BC9-D704-669E-CAE516DD6AF7}"/>
              </a:ext>
            </a:extLst>
          </p:cNvPr>
          <p:cNvSpPr txBox="1">
            <a:spLocks noGrp="1"/>
          </p:cNvSpPr>
          <p:nvPr>
            <p:ph type="title" idx="4294967295"/>
          </p:nvPr>
        </p:nvSpPr>
        <p:spPr>
          <a:xfrm>
            <a:off x="654014" y="1905141"/>
            <a:ext cx="10883972" cy="17543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5400" b="1" dirty="0">
                <a:solidFill>
                  <a:srgbClr val="044692"/>
                </a:solidFill>
                <a:latin typeface="Poppins"/>
                <a:ea typeface="+mn-ea"/>
                <a:cs typeface="Poppins"/>
              </a:rPr>
              <a:t>Local AI Research &amp; </a:t>
            </a:r>
            <a:br>
              <a:rPr lang="en-US" sz="5400" b="1" dirty="0">
                <a:solidFill>
                  <a:srgbClr val="044692"/>
                </a:solidFill>
                <a:latin typeface="Poppins"/>
                <a:ea typeface="+mn-ea"/>
                <a:cs typeface="Poppins"/>
              </a:rPr>
            </a:br>
            <a:r>
              <a:rPr lang="en-US" sz="5400" b="1" dirty="0">
                <a:solidFill>
                  <a:srgbClr val="044692"/>
                </a:solidFill>
                <a:latin typeface="Poppins"/>
                <a:ea typeface="+mn-ea"/>
                <a:cs typeface="Poppins"/>
              </a:rPr>
              <a:t>Impact Report</a:t>
            </a:r>
            <a:endParaRPr kumimoji="0" lang="en-US" sz="5400" b="0" i="0" u="none" strike="noStrike" kern="1200" cap="none" spc="0" normalizeH="0" baseline="0" noProof="0" dirty="0">
              <a:ln>
                <a:noFill/>
              </a:ln>
              <a:solidFill>
                <a:schemeClr val="tx1"/>
              </a:solidFill>
              <a:effectLst/>
              <a:uLnTx/>
              <a:uFillTx/>
              <a:latin typeface="+mn-lt"/>
              <a:ea typeface="+mn-ea"/>
              <a:cs typeface="+mn-cs"/>
            </a:endParaRPr>
          </a:p>
        </p:txBody>
      </p:sp>
      <p:pic>
        <p:nvPicPr>
          <p:cNvPr id="18" name="Picture 17">
            <a:extLst>
              <a:ext uri="{FF2B5EF4-FFF2-40B4-BE49-F238E27FC236}">
                <a16:creationId xmlns:a16="http://schemas.microsoft.com/office/drawing/2014/main" id="{CCF00A61-B3A5-34DE-B39B-3DF6E96A7886}"/>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a:ln>
            <a:solidFill>
              <a:srgbClr val="4472C4"/>
            </a:solidFill>
          </a:ln>
        </p:spPr>
      </p:pic>
    </p:spTree>
    <p:extLst>
      <p:ext uri="{BB962C8B-B14F-4D97-AF65-F5344CB8AC3E}">
        <p14:creationId xmlns:p14="http://schemas.microsoft.com/office/powerpoint/2010/main" val="3786097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9818C216-5534-CC49-F096-828D9BE83B01}"/>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 y="0"/>
            <a:ext cx="12191999" cy="274320"/>
          </a:xfrm>
          <a:prstGeom prst="rect">
            <a:avLst/>
          </a:prstGeom>
        </p:spPr>
      </p:pic>
      <p:sp>
        <p:nvSpPr>
          <p:cNvPr id="4" name="Text 2"/>
          <p:cNvSpPr>
            <a:spLocks noGrp="1"/>
          </p:cNvSpPr>
          <p:nvPr>
            <p:ph type="title" idx="4294967295"/>
          </p:nvPr>
        </p:nvSpPr>
        <p:spPr>
          <a:xfrm>
            <a:off x="323829" y="503279"/>
            <a:ext cx="9753600" cy="60960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44692"/>
                </a:solidFill>
                <a:effectLst/>
                <a:uLnTx/>
                <a:uFillTx/>
                <a:latin typeface="Open Sans" panose="020B0606030504020204" pitchFamily="34" charset="0"/>
                <a:ea typeface="Open Sans" panose="020B0606030504020204" pitchFamily="34" charset="0"/>
                <a:cs typeface="Open Sans" panose="020B0606030504020204" pitchFamily="34" charset="0"/>
              </a:rPr>
              <a:t>AI Trends</a:t>
            </a:r>
            <a:endParaRPr kumimoji="0" lang="en-US" sz="32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323830" y="1150387"/>
            <a:ext cx="11633332" cy="487680"/>
          </a:xfrm>
          <a:prstGeom prst="rect">
            <a:avLst/>
          </a:prstGeom>
          <a:noFill/>
          <a:ln/>
        </p:spPr>
        <p:txBody>
          <a:bodyPr wrap="square" lIns="0" tIns="0" rIns="0" bIns="0" rtlCol="0" anchor="ctr"/>
          <a:lstStyle/>
          <a:p>
            <a:r>
              <a:rPr lang="en-US" sz="1867">
                <a:latin typeface="Open Sans" panose="020B0606030504020204" pitchFamily="34" charset="0"/>
                <a:ea typeface="Open Sans" panose="020B0606030504020204" pitchFamily="34" charset="0"/>
                <a:cs typeface="Open Sans" panose="020B0606030504020204" pitchFamily="34" charset="0"/>
              </a:rPr>
              <a:t>Nationally, AI adoption is wide but shallow. Lake County can build AI skills ahead of employer demand while the window is still open.</a:t>
            </a:r>
          </a:p>
        </p:txBody>
      </p:sp>
      <p:sp>
        <p:nvSpPr>
          <p:cNvPr id="28" name="Speech Bubble: Rectangle with Corners Rounded 27" descr="88% of organizations report using AI in at least one business function, but only about one-third have scaled AI programs beyond piloting&#10;">
            <a:extLst>
              <a:ext uri="{FF2B5EF4-FFF2-40B4-BE49-F238E27FC236}">
                <a16:creationId xmlns:a16="http://schemas.microsoft.com/office/drawing/2014/main" id="{6724067E-A0BF-2FF3-8F3E-E4A8B3303224}"/>
              </a:ext>
            </a:extLst>
          </p:cNvPr>
          <p:cNvSpPr/>
          <p:nvPr/>
        </p:nvSpPr>
        <p:spPr>
          <a:xfrm>
            <a:off x="323829" y="1924834"/>
            <a:ext cx="3595720" cy="2985508"/>
          </a:xfrm>
          <a:prstGeom prst="wedgeRoundRectCallout">
            <a:avLst/>
          </a:prstGeom>
          <a:solidFill>
            <a:srgbClr val="2DBFBE">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TextBox 24">
            <a:extLst>
              <a:ext uri="{FF2B5EF4-FFF2-40B4-BE49-F238E27FC236}">
                <a16:creationId xmlns:a16="http://schemas.microsoft.com/office/drawing/2014/main" id="{F0D43A04-882D-D853-2265-A2B58D4A0E0C}"/>
              </a:ext>
            </a:extLst>
          </p:cNvPr>
          <p:cNvSpPr txBox="1"/>
          <p:nvPr/>
        </p:nvSpPr>
        <p:spPr>
          <a:xfrm>
            <a:off x="1060106" y="2176815"/>
            <a:ext cx="2123169" cy="995209"/>
          </a:xfrm>
          <a:prstGeom prst="rect">
            <a:avLst/>
          </a:prstGeom>
          <a:noFill/>
        </p:spPr>
        <p:txBody>
          <a:bodyPr wrap="square">
            <a:spAutoFit/>
          </a:bodyPr>
          <a:lstStyle/>
          <a:p>
            <a:pPr algn="ctr"/>
            <a:r>
              <a:rPr lang="en-US" sz="5867" b="1">
                <a:latin typeface="Open Sans Extrabold" panose="020B0906030804020204" pitchFamily="34" charset="0"/>
                <a:ea typeface="Open Sans Extrabold" panose="020B0906030804020204" pitchFamily="34" charset="0"/>
                <a:cs typeface="Open Sans Extrabold" panose="020B0906030804020204" pitchFamily="34" charset="0"/>
              </a:rPr>
              <a:t>88% </a:t>
            </a:r>
            <a:endParaRPr lang="en-US" sz="5867"/>
          </a:p>
        </p:txBody>
      </p:sp>
      <p:sp>
        <p:nvSpPr>
          <p:cNvPr id="21" name="TextBox 20">
            <a:extLst>
              <a:ext uri="{FF2B5EF4-FFF2-40B4-BE49-F238E27FC236}">
                <a16:creationId xmlns:a16="http://schemas.microsoft.com/office/drawing/2014/main" id="{F9854600-BD84-9784-401D-A3969C24CEBB}"/>
              </a:ext>
            </a:extLst>
          </p:cNvPr>
          <p:cNvSpPr txBox="1"/>
          <p:nvPr/>
        </p:nvSpPr>
        <p:spPr>
          <a:xfrm>
            <a:off x="351581" y="3081682"/>
            <a:ext cx="3540216" cy="1528945"/>
          </a:xfrm>
          <a:prstGeom prst="rect">
            <a:avLst/>
          </a:prstGeom>
          <a:noFill/>
        </p:spPr>
        <p:txBody>
          <a:bodyPr wrap="square">
            <a:spAutoFit/>
          </a:bodyPr>
          <a:lstStyle/>
          <a:p>
            <a:pPr algn="ctr"/>
            <a:r>
              <a:rPr lang="en-US" sz="1867">
                <a:latin typeface="Open Sans" panose="020B0606030504020204" pitchFamily="34" charset="0"/>
                <a:ea typeface="Open Sans" panose="020B0606030504020204" pitchFamily="34" charset="0"/>
                <a:cs typeface="Open Sans" panose="020B0606030504020204" pitchFamily="34" charset="0"/>
              </a:rPr>
              <a:t>of organizations report using AI in at least one business function, but only about one-third have scaled AI programs beyond piloting</a:t>
            </a:r>
            <a:endParaRPr lang="en-US" sz="1867"/>
          </a:p>
        </p:txBody>
      </p:sp>
      <p:sp>
        <p:nvSpPr>
          <p:cNvPr id="46" name="Speech Bubble: Rectangle with Corners Rounded 45" descr="Frame with information that states DOL releases AI Literacy Framework explicitly encouraging investment in AI skill building&#10;this is recent as of February 2026">
            <a:extLst>
              <a:ext uri="{FF2B5EF4-FFF2-40B4-BE49-F238E27FC236}">
                <a16:creationId xmlns:a16="http://schemas.microsoft.com/office/drawing/2014/main" id="{EE57AA7E-1D05-05D7-8944-F11E7A981273}"/>
              </a:ext>
            </a:extLst>
          </p:cNvPr>
          <p:cNvSpPr/>
          <p:nvPr/>
        </p:nvSpPr>
        <p:spPr>
          <a:xfrm>
            <a:off x="4177563" y="2226045"/>
            <a:ext cx="4094891" cy="2319673"/>
          </a:xfrm>
          <a:prstGeom prst="wedgeRoundRectCallout">
            <a:avLst>
              <a:gd name="adj1" fmla="val 14868"/>
              <a:gd name="adj2" fmla="val 70287"/>
              <a:gd name="adj3" fmla="val 16667"/>
            </a:avLst>
          </a:prstGeom>
          <a:solidFill>
            <a:srgbClr val="82C7EE">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 name="Graphic 1">
            <a:extLst>
              <a:ext uri="{FF2B5EF4-FFF2-40B4-BE49-F238E27FC236}">
                <a16:creationId xmlns:a16="http://schemas.microsoft.com/office/drawing/2014/main" id="{7F32EA2D-BC84-9705-3404-E17BA4C29C0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l="37747" b="22035"/>
          <a:stretch/>
        </p:blipFill>
        <p:spPr>
          <a:xfrm>
            <a:off x="-17039" y="4047392"/>
            <a:ext cx="2457811" cy="2858747"/>
          </a:xfrm>
          <a:prstGeom prst="rect">
            <a:avLst/>
          </a:prstGeom>
        </p:spPr>
      </p:pic>
      <p:sp>
        <p:nvSpPr>
          <p:cNvPr id="47" name="TextBox 46">
            <a:extLst>
              <a:ext uri="{FF2B5EF4-FFF2-40B4-BE49-F238E27FC236}">
                <a16:creationId xmlns:a16="http://schemas.microsoft.com/office/drawing/2014/main" id="{5452B70B-B0B9-F779-D36E-FC4C7CB0D4CF}"/>
              </a:ext>
            </a:extLst>
          </p:cNvPr>
          <p:cNvSpPr txBox="1"/>
          <p:nvPr/>
        </p:nvSpPr>
        <p:spPr>
          <a:xfrm>
            <a:off x="4365478" y="2577641"/>
            <a:ext cx="3719060" cy="666786"/>
          </a:xfrm>
          <a:prstGeom prst="rect">
            <a:avLst/>
          </a:prstGeom>
          <a:noFill/>
        </p:spPr>
        <p:txBody>
          <a:bodyPr wrap="square">
            <a:spAutoFit/>
          </a:bodyPr>
          <a:lstStyle/>
          <a:p>
            <a:pPr algn="ctr"/>
            <a:r>
              <a:rPr lang="en-US" sz="3733" b="1">
                <a:latin typeface="Open Sans Extrabold" panose="020B0906030804020204" pitchFamily="34" charset="0"/>
                <a:ea typeface="Open Sans Extrabold" panose="020B0906030804020204" pitchFamily="34" charset="0"/>
                <a:cs typeface="Open Sans Extrabold" panose="020B0906030804020204" pitchFamily="34" charset="0"/>
              </a:rPr>
              <a:t>February 2026 </a:t>
            </a:r>
            <a:endParaRPr lang="en-US" sz="3733"/>
          </a:p>
        </p:txBody>
      </p:sp>
      <p:sp>
        <p:nvSpPr>
          <p:cNvPr id="48" name="TextBox 47">
            <a:extLst>
              <a:ext uri="{FF2B5EF4-FFF2-40B4-BE49-F238E27FC236}">
                <a16:creationId xmlns:a16="http://schemas.microsoft.com/office/drawing/2014/main" id="{BB066EF0-FA60-2B60-E1F7-5857A1325BF1}"/>
              </a:ext>
            </a:extLst>
          </p:cNvPr>
          <p:cNvSpPr txBox="1"/>
          <p:nvPr/>
        </p:nvSpPr>
        <p:spPr>
          <a:xfrm>
            <a:off x="4233066" y="3226531"/>
            <a:ext cx="4039388" cy="954300"/>
          </a:xfrm>
          <a:prstGeom prst="rect">
            <a:avLst/>
          </a:prstGeom>
          <a:noFill/>
        </p:spPr>
        <p:txBody>
          <a:bodyPr wrap="square">
            <a:spAutoFit/>
          </a:bodyPr>
          <a:lstStyle/>
          <a:p>
            <a:pPr algn="ctr"/>
            <a:r>
              <a:rPr lang="en-US" sz="1867">
                <a:latin typeface="Open Sans" panose="020B0606030504020204" pitchFamily="34" charset="0"/>
                <a:ea typeface="Open Sans" panose="020B0606030504020204" pitchFamily="34" charset="0"/>
                <a:cs typeface="Open Sans" panose="020B0606030504020204" pitchFamily="34" charset="0"/>
              </a:rPr>
              <a:t>DOL releases AI Literacy Framework explicitly encouraging investment in AI skill building</a:t>
            </a:r>
            <a:endParaRPr lang="en-US" sz="1867"/>
          </a:p>
        </p:txBody>
      </p:sp>
      <p:sp>
        <p:nvSpPr>
          <p:cNvPr id="51" name="TextBox 50">
            <a:extLst>
              <a:ext uri="{FF2B5EF4-FFF2-40B4-BE49-F238E27FC236}">
                <a16:creationId xmlns:a16="http://schemas.microsoft.com/office/drawing/2014/main" id="{20A09E98-5DBD-EBB9-CD2F-5EDA084D6A2D}"/>
              </a:ext>
            </a:extLst>
          </p:cNvPr>
          <p:cNvSpPr txBox="1">
            <a:spLocks/>
          </p:cNvSpPr>
          <p:nvPr/>
        </p:nvSpPr>
        <p:spPr>
          <a:xfrm>
            <a:off x="8656326" y="2390907"/>
            <a:ext cx="3339292" cy="37965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rPr>
              <a:t>Workers with AI skills earn </a:t>
            </a:r>
            <a:endParaRPr kumimoji="0" lang="en-US" sz="1867" b="0" i="0" u="none" strike="noStrike" kern="1200" cap="none" spc="0" normalizeH="0" baseline="0" noProof="0">
              <a:ln>
                <a:noFill/>
              </a:ln>
              <a:solidFill>
                <a:schemeClr val="tx1"/>
              </a:solidFill>
              <a:effectLst/>
              <a:uLnTx/>
              <a:uFillTx/>
              <a:latin typeface="+mn-lt"/>
              <a:ea typeface="+mn-ea"/>
              <a:cs typeface="+mn-cs"/>
            </a:endParaRPr>
          </a:p>
        </p:txBody>
      </p:sp>
      <p:sp>
        <p:nvSpPr>
          <p:cNvPr id="49" name="Speech Bubble: Rectangle with Corners Rounded 48" descr="Frame that states Workers with AI skills earn 56% more  than peers in the same role, an advantage expected to narrow as AI skills become standard &#10;">
            <a:extLst>
              <a:ext uri="{FF2B5EF4-FFF2-40B4-BE49-F238E27FC236}">
                <a16:creationId xmlns:a16="http://schemas.microsoft.com/office/drawing/2014/main" id="{C546AC69-5274-5A17-B3C9-1260C37A97F0}"/>
              </a:ext>
            </a:extLst>
          </p:cNvPr>
          <p:cNvSpPr/>
          <p:nvPr/>
        </p:nvSpPr>
        <p:spPr>
          <a:xfrm>
            <a:off x="8582403" y="2051655"/>
            <a:ext cx="3492479" cy="2949676"/>
          </a:xfrm>
          <a:prstGeom prst="wedgeRoundRectCallout">
            <a:avLst>
              <a:gd name="adj1" fmla="val 8743"/>
              <a:gd name="adj2" fmla="val 64725"/>
              <a:gd name="adj3" fmla="val 16667"/>
            </a:avLst>
          </a:prstGeom>
          <a:solidFill>
            <a:srgbClr val="00499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0" name="TextBox 49">
            <a:extLst>
              <a:ext uri="{FF2B5EF4-FFF2-40B4-BE49-F238E27FC236}">
                <a16:creationId xmlns:a16="http://schemas.microsoft.com/office/drawing/2014/main" id="{42EA95FD-4232-2D63-32B2-BCFBB1FC688B}"/>
              </a:ext>
            </a:extLst>
          </p:cNvPr>
          <p:cNvSpPr txBox="1"/>
          <p:nvPr/>
        </p:nvSpPr>
        <p:spPr>
          <a:xfrm>
            <a:off x="8694782" y="2732733"/>
            <a:ext cx="3262380" cy="748988"/>
          </a:xfrm>
          <a:prstGeom prst="rect">
            <a:avLst/>
          </a:prstGeom>
          <a:noFill/>
        </p:spPr>
        <p:txBody>
          <a:bodyPr wrap="square">
            <a:spAutoFit/>
          </a:bodyPr>
          <a:lstStyle/>
          <a:p>
            <a:pPr algn="ctr"/>
            <a:r>
              <a:rPr lang="en-US" sz="4267" b="1">
                <a:latin typeface="Open Sans Extrabold" panose="020B0906030804020204" pitchFamily="34" charset="0"/>
                <a:ea typeface="Open Sans Extrabold" panose="020B0906030804020204" pitchFamily="34" charset="0"/>
                <a:cs typeface="Open Sans Extrabold" panose="020B0906030804020204" pitchFamily="34" charset="0"/>
              </a:rPr>
              <a:t>56% more</a:t>
            </a:r>
            <a:endParaRPr lang="en-US" sz="4267"/>
          </a:p>
        </p:txBody>
      </p:sp>
      <p:sp>
        <p:nvSpPr>
          <p:cNvPr id="52" name="TextBox 51">
            <a:extLst>
              <a:ext uri="{FF2B5EF4-FFF2-40B4-BE49-F238E27FC236}">
                <a16:creationId xmlns:a16="http://schemas.microsoft.com/office/drawing/2014/main" id="{BD6B57BA-899B-E1CA-9FE2-33DF755C3CF8}"/>
              </a:ext>
            </a:extLst>
          </p:cNvPr>
          <p:cNvSpPr txBox="1"/>
          <p:nvPr/>
        </p:nvSpPr>
        <p:spPr>
          <a:xfrm>
            <a:off x="8628021" y="3411322"/>
            <a:ext cx="3409225" cy="1241622"/>
          </a:xfrm>
          <a:prstGeom prst="rect">
            <a:avLst/>
          </a:prstGeom>
          <a:noFill/>
        </p:spPr>
        <p:txBody>
          <a:bodyPr wrap="square">
            <a:spAutoFit/>
          </a:bodyPr>
          <a:lstStyle/>
          <a:p>
            <a:pPr algn="ctr"/>
            <a:r>
              <a:rPr lang="en-US" sz="1867">
                <a:latin typeface="Open Sans" panose="020B0606030504020204" pitchFamily="34" charset="0"/>
                <a:ea typeface="Open Sans" panose="020B0606030504020204" pitchFamily="34" charset="0"/>
                <a:cs typeface="Open Sans" panose="020B0606030504020204" pitchFamily="34" charset="0"/>
              </a:rPr>
              <a:t>than peers in the same role, an advantage expected to narrow as AI skills become standard </a:t>
            </a:r>
            <a:endParaRPr lang="en-US" sz="1867"/>
          </a:p>
        </p:txBody>
      </p:sp>
      <p:pic>
        <p:nvPicPr>
          <p:cNvPr id="3" name="Graphic 2">
            <a:extLst>
              <a:ext uri="{FF2B5EF4-FFF2-40B4-BE49-F238E27FC236}">
                <a16:creationId xmlns:a16="http://schemas.microsoft.com/office/drawing/2014/main" id="{554762F0-3802-BD70-E53E-413DD11F0C4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l="47951" t="4869" r="1" b="22035"/>
          <a:stretch/>
        </p:blipFill>
        <p:spPr>
          <a:xfrm flipH="1">
            <a:off x="10860112" y="883791"/>
            <a:ext cx="1331889" cy="1737180"/>
          </a:xfrm>
          <a:prstGeom prst="rect">
            <a:avLst/>
          </a:prstGeom>
        </p:spPr>
      </p:pic>
      <p:sp>
        <p:nvSpPr>
          <p:cNvPr id="29" name="Speech Bubble: Rectangle with Corners Rounded 28" descr="Information reported from Lightcast, Quarter 1 2026 as it pertains to Lake County's top job postings">
            <a:extLst>
              <a:ext uri="{FF2B5EF4-FFF2-40B4-BE49-F238E27FC236}">
                <a16:creationId xmlns:a16="http://schemas.microsoft.com/office/drawing/2014/main" id="{989ADB75-53E7-9056-9E80-F6F671DA0D6B}"/>
              </a:ext>
            </a:extLst>
          </p:cNvPr>
          <p:cNvSpPr/>
          <p:nvPr/>
        </p:nvSpPr>
        <p:spPr>
          <a:xfrm>
            <a:off x="1643792" y="5323929"/>
            <a:ext cx="8904416" cy="1011496"/>
          </a:xfrm>
          <a:prstGeom prst="wedgeRoundRectCallout">
            <a:avLst>
              <a:gd name="adj1" fmla="val -30204"/>
              <a:gd name="adj2" fmla="val -75609"/>
              <a:gd name="adj3" fmla="val 16667"/>
            </a:avLst>
          </a:prstGeom>
          <a:solidFill>
            <a:srgbClr val="A7B2D5">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TextBox 25">
            <a:extLst>
              <a:ext uri="{FF2B5EF4-FFF2-40B4-BE49-F238E27FC236}">
                <a16:creationId xmlns:a16="http://schemas.microsoft.com/office/drawing/2014/main" id="{962E8D82-ADB5-A0FA-EA4C-A7AE2F52D215}"/>
              </a:ext>
            </a:extLst>
          </p:cNvPr>
          <p:cNvSpPr txBox="1"/>
          <p:nvPr/>
        </p:nvSpPr>
        <p:spPr>
          <a:xfrm>
            <a:off x="3394251" y="5494555"/>
            <a:ext cx="5772272" cy="461665"/>
          </a:xfrm>
          <a:prstGeom prst="rect">
            <a:avLst/>
          </a:prstGeom>
          <a:noFill/>
        </p:spPr>
        <p:txBody>
          <a:bodyPr wrap="square">
            <a:spAutoFit/>
          </a:bodyPr>
          <a:lstStyle/>
          <a:p>
            <a:pPr algn="ctr"/>
            <a:r>
              <a:rPr lang="en-US" sz="2400" b="1">
                <a:latin typeface="Open Sans Extrabold" panose="020B0906030804020204" pitchFamily="34" charset="0"/>
                <a:ea typeface="Open Sans Extrabold" panose="020B0906030804020204" pitchFamily="34" charset="0"/>
                <a:cs typeface="Open Sans Extrabold" panose="020B0906030804020204" pitchFamily="34" charset="0"/>
              </a:rPr>
              <a:t>No AI-specific skill requirements </a:t>
            </a:r>
            <a:endParaRPr lang="en-US" sz="2400"/>
          </a:p>
        </p:txBody>
      </p:sp>
      <p:sp>
        <p:nvSpPr>
          <p:cNvPr id="27" name="TextBox 26">
            <a:extLst>
              <a:ext uri="{FF2B5EF4-FFF2-40B4-BE49-F238E27FC236}">
                <a16:creationId xmlns:a16="http://schemas.microsoft.com/office/drawing/2014/main" id="{34F5FA93-2967-B814-5323-5DEA1D85812B}"/>
              </a:ext>
            </a:extLst>
          </p:cNvPr>
          <p:cNvSpPr txBox="1"/>
          <p:nvPr/>
        </p:nvSpPr>
        <p:spPr>
          <a:xfrm>
            <a:off x="3117594" y="5846955"/>
            <a:ext cx="7003540" cy="379656"/>
          </a:xfrm>
          <a:prstGeom prst="rect">
            <a:avLst/>
          </a:prstGeom>
          <a:noFill/>
        </p:spPr>
        <p:txBody>
          <a:bodyPr wrap="square">
            <a:spAutoFit/>
          </a:bodyPr>
          <a:lstStyle/>
          <a:p>
            <a:r>
              <a:rPr lang="en-US" sz="1867">
                <a:latin typeface="Open Sans" panose="020B0606030504020204" pitchFamily="34" charset="0"/>
                <a:ea typeface="Open Sans" panose="020B0606030504020204" pitchFamily="34" charset="0"/>
                <a:cs typeface="Open Sans" panose="020B0606030504020204" pitchFamily="34" charset="0"/>
              </a:rPr>
              <a:t>in Lake County's top job postings (Lightcast, Q1 2026)</a:t>
            </a:r>
            <a:endParaRPr lang="en-US" sz="1867"/>
          </a:p>
        </p:txBody>
      </p:sp>
      <p:pic>
        <p:nvPicPr>
          <p:cNvPr id="53" name="Picture 52">
            <a:extLst>
              <a:ext uri="{FF2B5EF4-FFF2-40B4-BE49-F238E27FC236}">
                <a16:creationId xmlns:a16="http://schemas.microsoft.com/office/drawing/2014/main" id="{8EA3A7F8-EAB3-3CFE-C66F-25C00A72C512}"/>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5" y="6582031"/>
            <a:ext cx="12190476" cy="274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93251-0008-324D-9651-014A6FC6255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DCA1CCD-4799-628B-B553-1837E6CE4BB6}"/>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9" name="Title 11">
            <a:extLst>
              <a:ext uri="{FF2B5EF4-FFF2-40B4-BE49-F238E27FC236}">
                <a16:creationId xmlns:a16="http://schemas.microsoft.com/office/drawing/2014/main" id="{0DC5CA5F-6EC2-E67F-B368-0F9BEF319FD5}"/>
              </a:ext>
            </a:extLst>
          </p:cNvPr>
          <p:cNvSpPr txBox="1">
            <a:spLocks noGrp="1"/>
          </p:cNvSpPr>
          <p:nvPr>
            <p:ph type="title" idx="4294967295"/>
          </p:nvPr>
        </p:nvSpPr>
        <p:spPr>
          <a:xfrm>
            <a:off x="670486" y="793815"/>
            <a:ext cx="10140949" cy="109800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defTabSz="685800" rtl="0" eaLnBrk="1" fontAlgn="auto" latinLnBrk="0" hangingPunct="1">
              <a:lnSpc>
                <a:spcPct val="90000"/>
              </a:lnSpc>
              <a:spcBef>
                <a:spcPct val="0"/>
              </a:spcBef>
              <a:spcAft>
                <a:spcPts val="0"/>
              </a:spcAft>
              <a:buClrTx/>
              <a:buSzTx/>
              <a:buFontTx/>
              <a:buNone/>
              <a:tabLst/>
              <a:defRPr/>
            </a:pPr>
            <a:r>
              <a:rPr lang="en-US" sz="5400" b="1">
                <a:solidFill>
                  <a:srgbClr val="044692"/>
                </a:solidFill>
                <a:latin typeface="Poppins"/>
                <a:cs typeface="Poppins"/>
              </a:rPr>
              <a:t>DOL AI Literacy Framework </a:t>
            </a:r>
            <a:endParaRPr kumimoji="0" lang="en-US" sz="3300" b="0" i="0" u="none" strike="noStrike" kern="1200" cap="none" spc="0" normalizeH="0" baseline="0" noProof="0">
              <a:ln>
                <a:noFill/>
              </a:ln>
              <a:solidFill>
                <a:schemeClr val="tx1"/>
              </a:solidFill>
              <a:effectLst/>
              <a:uLnTx/>
              <a:uFillTx/>
              <a:latin typeface="+mj-lt"/>
              <a:ea typeface="+mj-ea"/>
              <a:cs typeface="+mj-cs"/>
            </a:endParaRPr>
          </a:p>
        </p:txBody>
      </p:sp>
      <p:sp>
        <p:nvSpPr>
          <p:cNvPr id="7" name="Slide Number Placeholder 2">
            <a:extLst>
              <a:ext uri="{FF2B5EF4-FFF2-40B4-BE49-F238E27FC236}">
                <a16:creationId xmlns:a16="http://schemas.microsoft.com/office/drawing/2014/main" id="{32422776-3B1B-D359-50C5-B28E710E1C97}"/>
              </a:ext>
            </a:extLst>
          </p:cNvPr>
          <p:cNvSpPr>
            <a:spLocks noGrp="1"/>
          </p:cNvSpPr>
          <p:nvPr>
            <p:ph type="sldNum" sz="quarter" idx="12"/>
          </p:nvPr>
        </p:nvSpPr>
        <p:spPr/>
        <p:txBody>
          <a:bodyPr/>
          <a:lstStyle/>
          <a:p>
            <a:fld id="{0D06D882-AB59-4AF3-BFF8-983A7E7E971E}" type="slidenum">
              <a:rPr lang="en-US" smtClean="0"/>
              <a:pPr/>
              <a:t>14</a:t>
            </a:fld>
            <a:endParaRPr lang="en-US"/>
          </a:p>
        </p:txBody>
      </p:sp>
      <p:pic>
        <p:nvPicPr>
          <p:cNvPr id="3" name="Picture 2">
            <a:extLst>
              <a:ext uri="{FF2B5EF4-FFF2-40B4-BE49-F238E27FC236}">
                <a16:creationId xmlns:a16="http://schemas.microsoft.com/office/drawing/2014/main" id="{A1568B84-1940-2885-4769-73AB79DC16C2}"/>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
        <p:nvSpPr>
          <p:cNvPr id="4" name="Title 11">
            <a:extLst>
              <a:ext uri="{FF2B5EF4-FFF2-40B4-BE49-F238E27FC236}">
                <a16:creationId xmlns:a16="http://schemas.microsoft.com/office/drawing/2014/main" id="{DEA7824E-873F-5E01-481C-D20400CF1849}"/>
              </a:ext>
            </a:extLst>
          </p:cNvPr>
          <p:cNvSpPr txBox="1">
            <a:spLocks/>
          </p:cNvSpPr>
          <p:nvPr/>
        </p:nvSpPr>
        <p:spPr>
          <a:xfrm>
            <a:off x="670486" y="3126618"/>
            <a:ext cx="10854466" cy="32244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400" b="1">
                <a:latin typeface="Poppins" panose="00000500000000000000" pitchFamily="2" charset="0"/>
                <a:cs typeface="Poppins" panose="00000500000000000000" pitchFamily="2" charset="0"/>
              </a:rPr>
              <a:t>Five Core Competencies</a:t>
            </a:r>
          </a:p>
          <a:p>
            <a:pPr marL="342900" indent="-342900">
              <a:lnSpc>
                <a:spcPct val="150000"/>
              </a:lnSpc>
              <a:buFont typeface="Arial" panose="020B0604020202020204" pitchFamily="34" charset="0"/>
              <a:buChar char="•"/>
            </a:pPr>
            <a:r>
              <a:rPr lang="en-US" sz="2400">
                <a:latin typeface="Poppins" panose="00000500000000000000" pitchFamily="2" charset="0"/>
                <a:cs typeface="Poppins" panose="00000500000000000000" pitchFamily="2" charset="0"/>
              </a:rPr>
              <a:t>Understanding AI principles </a:t>
            </a:r>
          </a:p>
          <a:p>
            <a:pPr marL="342900" indent="-342900">
              <a:lnSpc>
                <a:spcPct val="150000"/>
              </a:lnSpc>
              <a:buFont typeface="Arial" panose="020B0604020202020204" pitchFamily="34" charset="0"/>
              <a:buChar char="•"/>
            </a:pPr>
            <a:r>
              <a:rPr lang="en-US" sz="2400">
                <a:latin typeface="Poppins" panose="00000500000000000000" pitchFamily="2" charset="0"/>
                <a:cs typeface="Poppins" panose="00000500000000000000" pitchFamily="2" charset="0"/>
              </a:rPr>
              <a:t>Applying AI in real-world contexts</a:t>
            </a:r>
          </a:p>
          <a:p>
            <a:pPr marL="342900" indent="-342900">
              <a:lnSpc>
                <a:spcPct val="150000"/>
              </a:lnSpc>
              <a:buFont typeface="Arial" panose="020B0604020202020204" pitchFamily="34" charset="0"/>
              <a:buChar char="•"/>
            </a:pPr>
            <a:r>
              <a:rPr lang="en-US" sz="2400">
                <a:latin typeface="Poppins" panose="00000500000000000000" pitchFamily="2" charset="0"/>
                <a:cs typeface="Poppins" panose="00000500000000000000" pitchFamily="2" charset="0"/>
              </a:rPr>
              <a:t>Directing AI tools effectively through promotion and iteration </a:t>
            </a:r>
          </a:p>
          <a:p>
            <a:pPr marL="342900" indent="-342900">
              <a:lnSpc>
                <a:spcPct val="150000"/>
              </a:lnSpc>
              <a:buFont typeface="Arial" panose="020B0604020202020204" pitchFamily="34" charset="0"/>
              <a:buChar char="•"/>
            </a:pPr>
            <a:r>
              <a:rPr lang="en-US" sz="2400">
                <a:latin typeface="Poppins" panose="00000500000000000000" pitchFamily="2" charset="0"/>
                <a:cs typeface="Poppins" panose="00000500000000000000" pitchFamily="2" charset="0"/>
              </a:rPr>
              <a:t>Critically evaluating AI outputs</a:t>
            </a:r>
          </a:p>
          <a:p>
            <a:pPr marL="342900" indent="-342900">
              <a:lnSpc>
                <a:spcPct val="150000"/>
              </a:lnSpc>
              <a:buFont typeface="Arial" panose="020B0604020202020204" pitchFamily="34" charset="0"/>
              <a:buChar char="•"/>
            </a:pPr>
            <a:r>
              <a:rPr lang="en-US" sz="2400">
                <a:latin typeface="Poppins" panose="00000500000000000000" pitchFamily="2" charset="0"/>
                <a:cs typeface="Poppins" panose="00000500000000000000" pitchFamily="2" charset="0"/>
              </a:rPr>
              <a:t>Using AI responsibly and ethically</a:t>
            </a:r>
          </a:p>
          <a:p>
            <a:pPr>
              <a:defRPr/>
            </a:pPr>
            <a:endParaRPr lang="en-US" sz="2400">
              <a:latin typeface="Poppins" panose="00000500000000000000" pitchFamily="2" charset="0"/>
              <a:cs typeface="Poppins" panose="00000500000000000000" pitchFamily="2" charset="0"/>
            </a:endParaRPr>
          </a:p>
          <a:p>
            <a:pPr>
              <a:defRPr/>
            </a:pPr>
            <a:endParaRPr lang="en-US" sz="2400" b="1">
              <a:solidFill>
                <a:srgbClr val="044692"/>
              </a:solidFill>
              <a:latin typeface="Poppins" panose="00000500000000000000" pitchFamily="2" charset="0"/>
              <a:cs typeface="Poppins" panose="00000500000000000000" pitchFamily="2" charset="0"/>
            </a:endParaRPr>
          </a:p>
          <a:p>
            <a:pPr>
              <a:defRPr/>
            </a:pPr>
            <a:endParaRPr lang="en-US" sz="2400" b="1">
              <a:solidFill>
                <a:srgbClr val="044692"/>
              </a:solidFill>
              <a:latin typeface="Poppins" panose="00000500000000000000" pitchFamily="2" charset="0"/>
              <a:cs typeface="Poppins" panose="00000500000000000000" pitchFamily="2" charset="0"/>
            </a:endParaRPr>
          </a:p>
          <a:p>
            <a:pPr>
              <a:defRPr/>
            </a:pPr>
            <a:endParaRPr lang="en-US" sz="2400" b="1">
              <a:solidFill>
                <a:srgbClr val="044692"/>
              </a:solidFill>
              <a:latin typeface="Poppins" panose="00000500000000000000" pitchFamily="2" charset="0"/>
              <a:cs typeface="Poppins" panose="00000500000000000000" pitchFamily="2" charset="0"/>
            </a:endParaRPr>
          </a:p>
          <a:p>
            <a:pPr>
              <a:defRPr/>
            </a:pPr>
            <a:endParaRPr lang="en-US" sz="240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538844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a:spLocks noGrp="1"/>
          </p:cNvSpPr>
          <p:nvPr>
            <p:ph type="title" idx="4294967295"/>
          </p:nvPr>
        </p:nvSpPr>
        <p:spPr>
          <a:xfrm>
            <a:off x="339635" y="593385"/>
            <a:ext cx="9753600" cy="60960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44692"/>
                </a:solidFill>
                <a:effectLst/>
                <a:uLnTx/>
                <a:uFillTx/>
                <a:latin typeface="Open Sans" panose="020B0606030504020204" pitchFamily="34" charset="0"/>
                <a:ea typeface="Open Sans" panose="020B0606030504020204" pitchFamily="34" charset="0"/>
                <a:cs typeface="Open Sans" panose="020B0606030504020204" pitchFamily="34" charset="0"/>
              </a:rPr>
              <a:t>Industry Trends</a:t>
            </a:r>
            <a:endParaRPr kumimoji="0" lang="en-US" sz="32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339635" y="1275756"/>
            <a:ext cx="11633332" cy="487680"/>
          </a:xfrm>
          <a:prstGeom prst="rect">
            <a:avLst/>
          </a:prstGeom>
          <a:noFill/>
          <a:ln/>
        </p:spPr>
        <p:txBody>
          <a:bodyPr wrap="square" lIns="0" tIns="0" rIns="0" bIns="0" rtlCol="0" anchor="ctr"/>
          <a:lstStyle/>
          <a:p>
            <a:r>
              <a:rPr lang="en-US" sz="1867">
                <a:latin typeface="Open Sans" panose="020B0606030504020204" pitchFamily="34" charset="0"/>
                <a:ea typeface="Open Sans" panose="020B0606030504020204" pitchFamily="34" charset="0"/>
                <a:cs typeface="Open Sans" panose="020B0606030504020204" pitchFamily="34" charset="0"/>
              </a:rPr>
              <a:t>In hands-on industries, AI is changing the work around the job. In knowledge industries, AI is changing the job.</a:t>
            </a:r>
          </a:p>
        </p:txBody>
      </p:sp>
      <p:sp>
        <p:nvSpPr>
          <p:cNvPr id="6" name="Shape 4" descr="Image of industry trends listed for manufacturing."/>
          <p:cNvSpPr/>
          <p:nvPr/>
        </p:nvSpPr>
        <p:spPr>
          <a:xfrm>
            <a:off x="400589" y="1892881"/>
            <a:ext cx="11334212" cy="755904"/>
          </a:xfrm>
          <a:prstGeom prst="rect">
            <a:avLst/>
          </a:prstGeom>
          <a:solidFill>
            <a:srgbClr val="F4F8FA"/>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a:extLst>
              <a:ext uri="{C183D7F6-B498-43B3-948B-1728B52AA6E4}">
                <adec:decorative xmlns:adec="http://schemas.microsoft.com/office/drawing/2017/decorative" val="1"/>
              </a:ext>
            </a:extLst>
          </p:cNvPr>
          <p:cNvSpPr/>
          <p:nvPr/>
        </p:nvSpPr>
        <p:spPr>
          <a:xfrm>
            <a:off x="400589" y="1892881"/>
            <a:ext cx="60960" cy="755904"/>
          </a:xfrm>
          <a:prstGeom prst="rect">
            <a:avLst/>
          </a:prstGeom>
          <a:solidFill>
            <a:srgbClr val="00A99D"/>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p:cNvSpPr/>
          <p:nvPr/>
        </p:nvSpPr>
        <p:spPr>
          <a:xfrm>
            <a:off x="1240485" y="1892881"/>
            <a:ext cx="2682240" cy="755904"/>
          </a:xfrm>
          <a:prstGeom prst="rect">
            <a:avLst/>
          </a:prstGeom>
          <a:noFill/>
          <a:ln/>
        </p:spPr>
        <p:txBody>
          <a:bodyPr wrap="square" lIns="0" tIns="0" rIns="0" bIns="0" rtlCol="0" anchor="ctr"/>
          <a:lstStyle/>
          <a:p>
            <a:r>
              <a:rPr lang="en-US" sz="1600" b="1">
                <a:solidFill>
                  <a:srgbClr val="002060"/>
                </a:solidFill>
                <a:latin typeface="Open Sans" panose="020B0606030504020204" pitchFamily="34" charset="0"/>
                <a:ea typeface="Open Sans" panose="020B0606030504020204" pitchFamily="34" charset="0"/>
                <a:cs typeface="Open Sans" panose="020B0606030504020204" pitchFamily="34" charset="0"/>
              </a:rPr>
              <a:t>Manufacturing</a:t>
            </a:r>
            <a:endParaRPr lang="en-US" sz="1600">
              <a:solidFill>
                <a:srgbClr val="00206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p:cNvSpPr/>
          <p:nvPr/>
        </p:nvSpPr>
        <p:spPr>
          <a:xfrm>
            <a:off x="4119150" y="1892881"/>
            <a:ext cx="7299717" cy="755904"/>
          </a:xfrm>
          <a:prstGeom prst="rect">
            <a:avLst/>
          </a:prstGeom>
          <a:noFill/>
          <a:ln/>
        </p:spPr>
        <p:txBody>
          <a:bodyPr wrap="square" lIns="0" tIns="0" rIns="0" bIns="0" rtlCol="0" anchor="ctr"/>
          <a:lstStyle/>
          <a:p>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AI is not replacing physical trades </a:t>
            </a:r>
            <a:r>
              <a:rPr lang="en-US" sz="1600"/>
              <a:t>—</a:t>
            </a:r>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 but competitors using AI to run leaner operations will outpace those who do not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8" descr="Image of industry trends listed for healthcare."/>
          <p:cNvSpPr/>
          <p:nvPr/>
        </p:nvSpPr>
        <p:spPr>
          <a:xfrm>
            <a:off x="400589" y="2746321"/>
            <a:ext cx="10728960" cy="755904"/>
          </a:xfrm>
          <a:prstGeom prst="rect">
            <a:avLst/>
          </a:prstGeom>
          <a:solidFill>
            <a:srgbClr val="FFFFFF"/>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9">
            <a:extLst>
              <a:ext uri="{C183D7F6-B498-43B3-948B-1728B52AA6E4}">
                <adec:decorative xmlns:adec="http://schemas.microsoft.com/office/drawing/2017/decorative" val="1"/>
              </a:ext>
            </a:extLst>
          </p:cNvPr>
          <p:cNvSpPr/>
          <p:nvPr/>
        </p:nvSpPr>
        <p:spPr>
          <a:xfrm>
            <a:off x="400589" y="2746321"/>
            <a:ext cx="60960" cy="755904"/>
          </a:xfrm>
          <a:prstGeom prst="rect">
            <a:avLst/>
          </a:prstGeom>
          <a:solidFill>
            <a:srgbClr val="00A99D"/>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1240485" y="2746321"/>
            <a:ext cx="2682240" cy="755904"/>
          </a:xfrm>
          <a:prstGeom prst="rect">
            <a:avLst/>
          </a:prstGeom>
          <a:noFill/>
          <a:ln/>
        </p:spPr>
        <p:txBody>
          <a:bodyPr wrap="square" lIns="0" tIns="0" rIns="0" bIns="0" rtlCol="0" anchor="ctr"/>
          <a:lstStyle/>
          <a:p>
            <a:r>
              <a:rPr lang="en-US" sz="1600" b="1">
                <a:solidFill>
                  <a:srgbClr val="002060"/>
                </a:solidFill>
                <a:latin typeface="Open Sans" panose="020B0606030504020204" pitchFamily="34" charset="0"/>
                <a:ea typeface="Open Sans" panose="020B0606030504020204" pitchFamily="34" charset="0"/>
                <a:cs typeface="Open Sans" panose="020B0606030504020204" pitchFamily="34" charset="0"/>
              </a:rPr>
              <a:t>Healthcare</a:t>
            </a:r>
            <a:endParaRPr lang="en-US" sz="1600">
              <a:solidFill>
                <a:srgbClr val="00206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4119150" y="2746321"/>
            <a:ext cx="7299717" cy="755904"/>
          </a:xfrm>
          <a:prstGeom prst="rect">
            <a:avLst/>
          </a:prstGeom>
          <a:noFill/>
          <a:ln/>
        </p:spPr>
        <p:txBody>
          <a:bodyPr wrap="square" lIns="0" tIns="0" rIns="0" bIns="0" rtlCol="0" anchor="ctr"/>
          <a:lstStyle/>
          <a:p>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AI is reducing paperwork so clinicians can spend more time with patients, but healthcare workers need specialized training as tools and risks differ</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2" descr="Image of industry trends listed for information technology"/>
          <p:cNvSpPr/>
          <p:nvPr/>
        </p:nvSpPr>
        <p:spPr>
          <a:xfrm>
            <a:off x="400589" y="3599761"/>
            <a:ext cx="11334212" cy="755904"/>
          </a:xfrm>
          <a:prstGeom prst="rect">
            <a:avLst/>
          </a:prstGeom>
          <a:solidFill>
            <a:srgbClr val="F4F8FA"/>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3">
            <a:extLst>
              <a:ext uri="{C183D7F6-B498-43B3-948B-1728B52AA6E4}">
                <adec:decorative xmlns:adec="http://schemas.microsoft.com/office/drawing/2017/decorative" val="1"/>
              </a:ext>
            </a:extLst>
          </p:cNvPr>
          <p:cNvSpPr/>
          <p:nvPr/>
        </p:nvSpPr>
        <p:spPr>
          <a:xfrm>
            <a:off x="400589" y="3599761"/>
            <a:ext cx="60960" cy="755904"/>
          </a:xfrm>
          <a:prstGeom prst="rect">
            <a:avLst/>
          </a:prstGeom>
          <a:solidFill>
            <a:srgbClr val="00A99D"/>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4"/>
          <p:cNvSpPr/>
          <p:nvPr/>
        </p:nvSpPr>
        <p:spPr>
          <a:xfrm>
            <a:off x="1240485" y="3599761"/>
            <a:ext cx="2682240" cy="755904"/>
          </a:xfrm>
          <a:prstGeom prst="rect">
            <a:avLst/>
          </a:prstGeom>
          <a:noFill/>
          <a:ln/>
        </p:spPr>
        <p:txBody>
          <a:bodyPr wrap="square" lIns="0" tIns="0" rIns="0" bIns="0" rtlCol="0" anchor="ctr"/>
          <a:lstStyle/>
          <a:p>
            <a:r>
              <a:rPr lang="en-US" sz="1600" b="1">
                <a:solidFill>
                  <a:srgbClr val="002060"/>
                </a:solidFill>
                <a:latin typeface="Open Sans" panose="020B0606030504020204" pitchFamily="34" charset="0"/>
                <a:ea typeface="Open Sans" panose="020B0606030504020204" pitchFamily="34" charset="0"/>
                <a:cs typeface="Open Sans" panose="020B0606030504020204" pitchFamily="34" charset="0"/>
              </a:rPr>
              <a:t>Information Technology</a:t>
            </a:r>
            <a:endParaRPr lang="en-US" sz="1600">
              <a:solidFill>
                <a:srgbClr val="00206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5"/>
          <p:cNvSpPr/>
          <p:nvPr/>
        </p:nvSpPr>
        <p:spPr>
          <a:xfrm>
            <a:off x="4119150" y="3599761"/>
            <a:ext cx="7299717" cy="755904"/>
          </a:xfrm>
          <a:prstGeom prst="rect">
            <a:avLst/>
          </a:prstGeom>
          <a:noFill/>
          <a:ln/>
        </p:spPr>
        <p:txBody>
          <a:bodyPr wrap="square" lIns="0" tIns="0" rIns="0" bIns="0" rtlCol="0" anchor="ctr"/>
          <a:lstStyle/>
          <a:p>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Entry-level coding and help desk roles are shrinking while demand grows for workers who can design, evaluate, and architect around AI</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6" descr="Image of industry trends listed for professional services"/>
          <p:cNvSpPr/>
          <p:nvPr/>
        </p:nvSpPr>
        <p:spPr>
          <a:xfrm>
            <a:off x="400589" y="4453201"/>
            <a:ext cx="10728960" cy="755904"/>
          </a:xfrm>
          <a:prstGeom prst="rect">
            <a:avLst/>
          </a:prstGeom>
          <a:solidFill>
            <a:srgbClr val="FFFFFF"/>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7">
            <a:extLst>
              <a:ext uri="{C183D7F6-B498-43B3-948B-1728B52AA6E4}">
                <adec:decorative xmlns:adec="http://schemas.microsoft.com/office/drawing/2017/decorative" val="1"/>
              </a:ext>
            </a:extLst>
          </p:cNvPr>
          <p:cNvSpPr/>
          <p:nvPr/>
        </p:nvSpPr>
        <p:spPr>
          <a:xfrm>
            <a:off x="400589" y="4453201"/>
            <a:ext cx="60960" cy="755904"/>
          </a:xfrm>
          <a:prstGeom prst="rect">
            <a:avLst/>
          </a:prstGeom>
          <a:solidFill>
            <a:srgbClr val="00A99D"/>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18"/>
          <p:cNvSpPr/>
          <p:nvPr/>
        </p:nvSpPr>
        <p:spPr>
          <a:xfrm>
            <a:off x="1240485" y="4453201"/>
            <a:ext cx="2682240" cy="755904"/>
          </a:xfrm>
          <a:prstGeom prst="rect">
            <a:avLst/>
          </a:prstGeom>
          <a:noFill/>
          <a:ln/>
        </p:spPr>
        <p:txBody>
          <a:bodyPr wrap="square" lIns="0" tIns="0" rIns="0" bIns="0" rtlCol="0" anchor="ctr"/>
          <a:lstStyle/>
          <a:p>
            <a:r>
              <a:rPr lang="en-US" sz="1600" b="1">
                <a:solidFill>
                  <a:srgbClr val="002060"/>
                </a:solidFill>
                <a:latin typeface="Open Sans" panose="020B0606030504020204" pitchFamily="34" charset="0"/>
                <a:ea typeface="Open Sans" panose="020B0606030504020204" pitchFamily="34" charset="0"/>
                <a:cs typeface="Open Sans" panose="020B0606030504020204" pitchFamily="34" charset="0"/>
              </a:rPr>
              <a:t>Professional Services</a:t>
            </a:r>
            <a:endParaRPr lang="en-US" sz="1600">
              <a:solidFill>
                <a:srgbClr val="00206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19"/>
          <p:cNvSpPr/>
          <p:nvPr/>
        </p:nvSpPr>
        <p:spPr>
          <a:xfrm>
            <a:off x="4119150" y="4453201"/>
            <a:ext cx="7299717" cy="755904"/>
          </a:xfrm>
          <a:prstGeom prst="rect">
            <a:avLst/>
          </a:prstGeom>
          <a:noFill/>
          <a:ln/>
        </p:spPr>
        <p:txBody>
          <a:bodyPr wrap="square" lIns="0" tIns="0" rIns="0" bIns="0" rtlCol="0" anchor="ctr"/>
          <a:lstStyle/>
          <a:p>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AI is compressing entry-level pathways — the drafting, research, and scheduling roles that gave workers a foothold are the ones declining fastest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0" descr="Image of industry trends listed for transportation &amp; logistics"/>
          <p:cNvSpPr/>
          <p:nvPr/>
        </p:nvSpPr>
        <p:spPr>
          <a:xfrm>
            <a:off x="400589" y="5306641"/>
            <a:ext cx="11334212" cy="755904"/>
          </a:xfrm>
          <a:prstGeom prst="rect">
            <a:avLst/>
          </a:prstGeom>
          <a:solidFill>
            <a:srgbClr val="F4F8FA"/>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1">
            <a:extLst>
              <a:ext uri="{C183D7F6-B498-43B3-948B-1728B52AA6E4}">
                <adec:decorative xmlns:adec="http://schemas.microsoft.com/office/drawing/2017/decorative" val="1"/>
              </a:ext>
            </a:extLst>
          </p:cNvPr>
          <p:cNvSpPr/>
          <p:nvPr/>
        </p:nvSpPr>
        <p:spPr>
          <a:xfrm>
            <a:off x="400589" y="5306641"/>
            <a:ext cx="60960" cy="755904"/>
          </a:xfrm>
          <a:prstGeom prst="rect">
            <a:avLst/>
          </a:prstGeom>
          <a:solidFill>
            <a:srgbClr val="00A99D"/>
          </a:solidFill>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2"/>
          <p:cNvSpPr/>
          <p:nvPr/>
        </p:nvSpPr>
        <p:spPr>
          <a:xfrm>
            <a:off x="1240485" y="5306641"/>
            <a:ext cx="2682240" cy="755904"/>
          </a:xfrm>
          <a:prstGeom prst="rect">
            <a:avLst/>
          </a:prstGeom>
          <a:noFill/>
          <a:ln/>
        </p:spPr>
        <p:txBody>
          <a:bodyPr wrap="square" lIns="0" tIns="0" rIns="0" bIns="0" rtlCol="0" anchor="ctr"/>
          <a:lstStyle/>
          <a:p>
            <a:r>
              <a:rPr lang="en-US" sz="1600" b="1">
                <a:solidFill>
                  <a:srgbClr val="002060"/>
                </a:solidFill>
                <a:latin typeface="Open Sans" panose="020B0606030504020204" pitchFamily="34" charset="0"/>
                <a:ea typeface="Open Sans" panose="020B0606030504020204" pitchFamily="34" charset="0"/>
                <a:cs typeface="Open Sans" panose="020B0606030504020204" pitchFamily="34" charset="0"/>
              </a:rPr>
              <a:t>Transportation &amp; Logistics</a:t>
            </a:r>
            <a:endParaRPr lang="en-US" sz="1600">
              <a:solidFill>
                <a:srgbClr val="00206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3"/>
          <p:cNvSpPr/>
          <p:nvPr/>
        </p:nvSpPr>
        <p:spPr>
          <a:xfrm>
            <a:off x="4119150" y="5306641"/>
            <a:ext cx="7299717" cy="755904"/>
          </a:xfrm>
          <a:prstGeom prst="rect">
            <a:avLst/>
          </a:prstGeom>
          <a:noFill/>
          <a:ln/>
        </p:spPr>
        <p:txBody>
          <a:bodyPr wrap="square" lIns="0" tIns="0" rIns="0" bIns="0" rtlCol="0" anchor="ctr"/>
          <a:lstStyle/>
          <a:p>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The CDL still gets you hired, but the dispatcher who can read an AI-generated route plan and identify errors is the one positioned for promotion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grpSp>
        <p:nvGrpSpPr>
          <p:cNvPr id="32" name="Group 31">
            <a:extLst>
              <a:ext uri="{FF2B5EF4-FFF2-40B4-BE49-F238E27FC236}">
                <a16:creationId xmlns:a16="http://schemas.microsoft.com/office/drawing/2014/main" id="{957BF662-6B3E-B5D2-452D-ABB526B7C023}"/>
              </a:ext>
              <a:ext uri="{C183D7F6-B498-43B3-948B-1728B52AA6E4}">
                <adec:decorative xmlns:adec="http://schemas.microsoft.com/office/drawing/2017/decorative" val="1"/>
              </a:ext>
            </a:extLst>
          </p:cNvPr>
          <p:cNvGrpSpPr/>
          <p:nvPr/>
        </p:nvGrpSpPr>
        <p:grpSpPr>
          <a:xfrm>
            <a:off x="621049" y="5458664"/>
            <a:ext cx="399144" cy="452066"/>
            <a:chOff x="5035550" y="7150100"/>
            <a:chExt cx="419100" cy="474663"/>
          </a:xfrm>
          <a:solidFill>
            <a:srgbClr val="00A99D"/>
          </a:solidFill>
        </p:grpSpPr>
        <p:sp>
          <p:nvSpPr>
            <p:cNvPr id="33" name="Freeform 285">
              <a:extLst>
                <a:ext uri="{FF2B5EF4-FFF2-40B4-BE49-F238E27FC236}">
                  <a16:creationId xmlns:a16="http://schemas.microsoft.com/office/drawing/2014/main" id="{4BE48E54-7318-B5F7-2344-9D5B6ADE1EFA}"/>
                </a:ext>
              </a:extLst>
            </p:cNvPr>
            <p:cNvSpPr>
              <a:spLocks/>
            </p:cNvSpPr>
            <p:nvPr/>
          </p:nvSpPr>
          <p:spPr bwMode="auto">
            <a:xfrm>
              <a:off x="5175250" y="7499350"/>
              <a:ext cx="139700" cy="19050"/>
            </a:xfrm>
            <a:custGeom>
              <a:avLst/>
              <a:gdLst>
                <a:gd name="T0" fmla="*/ 70 w 75"/>
                <a:gd name="T1" fmla="*/ 0 h 11"/>
                <a:gd name="T2" fmla="*/ 5 w 75"/>
                <a:gd name="T3" fmla="*/ 0 h 11"/>
                <a:gd name="T4" fmla="*/ 0 w 75"/>
                <a:gd name="T5" fmla="*/ 5 h 11"/>
                <a:gd name="T6" fmla="*/ 5 w 75"/>
                <a:gd name="T7" fmla="*/ 11 h 11"/>
                <a:gd name="T8" fmla="*/ 70 w 75"/>
                <a:gd name="T9" fmla="*/ 11 h 11"/>
                <a:gd name="T10" fmla="*/ 75 w 75"/>
                <a:gd name="T11" fmla="*/ 5 h 11"/>
                <a:gd name="T12" fmla="*/ 70 w 75"/>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75" h="11">
                  <a:moveTo>
                    <a:pt x="70" y="0"/>
                  </a:moveTo>
                  <a:cubicBezTo>
                    <a:pt x="5" y="0"/>
                    <a:pt x="5" y="0"/>
                    <a:pt x="5" y="0"/>
                  </a:cubicBezTo>
                  <a:cubicBezTo>
                    <a:pt x="2" y="0"/>
                    <a:pt x="0" y="3"/>
                    <a:pt x="0" y="5"/>
                  </a:cubicBezTo>
                  <a:cubicBezTo>
                    <a:pt x="0" y="8"/>
                    <a:pt x="2" y="11"/>
                    <a:pt x="5" y="11"/>
                  </a:cubicBezTo>
                  <a:cubicBezTo>
                    <a:pt x="70" y="11"/>
                    <a:pt x="70" y="11"/>
                    <a:pt x="70" y="11"/>
                  </a:cubicBezTo>
                  <a:cubicBezTo>
                    <a:pt x="73" y="11"/>
                    <a:pt x="75" y="8"/>
                    <a:pt x="75" y="5"/>
                  </a:cubicBezTo>
                  <a:cubicBezTo>
                    <a:pt x="75" y="3"/>
                    <a:pt x="73" y="0"/>
                    <a:pt x="7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34" name="Freeform 286">
              <a:extLst>
                <a:ext uri="{FF2B5EF4-FFF2-40B4-BE49-F238E27FC236}">
                  <a16:creationId xmlns:a16="http://schemas.microsoft.com/office/drawing/2014/main" id="{6E25C85D-FDB1-340D-0B38-F724B7F18D8B}"/>
                </a:ext>
              </a:extLst>
            </p:cNvPr>
            <p:cNvSpPr>
              <a:spLocks/>
            </p:cNvSpPr>
            <p:nvPr/>
          </p:nvSpPr>
          <p:spPr bwMode="auto">
            <a:xfrm>
              <a:off x="5175250" y="7470775"/>
              <a:ext cx="139700" cy="19050"/>
            </a:xfrm>
            <a:custGeom>
              <a:avLst/>
              <a:gdLst>
                <a:gd name="T0" fmla="*/ 70 w 75"/>
                <a:gd name="T1" fmla="*/ 0 h 10"/>
                <a:gd name="T2" fmla="*/ 5 w 75"/>
                <a:gd name="T3" fmla="*/ 0 h 10"/>
                <a:gd name="T4" fmla="*/ 0 w 75"/>
                <a:gd name="T5" fmla="*/ 5 h 10"/>
                <a:gd name="T6" fmla="*/ 5 w 75"/>
                <a:gd name="T7" fmla="*/ 10 h 10"/>
                <a:gd name="T8" fmla="*/ 70 w 75"/>
                <a:gd name="T9" fmla="*/ 10 h 10"/>
                <a:gd name="T10" fmla="*/ 75 w 75"/>
                <a:gd name="T11" fmla="*/ 5 h 10"/>
                <a:gd name="T12" fmla="*/ 70 w 75"/>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75" h="10">
                  <a:moveTo>
                    <a:pt x="70" y="0"/>
                  </a:moveTo>
                  <a:cubicBezTo>
                    <a:pt x="5" y="0"/>
                    <a:pt x="5" y="0"/>
                    <a:pt x="5" y="0"/>
                  </a:cubicBezTo>
                  <a:cubicBezTo>
                    <a:pt x="2" y="0"/>
                    <a:pt x="0" y="2"/>
                    <a:pt x="0" y="5"/>
                  </a:cubicBezTo>
                  <a:cubicBezTo>
                    <a:pt x="0" y="8"/>
                    <a:pt x="2" y="10"/>
                    <a:pt x="5" y="10"/>
                  </a:cubicBezTo>
                  <a:cubicBezTo>
                    <a:pt x="70" y="10"/>
                    <a:pt x="70" y="10"/>
                    <a:pt x="70" y="10"/>
                  </a:cubicBezTo>
                  <a:cubicBezTo>
                    <a:pt x="73" y="10"/>
                    <a:pt x="75" y="8"/>
                    <a:pt x="75" y="5"/>
                  </a:cubicBezTo>
                  <a:cubicBezTo>
                    <a:pt x="75" y="2"/>
                    <a:pt x="73" y="0"/>
                    <a:pt x="7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35" name="Freeform 287">
              <a:extLst>
                <a:ext uri="{FF2B5EF4-FFF2-40B4-BE49-F238E27FC236}">
                  <a16:creationId xmlns:a16="http://schemas.microsoft.com/office/drawing/2014/main" id="{6D13EB5B-A73D-3BAF-CCF9-545CB290A5FF}"/>
                </a:ext>
              </a:extLst>
            </p:cNvPr>
            <p:cNvSpPr>
              <a:spLocks/>
            </p:cNvSpPr>
            <p:nvPr/>
          </p:nvSpPr>
          <p:spPr bwMode="auto">
            <a:xfrm>
              <a:off x="5175250" y="7443788"/>
              <a:ext cx="139700" cy="17463"/>
            </a:xfrm>
            <a:custGeom>
              <a:avLst/>
              <a:gdLst>
                <a:gd name="T0" fmla="*/ 70 w 75"/>
                <a:gd name="T1" fmla="*/ 0 h 10"/>
                <a:gd name="T2" fmla="*/ 5 w 75"/>
                <a:gd name="T3" fmla="*/ 0 h 10"/>
                <a:gd name="T4" fmla="*/ 0 w 75"/>
                <a:gd name="T5" fmla="*/ 5 h 10"/>
                <a:gd name="T6" fmla="*/ 5 w 75"/>
                <a:gd name="T7" fmla="*/ 10 h 10"/>
                <a:gd name="T8" fmla="*/ 70 w 75"/>
                <a:gd name="T9" fmla="*/ 10 h 10"/>
                <a:gd name="T10" fmla="*/ 75 w 75"/>
                <a:gd name="T11" fmla="*/ 5 h 10"/>
                <a:gd name="T12" fmla="*/ 70 w 75"/>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75" h="10">
                  <a:moveTo>
                    <a:pt x="70" y="0"/>
                  </a:moveTo>
                  <a:cubicBezTo>
                    <a:pt x="5" y="0"/>
                    <a:pt x="5" y="0"/>
                    <a:pt x="5" y="0"/>
                  </a:cubicBezTo>
                  <a:cubicBezTo>
                    <a:pt x="2" y="0"/>
                    <a:pt x="0" y="2"/>
                    <a:pt x="0" y="5"/>
                  </a:cubicBezTo>
                  <a:cubicBezTo>
                    <a:pt x="0" y="8"/>
                    <a:pt x="2" y="10"/>
                    <a:pt x="5" y="10"/>
                  </a:cubicBezTo>
                  <a:cubicBezTo>
                    <a:pt x="70" y="10"/>
                    <a:pt x="70" y="10"/>
                    <a:pt x="70" y="10"/>
                  </a:cubicBezTo>
                  <a:cubicBezTo>
                    <a:pt x="73" y="10"/>
                    <a:pt x="75" y="8"/>
                    <a:pt x="75" y="5"/>
                  </a:cubicBezTo>
                  <a:cubicBezTo>
                    <a:pt x="75" y="2"/>
                    <a:pt x="73" y="0"/>
                    <a:pt x="7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36" name="Freeform 288">
              <a:extLst>
                <a:ext uri="{FF2B5EF4-FFF2-40B4-BE49-F238E27FC236}">
                  <a16:creationId xmlns:a16="http://schemas.microsoft.com/office/drawing/2014/main" id="{D58BFC03-0558-5BED-3A32-1C2D809ED258}"/>
                </a:ext>
              </a:extLst>
            </p:cNvPr>
            <p:cNvSpPr>
              <a:spLocks noEditPoints="1"/>
            </p:cNvSpPr>
            <p:nvPr/>
          </p:nvSpPr>
          <p:spPr bwMode="auto">
            <a:xfrm>
              <a:off x="5035550" y="7150100"/>
              <a:ext cx="419100" cy="474663"/>
            </a:xfrm>
            <a:custGeom>
              <a:avLst/>
              <a:gdLst>
                <a:gd name="T0" fmla="*/ 222 w 227"/>
                <a:gd name="T1" fmla="*/ 0 h 256"/>
                <a:gd name="T2" fmla="*/ 5 w 227"/>
                <a:gd name="T3" fmla="*/ 0 h 256"/>
                <a:gd name="T4" fmla="*/ 0 w 227"/>
                <a:gd name="T5" fmla="*/ 6 h 256"/>
                <a:gd name="T6" fmla="*/ 0 w 227"/>
                <a:gd name="T7" fmla="*/ 164 h 256"/>
                <a:gd name="T8" fmla="*/ 5 w 227"/>
                <a:gd name="T9" fmla="*/ 169 h 256"/>
                <a:gd name="T10" fmla="*/ 7 w 227"/>
                <a:gd name="T11" fmla="*/ 169 h 256"/>
                <a:gd name="T12" fmla="*/ 6 w 227"/>
                <a:gd name="T13" fmla="*/ 183 h 256"/>
                <a:gd name="T14" fmla="*/ 8 w 227"/>
                <a:gd name="T15" fmla="*/ 203 h 256"/>
                <a:gd name="T16" fmla="*/ 13 w 227"/>
                <a:gd name="T17" fmla="*/ 213 h 256"/>
                <a:gd name="T18" fmla="*/ 13 w 227"/>
                <a:gd name="T19" fmla="*/ 241 h 256"/>
                <a:gd name="T20" fmla="*/ 28 w 227"/>
                <a:gd name="T21" fmla="*/ 256 h 256"/>
                <a:gd name="T22" fmla="*/ 44 w 227"/>
                <a:gd name="T23" fmla="*/ 256 h 256"/>
                <a:gd name="T24" fmla="*/ 59 w 227"/>
                <a:gd name="T25" fmla="*/ 241 h 256"/>
                <a:gd name="T26" fmla="*/ 59 w 227"/>
                <a:gd name="T27" fmla="*/ 217 h 256"/>
                <a:gd name="T28" fmla="*/ 168 w 227"/>
                <a:gd name="T29" fmla="*/ 217 h 256"/>
                <a:gd name="T30" fmla="*/ 168 w 227"/>
                <a:gd name="T31" fmla="*/ 241 h 256"/>
                <a:gd name="T32" fmla="*/ 183 w 227"/>
                <a:gd name="T33" fmla="*/ 256 h 256"/>
                <a:gd name="T34" fmla="*/ 199 w 227"/>
                <a:gd name="T35" fmla="*/ 256 h 256"/>
                <a:gd name="T36" fmla="*/ 214 w 227"/>
                <a:gd name="T37" fmla="*/ 241 h 256"/>
                <a:gd name="T38" fmla="*/ 214 w 227"/>
                <a:gd name="T39" fmla="*/ 213 h 256"/>
                <a:gd name="T40" fmla="*/ 219 w 227"/>
                <a:gd name="T41" fmla="*/ 203 h 256"/>
                <a:gd name="T42" fmla="*/ 221 w 227"/>
                <a:gd name="T43" fmla="*/ 183 h 256"/>
                <a:gd name="T44" fmla="*/ 219 w 227"/>
                <a:gd name="T45" fmla="*/ 169 h 256"/>
                <a:gd name="T46" fmla="*/ 222 w 227"/>
                <a:gd name="T47" fmla="*/ 169 h 256"/>
                <a:gd name="T48" fmla="*/ 227 w 227"/>
                <a:gd name="T49" fmla="*/ 164 h 256"/>
                <a:gd name="T50" fmla="*/ 227 w 227"/>
                <a:gd name="T51" fmla="*/ 6 h 256"/>
                <a:gd name="T52" fmla="*/ 222 w 227"/>
                <a:gd name="T53" fmla="*/ 0 h 256"/>
                <a:gd name="T54" fmla="*/ 49 w 227"/>
                <a:gd name="T55" fmla="*/ 241 h 256"/>
                <a:gd name="T56" fmla="*/ 44 w 227"/>
                <a:gd name="T57" fmla="*/ 246 h 256"/>
                <a:gd name="T58" fmla="*/ 28 w 227"/>
                <a:gd name="T59" fmla="*/ 246 h 256"/>
                <a:gd name="T60" fmla="*/ 23 w 227"/>
                <a:gd name="T61" fmla="*/ 241 h 256"/>
                <a:gd name="T62" fmla="*/ 23 w 227"/>
                <a:gd name="T63" fmla="*/ 217 h 256"/>
                <a:gd name="T64" fmla="*/ 49 w 227"/>
                <a:gd name="T65" fmla="*/ 217 h 256"/>
                <a:gd name="T66" fmla="*/ 49 w 227"/>
                <a:gd name="T67" fmla="*/ 241 h 256"/>
                <a:gd name="T68" fmla="*/ 199 w 227"/>
                <a:gd name="T69" fmla="*/ 246 h 256"/>
                <a:gd name="T70" fmla="*/ 183 w 227"/>
                <a:gd name="T71" fmla="*/ 246 h 256"/>
                <a:gd name="T72" fmla="*/ 178 w 227"/>
                <a:gd name="T73" fmla="*/ 241 h 256"/>
                <a:gd name="T74" fmla="*/ 178 w 227"/>
                <a:gd name="T75" fmla="*/ 217 h 256"/>
                <a:gd name="T76" fmla="*/ 204 w 227"/>
                <a:gd name="T77" fmla="*/ 217 h 256"/>
                <a:gd name="T78" fmla="*/ 204 w 227"/>
                <a:gd name="T79" fmla="*/ 241 h 256"/>
                <a:gd name="T80" fmla="*/ 199 w 227"/>
                <a:gd name="T81" fmla="*/ 246 h 256"/>
                <a:gd name="T82" fmla="*/ 217 w 227"/>
                <a:gd name="T83" fmla="*/ 158 h 256"/>
                <a:gd name="T84" fmla="*/ 214 w 227"/>
                <a:gd name="T85" fmla="*/ 158 h 256"/>
                <a:gd name="T86" fmla="*/ 210 w 227"/>
                <a:gd name="T87" fmla="*/ 160 h 256"/>
                <a:gd name="T88" fmla="*/ 209 w 227"/>
                <a:gd name="T89" fmla="*/ 164 h 256"/>
                <a:gd name="T90" fmla="*/ 210 w 227"/>
                <a:gd name="T91" fmla="*/ 184 h 256"/>
                <a:gd name="T92" fmla="*/ 209 w 227"/>
                <a:gd name="T93" fmla="*/ 200 h 256"/>
                <a:gd name="T94" fmla="*/ 205 w 227"/>
                <a:gd name="T95" fmla="*/ 207 h 256"/>
                <a:gd name="T96" fmla="*/ 22 w 227"/>
                <a:gd name="T97" fmla="*/ 207 h 256"/>
                <a:gd name="T98" fmla="*/ 18 w 227"/>
                <a:gd name="T99" fmla="*/ 200 h 256"/>
                <a:gd name="T100" fmla="*/ 17 w 227"/>
                <a:gd name="T101" fmla="*/ 184 h 256"/>
                <a:gd name="T102" fmla="*/ 18 w 227"/>
                <a:gd name="T103" fmla="*/ 164 h 256"/>
                <a:gd name="T104" fmla="*/ 17 w 227"/>
                <a:gd name="T105" fmla="*/ 160 h 256"/>
                <a:gd name="T106" fmla="*/ 13 w 227"/>
                <a:gd name="T107" fmla="*/ 158 h 256"/>
                <a:gd name="T108" fmla="*/ 10 w 227"/>
                <a:gd name="T109" fmla="*/ 158 h 256"/>
                <a:gd name="T110" fmla="*/ 10 w 227"/>
                <a:gd name="T111" fmla="*/ 11 h 256"/>
                <a:gd name="T112" fmla="*/ 217 w 227"/>
                <a:gd name="T113" fmla="*/ 11 h 256"/>
                <a:gd name="T114" fmla="*/ 217 w 227"/>
                <a:gd name="T115" fmla="*/ 15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7" h="256">
                  <a:moveTo>
                    <a:pt x="222" y="0"/>
                  </a:moveTo>
                  <a:cubicBezTo>
                    <a:pt x="5" y="0"/>
                    <a:pt x="5" y="0"/>
                    <a:pt x="5" y="0"/>
                  </a:cubicBezTo>
                  <a:cubicBezTo>
                    <a:pt x="2" y="0"/>
                    <a:pt x="0" y="3"/>
                    <a:pt x="0" y="6"/>
                  </a:cubicBezTo>
                  <a:cubicBezTo>
                    <a:pt x="0" y="164"/>
                    <a:pt x="0" y="164"/>
                    <a:pt x="0" y="164"/>
                  </a:cubicBezTo>
                  <a:cubicBezTo>
                    <a:pt x="0" y="167"/>
                    <a:pt x="2" y="169"/>
                    <a:pt x="5" y="169"/>
                  </a:cubicBezTo>
                  <a:cubicBezTo>
                    <a:pt x="7" y="169"/>
                    <a:pt x="7" y="169"/>
                    <a:pt x="7" y="169"/>
                  </a:cubicBezTo>
                  <a:cubicBezTo>
                    <a:pt x="6" y="183"/>
                    <a:pt x="6" y="183"/>
                    <a:pt x="6" y="183"/>
                  </a:cubicBezTo>
                  <a:cubicBezTo>
                    <a:pt x="6" y="190"/>
                    <a:pt x="6" y="196"/>
                    <a:pt x="8" y="203"/>
                  </a:cubicBezTo>
                  <a:cubicBezTo>
                    <a:pt x="10" y="207"/>
                    <a:pt x="11" y="210"/>
                    <a:pt x="13" y="213"/>
                  </a:cubicBezTo>
                  <a:cubicBezTo>
                    <a:pt x="13" y="241"/>
                    <a:pt x="13" y="241"/>
                    <a:pt x="13" y="241"/>
                  </a:cubicBezTo>
                  <a:cubicBezTo>
                    <a:pt x="13" y="249"/>
                    <a:pt x="20" y="256"/>
                    <a:pt x="28" y="256"/>
                  </a:cubicBezTo>
                  <a:cubicBezTo>
                    <a:pt x="44" y="256"/>
                    <a:pt x="44" y="256"/>
                    <a:pt x="44" y="256"/>
                  </a:cubicBezTo>
                  <a:cubicBezTo>
                    <a:pt x="52" y="256"/>
                    <a:pt x="59" y="249"/>
                    <a:pt x="59" y="241"/>
                  </a:cubicBezTo>
                  <a:cubicBezTo>
                    <a:pt x="59" y="217"/>
                    <a:pt x="59" y="217"/>
                    <a:pt x="59" y="217"/>
                  </a:cubicBezTo>
                  <a:cubicBezTo>
                    <a:pt x="168" y="217"/>
                    <a:pt x="168" y="217"/>
                    <a:pt x="168" y="217"/>
                  </a:cubicBezTo>
                  <a:cubicBezTo>
                    <a:pt x="168" y="241"/>
                    <a:pt x="168" y="241"/>
                    <a:pt x="168" y="241"/>
                  </a:cubicBezTo>
                  <a:cubicBezTo>
                    <a:pt x="168" y="249"/>
                    <a:pt x="175" y="256"/>
                    <a:pt x="183" y="256"/>
                  </a:cubicBezTo>
                  <a:cubicBezTo>
                    <a:pt x="199" y="256"/>
                    <a:pt x="199" y="256"/>
                    <a:pt x="199" y="256"/>
                  </a:cubicBezTo>
                  <a:cubicBezTo>
                    <a:pt x="207" y="256"/>
                    <a:pt x="214" y="249"/>
                    <a:pt x="214" y="241"/>
                  </a:cubicBezTo>
                  <a:cubicBezTo>
                    <a:pt x="214" y="213"/>
                    <a:pt x="214" y="213"/>
                    <a:pt x="214" y="213"/>
                  </a:cubicBezTo>
                  <a:cubicBezTo>
                    <a:pt x="216" y="210"/>
                    <a:pt x="217" y="207"/>
                    <a:pt x="219" y="203"/>
                  </a:cubicBezTo>
                  <a:cubicBezTo>
                    <a:pt x="221" y="196"/>
                    <a:pt x="221" y="189"/>
                    <a:pt x="221" y="183"/>
                  </a:cubicBezTo>
                  <a:cubicBezTo>
                    <a:pt x="219" y="169"/>
                    <a:pt x="219" y="169"/>
                    <a:pt x="219" y="169"/>
                  </a:cubicBezTo>
                  <a:cubicBezTo>
                    <a:pt x="222" y="169"/>
                    <a:pt x="222" y="169"/>
                    <a:pt x="222" y="169"/>
                  </a:cubicBezTo>
                  <a:cubicBezTo>
                    <a:pt x="225" y="169"/>
                    <a:pt x="227" y="167"/>
                    <a:pt x="227" y="164"/>
                  </a:cubicBezTo>
                  <a:cubicBezTo>
                    <a:pt x="227" y="6"/>
                    <a:pt x="227" y="6"/>
                    <a:pt x="227" y="6"/>
                  </a:cubicBezTo>
                  <a:cubicBezTo>
                    <a:pt x="227" y="3"/>
                    <a:pt x="225" y="0"/>
                    <a:pt x="222" y="0"/>
                  </a:cubicBezTo>
                  <a:close/>
                  <a:moveTo>
                    <a:pt x="49" y="241"/>
                  </a:moveTo>
                  <a:cubicBezTo>
                    <a:pt x="49" y="244"/>
                    <a:pt x="46" y="246"/>
                    <a:pt x="44" y="246"/>
                  </a:cubicBezTo>
                  <a:cubicBezTo>
                    <a:pt x="28" y="246"/>
                    <a:pt x="28" y="246"/>
                    <a:pt x="28" y="246"/>
                  </a:cubicBezTo>
                  <a:cubicBezTo>
                    <a:pt x="25" y="246"/>
                    <a:pt x="23" y="244"/>
                    <a:pt x="23" y="241"/>
                  </a:cubicBezTo>
                  <a:cubicBezTo>
                    <a:pt x="23" y="217"/>
                    <a:pt x="23" y="217"/>
                    <a:pt x="23" y="217"/>
                  </a:cubicBezTo>
                  <a:cubicBezTo>
                    <a:pt x="49" y="217"/>
                    <a:pt x="49" y="217"/>
                    <a:pt x="49" y="217"/>
                  </a:cubicBezTo>
                  <a:lnTo>
                    <a:pt x="49" y="241"/>
                  </a:lnTo>
                  <a:close/>
                  <a:moveTo>
                    <a:pt x="199" y="246"/>
                  </a:moveTo>
                  <a:cubicBezTo>
                    <a:pt x="183" y="246"/>
                    <a:pt x="183" y="246"/>
                    <a:pt x="183" y="246"/>
                  </a:cubicBezTo>
                  <a:cubicBezTo>
                    <a:pt x="181" y="246"/>
                    <a:pt x="178" y="244"/>
                    <a:pt x="178" y="241"/>
                  </a:cubicBezTo>
                  <a:cubicBezTo>
                    <a:pt x="178" y="217"/>
                    <a:pt x="178" y="217"/>
                    <a:pt x="178" y="217"/>
                  </a:cubicBezTo>
                  <a:cubicBezTo>
                    <a:pt x="204" y="217"/>
                    <a:pt x="204" y="217"/>
                    <a:pt x="204" y="217"/>
                  </a:cubicBezTo>
                  <a:cubicBezTo>
                    <a:pt x="204" y="241"/>
                    <a:pt x="204" y="241"/>
                    <a:pt x="204" y="241"/>
                  </a:cubicBezTo>
                  <a:cubicBezTo>
                    <a:pt x="204" y="244"/>
                    <a:pt x="202" y="246"/>
                    <a:pt x="199" y="246"/>
                  </a:cubicBezTo>
                  <a:close/>
                  <a:moveTo>
                    <a:pt x="217" y="158"/>
                  </a:moveTo>
                  <a:cubicBezTo>
                    <a:pt x="214" y="158"/>
                    <a:pt x="214" y="158"/>
                    <a:pt x="214" y="158"/>
                  </a:cubicBezTo>
                  <a:cubicBezTo>
                    <a:pt x="212" y="158"/>
                    <a:pt x="211" y="159"/>
                    <a:pt x="210" y="160"/>
                  </a:cubicBezTo>
                  <a:cubicBezTo>
                    <a:pt x="209" y="161"/>
                    <a:pt x="209" y="163"/>
                    <a:pt x="209" y="164"/>
                  </a:cubicBezTo>
                  <a:cubicBezTo>
                    <a:pt x="210" y="184"/>
                    <a:pt x="210" y="184"/>
                    <a:pt x="210" y="184"/>
                  </a:cubicBezTo>
                  <a:cubicBezTo>
                    <a:pt x="211" y="189"/>
                    <a:pt x="210" y="194"/>
                    <a:pt x="209" y="200"/>
                  </a:cubicBezTo>
                  <a:cubicBezTo>
                    <a:pt x="208" y="203"/>
                    <a:pt x="207" y="205"/>
                    <a:pt x="205" y="207"/>
                  </a:cubicBezTo>
                  <a:cubicBezTo>
                    <a:pt x="22" y="207"/>
                    <a:pt x="22" y="207"/>
                    <a:pt x="22" y="207"/>
                  </a:cubicBezTo>
                  <a:cubicBezTo>
                    <a:pt x="20" y="205"/>
                    <a:pt x="19" y="203"/>
                    <a:pt x="18" y="200"/>
                  </a:cubicBezTo>
                  <a:cubicBezTo>
                    <a:pt x="17" y="194"/>
                    <a:pt x="16" y="189"/>
                    <a:pt x="17" y="184"/>
                  </a:cubicBezTo>
                  <a:cubicBezTo>
                    <a:pt x="18" y="164"/>
                    <a:pt x="18" y="164"/>
                    <a:pt x="18" y="164"/>
                  </a:cubicBezTo>
                  <a:cubicBezTo>
                    <a:pt x="18" y="163"/>
                    <a:pt x="18" y="161"/>
                    <a:pt x="17" y="160"/>
                  </a:cubicBezTo>
                  <a:cubicBezTo>
                    <a:pt x="16" y="159"/>
                    <a:pt x="15" y="158"/>
                    <a:pt x="13" y="158"/>
                  </a:cubicBezTo>
                  <a:cubicBezTo>
                    <a:pt x="10" y="158"/>
                    <a:pt x="10" y="158"/>
                    <a:pt x="10" y="158"/>
                  </a:cubicBezTo>
                  <a:cubicBezTo>
                    <a:pt x="10" y="11"/>
                    <a:pt x="10" y="11"/>
                    <a:pt x="10" y="11"/>
                  </a:cubicBezTo>
                  <a:cubicBezTo>
                    <a:pt x="217" y="11"/>
                    <a:pt x="217" y="11"/>
                    <a:pt x="217" y="11"/>
                  </a:cubicBezTo>
                  <a:lnTo>
                    <a:pt x="217" y="15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37" name="Freeform 289">
              <a:extLst>
                <a:ext uri="{FF2B5EF4-FFF2-40B4-BE49-F238E27FC236}">
                  <a16:creationId xmlns:a16="http://schemas.microsoft.com/office/drawing/2014/main" id="{AA690892-20D5-62F8-E5FE-DFFF491A78F9}"/>
                </a:ext>
              </a:extLst>
            </p:cNvPr>
            <p:cNvSpPr>
              <a:spLocks noEditPoints="1"/>
            </p:cNvSpPr>
            <p:nvPr/>
          </p:nvSpPr>
          <p:spPr bwMode="auto">
            <a:xfrm>
              <a:off x="5084763" y="7443788"/>
              <a:ext cx="76200" cy="74613"/>
            </a:xfrm>
            <a:custGeom>
              <a:avLst/>
              <a:gdLst>
                <a:gd name="T0" fmla="*/ 20 w 41"/>
                <a:gd name="T1" fmla="*/ 0 h 41"/>
                <a:gd name="T2" fmla="*/ 0 w 41"/>
                <a:gd name="T3" fmla="*/ 20 h 41"/>
                <a:gd name="T4" fmla="*/ 20 w 41"/>
                <a:gd name="T5" fmla="*/ 41 h 41"/>
                <a:gd name="T6" fmla="*/ 41 w 41"/>
                <a:gd name="T7" fmla="*/ 20 h 41"/>
                <a:gd name="T8" fmla="*/ 20 w 41"/>
                <a:gd name="T9" fmla="*/ 0 h 41"/>
                <a:gd name="T10" fmla="*/ 20 w 41"/>
                <a:gd name="T11" fmla="*/ 30 h 41"/>
                <a:gd name="T12" fmla="*/ 10 w 41"/>
                <a:gd name="T13" fmla="*/ 20 h 41"/>
                <a:gd name="T14" fmla="*/ 20 w 41"/>
                <a:gd name="T15" fmla="*/ 10 h 41"/>
                <a:gd name="T16" fmla="*/ 30 w 41"/>
                <a:gd name="T17" fmla="*/ 20 h 41"/>
                <a:gd name="T18" fmla="*/ 20 w 41"/>
                <a:gd name="T19" fmla="*/ 3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41">
                  <a:moveTo>
                    <a:pt x="20" y="0"/>
                  </a:moveTo>
                  <a:cubicBezTo>
                    <a:pt x="9" y="0"/>
                    <a:pt x="0" y="9"/>
                    <a:pt x="0" y="20"/>
                  </a:cubicBezTo>
                  <a:cubicBezTo>
                    <a:pt x="0" y="32"/>
                    <a:pt x="9" y="41"/>
                    <a:pt x="20" y="41"/>
                  </a:cubicBezTo>
                  <a:cubicBezTo>
                    <a:pt x="31" y="41"/>
                    <a:pt x="41" y="32"/>
                    <a:pt x="41" y="20"/>
                  </a:cubicBezTo>
                  <a:cubicBezTo>
                    <a:pt x="41" y="9"/>
                    <a:pt x="31" y="0"/>
                    <a:pt x="20" y="0"/>
                  </a:cubicBezTo>
                  <a:close/>
                  <a:moveTo>
                    <a:pt x="20" y="30"/>
                  </a:moveTo>
                  <a:cubicBezTo>
                    <a:pt x="14" y="30"/>
                    <a:pt x="10" y="26"/>
                    <a:pt x="10" y="20"/>
                  </a:cubicBezTo>
                  <a:cubicBezTo>
                    <a:pt x="10" y="15"/>
                    <a:pt x="14" y="10"/>
                    <a:pt x="20" y="10"/>
                  </a:cubicBezTo>
                  <a:cubicBezTo>
                    <a:pt x="26" y="10"/>
                    <a:pt x="30" y="15"/>
                    <a:pt x="30" y="20"/>
                  </a:cubicBezTo>
                  <a:cubicBezTo>
                    <a:pt x="30" y="26"/>
                    <a:pt x="26" y="30"/>
                    <a:pt x="20" y="3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38" name="Freeform 290">
              <a:extLst>
                <a:ext uri="{FF2B5EF4-FFF2-40B4-BE49-F238E27FC236}">
                  <a16:creationId xmlns:a16="http://schemas.microsoft.com/office/drawing/2014/main" id="{BB4218FC-D448-8033-E66C-DD1517AE15F9}"/>
                </a:ext>
              </a:extLst>
            </p:cNvPr>
            <p:cNvSpPr>
              <a:spLocks noEditPoints="1"/>
            </p:cNvSpPr>
            <p:nvPr/>
          </p:nvSpPr>
          <p:spPr bwMode="auto">
            <a:xfrm>
              <a:off x="5329238" y="7443788"/>
              <a:ext cx="76200" cy="74613"/>
            </a:xfrm>
            <a:custGeom>
              <a:avLst/>
              <a:gdLst>
                <a:gd name="T0" fmla="*/ 21 w 41"/>
                <a:gd name="T1" fmla="*/ 0 h 41"/>
                <a:gd name="T2" fmla="*/ 0 w 41"/>
                <a:gd name="T3" fmla="*/ 20 h 41"/>
                <a:gd name="T4" fmla="*/ 21 w 41"/>
                <a:gd name="T5" fmla="*/ 41 h 41"/>
                <a:gd name="T6" fmla="*/ 41 w 41"/>
                <a:gd name="T7" fmla="*/ 20 h 41"/>
                <a:gd name="T8" fmla="*/ 21 w 41"/>
                <a:gd name="T9" fmla="*/ 0 h 41"/>
                <a:gd name="T10" fmla="*/ 21 w 41"/>
                <a:gd name="T11" fmla="*/ 30 h 41"/>
                <a:gd name="T12" fmla="*/ 11 w 41"/>
                <a:gd name="T13" fmla="*/ 20 h 41"/>
                <a:gd name="T14" fmla="*/ 21 w 41"/>
                <a:gd name="T15" fmla="*/ 10 h 41"/>
                <a:gd name="T16" fmla="*/ 31 w 41"/>
                <a:gd name="T17" fmla="*/ 20 h 41"/>
                <a:gd name="T18" fmla="*/ 21 w 41"/>
                <a:gd name="T19" fmla="*/ 3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41">
                  <a:moveTo>
                    <a:pt x="21" y="0"/>
                  </a:moveTo>
                  <a:cubicBezTo>
                    <a:pt x="10" y="0"/>
                    <a:pt x="0" y="9"/>
                    <a:pt x="0" y="20"/>
                  </a:cubicBezTo>
                  <a:cubicBezTo>
                    <a:pt x="0" y="32"/>
                    <a:pt x="10" y="41"/>
                    <a:pt x="21" y="41"/>
                  </a:cubicBezTo>
                  <a:cubicBezTo>
                    <a:pt x="32" y="41"/>
                    <a:pt x="41" y="32"/>
                    <a:pt x="41" y="20"/>
                  </a:cubicBezTo>
                  <a:cubicBezTo>
                    <a:pt x="41" y="9"/>
                    <a:pt x="32" y="0"/>
                    <a:pt x="21" y="0"/>
                  </a:cubicBezTo>
                  <a:close/>
                  <a:moveTo>
                    <a:pt x="21" y="30"/>
                  </a:moveTo>
                  <a:cubicBezTo>
                    <a:pt x="15" y="30"/>
                    <a:pt x="11" y="26"/>
                    <a:pt x="11" y="20"/>
                  </a:cubicBezTo>
                  <a:cubicBezTo>
                    <a:pt x="11" y="15"/>
                    <a:pt x="15" y="10"/>
                    <a:pt x="21" y="10"/>
                  </a:cubicBezTo>
                  <a:cubicBezTo>
                    <a:pt x="26" y="10"/>
                    <a:pt x="31" y="15"/>
                    <a:pt x="31" y="20"/>
                  </a:cubicBezTo>
                  <a:cubicBezTo>
                    <a:pt x="31" y="26"/>
                    <a:pt x="26" y="30"/>
                    <a:pt x="21" y="3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39" name="Freeform 291">
              <a:extLst>
                <a:ext uri="{FF2B5EF4-FFF2-40B4-BE49-F238E27FC236}">
                  <a16:creationId xmlns:a16="http://schemas.microsoft.com/office/drawing/2014/main" id="{6967AC96-ADC3-9A85-A066-455BEB293A60}"/>
                </a:ext>
              </a:extLst>
            </p:cNvPr>
            <p:cNvSpPr>
              <a:spLocks noEditPoints="1"/>
            </p:cNvSpPr>
            <p:nvPr/>
          </p:nvSpPr>
          <p:spPr bwMode="auto">
            <a:xfrm>
              <a:off x="5070475" y="7261225"/>
              <a:ext cx="349250" cy="166688"/>
            </a:xfrm>
            <a:custGeom>
              <a:avLst/>
              <a:gdLst>
                <a:gd name="T0" fmla="*/ 34 w 189"/>
                <a:gd name="T1" fmla="*/ 90 h 90"/>
                <a:gd name="T2" fmla="*/ 155 w 189"/>
                <a:gd name="T3" fmla="*/ 90 h 90"/>
                <a:gd name="T4" fmla="*/ 189 w 189"/>
                <a:gd name="T5" fmla="*/ 63 h 90"/>
                <a:gd name="T6" fmla="*/ 186 w 189"/>
                <a:gd name="T7" fmla="*/ 26 h 90"/>
                <a:gd name="T8" fmla="*/ 186 w 189"/>
                <a:gd name="T9" fmla="*/ 25 h 90"/>
                <a:gd name="T10" fmla="*/ 155 w 189"/>
                <a:gd name="T11" fmla="*/ 0 h 90"/>
                <a:gd name="T12" fmla="*/ 34 w 189"/>
                <a:gd name="T13" fmla="*/ 0 h 90"/>
                <a:gd name="T14" fmla="*/ 3 w 189"/>
                <a:gd name="T15" fmla="*/ 25 h 90"/>
                <a:gd name="T16" fmla="*/ 3 w 189"/>
                <a:gd name="T17" fmla="*/ 26 h 90"/>
                <a:gd name="T18" fmla="*/ 0 w 189"/>
                <a:gd name="T19" fmla="*/ 64 h 90"/>
                <a:gd name="T20" fmla="*/ 34 w 189"/>
                <a:gd name="T21" fmla="*/ 90 h 90"/>
                <a:gd name="T22" fmla="*/ 14 w 189"/>
                <a:gd name="T23" fmla="*/ 27 h 90"/>
                <a:gd name="T24" fmla="*/ 34 w 189"/>
                <a:gd name="T25" fmla="*/ 11 h 90"/>
                <a:gd name="T26" fmla="*/ 155 w 189"/>
                <a:gd name="T27" fmla="*/ 11 h 90"/>
                <a:gd name="T28" fmla="*/ 175 w 189"/>
                <a:gd name="T29" fmla="*/ 27 h 90"/>
                <a:gd name="T30" fmla="*/ 178 w 189"/>
                <a:gd name="T31" fmla="*/ 64 h 90"/>
                <a:gd name="T32" fmla="*/ 155 w 189"/>
                <a:gd name="T33" fmla="*/ 79 h 90"/>
                <a:gd name="T34" fmla="*/ 34 w 189"/>
                <a:gd name="T35" fmla="*/ 79 h 90"/>
                <a:gd name="T36" fmla="*/ 11 w 189"/>
                <a:gd name="T37" fmla="*/ 64 h 90"/>
                <a:gd name="T38" fmla="*/ 14 w 189"/>
                <a:gd name="T39" fmla="*/ 2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9" h="90">
                  <a:moveTo>
                    <a:pt x="34" y="90"/>
                  </a:moveTo>
                  <a:cubicBezTo>
                    <a:pt x="155" y="90"/>
                    <a:pt x="155" y="90"/>
                    <a:pt x="155" y="90"/>
                  </a:cubicBezTo>
                  <a:cubicBezTo>
                    <a:pt x="171" y="90"/>
                    <a:pt x="189" y="79"/>
                    <a:pt x="189" y="63"/>
                  </a:cubicBezTo>
                  <a:cubicBezTo>
                    <a:pt x="186" y="26"/>
                    <a:pt x="186" y="26"/>
                    <a:pt x="186" y="26"/>
                  </a:cubicBezTo>
                  <a:cubicBezTo>
                    <a:pt x="186" y="26"/>
                    <a:pt x="186" y="25"/>
                    <a:pt x="186" y="25"/>
                  </a:cubicBezTo>
                  <a:cubicBezTo>
                    <a:pt x="183" y="13"/>
                    <a:pt x="172" y="0"/>
                    <a:pt x="155" y="0"/>
                  </a:cubicBezTo>
                  <a:cubicBezTo>
                    <a:pt x="34" y="0"/>
                    <a:pt x="34" y="0"/>
                    <a:pt x="34" y="0"/>
                  </a:cubicBezTo>
                  <a:cubicBezTo>
                    <a:pt x="17" y="0"/>
                    <a:pt x="6" y="13"/>
                    <a:pt x="3" y="25"/>
                  </a:cubicBezTo>
                  <a:cubicBezTo>
                    <a:pt x="3" y="25"/>
                    <a:pt x="3" y="26"/>
                    <a:pt x="3" y="26"/>
                  </a:cubicBezTo>
                  <a:cubicBezTo>
                    <a:pt x="0" y="64"/>
                    <a:pt x="0" y="64"/>
                    <a:pt x="0" y="64"/>
                  </a:cubicBezTo>
                  <a:cubicBezTo>
                    <a:pt x="0" y="79"/>
                    <a:pt x="18" y="90"/>
                    <a:pt x="34" y="90"/>
                  </a:cubicBezTo>
                  <a:close/>
                  <a:moveTo>
                    <a:pt x="14" y="27"/>
                  </a:moveTo>
                  <a:cubicBezTo>
                    <a:pt x="16" y="19"/>
                    <a:pt x="23" y="11"/>
                    <a:pt x="34" y="11"/>
                  </a:cubicBezTo>
                  <a:cubicBezTo>
                    <a:pt x="155" y="11"/>
                    <a:pt x="155" y="11"/>
                    <a:pt x="155" y="11"/>
                  </a:cubicBezTo>
                  <a:cubicBezTo>
                    <a:pt x="167" y="11"/>
                    <a:pt x="174" y="19"/>
                    <a:pt x="175" y="27"/>
                  </a:cubicBezTo>
                  <a:cubicBezTo>
                    <a:pt x="178" y="64"/>
                    <a:pt x="178" y="64"/>
                    <a:pt x="178" y="64"/>
                  </a:cubicBezTo>
                  <a:cubicBezTo>
                    <a:pt x="178" y="72"/>
                    <a:pt x="167" y="79"/>
                    <a:pt x="155" y="79"/>
                  </a:cubicBezTo>
                  <a:cubicBezTo>
                    <a:pt x="34" y="79"/>
                    <a:pt x="34" y="79"/>
                    <a:pt x="34" y="79"/>
                  </a:cubicBezTo>
                  <a:cubicBezTo>
                    <a:pt x="22" y="79"/>
                    <a:pt x="11" y="72"/>
                    <a:pt x="11" y="64"/>
                  </a:cubicBezTo>
                  <a:lnTo>
                    <a:pt x="14" y="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grpSp>
      <p:grpSp>
        <p:nvGrpSpPr>
          <p:cNvPr id="40" name="Group 39">
            <a:extLst>
              <a:ext uri="{FF2B5EF4-FFF2-40B4-BE49-F238E27FC236}">
                <a16:creationId xmlns:a16="http://schemas.microsoft.com/office/drawing/2014/main" id="{1B0E9589-8014-C722-1EFB-E30E2A0A57F0}"/>
              </a:ext>
              <a:ext uri="{C183D7F6-B498-43B3-948B-1728B52AA6E4}">
                <adec:decorative xmlns:adec="http://schemas.microsoft.com/office/drawing/2017/decorative" val="1"/>
              </a:ext>
            </a:extLst>
          </p:cNvPr>
          <p:cNvGrpSpPr/>
          <p:nvPr/>
        </p:nvGrpSpPr>
        <p:grpSpPr>
          <a:xfrm>
            <a:off x="545036" y="2845937"/>
            <a:ext cx="551141" cy="538239"/>
            <a:chOff x="9024938" y="1912938"/>
            <a:chExt cx="474663" cy="463550"/>
          </a:xfrm>
          <a:solidFill>
            <a:srgbClr val="00A99D"/>
          </a:solidFill>
        </p:grpSpPr>
        <p:sp>
          <p:nvSpPr>
            <p:cNvPr id="41" name="Freeform 250">
              <a:extLst>
                <a:ext uri="{FF2B5EF4-FFF2-40B4-BE49-F238E27FC236}">
                  <a16:creationId xmlns:a16="http://schemas.microsoft.com/office/drawing/2014/main" id="{BDC60F95-EEE9-8653-3875-6D2BDEF38B1E}"/>
                </a:ext>
              </a:extLst>
            </p:cNvPr>
            <p:cNvSpPr>
              <a:spLocks noEditPoints="1"/>
            </p:cNvSpPr>
            <p:nvPr/>
          </p:nvSpPr>
          <p:spPr bwMode="auto">
            <a:xfrm>
              <a:off x="9024938" y="1912938"/>
              <a:ext cx="474663" cy="463550"/>
            </a:xfrm>
            <a:custGeom>
              <a:avLst/>
              <a:gdLst>
                <a:gd name="T0" fmla="*/ 225 w 241"/>
                <a:gd name="T1" fmla="*/ 16 h 236"/>
                <a:gd name="T2" fmla="*/ 186 w 241"/>
                <a:gd name="T3" fmla="*/ 0 h 236"/>
                <a:gd name="T4" fmla="*/ 146 w 241"/>
                <a:gd name="T5" fmla="*/ 16 h 236"/>
                <a:gd name="T6" fmla="*/ 21 w 241"/>
                <a:gd name="T7" fmla="*/ 141 h 236"/>
                <a:gd name="T8" fmla="*/ 21 w 241"/>
                <a:gd name="T9" fmla="*/ 220 h 236"/>
                <a:gd name="T10" fmla="*/ 61 w 241"/>
                <a:gd name="T11" fmla="*/ 236 h 236"/>
                <a:gd name="T12" fmla="*/ 100 w 241"/>
                <a:gd name="T13" fmla="*/ 220 h 236"/>
                <a:gd name="T14" fmla="*/ 225 w 241"/>
                <a:gd name="T15" fmla="*/ 95 h 236"/>
                <a:gd name="T16" fmla="*/ 241 w 241"/>
                <a:gd name="T17" fmla="*/ 56 h 236"/>
                <a:gd name="T18" fmla="*/ 225 w 241"/>
                <a:gd name="T19" fmla="*/ 16 h 236"/>
                <a:gd name="T20" fmla="*/ 123 w 241"/>
                <a:gd name="T21" fmla="*/ 53 h 236"/>
                <a:gd name="T22" fmla="*/ 188 w 241"/>
                <a:gd name="T23" fmla="*/ 118 h 236"/>
                <a:gd name="T24" fmla="*/ 123 w 241"/>
                <a:gd name="T25" fmla="*/ 183 h 236"/>
                <a:gd name="T26" fmla="*/ 58 w 241"/>
                <a:gd name="T27" fmla="*/ 118 h 236"/>
                <a:gd name="T28" fmla="*/ 123 w 241"/>
                <a:gd name="T29" fmla="*/ 53 h 236"/>
                <a:gd name="T30" fmla="*/ 93 w 241"/>
                <a:gd name="T31" fmla="*/ 213 h 236"/>
                <a:gd name="T32" fmla="*/ 61 w 241"/>
                <a:gd name="T33" fmla="*/ 226 h 236"/>
                <a:gd name="T34" fmla="*/ 28 w 241"/>
                <a:gd name="T35" fmla="*/ 213 h 236"/>
                <a:gd name="T36" fmla="*/ 28 w 241"/>
                <a:gd name="T37" fmla="*/ 148 h 236"/>
                <a:gd name="T38" fmla="*/ 51 w 241"/>
                <a:gd name="T39" fmla="*/ 125 h 236"/>
                <a:gd name="T40" fmla="*/ 116 w 241"/>
                <a:gd name="T41" fmla="*/ 190 h 236"/>
                <a:gd name="T42" fmla="*/ 93 w 241"/>
                <a:gd name="T43" fmla="*/ 213 h 236"/>
                <a:gd name="T44" fmla="*/ 218 w 241"/>
                <a:gd name="T45" fmla="*/ 88 h 236"/>
                <a:gd name="T46" fmla="*/ 195 w 241"/>
                <a:gd name="T47" fmla="*/ 111 h 236"/>
                <a:gd name="T48" fmla="*/ 130 w 241"/>
                <a:gd name="T49" fmla="*/ 46 h 236"/>
                <a:gd name="T50" fmla="*/ 153 w 241"/>
                <a:gd name="T51" fmla="*/ 23 h 236"/>
                <a:gd name="T52" fmla="*/ 186 w 241"/>
                <a:gd name="T53" fmla="*/ 10 h 236"/>
                <a:gd name="T54" fmla="*/ 218 w 241"/>
                <a:gd name="T55" fmla="*/ 23 h 236"/>
                <a:gd name="T56" fmla="*/ 232 w 241"/>
                <a:gd name="T57" fmla="*/ 56 h 236"/>
                <a:gd name="T58" fmla="*/ 218 w 241"/>
                <a:gd name="T59" fmla="*/ 8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1" h="236">
                  <a:moveTo>
                    <a:pt x="225" y="16"/>
                  </a:moveTo>
                  <a:cubicBezTo>
                    <a:pt x="215" y="6"/>
                    <a:pt x="201" y="0"/>
                    <a:pt x="186" y="0"/>
                  </a:cubicBezTo>
                  <a:cubicBezTo>
                    <a:pt x="171" y="0"/>
                    <a:pt x="157" y="6"/>
                    <a:pt x="146" y="16"/>
                  </a:cubicBezTo>
                  <a:cubicBezTo>
                    <a:pt x="21" y="141"/>
                    <a:pt x="21" y="141"/>
                    <a:pt x="21" y="141"/>
                  </a:cubicBezTo>
                  <a:cubicBezTo>
                    <a:pt x="0" y="163"/>
                    <a:pt x="0" y="198"/>
                    <a:pt x="21" y="220"/>
                  </a:cubicBezTo>
                  <a:cubicBezTo>
                    <a:pt x="32" y="230"/>
                    <a:pt x="46" y="236"/>
                    <a:pt x="61" y="236"/>
                  </a:cubicBezTo>
                  <a:cubicBezTo>
                    <a:pt x="76" y="236"/>
                    <a:pt x="90" y="230"/>
                    <a:pt x="100" y="220"/>
                  </a:cubicBezTo>
                  <a:cubicBezTo>
                    <a:pt x="225" y="95"/>
                    <a:pt x="225" y="95"/>
                    <a:pt x="225" y="95"/>
                  </a:cubicBezTo>
                  <a:cubicBezTo>
                    <a:pt x="236" y="84"/>
                    <a:pt x="241" y="70"/>
                    <a:pt x="241" y="56"/>
                  </a:cubicBezTo>
                  <a:cubicBezTo>
                    <a:pt x="241" y="41"/>
                    <a:pt x="236" y="27"/>
                    <a:pt x="225" y="16"/>
                  </a:cubicBezTo>
                  <a:close/>
                  <a:moveTo>
                    <a:pt x="123" y="53"/>
                  </a:moveTo>
                  <a:cubicBezTo>
                    <a:pt x="188" y="118"/>
                    <a:pt x="188" y="118"/>
                    <a:pt x="188" y="118"/>
                  </a:cubicBezTo>
                  <a:cubicBezTo>
                    <a:pt x="123" y="183"/>
                    <a:pt x="123" y="183"/>
                    <a:pt x="123" y="183"/>
                  </a:cubicBezTo>
                  <a:cubicBezTo>
                    <a:pt x="58" y="118"/>
                    <a:pt x="58" y="118"/>
                    <a:pt x="58" y="118"/>
                  </a:cubicBezTo>
                  <a:lnTo>
                    <a:pt x="123" y="53"/>
                  </a:lnTo>
                  <a:close/>
                  <a:moveTo>
                    <a:pt x="93" y="213"/>
                  </a:moveTo>
                  <a:cubicBezTo>
                    <a:pt x="85" y="222"/>
                    <a:pt x="73" y="226"/>
                    <a:pt x="61" y="226"/>
                  </a:cubicBezTo>
                  <a:cubicBezTo>
                    <a:pt x="49" y="226"/>
                    <a:pt x="37" y="222"/>
                    <a:pt x="28" y="213"/>
                  </a:cubicBezTo>
                  <a:cubicBezTo>
                    <a:pt x="10" y="195"/>
                    <a:pt x="10" y="166"/>
                    <a:pt x="28" y="148"/>
                  </a:cubicBezTo>
                  <a:cubicBezTo>
                    <a:pt x="51" y="125"/>
                    <a:pt x="51" y="125"/>
                    <a:pt x="51" y="125"/>
                  </a:cubicBezTo>
                  <a:cubicBezTo>
                    <a:pt x="116" y="190"/>
                    <a:pt x="116" y="190"/>
                    <a:pt x="116" y="190"/>
                  </a:cubicBezTo>
                  <a:lnTo>
                    <a:pt x="93" y="213"/>
                  </a:lnTo>
                  <a:close/>
                  <a:moveTo>
                    <a:pt x="218" y="88"/>
                  </a:moveTo>
                  <a:cubicBezTo>
                    <a:pt x="195" y="111"/>
                    <a:pt x="195" y="111"/>
                    <a:pt x="195" y="111"/>
                  </a:cubicBezTo>
                  <a:cubicBezTo>
                    <a:pt x="130" y="46"/>
                    <a:pt x="130" y="46"/>
                    <a:pt x="130" y="46"/>
                  </a:cubicBezTo>
                  <a:cubicBezTo>
                    <a:pt x="153" y="23"/>
                    <a:pt x="153" y="23"/>
                    <a:pt x="153" y="23"/>
                  </a:cubicBezTo>
                  <a:cubicBezTo>
                    <a:pt x="162" y="14"/>
                    <a:pt x="173" y="10"/>
                    <a:pt x="186" y="10"/>
                  </a:cubicBezTo>
                  <a:cubicBezTo>
                    <a:pt x="198" y="10"/>
                    <a:pt x="210" y="14"/>
                    <a:pt x="218" y="23"/>
                  </a:cubicBezTo>
                  <a:cubicBezTo>
                    <a:pt x="227" y="32"/>
                    <a:pt x="232" y="43"/>
                    <a:pt x="232" y="56"/>
                  </a:cubicBezTo>
                  <a:cubicBezTo>
                    <a:pt x="232" y="68"/>
                    <a:pt x="227" y="79"/>
                    <a:pt x="218" y="8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42" name="Freeform 251">
              <a:extLst>
                <a:ext uri="{FF2B5EF4-FFF2-40B4-BE49-F238E27FC236}">
                  <a16:creationId xmlns:a16="http://schemas.microsoft.com/office/drawing/2014/main" id="{42D42E8F-8D18-8638-8284-DE6866506975}"/>
                </a:ext>
              </a:extLst>
            </p:cNvPr>
            <p:cNvSpPr>
              <a:spLocks/>
            </p:cNvSpPr>
            <p:nvPr/>
          </p:nvSpPr>
          <p:spPr bwMode="auto">
            <a:xfrm>
              <a:off x="9193213" y="2151063"/>
              <a:ext cx="28575" cy="26988"/>
            </a:xfrm>
            <a:custGeom>
              <a:avLst/>
              <a:gdLst>
                <a:gd name="T0" fmla="*/ 3 w 15"/>
                <a:gd name="T1" fmla="*/ 3 h 14"/>
                <a:gd name="T2" fmla="*/ 3 w 15"/>
                <a:gd name="T3" fmla="*/ 12 h 14"/>
                <a:gd name="T4" fmla="*/ 12 w 15"/>
                <a:gd name="T5" fmla="*/ 12 h 14"/>
                <a:gd name="T6" fmla="*/ 12 w 15"/>
                <a:gd name="T7" fmla="*/ 3 h 14"/>
                <a:gd name="T8" fmla="*/ 3 w 15"/>
                <a:gd name="T9" fmla="*/ 3 h 14"/>
              </a:gdLst>
              <a:ahLst/>
              <a:cxnLst>
                <a:cxn ang="0">
                  <a:pos x="T0" y="T1"/>
                </a:cxn>
                <a:cxn ang="0">
                  <a:pos x="T2" y="T3"/>
                </a:cxn>
                <a:cxn ang="0">
                  <a:pos x="T4" y="T5"/>
                </a:cxn>
                <a:cxn ang="0">
                  <a:pos x="T6" y="T7"/>
                </a:cxn>
                <a:cxn ang="0">
                  <a:pos x="T8" y="T9"/>
                </a:cxn>
              </a:cxnLst>
              <a:rect l="0" t="0" r="r" b="b"/>
              <a:pathLst>
                <a:path w="15" h="14">
                  <a:moveTo>
                    <a:pt x="3" y="3"/>
                  </a:moveTo>
                  <a:cubicBezTo>
                    <a:pt x="0" y="5"/>
                    <a:pt x="0" y="9"/>
                    <a:pt x="3" y="12"/>
                  </a:cubicBezTo>
                  <a:cubicBezTo>
                    <a:pt x="5" y="14"/>
                    <a:pt x="9" y="14"/>
                    <a:pt x="12" y="12"/>
                  </a:cubicBezTo>
                  <a:cubicBezTo>
                    <a:pt x="15" y="9"/>
                    <a:pt x="15" y="5"/>
                    <a:pt x="12" y="3"/>
                  </a:cubicBezTo>
                  <a:cubicBezTo>
                    <a:pt x="9" y="0"/>
                    <a:pt x="5" y="0"/>
                    <a:pt x="3" y="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43" name="Freeform 252">
              <a:extLst>
                <a:ext uri="{FF2B5EF4-FFF2-40B4-BE49-F238E27FC236}">
                  <a16:creationId xmlns:a16="http://schemas.microsoft.com/office/drawing/2014/main" id="{C9318149-5DFF-4296-AD45-5C88127C4A7D}"/>
                </a:ext>
              </a:extLst>
            </p:cNvPr>
            <p:cNvSpPr>
              <a:spLocks/>
            </p:cNvSpPr>
            <p:nvPr/>
          </p:nvSpPr>
          <p:spPr bwMode="auto">
            <a:xfrm>
              <a:off x="9234488" y="2192338"/>
              <a:ext cx="26988" cy="26988"/>
            </a:xfrm>
            <a:custGeom>
              <a:avLst/>
              <a:gdLst>
                <a:gd name="T0" fmla="*/ 2 w 14"/>
                <a:gd name="T1" fmla="*/ 2 h 14"/>
                <a:gd name="T2" fmla="*/ 2 w 14"/>
                <a:gd name="T3" fmla="*/ 12 h 14"/>
                <a:gd name="T4" fmla="*/ 12 w 14"/>
                <a:gd name="T5" fmla="*/ 12 h 14"/>
                <a:gd name="T6" fmla="*/ 12 w 14"/>
                <a:gd name="T7" fmla="*/ 2 h 14"/>
                <a:gd name="T8" fmla="*/ 2 w 14"/>
                <a:gd name="T9" fmla="*/ 2 h 14"/>
              </a:gdLst>
              <a:ahLst/>
              <a:cxnLst>
                <a:cxn ang="0">
                  <a:pos x="T0" y="T1"/>
                </a:cxn>
                <a:cxn ang="0">
                  <a:pos x="T2" y="T3"/>
                </a:cxn>
                <a:cxn ang="0">
                  <a:pos x="T4" y="T5"/>
                </a:cxn>
                <a:cxn ang="0">
                  <a:pos x="T6" y="T7"/>
                </a:cxn>
                <a:cxn ang="0">
                  <a:pos x="T8" y="T9"/>
                </a:cxn>
              </a:cxnLst>
              <a:rect l="0" t="0" r="r" b="b"/>
              <a:pathLst>
                <a:path w="14" h="14">
                  <a:moveTo>
                    <a:pt x="2" y="2"/>
                  </a:moveTo>
                  <a:cubicBezTo>
                    <a:pt x="0" y="5"/>
                    <a:pt x="0" y="9"/>
                    <a:pt x="2" y="12"/>
                  </a:cubicBezTo>
                  <a:cubicBezTo>
                    <a:pt x="5" y="14"/>
                    <a:pt x="9" y="14"/>
                    <a:pt x="12" y="12"/>
                  </a:cubicBezTo>
                  <a:cubicBezTo>
                    <a:pt x="14" y="9"/>
                    <a:pt x="14" y="5"/>
                    <a:pt x="12" y="2"/>
                  </a:cubicBezTo>
                  <a:cubicBezTo>
                    <a:pt x="9" y="0"/>
                    <a:pt x="5" y="0"/>
                    <a:pt x="2"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44" name="Freeform 253">
              <a:extLst>
                <a:ext uri="{FF2B5EF4-FFF2-40B4-BE49-F238E27FC236}">
                  <a16:creationId xmlns:a16="http://schemas.microsoft.com/office/drawing/2014/main" id="{CA9DD6F8-B4D6-BA39-85CD-49552AF6AD06}"/>
                </a:ext>
              </a:extLst>
            </p:cNvPr>
            <p:cNvSpPr>
              <a:spLocks/>
            </p:cNvSpPr>
            <p:nvPr/>
          </p:nvSpPr>
          <p:spPr bwMode="auto">
            <a:xfrm>
              <a:off x="9234488" y="2111376"/>
              <a:ext cx="26988" cy="26988"/>
            </a:xfrm>
            <a:custGeom>
              <a:avLst/>
              <a:gdLst>
                <a:gd name="T0" fmla="*/ 2 w 14"/>
                <a:gd name="T1" fmla="*/ 2 h 14"/>
                <a:gd name="T2" fmla="*/ 2 w 14"/>
                <a:gd name="T3" fmla="*/ 11 h 14"/>
                <a:gd name="T4" fmla="*/ 12 w 14"/>
                <a:gd name="T5" fmla="*/ 11 h 14"/>
                <a:gd name="T6" fmla="*/ 12 w 14"/>
                <a:gd name="T7" fmla="*/ 2 h 14"/>
                <a:gd name="T8" fmla="*/ 2 w 14"/>
                <a:gd name="T9" fmla="*/ 2 h 14"/>
              </a:gdLst>
              <a:ahLst/>
              <a:cxnLst>
                <a:cxn ang="0">
                  <a:pos x="T0" y="T1"/>
                </a:cxn>
                <a:cxn ang="0">
                  <a:pos x="T2" y="T3"/>
                </a:cxn>
                <a:cxn ang="0">
                  <a:pos x="T4" y="T5"/>
                </a:cxn>
                <a:cxn ang="0">
                  <a:pos x="T6" y="T7"/>
                </a:cxn>
                <a:cxn ang="0">
                  <a:pos x="T8" y="T9"/>
                </a:cxn>
              </a:cxnLst>
              <a:rect l="0" t="0" r="r" b="b"/>
              <a:pathLst>
                <a:path w="14" h="14">
                  <a:moveTo>
                    <a:pt x="2" y="2"/>
                  </a:moveTo>
                  <a:cubicBezTo>
                    <a:pt x="0" y="5"/>
                    <a:pt x="0" y="9"/>
                    <a:pt x="2" y="11"/>
                  </a:cubicBezTo>
                  <a:cubicBezTo>
                    <a:pt x="5" y="14"/>
                    <a:pt x="9" y="14"/>
                    <a:pt x="12" y="11"/>
                  </a:cubicBezTo>
                  <a:cubicBezTo>
                    <a:pt x="14" y="9"/>
                    <a:pt x="14" y="5"/>
                    <a:pt x="12" y="2"/>
                  </a:cubicBezTo>
                  <a:cubicBezTo>
                    <a:pt x="9" y="0"/>
                    <a:pt x="5" y="0"/>
                    <a:pt x="2"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45" name="Freeform 254">
              <a:extLst>
                <a:ext uri="{FF2B5EF4-FFF2-40B4-BE49-F238E27FC236}">
                  <a16:creationId xmlns:a16="http://schemas.microsoft.com/office/drawing/2014/main" id="{8DA6D0D6-FD6D-2532-FF96-F9C1715469AF}"/>
                </a:ext>
              </a:extLst>
            </p:cNvPr>
            <p:cNvSpPr>
              <a:spLocks/>
            </p:cNvSpPr>
            <p:nvPr/>
          </p:nvSpPr>
          <p:spPr bwMode="auto">
            <a:xfrm>
              <a:off x="9234488" y="2151063"/>
              <a:ext cx="26988" cy="26988"/>
            </a:xfrm>
            <a:custGeom>
              <a:avLst/>
              <a:gdLst>
                <a:gd name="T0" fmla="*/ 2 w 14"/>
                <a:gd name="T1" fmla="*/ 3 h 14"/>
                <a:gd name="T2" fmla="*/ 2 w 14"/>
                <a:gd name="T3" fmla="*/ 12 h 14"/>
                <a:gd name="T4" fmla="*/ 12 w 14"/>
                <a:gd name="T5" fmla="*/ 12 h 14"/>
                <a:gd name="T6" fmla="*/ 12 w 14"/>
                <a:gd name="T7" fmla="*/ 3 h 14"/>
                <a:gd name="T8" fmla="*/ 2 w 14"/>
                <a:gd name="T9" fmla="*/ 3 h 14"/>
              </a:gdLst>
              <a:ahLst/>
              <a:cxnLst>
                <a:cxn ang="0">
                  <a:pos x="T0" y="T1"/>
                </a:cxn>
                <a:cxn ang="0">
                  <a:pos x="T2" y="T3"/>
                </a:cxn>
                <a:cxn ang="0">
                  <a:pos x="T4" y="T5"/>
                </a:cxn>
                <a:cxn ang="0">
                  <a:pos x="T6" y="T7"/>
                </a:cxn>
                <a:cxn ang="0">
                  <a:pos x="T8" y="T9"/>
                </a:cxn>
              </a:cxnLst>
              <a:rect l="0" t="0" r="r" b="b"/>
              <a:pathLst>
                <a:path w="14" h="14">
                  <a:moveTo>
                    <a:pt x="2" y="3"/>
                  </a:moveTo>
                  <a:cubicBezTo>
                    <a:pt x="0" y="5"/>
                    <a:pt x="0" y="9"/>
                    <a:pt x="2" y="12"/>
                  </a:cubicBezTo>
                  <a:cubicBezTo>
                    <a:pt x="5" y="14"/>
                    <a:pt x="9" y="14"/>
                    <a:pt x="12" y="12"/>
                  </a:cubicBezTo>
                  <a:cubicBezTo>
                    <a:pt x="14" y="9"/>
                    <a:pt x="14" y="5"/>
                    <a:pt x="12" y="3"/>
                  </a:cubicBezTo>
                  <a:cubicBezTo>
                    <a:pt x="9" y="0"/>
                    <a:pt x="5" y="0"/>
                    <a:pt x="2" y="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46" name="Freeform 255">
              <a:extLst>
                <a:ext uri="{FF2B5EF4-FFF2-40B4-BE49-F238E27FC236}">
                  <a16:creationId xmlns:a16="http://schemas.microsoft.com/office/drawing/2014/main" id="{82F4BFD6-0596-35F8-1342-F1F4242F7C73}"/>
                </a:ext>
              </a:extLst>
            </p:cNvPr>
            <p:cNvSpPr>
              <a:spLocks/>
            </p:cNvSpPr>
            <p:nvPr/>
          </p:nvSpPr>
          <p:spPr bwMode="auto">
            <a:xfrm>
              <a:off x="9315450" y="2151063"/>
              <a:ext cx="26988" cy="26988"/>
            </a:xfrm>
            <a:custGeom>
              <a:avLst/>
              <a:gdLst>
                <a:gd name="T0" fmla="*/ 12 w 14"/>
                <a:gd name="T1" fmla="*/ 12 h 14"/>
                <a:gd name="T2" fmla="*/ 12 w 14"/>
                <a:gd name="T3" fmla="*/ 3 h 14"/>
                <a:gd name="T4" fmla="*/ 2 w 14"/>
                <a:gd name="T5" fmla="*/ 3 h 14"/>
                <a:gd name="T6" fmla="*/ 2 w 14"/>
                <a:gd name="T7" fmla="*/ 12 h 14"/>
                <a:gd name="T8" fmla="*/ 12 w 14"/>
                <a:gd name="T9" fmla="*/ 12 h 14"/>
              </a:gdLst>
              <a:ahLst/>
              <a:cxnLst>
                <a:cxn ang="0">
                  <a:pos x="T0" y="T1"/>
                </a:cxn>
                <a:cxn ang="0">
                  <a:pos x="T2" y="T3"/>
                </a:cxn>
                <a:cxn ang="0">
                  <a:pos x="T4" y="T5"/>
                </a:cxn>
                <a:cxn ang="0">
                  <a:pos x="T6" y="T7"/>
                </a:cxn>
                <a:cxn ang="0">
                  <a:pos x="T8" y="T9"/>
                </a:cxn>
              </a:cxnLst>
              <a:rect l="0" t="0" r="r" b="b"/>
              <a:pathLst>
                <a:path w="14" h="14">
                  <a:moveTo>
                    <a:pt x="12" y="12"/>
                  </a:moveTo>
                  <a:cubicBezTo>
                    <a:pt x="14" y="9"/>
                    <a:pt x="14" y="5"/>
                    <a:pt x="12" y="3"/>
                  </a:cubicBezTo>
                  <a:cubicBezTo>
                    <a:pt x="9" y="0"/>
                    <a:pt x="5" y="0"/>
                    <a:pt x="2" y="3"/>
                  </a:cubicBezTo>
                  <a:cubicBezTo>
                    <a:pt x="0" y="5"/>
                    <a:pt x="0" y="9"/>
                    <a:pt x="2" y="12"/>
                  </a:cubicBezTo>
                  <a:cubicBezTo>
                    <a:pt x="5" y="14"/>
                    <a:pt x="9" y="14"/>
                    <a:pt x="12"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47" name="Freeform 256">
              <a:extLst>
                <a:ext uri="{FF2B5EF4-FFF2-40B4-BE49-F238E27FC236}">
                  <a16:creationId xmlns:a16="http://schemas.microsoft.com/office/drawing/2014/main" id="{B0F9AB9A-1291-3C6D-C8EA-A807A3AFAFB8}"/>
                </a:ext>
              </a:extLst>
            </p:cNvPr>
            <p:cNvSpPr>
              <a:spLocks/>
            </p:cNvSpPr>
            <p:nvPr/>
          </p:nvSpPr>
          <p:spPr bwMode="auto">
            <a:xfrm>
              <a:off x="9274175" y="2111376"/>
              <a:ext cx="28575" cy="26988"/>
            </a:xfrm>
            <a:custGeom>
              <a:avLst/>
              <a:gdLst>
                <a:gd name="T0" fmla="*/ 12 w 15"/>
                <a:gd name="T1" fmla="*/ 11 h 14"/>
                <a:gd name="T2" fmla="*/ 12 w 15"/>
                <a:gd name="T3" fmla="*/ 2 h 14"/>
                <a:gd name="T4" fmla="*/ 3 w 15"/>
                <a:gd name="T5" fmla="*/ 2 h 14"/>
                <a:gd name="T6" fmla="*/ 3 w 15"/>
                <a:gd name="T7" fmla="*/ 11 h 14"/>
                <a:gd name="T8" fmla="*/ 12 w 15"/>
                <a:gd name="T9" fmla="*/ 11 h 14"/>
              </a:gdLst>
              <a:ahLst/>
              <a:cxnLst>
                <a:cxn ang="0">
                  <a:pos x="T0" y="T1"/>
                </a:cxn>
                <a:cxn ang="0">
                  <a:pos x="T2" y="T3"/>
                </a:cxn>
                <a:cxn ang="0">
                  <a:pos x="T4" y="T5"/>
                </a:cxn>
                <a:cxn ang="0">
                  <a:pos x="T6" y="T7"/>
                </a:cxn>
                <a:cxn ang="0">
                  <a:pos x="T8" y="T9"/>
                </a:cxn>
              </a:cxnLst>
              <a:rect l="0" t="0" r="r" b="b"/>
              <a:pathLst>
                <a:path w="15" h="14">
                  <a:moveTo>
                    <a:pt x="12" y="11"/>
                  </a:moveTo>
                  <a:cubicBezTo>
                    <a:pt x="15" y="9"/>
                    <a:pt x="15" y="5"/>
                    <a:pt x="12" y="2"/>
                  </a:cubicBezTo>
                  <a:cubicBezTo>
                    <a:pt x="10" y="0"/>
                    <a:pt x="5" y="0"/>
                    <a:pt x="3" y="2"/>
                  </a:cubicBezTo>
                  <a:cubicBezTo>
                    <a:pt x="0" y="5"/>
                    <a:pt x="0" y="9"/>
                    <a:pt x="3" y="11"/>
                  </a:cubicBezTo>
                  <a:cubicBezTo>
                    <a:pt x="5" y="14"/>
                    <a:pt x="10" y="14"/>
                    <a:pt x="12"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48" name="Freeform 257">
              <a:extLst>
                <a:ext uri="{FF2B5EF4-FFF2-40B4-BE49-F238E27FC236}">
                  <a16:creationId xmlns:a16="http://schemas.microsoft.com/office/drawing/2014/main" id="{BD8D3644-3D3E-9562-8302-3D02A3F6FFDF}"/>
                </a:ext>
              </a:extLst>
            </p:cNvPr>
            <p:cNvSpPr>
              <a:spLocks/>
            </p:cNvSpPr>
            <p:nvPr/>
          </p:nvSpPr>
          <p:spPr bwMode="auto">
            <a:xfrm>
              <a:off x="9193213" y="2111376"/>
              <a:ext cx="28575" cy="26988"/>
            </a:xfrm>
            <a:custGeom>
              <a:avLst/>
              <a:gdLst>
                <a:gd name="T0" fmla="*/ 3 w 15"/>
                <a:gd name="T1" fmla="*/ 2 h 14"/>
                <a:gd name="T2" fmla="*/ 3 w 15"/>
                <a:gd name="T3" fmla="*/ 11 h 14"/>
                <a:gd name="T4" fmla="*/ 12 w 15"/>
                <a:gd name="T5" fmla="*/ 11 h 14"/>
                <a:gd name="T6" fmla="*/ 12 w 15"/>
                <a:gd name="T7" fmla="*/ 2 h 14"/>
                <a:gd name="T8" fmla="*/ 3 w 15"/>
                <a:gd name="T9" fmla="*/ 2 h 14"/>
              </a:gdLst>
              <a:ahLst/>
              <a:cxnLst>
                <a:cxn ang="0">
                  <a:pos x="T0" y="T1"/>
                </a:cxn>
                <a:cxn ang="0">
                  <a:pos x="T2" y="T3"/>
                </a:cxn>
                <a:cxn ang="0">
                  <a:pos x="T4" y="T5"/>
                </a:cxn>
                <a:cxn ang="0">
                  <a:pos x="T6" y="T7"/>
                </a:cxn>
                <a:cxn ang="0">
                  <a:pos x="T8" y="T9"/>
                </a:cxn>
              </a:cxnLst>
              <a:rect l="0" t="0" r="r" b="b"/>
              <a:pathLst>
                <a:path w="15" h="14">
                  <a:moveTo>
                    <a:pt x="3" y="2"/>
                  </a:moveTo>
                  <a:cubicBezTo>
                    <a:pt x="0" y="5"/>
                    <a:pt x="0" y="9"/>
                    <a:pt x="3" y="11"/>
                  </a:cubicBezTo>
                  <a:cubicBezTo>
                    <a:pt x="5" y="14"/>
                    <a:pt x="10" y="14"/>
                    <a:pt x="12" y="11"/>
                  </a:cubicBezTo>
                  <a:cubicBezTo>
                    <a:pt x="15" y="9"/>
                    <a:pt x="15" y="5"/>
                    <a:pt x="12" y="2"/>
                  </a:cubicBezTo>
                  <a:cubicBezTo>
                    <a:pt x="10" y="0"/>
                    <a:pt x="5" y="0"/>
                    <a:pt x="3"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49" name="Freeform 258">
              <a:extLst>
                <a:ext uri="{FF2B5EF4-FFF2-40B4-BE49-F238E27FC236}">
                  <a16:creationId xmlns:a16="http://schemas.microsoft.com/office/drawing/2014/main" id="{497C78FF-5A77-BDB3-6CB2-B91497551C07}"/>
                </a:ext>
              </a:extLst>
            </p:cNvPr>
            <p:cNvSpPr>
              <a:spLocks/>
            </p:cNvSpPr>
            <p:nvPr/>
          </p:nvSpPr>
          <p:spPr bwMode="auto">
            <a:xfrm>
              <a:off x="9274175" y="2192338"/>
              <a:ext cx="28575" cy="26988"/>
            </a:xfrm>
            <a:custGeom>
              <a:avLst/>
              <a:gdLst>
                <a:gd name="T0" fmla="*/ 3 w 15"/>
                <a:gd name="T1" fmla="*/ 2 h 14"/>
                <a:gd name="T2" fmla="*/ 3 w 15"/>
                <a:gd name="T3" fmla="*/ 11 h 14"/>
                <a:gd name="T4" fmla="*/ 12 w 15"/>
                <a:gd name="T5" fmla="*/ 11 h 14"/>
                <a:gd name="T6" fmla="*/ 12 w 15"/>
                <a:gd name="T7" fmla="*/ 2 h 14"/>
                <a:gd name="T8" fmla="*/ 3 w 15"/>
                <a:gd name="T9" fmla="*/ 2 h 14"/>
              </a:gdLst>
              <a:ahLst/>
              <a:cxnLst>
                <a:cxn ang="0">
                  <a:pos x="T0" y="T1"/>
                </a:cxn>
                <a:cxn ang="0">
                  <a:pos x="T2" y="T3"/>
                </a:cxn>
                <a:cxn ang="0">
                  <a:pos x="T4" y="T5"/>
                </a:cxn>
                <a:cxn ang="0">
                  <a:pos x="T6" y="T7"/>
                </a:cxn>
                <a:cxn ang="0">
                  <a:pos x="T8" y="T9"/>
                </a:cxn>
              </a:cxnLst>
              <a:rect l="0" t="0" r="r" b="b"/>
              <a:pathLst>
                <a:path w="15" h="14">
                  <a:moveTo>
                    <a:pt x="3" y="2"/>
                  </a:moveTo>
                  <a:cubicBezTo>
                    <a:pt x="0" y="5"/>
                    <a:pt x="0" y="9"/>
                    <a:pt x="3" y="11"/>
                  </a:cubicBezTo>
                  <a:cubicBezTo>
                    <a:pt x="5" y="14"/>
                    <a:pt x="10" y="14"/>
                    <a:pt x="12" y="11"/>
                  </a:cubicBezTo>
                  <a:cubicBezTo>
                    <a:pt x="15" y="9"/>
                    <a:pt x="15" y="5"/>
                    <a:pt x="12" y="2"/>
                  </a:cubicBezTo>
                  <a:cubicBezTo>
                    <a:pt x="10" y="0"/>
                    <a:pt x="5" y="0"/>
                    <a:pt x="3"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50" name="Freeform 259">
              <a:extLst>
                <a:ext uri="{FF2B5EF4-FFF2-40B4-BE49-F238E27FC236}">
                  <a16:creationId xmlns:a16="http://schemas.microsoft.com/office/drawing/2014/main" id="{75AD5789-B628-58EF-395B-928C3FD3BC58}"/>
                </a:ext>
              </a:extLst>
            </p:cNvPr>
            <p:cNvSpPr>
              <a:spLocks/>
            </p:cNvSpPr>
            <p:nvPr/>
          </p:nvSpPr>
          <p:spPr bwMode="auto">
            <a:xfrm>
              <a:off x="9234488" y="2070101"/>
              <a:ext cx="26988" cy="26988"/>
            </a:xfrm>
            <a:custGeom>
              <a:avLst/>
              <a:gdLst>
                <a:gd name="T0" fmla="*/ 12 w 14"/>
                <a:gd name="T1" fmla="*/ 12 h 14"/>
                <a:gd name="T2" fmla="*/ 12 w 14"/>
                <a:gd name="T3" fmla="*/ 3 h 14"/>
                <a:gd name="T4" fmla="*/ 2 w 14"/>
                <a:gd name="T5" fmla="*/ 3 h 14"/>
                <a:gd name="T6" fmla="*/ 2 w 14"/>
                <a:gd name="T7" fmla="*/ 12 h 14"/>
                <a:gd name="T8" fmla="*/ 12 w 14"/>
                <a:gd name="T9" fmla="*/ 12 h 14"/>
              </a:gdLst>
              <a:ahLst/>
              <a:cxnLst>
                <a:cxn ang="0">
                  <a:pos x="T0" y="T1"/>
                </a:cxn>
                <a:cxn ang="0">
                  <a:pos x="T2" y="T3"/>
                </a:cxn>
                <a:cxn ang="0">
                  <a:pos x="T4" y="T5"/>
                </a:cxn>
                <a:cxn ang="0">
                  <a:pos x="T6" y="T7"/>
                </a:cxn>
                <a:cxn ang="0">
                  <a:pos x="T8" y="T9"/>
                </a:cxn>
              </a:cxnLst>
              <a:rect l="0" t="0" r="r" b="b"/>
              <a:pathLst>
                <a:path w="14" h="14">
                  <a:moveTo>
                    <a:pt x="12" y="12"/>
                  </a:moveTo>
                  <a:cubicBezTo>
                    <a:pt x="14" y="9"/>
                    <a:pt x="14" y="5"/>
                    <a:pt x="12" y="3"/>
                  </a:cubicBezTo>
                  <a:cubicBezTo>
                    <a:pt x="9" y="0"/>
                    <a:pt x="5" y="0"/>
                    <a:pt x="2" y="3"/>
                  </a:cubicBezTo>
                  <a:cubicBezTo>
                    <a:pt x="0" y="5"/>
                    <a:pt x="0" y="9"/>
                    <a:pt x="2" y="12"/>
                  </a:cubicBezTo>
                  <a:cubicBezTo>
                    <a:pt x="5" y="14"/>
                    <a:pt x="9" y="14"/>
                    <a:pt x="12"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51" name="Freeform 260">
              <a:extLst>
                <a:ext uri="{FF2B5EF4-FFF2-40B4-BE49-F238E27FC236}">
                  <a16:creationId xmlns:a16="http://schemas.microsoft.com/office/drawing/2014/main" id="{E0BFAF71-2A2D-68EB-12DE-B9C6BECF1E39}"/>
                </a:ext>
              </a:extLst>
            </p:cNvPr>
            <p:cNvSpPr>
              <a:spLocks/>
            </p:cNvSpPr>
            <p:nvPr/>
          </p:nvSpPr>
          <p:spPr bwMode="auto">
            <a:xfrm>
              <a:off x="9274175" y="2151063"/>
              <a:ext cx="28575" cy="26988"/>
            </a:xfrm>
            <a:custGeom>
              <a:avLst/>
              <a:gdLst>
                <a:gd name="T0" fmla="*/ 3 w 15"/>
                <a:gd name="T1" fmla="*/ 3 h 14"/>
                <a:gd name="T2" fmla="*/ 3 w 15"/>
                <a:gd name="T3" fmla="*/ 12 h 14"/>
                <a:gd name="T4" fmla="*/ 12 w 15"/>
                <a:gd name="T5" fmla="*/ 12 h 14"/>
                <a:gd name="T6" fmla="*/ 12 w 15"/>
                <a:gd name="T7" fmla="*/ 3 h 14"/>
                <a:gd name="T8" fmla="*/ 3 w 15"/>
                <a:gd name="T9" fmla="*/ 3 h 14"/>
              </a:gdLst>
              <a:ahLst/>
              <a:cxnLst>
                <a:cxn ang="0">
                  <a:pos x="T0" y="T1"/>
                </a:cxn>
                <a:cxn ang="0">
                  <a:pos x="T2" y="T3"/>
                </a:cxn>
                <a:cxn ang="0">
                  <a:pos x="T4" y="T5"/>
                </a:cxn>
                <a:cxn ang="0">
                  <a:pos x="T6" y="T7"/>
                </a:cxn>
                <a:cxn ang="0">
                  <a:pos x="T8" y="T9"/>
                </a:cxn>
              </a:cxnLst>
              <a:rect l="0" t="0" r="r" b="b"/>
              <a:pathLst>
                <a:path w="15" h="14">
                  <a:moveTo>
                    <a:pt x="3" y="3"/>
                  </a:moveTo>
                  <a:cubicBezTo>
                    <a:pt x="0" y="5"/>
                    <a:pt x="0" y="9"/>
                    <a:pt x="3" y="12"/>
                  </a:cubicBezTo>
                  <a:cubicBezTo>
                    <a:pt x="6" y="14"/>
                    <a:pt x="10" y="14"/>
                    <a:pt x="12" y="12"/>
                  </a:cubicBezTo>
                  <a:cubicBezTo>
                    <a:pt x="15" y="9"/>
                    <a:pt x="15" y="5"/>
                    <a:pt x="12" y="3"/>
                  </a:cubicBezTo>
                  <a:cubicBezTo>
                    <a:pt x="10" y="0"/>
                    <a:pt x="6" y="0"/>
                    <a:pt x="3" y="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52" name="Freeform 261">
              <a:extLst>
                <a:ext uri="{FF2B5EF4-FFF2-40B4-BE49-F238E27FC236}">
                  <a16:creationId xmlns:a16="http://schemas.microsoft.com/office/drawing/2014/main" id="{CBBBD524-76C9-143B-4A3D-CC123822A3E7}"/>
                </a:ext>
              </a:extLst>
            </p:cNvPr>
            <p:cNvSpPr>
              <a:spLocks/>
            </p:cNvSpPr>
            <p:nvPr/>
          </p:nvSpPr>
          <p:spPr bwMode="auto">
            <a:xfrm>
              <a:off x="9274175" y="2070101"/>
              <a:ext cx="28575" cy="26988"/>
            </a:xfrm>
            <a:custGeom>
              <a:avLst/>
              <a:gdLst>
                <a:gd name="T0" fmla="*/ 12 w 15"/>
                <a:gd name="T1" fmla="*/ 12 h 14"/>
                <a:gd name="T2" fmla="*/ 12 w 15"/>
                <a:gd name="T3" fmla="*/ 2 h 14"/>
                <a:gd name="T4" fmla="*/ 3 w 15"/>
                <a:gd name="T5" fmla="*/ 2 h 14"/>
                <a:gd name="T6" fmla="*/ 3 w 15"/>
                <a:gd name="T7" fmla="*/ 12 h 14"/>
                <a:gd name="T8" fmla="*/ 12 w 15"/>
                <a:gd name="T9" fmla="*/ 12 h 14"/>
              </a:gdLst>
              <a:ahLst/>
              <a:cxnLst>
                <a:cxn ang="0">
                  <a:pos x="T0" y="T1"/>
                </a:cxn>
                <a:cxn ang="0">
                  <a:pos x="T2" y="T3"/>
                </a:cxn>
                <a:cxn ang="0">
                  <a:pos x="T4" y="T5"/>
                </a:cxn>
                <a:cxn ang="0">
                  <a:pos x="T6" y="T7"/>
                </a:cxn>
                <a:cxn ang="0">
                  <a:pos x="T8" y="T9"/>
                </a:cxn>
              </a:cxnLst>
              <a:rect l="0" t="0" r="r" b="b"/>
              <a:pathLst>
                <a:path w="15" h="14">
                  <a:moveTo>
                    <a:pt x="12" y="12"/>
                  </a:moveTo>
                  <a:cubicBezTo>
                    <a:pt x="15" y="9"/>
                    <a:pt x="15" y="5"/>
                    <a:pt x="12" y="2"/>
                  </a:cubicBezTo>
                  <a:cubicBezTo>
                    <a:pt x="10" y="0"/>
                    <a:pt x="6" y="0"/>
                    <a:pt x="3" y="2"/>
                  </a:cubicBezTo>
                  <a:cubicBezTo>
                    <a:pt x="0" y="5"/>
                    <a:pt x="0" y="9"/>
                    <a:pt x="3" y="12"/>
                  </a:cubicBezTo>
                  <a:cubicBezTo>
                    <a:pt x="6" y="14"/>
                    <a:pt x="10" y="14"/>
                    <a:pt x="12" y="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53" name="Freeform 262">
              <a:extLst>
                <a:ext uri="{FF2B5EF4-FFF2-40B4-BE49-F238E27FC236}">
                  <a16:creationId xmlns:a16="http://schemas.microsoft.com/office/drawing/2014/main" id="{933F7E4C-82C9-6B9B-B63C-C5ACECEA5771}"/>
                </a:ext>
              </a:extLst>
            </p:cNvPr>
            <p:cNvSpPr>
              <a:spLocks/>
            </p:cNvSpPr>
            <p:nvPr/>
          </p:nvSpPr>
          <p:spPr bwMode="auto">
            <a:xfrm>
              <a:off x="9315450" y="2111376"/>
              <a:ext cx="26988" cy="26988"/>
            </a:xfrm>
            <a:custGeom>
              <a:avLst/>
              <a:gdLst>
                <a:gd name="T0" fmla="*/ 12 w 14"/>
                <a:gd name="T1" fmla="*/ 11 h 14"/>
                <a:gd name="T2" fmla="*/ 12 w 14"/>
                <a:gd name="T3" fmla="*/ 2 h 14"/>
                <a:gd name="T4" fmla="*/ 3 w 14"/>
                <a:gd name="T5" fmla="*/ 2 h 14"/>
                <a:gd name="T6" fmla="*/ 3 w 14"/>
                <a:gd name="T7" fmla="*/ 11 h 14"/>
                <a:gd name="T8" fmla="*/ 12 w 14"/>
                <a:gd name="T9" fmla="*/ 11 h 14"/>
              </a:gdLst>
              <a:ahLst/>
              <a:cxnLst>
                <a:cxn ang="0">
                  <a:pos x="T0" y="T1"/>
                </a:cxn>
                <a:cxn ang="0">
                  <a:pos x="T2" y="T3"/>
                </a:cxn>
                <a:cxn ang="0">
                  <a:pos x="T4" y="T5"/>
                </a:cxn>
                <a:cxn ang="0">
                  <a:pos x="T6" y="T7"/>
                </a:cxn>
                <a:cxn ang="0">
                  <a:pos x="T8" y="T9"/>
                </a:cxn>
              </a:cxnLst>
              <a:rect l="0" t="0" r="r" b="b"/>
              <a:pathLst>
                <a:path w="14" h="14">
                  <a:moveTo>
                    <a:pt x="12" y="11"/>
                  </a:moveTo>
                  <a:cubicBezTo>
                    <a:pt x="14" y="9"/>
                    <a:pt x="14" y="5"/>
                    <a:pt x="12" y="2"/>
                  </a:cubicBezTo>
                  <a:cubicBezTo>
                    <a:pt x="9" y="0"/>
                    <a:pt x="5" y="0"/>
                    <a:pt x="3" y="2"/>
                  </a:cubicBezTo>
                  <a:cubicBezTo>
                    <a:pt x="0" y="5"/>
                    <a:pt x="0" y="9"/>
                    <a:pt x="3" y="11"/>
                  </a:cubicBezTo>
                  <a:cubicBezTo>
                    <a:pt x="5" y="14"/>
                    <a:pt x="9" y="14"/>
                    <a:pt x="12"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grpSp>
      <p:grpSp>
        <p:nvGrpSpPr>
          <p:cNvPr id="54" name="Group 53">
            <a:extLst>
              <a:ext uri="{FF2B5EF4-FFF2-40B4-BE49-F238E27FC236}">
                <a16:creationId xmlns:a16="http://schemas.microsoft.com/office/drawing/2014/main" id="{B3E5602D-3F39-4E19-E05E-3975B27BE6B7}"/>
              </a:ext>
              <a:ext uri="{C183D7F6-B498-43B3-948B-1728B52AA6E4}">
                <adec:decorative xmlns:adec="http://schemas.microsoft.com/office/drawing/2017/decorative" val="1"/>
              </a:ext>
            </a:extLst>
          </p:cNvPr>
          <p:cNvGrpSpPr/>
          <p:nvPr/>
        </p:nvGrpSpPr>
        <p:grpSpPr>
          <a:xfrm>
            <a:off x="608174" y="2002471"/>
            <a:ext cx="424844" cy="536727"/>
            <a:chOff x="4535488" y="5551488"/>
            <a:chExt cx="446087" cy="563563"/>
          </a:xfrm>
          <a:solidFill>
            <a:srgbClr val="00A99D"/>
          </a:solidFill>
        </p:grpSpPr>
        <p:sp>
          <p:nvSpPr>
            <p:cNvPr id="55" name="Freeform 134">
              <a:extLst>
                <a:ext uri="{FF2B5EF4-FFF2-40B4-BE49-F238E27FC236}">
                  <a16:creationId xmlns:a16="http://schemas.microsoft.com/office/drawing/2014/main" id="{3212D641-1D47-10FB-C323-C3730D674BEE}"/>
                </a:ext>
              </a:extLst>
            </p:cNvPr>
            <p:cNvSpPr>
              <a:spLocks noEditPoints="1"/>
            </p:cNvSpPr>
            <p:nvPr/>
          </p:nvSpPr>
          <p:spPr bwMode="auto">
            <a:xfrm>
              <a:off x="4535488" y="5553075"/>
              <a:ext cx="271462" cy="558800"/>
            </a:xfrm>
            <a:custGeom>
              <a:avLst/>
              <a:gdLst>
                <a:gd name="T0" fmla="*/ 90 w 116"/>
                <a:gd name="T1" fmla="*/ 1 h 238"/>
                <a:gd name="T2" fmla="*/ 85 w 116"/>
                <a:gd name="T3" fmla="*/ 1 h 238"/>
                <a:gd name="T4" fmla="*/ 83 w 116"/>
                <a:gd name="T5" fmla="*/ 5 h 238"/>
                <a:gd name="T6" fmla="*/ 83 w 116"/>
                <a:gd name="T7" fmla="*/ 38 h 238"/>
                <a:gd name="T8" fmla="*/ 71 w 116"/>
                <a:gd name="T9" fmla="*/ 56 h 238"/>
                <a:gd name="T10" fmla="*/ 45 w 116"/>
                <a:gd name="T11" fmla="*/ 56 h 238"/>
                <a:gd name="T12" fmla="*/ 33 w 116"/>
                <a:gd name="T13" fmla="*/ 38 h 238"/>
                <a:gd name="T14" fmla="*/ 33 w 116"/>
                <a:gd name="T15" fmla="*/ 5 h 238"/>
                <a:gd name="T16" fmla="*/ 31 w 116"/>
                <a:gd name="T17" fmla="*/ 1 h 238"/>
                <a:gd name="T18" fmla="*/ 26 w 116"/>
                <a:gd name="T19" fmla="*/ 1 h 238"/>
                <a:gd name="T20" fmla="*/ 0 w 116"/>
                <a:gd name="T21" fmla="*/ 49 h 238"/>
                <a:gd name="T22" fmla="*/ 32 w 116"/>
                <a:gd name="T23" fmla="*/ 96 h 238"/>
                <a:gd name="T24" fmla="*/ 25 w 116"/>
                <a:gd name="T25" fmla="*/ 205 h 238"/>
                <a:gd name="T26" fmla="*/ 58 w 116"/>
                <a:gd name="T27" fmla="*/ 238 h 238"/>
                <a:gd name="T28" fmla="*/ 91 w 116"/>
                <a:gd name="T29" fmla="*/ 205 h 238"/>
                <a:gd name="T30" fmla="*/ 84 w 116"/>
                <a:gd name="T31" fmla="*/ 96 h 238"/>
                <a:gd name="T32" fmla="*/ 116 w 116"/>
                <a:gd name="T33" fmla="*/ 49 h 238"/>
                <a:gd name="T34" fmla="*/ 90 w 116"/>
                <a:gd name="T35" fmla="*/ 1 h 238"/>
                <a:gd name="T36" fmla="*/ 76 w 116"/>
                <a:gd name="T37" fmla="*/ 89 h 238"/>
                <a:gd name="T38" fmla="*/ 74 w 116"/>
                <a:gd name="T39" fmla="*/ 94 h 238"/>
                <a:gd name="T40" fmla="*/ 81 w 116"/>
                <a:gd name="T41" fmla="*/ 205 h 238"/>
                <a:gd name="T42" fmla="*/ 58 w 116"/>
                <a:gd name="T43" fmla="*/ 229 h 238"/>
                <a:gd name="T44" fmla="*/ 34 w 116"/>
                <a:gd name="T45" fmla="*/ 205 h 238"/>
                <a:gd name="T46" fmla="*/ 42 w 116"/>
                <a:gd name="T47" fmla="*/ 94 h 238"/>
                <a:gd name="T48" fmla="*/ 40 w 116"/>
                <a:gd name="T49" fmla="*/ 89 h 238"/>
                <a:gd name="T50" fmla="*/ 10 w 116"/>
                <a:gd name="T51" fmla="*/ 49 h 238"/>
                <a:gd name="T52" fmla="*/ 24 w 116"/>
                <a:gd name="T53" fmla="*/ 15 h 238"/>
                <a:gd name="T54" fmla="*/ 24 w 116"/>
                <a:gd name="T55" fmla="*/ 39 h 238"/>
                <a:gd name="T56" fmla="*/ 25 w 116"/>
                <a:gd name="T57" fmla="*/ 42 h 238"/>
                <a:gd name="T58" fmla="*/ 39 w 116"/>
                <a:gd name="T59" fmla="*/ 64 h 238"/>
                <a:gd name="T60" fmla="*/ 43 w 116"/>
                <a:gd name="T61" fmla="*/ 66 h 238"/>
                <a:gd name="T62" fmla="*/ 73 w 116"/>
                <a:gd name="T63" fmla="*/ 66 h 238"/>
                <a:gd name="T64" fmla="*/ 77 w 116"/>
                <a:gd name="T65" fmla="*/ 64 h 238"/>
                <a:gd name="T66" fmla="*/ 91 w 116"/>
                <a:gd name="T67" fmla="*/ 42 h 238"/>
                <a:gd name="T68" fmla="*/ 92 w 116"/>
                <a:gd name="T69" fmla="*/ 39 h 238"/>
                <a:gd name="T70" fmla="*/ 92 w 116"/>
                <a:gd name="T71" fmla="*/ 15 h 238"/>
                <a:gd name="T72" fmla="*/ 106 w 116"/>
                <a:gd name="T73" fmla="*/ 49 h 238"/>
                <a:gd name="T74" fmla="*/ 76 w 116"/>
                <a:gd name="T75" fmla="*/ 8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6" h="238">
                  <a:moveTo>
                    <a:pt x="90" y="1"/>
                  </a:moveTo>
                  <a:cubicBezTo>
                    <a:pt x="89" y="0"/>
                    <a:pt x="87" y="0"/>
                    <a:pt x="85" y="1"/>
                  </a:cubicBezTo>
                  <a:cubicBezTo>
                    <a:pt x="83" y="2"/>
                    <a:pt x="83" y="3"/>
                    <a:pt x="83" y="5"/>
                  </a:cubicBezTo>
                  <a:cubicBezTo>
                    <a:pt x="83" y="38"/>
                    <a:pt x="83" y="38"/>
                    <a:pt x="83" y="38"/>
                  </a:cubicBezTo>
                  <a:cubicBezTo>
                    <a:pt x="71" y="56"/>
                    <a:pt x="71" y="56"/>
                    <a:pt x="71" y="56"/>
                  </a:cubicBezTo>
                  <a:cubicBezTo>
                    <a:pt x="45" y="56"/>
                    <a:pt x="45" y="56"/>
                    <a:pt x="45" y="56"/>
                  </a:cubicBezTo>
                  <a:cubicBezTo>
                    <a:pt x="33" y="38"/>
                    <a:pt x="33" y="38"/>
                    <a:pt x="33" y="38"/>
                  </a:cubicBezTo>
                  <a:cubicBezTo>
                    <a:pt x="33" y="5"/>
                    <a:pt x="33" y="5"/>
                    <a:pt x="33" y="5"/>
                  </a:cubicBezTo>
                  <a:cubicBezTo>
                    <a:pt x="33" y="3"/>
                    <a:pt x="32" y="2"/>
                    <a:pt x="31" y="1"/>
                  </a:cubicBezTo>
                  <a:cubicBezTo>
                    <a:pt x="29" y="0"/>
                    <a:pt x="27" y="0"/>
                    <a:pt x="26" y="1"/>
                  </a:cubicBezTo>
                  <a:cubicBezTo>
                    <a:pt x="10" y="12"/>
                    <a:pt x="0" y="30"/>
                    <a:pt x="0" y="49"/>
                  </a:cubicBezTo>
                  <a:cubicBezTo>
                    <a:pt x="0" y="72"/>
                    <a:pt x="22" y="89"/>
                    <a:pt x="32" y="96"/>
                  </a:cubicBezTo>
                  <a:cubicBezTo>
                    <a:pt x="25" y="205"/>
                    <a:pt x="25" y="205"/>
                    <a:pt x="25" y="205"/>
                  </a:cubicBezTo>
                  <a:cubicBezTo>
                    <a:pt x="25" y="223"/>
                    <a:pt x="40" y="238"/>
                    <a:pt x="58" y="238"/>
                  </a:cubicBezTo>
                  <a:cubicBezTo>
                    <a:pt x="76" y="238"/>
                    <a:pt x="91" y="223"/>
                    <a:pt x="91" y="205"/>
                  </a:cubicBezTo>
                  <a:cubicBezTo>
                    <a:pt x="84" y="96"/>
                    <a:pt x="84" y="96"/>
                    <a:pt x="84" y="96"/>
                  </a:cubicBezTo>
                  <a:cubicBezTo>
                    <a:pt x="93" y="89"/>
                    <a:pt x="116" y="72"/>
                    <a:pt x="116" y="49"/>
                  </a:cubicBezTo>
                  <a:cubicBezTo>
                    <a:pt x="116" y="30"/>
                    <a:pt x="106" y="12"/>
                    <a:pt x="90" y="1"/>
                  </a:cubicBezTo>
                  <a:close/>
                  <a:moveTo>
                    <a:pt x="76" y="89"/>
                  </a:moveTo>
                  <a:cubicBezTo>
                    <a:pt x="74" y="90"/>
                    <a:pt x="74" y="92"/>
                    <a:pt x="74" y="94"/>
                  </a:cubicBezTo>
                  <a:cubicBezTo>
                    <a:pt x="81" y="205"/>
                    <a:pt x="81" y="205"/>
                    <a:pt x="81" y="205"/>
                  </a:cubicBezTo>
                  <a:cubicBezTo>
                    <a:pt x="81" y="218"/>
                    <a:pt x="71" y="229"/>
                    <a:pt x="58" y="229"/>
                  </a:cubicBezTo>
                  <a:cubicBezTo>
                    <a:pt x="45" y="229"/>
                    <a:pt x="34" y="218"/>
                    <a:pt x="34" y="205"/>
                  </a:cubicBezTo>
                  <a:cubicBezTo>
                    <a:pt x="42" y="94"/>
                    <a:pt x="42" y="94"/>
                    <a:pt x="42" y="94"/>
                  </a:cubicBezTo>
                  <a:cubicBezTo>
                    <a:pt x="42" y="92"/>
                    <a:pt x="41" y="90"/>
                    <a:pt x="40" y="89"/>
                  </a:cubicBezTo>
                  <a:cubicBezTo>
                    <a:pt x="33" y="85"/>
                    <a:pt x="10" y="69"/>
                    <a:pt x="10" y="49"/>
                  </a:cubicBezTo>
                  <a:cubicBezTo>
                    <a:pt x="10" y="36"/>
                    <a:pt x="15" y="24"/>
                    <a:pt x="24" y="15"/>
                  </a:cubicBezTo>
                  <a:cubicBezTo>
                    <a:pt x="24" y="39"/>
                    <a:pt x="24" y="39"/>
                    <a:pt x="24" y="39"/>
                  </a:cubicBezTo>
                  <a:cubicBezTo>
                    <a:pt x="24" y="40"/>
                    <a:pt x="24" y="41"/>
                    <a:pt x="25" y="42"/>
                  </a:cubicBezTo>
                  <a:cubicBezTo>
                    <a:pt x="39" y="64"/>
                    <a:pt x="39" y="64"/>
                    <a:pt x="39" y="64"/>
                  </a:cubicBezTo>
                  <a:cubicBezTo>
                    <a:pt x="40" y="65"/>
                    <a:pt x="41" y="66"/>
                    <a:pt x="43" y="66"/>
                  </a:cubicBezTo>
                  <a:cubicBezTo>
                    <a:pt x="73" y="66"/>
                    <a:pt x="73" y="66"/>
                    <a:pt x="73" y="66"/>
                  </a:cubicBezTo>
                  <a:cubicBezTo>
                    <a:pt x="75" y="66"/>
                    <a:pt x="76" y="65"/>
                    <a:pt x="77" y="64"/>
                  </a:cubicBezTo>
                  <a:cubicBezTo>
                    <a:pt x="91" y="42"/>
                    <a:pt x="91" y="42"/>
                    <a:pt x="91" y="42"/>
                  </a:cubicBezTo>
                  <a:cubicBezTo>
                    <a:pt x="92" y="41"/>
                    <a:pt x="92" y="40"/>
                    <a:pt x="92" y="39"/>
                  </a:cubicBezTo>
                  <a:cubicBezTo>
                    <a:pt x="92" y="15"/>
                    <a:pt x="92" y="15"/>
                    <a:pt x="92" y="15"/>
                  </a:cubicBezTo>
                  <a:cubicBezTo>
                    <a:pt x="101" y="24"/>
                    <a:pt x="106" y="36"/>
                    <a:pt x="106" y="49"/>
                  </a:cubicBezTo>
                  <a:cubicBezTo>
                    <a:pt x="106" y="69"/>
                    <a:pt x="83" y="85"/>
                    <a:pt x="76" y="8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56" name="Freeform 135">
              <a:extLst>
                <a:ext uri="{FF2B5EF4-FFF2-40B4-BE49-F238E27FC236}">
                  <a16:creationId xmlns:a16="http://schemas.microsoft.com/office/drawing/2014/main" id="{1A6898B4-4B3F-98EB-E7AD-A6BF7D365542}"/>
                </a:ext>
              </a:extLst>
            </p:cNvPr>
            <p:cNvSpPr>
              <a:spLocks/>
            </p:cNvSpPr>
            <p:nvPr/>
          </p:nvSpPr>
          <p:spPr bwMode="auto">
            <a:xfrm>
              <a:off x="4652963" y="6016625"/>
              <a:ext cx="36512" cy="36513"/>
            </a:xfrm>
            <a:custGeom>
              <a:avLst/>
              <a:gdLst>
                <a:gd name="T0" fmla="*/ 8 w 16"/>
                <a:gd name="T1" fmla="*/ 0 h 16"/>
                <a:gd name="T2" fmla="*/ 0 w 16"/>
                <a:gd name="T3" fmla="*/ 8 h 16"/>
                <a:gd name="T4" fmla="*/ 8 w 16"/>
                <a:gd name="T5" fmla="*/ 16 h 16"/>
                <a:gd name="T6" fmla="*/ 16 w 16"/>
                <a:gd name="T7" fmla="*/ 8 h 16"/>
                <a:gd name="T8" fmla="*/ 16 w 16"/>
                <a:gd name="T9" fmla="*/ 8 h 16"/>
                <a:gd name="T10" fmla="*/ 8 w 16"/>
                <a:gd name="T11" fmla="*/ 0 h 16"/>
              </a:gdLst>
              <a:ahLst/>
              <a:cxnLst>
                <a:cxn ang="0">
                  <a:pos x="T0" y="T1"/>
                </a:cxn>
                <a:cxn ang="0">
                  <a:pos x="T2" y="T3"/>
                </a:cxn>
                <a:cxn ang="0">
                  <a:pos x="T4" y="T5"/>
                </a:cxn>
                <a:cxn ang="0">
                  <a:pos x="T6" y="T7"/>
                </a:cxn>
                <a:cxn ang="0">
                  <a:pos x="T8" y="T9"/>
                </a:cxn>
                <a:cxn ang="0">
                  <a:pos x="T10" y="T11"/>
                </a:cxn>
              </a:cxnLst>
              <a:rect l="0" t="0" r="r" b="b"/>
              <a:pathLst>
                <a:path w="16" h="16">
                  <a:moveTo>
                    <a:pt x="8" y="0"/>
                  </a:moveTo>
                  <a:cubicBezTo>
                    <a:pt x="4" y="0"/>
                    <a:pt x="0" y="4"/>
                    <a:pt x="0" y="8"/>
                  </a:cubicBezTo>
                  <a:cubicBezTo>
                    <a:pt x="0" y="12"/>
                    <a:pt x="4" y="16"/>
                    <a:pt x="8" y="16"/>
                  </a:cubicBezTo>
                  <a:cubicBezTo>
                    <a:pt x="12" y="16"/>
                    <a:pt x="16" y="12"/>
                    <a:pt x="16" y="8"/>
                  </a:cubicBezTo>
                  <a:cubicBezTo>
                    <a:pt x="16" y="8"/>
                    <a:pt x="16" y="8"/>
                    <a:pt x="16" y="8"/>
                  </a:cubicBezTo>
                  <a:cubicBezTo>
                    <a:pt x="16" y="4"/>
                    <a:pt x="12" y="0"/>
                    <a:pt x="8"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57" name="Freeform 136">
              <a:extLst>
                <a:ext uri="{FF2B5EF4-FFF2-40B4-BE49-F238E27FC236}">
                  <a16:creationId xmlns:a16="http://schemas.microsoft.com/office/drawing/2014/main" id="{30B9CBE1-75CF-8EEE-A927-8F88D79E9C40}"/>
                </a:ext>
              </a:extLst>
            </p:cNvPr>
            <p:cNvSpPr>
              <a:spLocks noEditPoints="1"/>
            </p:cNvSpPr>
            <p:nvPr/>
          </p:nvSpPr>
          <p:spPr bwMode="auto">
            <a:xfrm>
              <a:off x="4845050" y="5551488"/>
              <a:ext cx="136525" cy="563563"/>
            </a:xfrm>
            <a:custGeom>
              <a:avLst/>
              <a:gdLst>
                <a:gd name="T0" fmla="*/ 56 w 58"/>
                <a:gd name="T1" fmla="*/ 133 h 240"/>
                <a:gd name="T2" fmla="*/ 58 w 58"/>
                <a:gd name="T3" fmla="*/ 129 h 240"/>
                <a:gd name="T4" fmla="*/ 58 w 58"/>
                <a:gd name="T5" fmla="*/ 108 h 240"/>
                <a:gd name="T6" fmla="*/ 53 w 58"/>
                <a:gd name="T7" fmla="*/ 103 h 240"/>
                <a:gd name="T8" fmla="*/ 34 w 58"/>
                <a:gd name="T9" fmla="*/ 103 h 240"/>
                <a:gd name="T10" fmla="*/ 34 w 58"/>
                <a:gd name="T11" fmla="*/ 35 h 240"/>
                <a:gd name="T12" fmla="*/ 34 w 58"/>
                <a:gd name="T13" fmla="*/ 35 h 240"/>
                <a:gd name="T14" fmla="*/ 38 w 58"/>
                <a:gd name="T15" fmla="*/ 32 h 240"/>
                <a:gd name="T16" fmla="*/ 42 w 58"/>
                <a:gd name="T17" fmla="*/ 17 h 240"/>
                <a:gd name="T18" fmla="*/ 42 w 58"/>
                <a:gd name="T19" fmla="*/ 14 h 240"/>
                <a:gd name="T20" fmla="*/ 38 w 58"/>
                <a:gd name="T21" fmla="*/ 3 h 240"/>
                <a:gd name="T22" fmla="*/ 34 w 58"/>
                <a:gd name="T23" fmla="*/ 0 h 240"/>
                <a:gd name="T24" fmla="*/ 24 w 58"/>
                <a:gd name="T25" fmla="*/ 0 h 240"/>
                <a:gd name="T26" fmla="*/ 19 w 58"/>
                <a:gd name="T27" fmla="*/ 3 h 240"/>
                <a:gd name="T28" fmla="*/ 16 w 58"/>
                <a:gd name="T29" fmla="*/ 14 h 240"/>
                <a:gd name="T30" fmla="*/ 16 w 58"/>
                <a:gd name="T31" fmla="*/ 17 h 240"/>
                <a:gd name="T32" fmla="*/ 19 w 58"/>
                <a:gd name="T33" fmla="*/ 32 h 240"/>
                <a:gd name="T34" fmla="*/ 24 w 58"/>
                <a:gd name="T35" fmla="*/ 35 h 240"/>
                <a:gd name="T36" fmla="*/ 24 w 58"/>
                <a:gd name="T37" fmla="*/ 35 h 240"/>
                <a:gd name="T38" fmla="*/ 24 w 58"/>
                <a:gd name="T39" fmla="*/ 103 h 240"/>
                <a:gd name="T40" fmla="*/ 4 w 58"/>
                <a:gd name="T41" fmla="*/ 103 h 240"/>
                <a:gd name="T42" fmla="*/ 0 w 58"/>
                <a:gd name="T43" fmla="*/ 108 h 240"/>
                <a:gd name="T44" fmla="*/ 0 w 58"/>
                <a:gd name="T45" fmla="*/ 129 h 240"/>
                <a:gd name="T46" fmla="*/ 2 w 58"/>
                <a:gd name="T47" fmla="*/ 133 h 240"/>
                <a:gd name="T48" fmla="*/ 7 w 58"/>
                <a:gd name="T49" fmla="*/ 141 h 240"/>
                <a:gd name="T50" fmla="*/ 2 w 58"/>
                <a:gd name="T51" fmla="*/ 149 h 240"/>
                <a:gd name="T52" fmla="*/ 0 w 58"/>
                <a:gd name="T53" fmla="*/ 153 h 240"/>
                <a:gd name="T54" fmla="*/ 0 w 58"/>
                <a:gd name="T55" fmla="*/ 210 h 240"/>
                <a:gd name="T56" fmla="*/ 29 w 58"/>
                <a:gd name="T57" fmla="*/ 240 h 240"/>
                <a:gd name="T58" fmla="*/ 58 w 58"/>
                <a:gd name="T59" fmla="*/ 210 h 240"/>
                <a:gd name="T60" fmla="*/ 58 w 58"/>
                <a:gd name="T61" fmla="*/ 153 h 240"/>
                <a:gd name="T62" fmla="*/ 56 w 58"/>
                <a:gd name="T63" fmla="*/ 149 h 240"/>
                <a:gd name="T64" fmla="*/ 51 w 58"/>
                <a:gd name="T65" fmla="*/ 141 h 240"/>
                <a:gd name="T66" fmla="*/ 56 w 58"/>
                <a:gd name="T67" fmla="*/ 133 h 240"/>
                <a:gd name="T68" fmla="*/ 27 w 58"/>
                <a:gd name="T69" fmla="*/ 9 h 240"/>
                <a:gd name="T70" fmla="*/ 30 w 58"/>
                <a:gd name="T71" fmla="*/ 9 h 240"/>
                <a:gd name="T72" fmla="*/ 32 w 58"/>
                <a:gd name="T73" fmla="*/ 16 h 240"/>
                <a:gd name="T74" fmla="*/ 30 w 58"/>
                <a:gd name="T75" fmla="*/ 26 h 240"/>
                <a:gd name="T76" fmla="*/ 28 w 58"/>
                <a:gd name="T77" fmla="*/ 26 h 240"/>
                <a:gd name="T78" fmla="*/ 25 w 58"/>
                <a:gd name="T79" fmla="*/ 16 h 240"/>
                <a:gd name="T80" fmla="*/ 27 w 58"/>
                <a:gd name="T81" fmla="*/ 9 h 240"/>
                <a:gd name="T82" fmla="*/ 48 w 58"/>
                <a:gd name="T83" fmla="*/ 126 h 240"/>
                <a:gd name="T84" fmla="*/ 41 w 58"/>
                <a:gd name="T85" fmla="*/ 141 h 240"/>
                <a:gd name="T86" fmla="*/ 48 w 58"/>
                <a:gd name="T87" fmla="*/ 156 h 240"/>
                <a:gd name="T88" fmla="*/ 48 w 58"/>
                <a:gd name="T89" fmla="*/ 210 h 240"/>
                <a:gd name="T90" fmla="*/ 29 w 58"/>
                <a:gd name="T91" fmla="*/ 230 h 240"/>
                <a:gd name="T92" fmla="*/ 9 w 58"/>
                <a:gd name="T93" fmla="*/ 210 h 240"/>
                <a:gd name="T94" fmla="*/ 9 w 58"/>
                <a:gd name="T95" fmla="*/ 156 h 240"/>
                <a:gd name="T96" fmla="*/ 16 w 58"/>
                <a:gd name="T97" fmla="*/ 141 h 240"/>
                <a:gd name="T98" fmla="*/ 9 w 58"/>
                <a:gd name="T99" fmla="*/ 126 h 240"/>
                <a:gd name="T100" fmla="*/ 9 w 58"/>
                <a:gd name="T101" fmla="*/ 113 h 240"/>
                <a:gd name="T102" fmla="*/ 48 w 58"/>
                <a:gd name="T103" fmla="*/ 113 h 240"/>
                <a:gd name="T104" fmla="*/ 48 w 58"/>
                <a:gd name="T105" fmla="*/ 12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8" h="240">
                  <a:moveTo>
                    <a:pt x="56" y="133"/>
                  </a:moveTo>
                  <a:cubicBezTo>
                    <a:pt x="57" y="132"/>
                    <a:pt x="58" y="131"/>
                    <a:pt x="58" y="129"/>
                  </a:cubicBezTo>
                  <a:cubicBezTo>
                    <a:pt x="58" y="108"/>
                    <a:pt x="58" y="108"/>
                    <a:pt x="58" y="108"/>
                  </a:cubicBezTo>
                  <a:cubicBezTo>
                    <a:pt x="58" y="105"/>
                    <a:pt x="56" y="103"/>
                    <a:pt x="53" y="103"/>
                  </a:cubicBezTo>
                  <a:cubicBezTo>
                    <a:pt x="34" y="103"/>
                    <a:pt x="34" y="103"/>
                    <a:pt x="34" y="103"/>
                  </a:cubicBezTo>
                  <a:cubicBezTo>
                    <a:pt x="34" y="35"/>
                    <a:pt x="34" y="35"/>
                    <a:pt x="34" y="35"/>
                  </a:cubicBezTo>
                  <a:cubicBezTo>
                    <a:pt x="34" y="35"/>
                    <a:pt x="34" y="35"/>
                    <a:pt x="34" y="35"/>
                  </a:cubicBezTo>
                  <a:cubicBezTo>
                    <a:pt x="36" y="35"/>
                    <a:pt x="38" y="34"/>
                    <a:pt x="38" y="32"/>
                  </a:cubicBezTo>
                  <a:cubicBezTo>
                    <a:pt x="42" y="17"/>
                    <a:pt x="42" y="17"/>
                    <a:pt x="42" y="17"/>
                  </a:cubicBezTo>
                  <a:cubicBezTo>
                    <a:pt x="42" y="16"/>
                    <a:pt x="42" y="15"/>
                    <a:pt x="42" y="14"/>
                  </a:cubicBezTo>
                  <a:cubicBezTo>
                    <a:pt x="38" y="3"/>
                    <a:pt x="38" y="3"/>
                    <a:pt x="38" y="3"/>
                  </a:cubicBezTo>
                  <a:cubicBezTo>
                    <a:pt x="37" y="1"/>
                    <a:pt x="36" y="0"/>
                    <a:pt x="34" y="0"/>
                  </a:cubicBezTo>
                  <a:cubicBezTo>
                    <a:pt x="24" y="0"/>
                    <a:pt x="24" y="0"/>
                    <a:pt x="24" y="0"/>
                  </a:cubicBezTo>
                  <a:cubicBezTo>
                    <a:pt x="22" y="0"/>
                    <a:pt x="20" y="1"/>
                    <a:pt x="19" y="3"/>
                  </a:cubicBezTo>
                  <a:cubicBezTo>
                    <a:pt x="16" y="14"/>
                    <a:pt x="16" y="14"/>
                    <a:pt x="16" y="14"/>
                  </a:cubicBezTo>
                  <a:cubicBezTo>
                    <a:pt x="15" y="15"/>
                    <a:pt x="15" y="16"/>
                    <a:pt x="16" y="17"/>
                  </a:cubicBezTo>
                  <a:cubicBezTo>
                    <a:pt x="19" y="32"/>
                    <a:pt x="19" y="32"/>
                    <a:pt x="19" y="32"/>
                  </a:cubicBezTo>
                  <a:cubicBezTo>
                    <a:pt x="20" y="34"/>
                    <a:pt x="22" y="35"/>
                    <a:pt x="24" y="35"/>
                  </a:cubicBezTo>
                  <a:cubicBezTo>
                    <a:pt x="24" y="35"/>
                    <a:pt x="24" y="35"/>
                    <a:pt x="24" y="35"/>
                  </a:cubicBezTo>
                  <a:cubicBezTo>
                    <a:pt x="24" y="103"/>
                    <a:pt x="24" y="103"/>
                    <a:pt x="24" y="103"/>
                  </a:cubicBezTo>
                  <a:cubicBezTo>
                    <a:pt x="4" y="103"/>
                    <a:pt x="4" y="103"/>
                    <a:pt x="4" y="103"/>
                  </a:cubicBezTo>
                  <a:cubicBezTo>
                    <a:pt x="2" y="103"/>
                    <a:pt x="0" y="105"/>
                    <a:pt x="0" y="108"/>
                  </a:cubicBezTo>
                  <a:cubicBezTo>
                    <a:pt x="0" y="129"/>
                    <a:pt x="0" y="129"/>
                    <a:pt x="0" y="129"/>
                  </a:cubicBezTo>
                  <a:cubicBezTo>
                    <a:pt x="0" y="131"/>
                    <a:pt x="0" y="132"/>
                    <a:pt x="2" y="133"/>
                  </a:cubicBezTo>
                  <a:cubicBezTo>
                    <a:pt x="5" y="135"/>
                    <a:pt x="7" y="138"/>
                    <a:pt x="7" y="141"/>
                  </a:cubicBezTo>
                  <a:cubicBezTo>
                    <a:pt x="7" y="145"/>
                    <a:pt x="5" y="148"/>
                    <a:pt x="2" y="149"/>
                  </a:cubicBezTo>
                  <a:cubicBezTo>
                    <a:pt x="0" y="150"/>
                    <a:pt x="0" y="152"/>
                    <a:pt x="0" y="153"/>
                  </a:cubicBezTo>
                  <a:cubicBezTo>
                    <a:pt x="0" y="210"/>
                    <a:pt x="0" y="210"/>
                    <a:pt x="0" y="210"/>
                  </a:cubicBezTo>
                  <a:cubicBezTo>
                    <a:pt x="0" y="226"/>
                    <a:pt x="13" y="240"/>
                    <a:pt x="29" y="240"/>
                  </a:cubicBezTo>
                  <a:cubicBezTo>
                    <a:pt x="45" y="240"/>
                    <a:pt x="58" y="226"/>
                    <a:pt x="58" y="210"/>
                  </a:cubicBezTo>
                  <a:cubicBezTo>
                    <a:pt x="58" y="153"/>
                    <a:pt x="58" y="153"/>
                    <a:pt x="58" y="153"/>
                  </a:cubicBezTo>
                  <a:cubicBezTo>
                    <a:pt x="58" y="152"/>
                    <a:pt x="57" y="150"/>
                    <a:pt x="56" y="149"/>
                  </a:cubicBezTo>
                  <a:cubicBezTo>
                    <a:pt x="53" y="148"/>
                    <a:pt x="51" y="145"/>
                    <a:pt x="51" y="141"/>
                  </a:cubicBezTo>
                  <a:cubicBezTo>
                    <a:pt x="51" y="138"/>
                    <a:pt x="53" y="135"/>
                    <a:pt x="56" y="133"/>
                  </a:cubicBezTo>
                  <a:close/>
                  <a:moveTo>
                    <a:pt x="27" y="9"/>
                  </a:moveTo>
                  <a:cubicBezTo>
                    <a:pt x="30" y="9"/>
                    <a:pt x="30" y="9"/>
                    <a:pt x="30" y="9"/>
                  </a:cubicBezTo>
                  <a:cubicBezTo>
                    <a:pt x="32" y="16"/>
                    <a:pt x="32" y="16"/>
                    <a:pt x="32" y="16"/>
                  </a:cubicBezTo>
                  <a:cubicBezTo>
                    <a:pt x="30" y="26"/>
                    <a:pt x="30" y="26"/>
                    <a:pt x="30" y="26"/>
                  </a:cubicBezTo>
                  <a:cubicBezTo>
                    <a:pt x="28" y="26"/>
                    <a:pt x="28" y="26"/>
                    <a:pt x="28" y="26"/>
                  </a:cubicBezTo>
                  <a:cubicBezTo>
                    <a:pt x="25" y="16"/>
                    <a:pt x="25" y="16"/>
                    <a:pt x="25" y="16"/>
                  </a:cubicBezTo>
                  <a:lnTo>
                    <a:pt x="27" y="9"/>
                  </a:lnTo>
                  <a:close/>
                  <a:moveTo>
                    <a:pt x="48" y="126"/>
                  </a:moveTo>
                  <a:cubicBezTo>
                    <a:pt x="44" y="130"/>
                    <a:pt x="41" y="135"/>
                    <a:pt x="41" y="141"/>
                  </a:cubicBezTo>
                  <a:cubicBezTo>
                    <a:pt x="41" y="147"/>
                    <a:pt x="44" y="152"/>
                    <a:pt x="48" y="156"/>
                  </a:cubicBezTo>
                  <a:cubicBezTo>
                    <a:pt x="48" y="210"/>
                    <a:pt x="48" y="210"/>
                    <a:pt x="48" y="210"/>
                  </a:cubicBezTo>
                  <a:cubicBezTo>
                    <a:pt x="48" y="221"/>
                    <a:pt x="40" y="230"/>
                    <a:pt x="29" y="230"/>
                  </a:cubicBezTo>
                  <a:cubicBezTo>
                    <a:pt x="18" y="230"/>
                    <a:pt x="9" y="221"/>
                    <a:pt x="9" y="210"/>
                  </a:cubicBezTo>
                  <a:cubicBezTo>
                    <a:pt x="9" y="156"/>
                    <a:pt x="9" y="156"/>
                    <a:pt x="9" y="156"/>
                  </a:cubicBezTo>
                  <a:cubicBezTo>
                    <a:pt x="14" y="152"/>
                    <a:pt x="16" y="147"/>
                    <a:pt x="16" y="141"/>
                  </a:cubicBezTo>
                  <a:cubicBezTo>
                    <a:pt x="16" y="135"/>
                    <a:pt x="14" y="130"/>
                    <a:pt x="9" y="126"/>
                  </a:cubicBezTo>
                  <a:cubicBezTo>
                    <a:pt x="9" y="113"/>
                    <a:pt x="9" y="113"/>
                    <a:pt x="9" y="113"/>
                  </a:cubicBezTo>
                  <a:cubicBezTo>
                    <a:pt x="48" y="113"/>
                    <a:pt x="48" y="113"/>
                    <a:pt x="48" y="113"/>
                  </a:cubicBezTo>
                  <a:lnTo>
                    <a:pt x="48" y="1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58" name="Freeform 137">
              <a:extLst>
                <a:ext uri="{FF2B5EF4-FFF2-40B4-BE49-F238E27FC236}">
                  <a16:creationId xmlns:a16="http://schemas.microsoft.com/office/drawing/2014/main" id="{C9CBBF81-47CD-FF60-8328-BBEA4CA4EADE}"/>
                </a:ext>
              </a:extLst>
            </p:cNvPr>
            <p:cNvSpPr>
              <a:spLocks/>
            </p:cNvSpPr>
            <p:nvPr/>
          </p:nvSpPr>
          <p:spPr bwMode="auto">
            <a:xfrm>
              <a:off x="4900613" y="5922963"/>
              <a:ext cx="23812" cy="130175"/>
            </a:xfrm>
            <a:custGeom>
              <a:avLst/>
              <a:gdLst>
                <a:gd name="T0" fmla="*/ 0 w 10"/>
                <a:gd name="T1" fmla="*/ 4 h 56"/>
                <a:gd name="T2" fmla="*/ 0 w 10"/>
                <a:gd name="T3" fmla="*/ 51 h 56"/>
                <a:gd name="T4" fmla="*/ 5 w 10"/>
                <a:gd name="T5" fmla="*/ 56 h 56"/>
                <a:gd name="T6" fmla="*/ 10 w 10"/>
                <a:gd name="T7" fmla="*/ 51 h 56"/>
                <a:gd name="T8" fmla="*/ 10 w 10"/>
                <a:gd name="T9" fmla="*/ 4 h 56"/>
                <a:gd name="T10" fmla="*/ 5 w 10"/>
                <a:gd name="T11" fmla="*/ 0 h 56"/>
                <a:gd name="T12" fmla="*/ 0 w 10"/>
                <a:gd name="T13" fmla="*/ 4 h 56"/>
              </a:gdLst>
              <a:ahLst/>
              <a:cxnLst>
                <a:cxn ang="0">
                  <a:pos x="T0" y="T1"/>
                </a:cxn>
                <a:cxn ang="0">
                  <a:pos x="T2" y="T3"/>
                </a:cxn>
                <a:cxn ang="0">
                  <a:pos x="T4" y="T5"/>
                </a:cxn>
                <a:cxn ang="0">
                  <a:pos x="T6" y="T7"/>
                </a:cxn>
                <a:cxn ang="0">
                  <a:pos x="T8" y="T9"/>
                </a:cxn>
                <a:cxn ang="0">
                  <a:pos x="T10" y="T11"/>
                </a:cxn>
                <a:cxn ang="0">
                  <a:pos x="T12" y="T13"/>
                </a:cxn>
              </a:cxnLst>
              <a:rect l="0" t="0" r="r" b="b"/>
              <a:pathLst>
                <a:path w="10" h="56">
                  <a:moveTo>
                    <a:pt x="0" y="4"/>
                  </a:moveTo>
                  <a:cubicBezTo>
                    <a:pt x="0" y="51"/>
                    <a:pt x="0" y="51"/>
                    <a:pt x="0" y="51"/>
                  </a:cubicBezTo>
                  <a:cubicBezTo>
                    <a:pt x="0" y="54"/>
                    <a:pt x="2" y="56"/>
                    <a:pt x="5" y="56"/>
                  </a:cubicBezTo>
                  <a:cubicBezTo>
                    <a:pt x="7" y="56"/>
                    <a:pt x="10" y="54"/>
                    <a:pt x="10" y="51"/>
                  </a:cubicBezTo>
                  <a:cubicBezTo>
                    <a:pt x="10" y="4"/>
                    <a:pt x="10" y="4"/>
                    <a:pt x="10" y="4"/>
                  </a:cubicBezTo>
                  <a:cubicBezTo>
                    <a:pt x="10" y="2"/>
                    <a:pt x="7" y="0"/>
                    <a:pt x="5" y="0"/>
                  </a:cubicBezTo>
                  <a:cubicBezTo>
                    <a:pt x="2" y="0"/>
                    <a:pt x="0" y="2"/>
                    <a:pt x="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grpSp>
      <p:grpSp>
        <p:nvGrpSpPr>
          <p:cNvPr id="59" name="Group 58">
            <a:extLst>
              <a:ext uri="{FF2B5EF4-FFF2-40B4-BE49-F238E27FC236}">
                <a16:creationId xmlns:a16="http://schemas.microsoft.com/office/drawing/2014/main" id="{0F4C0661-31A0-A459-427F-BB9D25041C63}"/>
              </a:ext>
              <a:ext uri="{C183D7F6-B498-43B3-948B-1728B52AA6E4}">
                <adec:decorative xmlns:adec="http://schemas.microsoft.com/office/drawing/2017/decorative" val="1"/>
              </a:ext>
            </a:extLst>
          </p:cNvPr>
          <p:cNvGrpSpPr/>
          <p:nvPr/>
        </p:nvGrpSpPr>
        <p:grpSpPr>
          <a:xfrm>
            <a:off x="582481" y="3774876"/>
            <a:ext cx="476251" cy="471715"/>
            <a:chOff x="9821863" y="7108825"/>
            <a:chExt cx="500063" cy="495301"/>
          </a:xfrm>
          <a:solidFill>
            <a:srgbClr val="00A99D"/>
          </a:solidFill>
        </p:grpSpPr>
        <p:sp>
          <p:nvSpPr>
            <p:cNvPr id="60" name="Freeform 502">
              <a:extLst>
                <a:ext uri="{FF2B5EF4-FFF2-40B4-BE49-F238E27FC236}">
                  <a16:creationId xmlns:a16="http://schemas.microsoft.com/office/drawing/2014/main" id="{424F6F71-9237-BC20-C3A6-6B2BFBA07394}"/>
                </a:ext>
              </a:extLst>
            </p:cNvPr>
            <p:cNvSpPr>
              <a:spLocks/>
            </p:cNvSpPr>
            <p:nvPr/>
          </p:nvSpPr>
          <p:spPr bwMode="auto">
            <a:xfrm>
              <a:off x="9975851" y="7513638"/>
              <a:ext cx="192088" cy="90488"/>
            </a:xfrm>
            <a:custGeom>
              <a:avLst/>
              <a:gdLst>
                <a:gd name="T0" fmla="*/ 87 w 92"/>
                <a:gd name="T1" fmla="*/ 4 h 43"/>
                <a:gd name="T2" fmla="*/ 81 w 92"/>
                <a:gd name="T3" fmla="*/ 0 h 43"/>
                <a:gd name="T4" fmla="*/ 77 w 92"/>
                <a:gd name="T5" fmla="*/ 6 h 43"/>
                <a:gd name="T6" fmla="*/ 82 w 92"/>
                <a:gd name="T7" fmla="*/ 33 h 43"/>
                <a:gd name="T8" fmla="*/ 10 w 92"/>
                <a:gd name="T9" fmla="*/ 33 h 43"/>
                <a:gd name="T10" fmla="*/ 14 w 92"/>
                <a:gd name="T11" fmla="*/ 6 h 43"/>
                <a:gd name="T12" fmla="*/ 10 w 92"/>
                <a:gd name="T13" fmla="*/ 0 h 43"/>
                <a:gd name="T14" fmla="*/ 5 w 92"/>
                <a:gd name="T15" fmla="*/ 4 h 43"/>
                <a:gd name="T16" fmla="*/ 0 w 92"/>
                <a:gd name="T17" fmla="*/ 33 h 43"/>
                <a:gd name="T18" fmla="*/ 0 w 92"/>
                <a:gd name="T19" fmla="*/ 34 h 43"/>
                <a:gd name="T20" fmla="*/ 10 w 92"/>
                <a:gd name="T21" fmla="*/ 43 h 43"/>
                <a:gd name="T22" fmla="*/ 82 w 92"/>
                <a:gd name="T23" fmla="*/ 43 h 43"/>
                <a:gd name="T24" fmla="*/ 92 w 92"/>
                <a:gd name="T25" fmla="*/ 34 h 43"/>
                <a:gd name="T26" fmla="*/ 92 w 92"/>
                <a:gd name="T27" fmla="*/ 33 h 43"/>
                <a:gd name="T28" fmla="*/ 87 w 92"/>
                <a:gd name="T29" fmla="*/ 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43">
                  <a:moveTo>
                    <a:pt x="87" y="4"/>
                  </a:moveTo>
                  <a:cubicBezTo>
                    <a:pt x="87" y="1"/>
                    <a:pt x="84" y="0"/>
                    <a:pt x="81" y="0"/>
                  </a:cubicBezTo>
                  <a:cubicBezTo>
                    <a:pt x="79" y="0"/>
                    <a:pt x="77" y="3"/>
                    <a:pt x="77" y="6"/>
                  </a:cubicBezTo>
                  <a:cubicBezTo>
                    <a:pt x="82" y="33"/>
                    <a:pt x="82" y="33"/>
                    <a:pt x="82" y="33"/>
                  </a:cubicBezTo>
                  <a:cubicBezTo>
                    <a:pt x="10" y="33"/>
                    <a:pt x="10" y="33"/>
                    <a:pt x="10" y="33"/>
                  </a:cubicBezTo>
                  <a:cubicBezTo>
                    <a:pt x="14" y="6"/>
                    <a:pt x="14" y="6"/>
                    <a:pt x="14" y="6"/>
                  </a:cubicBezTo>
                  <a:cubicBezTo>
                    <a:pt x="15" y="3"/>
                    <a:pt x="13" y="0"/>
                    <a:pt x="10" y="0"/>
                  </a:cubicBezTo>
                  <a:cubicBezTo>
                    <a:pt x="8" y="0"/>
                    <a:pt x="5" y="1"/>
                    <a:pt x="5" y="4"/>
                  </a:cubicBezTo>
                  <a:cubicBezTo>
                    <a:pt x="0" y="33"/>
                    <a:pt x="0" y="33"/>
                    <a:pt x="0" y="33"/>
                  </a:cubicBezTo>
                  <a:cubicBezTo>
                    <a:pt x="0" y="33"/>
                    <a:pt x="0" y="34"/>
                    <a:pt x="0" y="34"/>
                  </a:cubicBezTo>
                  <a:cubicBezTo>
                    <a:pt x="0" y="39"/>
                    <a:pt x="4" y="43"/>
                    <a:pt x="10" y="43"/>
                  </a:cubicBezTo>
                  <a:cubicBezTo>
                    <a:pt x="82" y="43"/>
                    <a:pt x="82" y="43"/>
                    <a:pt x="82" y="43"/>
                  </a:cubicBezTo>
                  <a:cubicBezTo>
                    <a:pt x="87" y="43"/>
                    <a:pt x="92" y="39"/>
                    <a:pt x="92" y="34"/>
                  </a:cubicBezTo>
                  <a:cubicBezTo>
                    <a:pt x="92" y="34"/>
                    <a:pt x="92" y="33"/>
                    <a:pt x="92" y="33"/>
                  </a:cubicBezTo>
                  <a:lnTo>
                    <a:pt x="87" y="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61" name="Freeform 503">
              <a:extLst>
                <a:ext uri="{FF2B5EF4-FFF2-40B4-BE49-F238E27FC236}">
                  <a16:creationId xmlns:a16="http://schemas.microsoft.com/office/drawing/2014/main" id="{810AF4EC-02AF-B96E-E0C0-FFA1358DBD48}"/>
                </a:ext>
              </a:extLst>
            </p:cNvPr>
            <p:cNvSpPr>
              <a:spLocks noEditPoints="1"/>
            </p:cNvSpPr>
            <p:nvPr/>
          </p:nvSpPr>
          <p:spPr bwMode="auto">
            <a:xfrm>
              <a:off x="9821863" y="7108825"/>
              <a:ext cx="500063" cy="376238"/>
            </a:xfrm>
            <a:custGeom>
              <a:avLst/>
              <a:gdLst>
                <a:gd name="T0" fmla="*/ 219 w 240"/>
                <a:gd name="T1" fmla="*/ 0 h 180"/>
                <a:gd name="T2" fmla="*/ 21 w 240"/>
                <a:gd name="T3" fmla="*/ 0 h 180"/>
                <a:gd name="T4" fmla="*/ 0 w 240"/>
                <a:gd name="T5" fmla="*/ 21 h 180"/>
                <a:gd name="T6" fmla="*/ 0 w 240"/>
                <a:gd name="T7" fmla="*/ 158 h 180"/>
                <a:gd name="T8" fmla="*/ 21 w 240"/>
                <a:gd name="T9" fmla="*/ 180 h 180"/>
                <a:gd name="T10" fmla="*/ 219 w 240"/>
                <a:gd name="T11" fmla="*/ 180 h 180"/>
                <a:gd name="T12" fmla="*/ 240 w 240"/>
                <a:gd name="T13" fmla="*/ 158 h 180"/>
                <a:gd name="T14" fmla="*/ 240 w 240"/>
                <a:gd name="T15" fmla="*/ 21 h 180"/>
                <a:gd name="T16" fmla="*/ 219 w 240"/>
                <a:gd name="T17" fmla="*/ 0 h 180"/>
                <a:gd name="T18" fmla="*/ 21 w 240"/>
                <a:gd name="T19" fmla="*/ 9 h 180"/>
                <a:gd name="T20" fmla="*/ 219 w 240"/>
                <a:gd name="T21" fmla="*/ 9 h 180"/>
                <a:gd name="T22" fmla="*/ 230 w 240"/>
                <a:gd name="T23" fmla="*/ 21 h 180"/>
                <a:gd name="T24" fmla="*/ 230 w 240"/>
                <a:gd name="T25" fmla="*/ 140 h 180"/>
                <a:gd name="T26" fmla="*/ 10 w 240"/>
                <a:gd name="T27" fmla="*/ 140 h 180"/>
                <a:gd name="T28" fmla="*/ 10 w 240"/>
                <a:gd name="T29" fmla="*/ 21 h 180"/>
                <a:gd name="T30" fmla="*/ 21 w 240"/>
                <a:gd name="T31" fmla="*/ 9 h 180"/>
                <a:gd name="T32" fmla="*/ 219 w 240"/>
                <a:gd name="T33" fmla="*/ 170 h 180"/>
                <a:gd name="T34" fmla="*/ 21 w 240"/>
                <a:gd name="T35" fmla="*/ 170 h 180"/>
                <a:gd name="T36" fmla="*/ 10 w 240"/>
                <a:gd name="T37" fmla="*/ 158 h 180"/>
                <a:gd name="T38" fmla="*/ 10 w 240"/>
                <a:gd name="T39" fmla="*/ 150 h 180"/>
                <a:gd name="T40" fmla="*/ 230 w 240"/>
                <a:gd name="T41" fmla="*/ 150 h 180"/>
                <a:gd name="T42" fmla="*/ 230 w 240"/>
                <a:gd name="T43" fmla="*/ 158 h 180"/>
                <a:gd name="T44" fmla="*/ 219 w 240"/>
                <a:gd name="T45" fmla="*/ 17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0" h="180">
                  <a:moveTo>
                    <a:pt x="219" y="0"/>
                  </a:moveTo>
                  <a:cubicBezTo>
                    <a:pt x="21" y="0"/>
                    <a:pt x="21" y="0"/>
                    <a:pt x="21" y="0"/>
                  </a:cubicBezTo>
                  <a:cubicBezTo>
                    <a:pt x="10" y="0"/>
                    <a:pt x="0" y="9"/>
                    <a:pt x="0" y="21"/>
                  </a:cubicBezTo>
                  <a:cubicBezTo>
                    <a:pt x="0" y="158"/>
                    <a:pt x="0" y="158"/>
                    <a:pt x="0" y="158"/>
                  </a:cubicBezTo>
                  <a:cubicBezTo>
                    <a:pt x="0" y="170"/>
                    <a:pt x="10" y="180"/>
                    <a:pt x="21" y="180"/>
                  </a:cubicBezTo>
                  <a:cubicBezTo>
                    <a:pt x="219" y="180"/>
                    <a:pt x="219" y="180"/>
                    <a:pt x="219" y="180"/>
                  </a:cubicBezTo>
                  <a:cubicBezTo>
                    <a:pt x="230" y="180"/>
                    <a:pt x="240" y="170"/>
                    <a:pt x="240" y="158"/>
                  </a:cubicBezTo>
                  <a:cubicBezTo>
                    <a:pt x="240" y="21"/>
                    <a:pt x="240" y="21"/>
                    <a:pt x="240" y="21"/>
                  </a:cubicBezTo>
                  <a:cubicBezTo>
                    <a:pt x="240" y="9"/>
                    <a:pt x="230" y="0"/>
                    <a:pt x="219" y="0"/>
                  </a:cubicBezTo>
                  <a:close/>
                  <a:moveTo>
                    <a:pt x="21" y="9"/>
                  </a:moveTo>
                  <a:cubicBezTo>
                    <a:pt x="219" y="9"/>
                    <a:pt x="219" y="9"/>
                    <a:pt x="219" y="9"/>
                  </a:cubicBezTo>
                  <a:cubicBezTo>
                    <a:pt x="225" y="9"/>
                    <a:pt x="230" y="15"/>
                    <a:pt x="230" y="21"/>
                  </a:cubicBezTo>
                  <a:cubicBezTo>
                    <a:pt x="230" y="140"/>
                    <a:pt x="230" y="140"/>
                    <a:pt x="230" y="140"/>
                  </a:cubicBezTo>
                  <a:cubicBezTo>
                    <a:pt x="10" y="140"/>
                    <a:pt x="10" y="140"/>
                    <a:pt x="10" y="140"/>
                  </a:cubicBezTo>
                  <a:cubicBezTo>
                    <a:pt x="10" y="21"/>
                    <a:pt x="10" y="21"/>
                    <a:pt x="10" y="21"/>
                  </a:cubicBezTo>
                  <a:cubicBezTo>
                    <a:pt x="10" y="15"/>
                    <a:pt x="15" y="9"/>
                    <a:pt x="21" y="9"/>
                  </a:cubicBezTo>
                  <a:close/>
                  <a:moveTo>
                    <a:pt x="219" y="170"/>
                  </a:moveTo>
                  <a:cubicBezTo>
                    <a:pt x="21" y="170"/>
                    <a:pt x="21" y="170"/>
                    <a:pt x="21" y="170"/>
                  </a:cubicBezTo>
                  <a:cubicBezTo>
                    <a:pt x="15" y="170"/>
                    <a:pt x="10" y="165"/>
                    <a:pt x="10" y="158"/>
                  </a:cubicBezTo>
                  <a:cubicBezTo>
                    <a:pt x="10" y="150"/>
                    <a:pt x="10" y="150"/>
                    <a:pt x="10" y="150"/>
                  </a:cubicBezTo>
                  <a:cubicBezTo>
                    <a:pt x="230" y="150"/>
                    <a:pt x="230" y="150"/>
                    <a:pt x="230" y="150"/>
                  </a:cubicBezTo>
                  <a:cubicBezTo>
                    <a:pt x="230" y="158"/>
                    <a:pt x="230" y="158"/>
                    <a:pt x="230" y="158"/>
                  </a:cubicBezTo>
                  <a:cubicBezTo>
                    <a:pt x="230" y="165"/>
                    <a:pt x="225" y="170"/>
                    <a:pt x="219" y="17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62" name="Freeform 504">
              <a:extLst>
                <a:ext uri="{FF2B5EF4-FFF2-40B4-BE49-F238E27FC236}">
                  <a16:creationId xmlns:a16="http://schemas.microsoft.com/office/drawing/2014/main" id="{FC22CBF9-81B8-26EF-0251-DF7821EAE042}"/>
                </a:ext>
              </a:extLst>
            </p:cNvPr>
            <p:cNvSpPr>
              <a:spLocks noEditPoints="1"/>
            </p:cNvSpPr>
            <p:nvPr/>
          </p:nvSpPr>
          <p:spPr bwMode="auto">
            <a:xfrm>
              <a:off x="9944101" y="7189788"/>
              <a:ext cx="269875" cy="165100"/>
            </a:xfrm>
            <a:custGeom>
              <a:avLst/>
              <a:gdLst>
                <a:gd name="T0" fmla="*/ 28 w 129"/>
                <a:gd name="T1" fmla="*/ 79 h 79"/>
                <a:gd name="T2" fmla="*/ 99 w 129"/>
                <a:gd name="T3" fmla="*/ 79 h 79"/>
                <a:gd name="T4" fmla="*/ 129 w 129"/>
                <a:gd name="T5" fmla="*/ 52 h 79"/>
                <a:gd name="T6" fmla="*/ 100 w 129"/>
                <a:gd name="T7" fmla="*/ 25 h 79"/>
                <a:gd name="T8" fmla="*/ 73 w 129"/>
                <a:gd name="T9" fmla="*/ 8 h 79"/>
                <a:gd name="T10" fmla="*/ 70 w 129"/>
                <a:gd name="T11" fmla="*/ 8 h 79"/>
                <a:gd name="T12" fmla="*/ 48 w 129"/>
                <a:gd name="T13" fmla="*/ 0 h 79"/>
                <a:gd name="T14" fmla="*/ 12 w 129"/>
                <a:gd name="T15" fmla="*/ 30 h 79"/>
                <a:gd name="T16" fmla="*/ 0 w 129"/>
                <a:gd name="T17" fmla="*/ 52 h 79"/>
                <a:gd name="T18" fmla="*/ 28 w 129"/>
                <a:gd name="T19" fmla="*/ 79 h 79"/>
                <a:gd name="T20" fmla="*/ 19 w 129"/>
                <a:gd name="T21" fmla="*/ 37 h 79"/>
                <a:gd name="T22" fmla="*/ 21 w 129"/>
                <a:gd name="T23" fmla="*/ 36 h 79"/>
                <a:gd name="T24" fmla="*/ 21 w 129"/>
                <a:gd name="T25" fmla="*/ 34 h 79"/>
                <a:gd name="T26" fmla="*/ 48 w 129"/>
                <a:gd name="T27" fmla="*/ 10 h 79"/>
                <a:gd name="T28" fmla="*/ 66 w 129"/>
                <a:gd name="T29" fmla="*/ 17 h 79"/>
                <a:gd name="T30" fmla="*/ 67 w 129"/>
                <a:gd name="T31" fmla="*/ 18 h 79"/>
                <a:gd name="T32" fmla="*/ 69 w 129"/>
                <a:gd name="T33" fmla="*/ 18 h 79"/>
                <a:gd name="T34" fmla="*/ 73 w 129"/>
                <a:gd name="T35" fmla="*/ 17 h 79"/>
                <a:gd name="T36" fmla="*/ 92 w 129"/>
                <a:gd name="T37" fmla="*/ 31 h 79"/>
                <a:gd name="T38" fmla="*/ 93 w 129"/>
                <a:gd name="T39" fmla="*/ 35 h 79"/>
                <a:gd name="T40" fmla="*/ 97 w 129"/>
                <a:gd name="T41" fmla="*/ 34 h 79"/>
                <a:gd name="T42" fmla="*/ 99 w 129"/>
                <a:gd name="T43" fmla="*/ 34 h 79"/>
                <a:gd name="T44" fmla="*/ 119 w 129"/>
                <a:gd name="T45" fmla="*/ 52 h 79"/>
                <a:gd name="T46" fmla="*/ 99 w 129"/>
                <a:gd name="T47" fmla="*/ 70 h 79"/>
                <a:gd name="T48" fmla="*/ 28 w 129"/>
                <a:gd name="T49" fmla="*/ 70 h 79"/>
                <a:gd name="T50" fmla="*/ 9 w 129"/>
                <a:gd name="T51" fmla="*/ 52 h 79"/>
                <a:gd name="T52" fmla="*/ 19 w 129"/>
                <a:gd name="T53" fmla="*/ 37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9" h="79">
                  <a:moveTo>
                    <a:pt x="28" y="79"/>
                  </a:moveTo>
                  <a:cubicBezTo>
                    <a:pt x="99" y="79"/>
                    <a:pt x="99" y="79"/>
                    <a:pt x="99" y="79"/>
                  </a:cubicBezTo>
                  <a:cubicBezTo>
                    <a:pt x="115" y="79"/>
                    <a:pt x="129" y="67"/>
                    <a:pt x="129" y="52"/>
                  </a:cubicBezTo>
                  <a:cubicBezTo>
                    <a:pt x="129" y="37"/>
                    <a:pt x="115" y="25"/>
                    <a:pt x="100" y="25"/>
                  </a:cubicBezTo>
                  <a:cubicBezTo>
                    <a:pt x="95" y="14"/>
                    <a:pt x="85" y="8"/>
                    <a:pt x="73" y="8"/>
                  </a:cubicBezTo>
                  <a:cubicBezTo>
                    <a:pt x="72" y="8"/>
                    <a:pt x="71" y="8"/>
                    <a:pt x="70" y="8"/>
                  </a:cubicBezTo>
                  <a:cubicBezTo>
                    <a:pt x="64" y="3"/>
                    <a:pt x="56" y="0"/>
                    <a:pt x="48" y="0"/>
                  </a:cubicBezTo>
                  <a:cubicBezTo>
                    <a:pt x="30" y="0"/>
                    <a:pt x="16" y="13"/>
                    <a:pt x="12" y="30"/>
                  </a:cubicBezTo>
                  <a:cubicBezTo>
                    <a:pt x="4" y="36"/>
                    <a:pt x="0" y="44"/>
                    <a:pt x="0" y="52"/>
                  </a:cubicBezTo>
                  <a:cubicBezTo>
                    <a:pt x="0" y="67"/>
                    <a:pt x="12" y="79"/>
                    <a:pt x="28" y="79"/>
                  </a:cubicBezTo>
                  <a:close/>
                  <a:moveTo>
                    <a:pt x="19" y="37"/>
                  </a:moveTo>
                  <a:cubicBezTo>
                    <a:pt x="21" y="36"/>
                    <a:pt x="21" y="36"/>
                    <a:pt x="21" y="36"/>
                  </a:cubicBezTo>
                  <a:cubicBezTo>
                    <a:pt x="21" y="34"/>
                    <a:pt x="21" y="34"/>
                    <a:pt x="21" y="34"/>
                  </a:cubicBezTo>
                  <a:cubicBezTo>
                    <a:pt x="23" y="20"/>
                    <a:pt x="35" y="10"/>
                    <a:pt x="48" y="10"/>
                  </a:cubicBezTo>
                  <a:cubicBezTo>
                    <a:pt x="55" y="10"/>
                    <a:pt x="60" y="12"/>
                    <a:pt x="66" y="17"/>
                  </a:cubicBezTo>
                  <a:cubicBezTo>
                    <a:pt x="67" y="18"/>
                    <a:pt x="67" y="18"/>
                    <a:pt x="67" y="18"/>
                  </a:cubicBezTo>
                  <a:cubicBezTo>
                    <a:pt x="69" y="18"/>
                    <a:pt x="69" y="18"/>
                    <a:pt x="69" y="18"/>
                  </a:cubicBezTo>
                  <a:cubicBezTo>
                    <a:pt x="71" y="17"/>
                    <a:pt x="72" y="17"/>
                    <a:pt x="73" y="17"/>
                  </a:cubicBezTo>
                  <a:cubicBezTo>
                    <a:pt x="82" y="17"/>
                    <a:pt x="89" y="23"/>
                    <a:pt x="92" y="31"/>
                  </a:cubicBezTo>
                  <a:cubicBezTo>
                    <a:pt x="93" y="35"/>
                    <a:pt x="93" y="35"/>
                    <a:pt x="93" y="35"/>
                  </a:cubicBezTo>
                  <a:cubicBezTo>
                    <a:pt x="97" y="34"/>
                    <a:pt x="97" y="34"/>
                    <a:pt x="97" y="34"/>
                  </a:cubicBezTo>
                  <a:cubicBezTo>
                    <a:pt x="98" y="34"/>
                    <a:pt x="99" y="34"/>
                    <a:pt x="99" y="34"/>
                  </a:cubicBezTo>
                  <a:cubicBezTo>
                    <a:pt x="110" y="34"/>
                    <a:pt x="119" y="42"/>
                    <a:pt x="119" y="52"/>
                  </a:cubicBezTo>
                  <a:cubicBezTo>
                    <a:pt x="119" y="62"/>
                    <a:pt x="110" y="70"/>
                    <a:pt x="99" y="70"/>
                  </a:cubicBezTo>
                  <a:cubicBezTo>
                    <a:pt x="28" y="70"/>
                    <a:pt x="28" y="70"/>
                    <a:pt x="28" y="70"/>
                  </a:cubicBezTo>
                  <a:cubicBezTo>
                    <a:pt x="18" y="70"/>
                    <a:pt x="9" y="62"/>
                    <a:pt x="9" y="52"/>
                  </a:cubicBezTo>
                  <a:cubicBezTo>
                    <a:pt x="9" y="47"/>
                    <a:pt x="13" y="41"/>
                    <a:pt x="19" y="3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grpSp>
      <p:grpSp>
        <p:nvGrpSpPr>
          <p:cNvPr id="63" name="Group 62">
            <a:extLst>
              <a:ext uri="{FF2B5EF4-FFF2-40B4-BE49-F238E27FC236}">
                <a16:creationId xmlns:a16="http://schemas.microsoft.com/office/drawing/2014/main" id="{FB53FF62-3407-0F2F-C264-EA05E278698B}"/>
              </a:ext>
              <a:ext uri="{C183D7F6-B498-43B3-948B-1728B52AA6E4}">
                <adec:decorative xmlns:adec="http://schemas.microsoft.com/office/drawing/2017/decorative" val="1"/>
              </a:ext>
            </a:extLst>
          </p:cNvPr>
          <p:cNvGrpSpPr/>
          <p:nvPr/>
        </p:nvGrpSpPr>
        <p:grpSpPr>
          <a:xfrm>
            <a:off x="566465" y="4610485"/>
            <a:ext cx="508293" cy="441340"/>
            <a:chOff x="8305800" y="1987550"/>
            <a:chExt cx="590550" cy="512763"/>
          </a:xfrm>
          <a:solidFill>
            <a:srgbClr val="00A99D"/>
          </a:solidFill>
        </p:grpSpPr>
        <p:sp>
          <p:nvSpPr>
            <p:cNvPr id="64" name="Freeform 426">
              <a:extLst>
                <a:ext uri="{FF2B5EF4-FFF2-40B4-BE49-F238E27FC236}">
                  <a16:creationId xmlns:a16="http://schemas.microsoft.com/office/drawing/2014/main" id="{A47790B0-1E08-1DE5-98AC-EF8EFEFF9101}"/>
                </a:ext>
              </a:extLst>
            </p:cNvPr>
            <p:cNvSpPr>
              <a:spLocks noEditPoints="1"/>
            </p:cNvSpPr>
            <p:nvPr/>
          </p:nvSpPr>
          <p:spPr bwMode="auto">
            <a:xfrm>
              <a:off x="8377238" y="2081213"/>
              <a:ext cx="247650" cy="246063"/>
            </a:xfrm>
            <a:custGeom>
              <a:avLst/>
              <a:gdLst>
                <a:gd name="T0" fmla="*/ 8 w 100"/>
                <a:gd name="T1" fmla="*/ 100 h 100"/>
                <a:gd name="T2" fmla="*/ 92 w 100"/>
                <a:gd name="T3" fmla="*/ 100 h 100"/>
                <a:gd name="T4" fmla="*/ 100 w 100"/>
                <a:gd name="T5" fmla="*/ 92 h 100"/>
                <a:gd name="T6" fmla="*/ 100 w 100"/>
                <a:gd name="T7" fmla="*/ 81 h 100"/>
                <a:gd name="T8" fmla="*/ 95 w 100"/>
                <a:gd name="T9" fmla="*/ 73 h 100"/>
                <a:gd name="T10" fmla="*/ 66 w 100"/>
                <a:gd name="T11" fmla="*/ 60 h 100"/>
                <a:gd name="T12" fmla="*/ 66 w 100"/>
                <a:gd name="T13" fmla="*/ 58 h 100"/>
                <a:gd name="T14" fmla="*/ 72 w 100"/>
                <a:gd name="T15" fmla="*/ 47 h 100"/>
                <a:gd name="T16" fmla="*/ 76 w 100"/>
                <a:gd name="T17" fmla="*/ 38 h 100"/>
                <a:gd name="T18" fmla="*/ 75 w 100"/>
                <a:gd name="T19" fmla="*/ 32 h 100"/>
                <a:gd name="T20" fmla="*/ 75 w 100"/>
                <a:gd name="T21" fmla="*/ 23 h 100"/>
                <a:gd name="T22" fmla="*/ 50 w 100"/>
                <a:gd name="T23" fmla="*/ 0 h 100"/>
                <a:gd name="T24" fmla="*/ 26 w 100"/>
                <a:gd name="T25" fmla="*/ 23 h 100"/>
                <a:gd name="T26" fmla="*/ 26 w 100"/>
                <a:gd name="T27" fmla="*/ 32 h 100"/>
                <a:gd name="T28" fmla="*/ 25 w 100"/>
                <a:gd name="T29" fmla="*/ 38 h 100"/>
                <a:gd name="T30" fmla="*/ 28 w 100"/>
                <a:gd name="T31" fmla="*/ 47 h 100"/>
                <a:gd name="T32" fmla="*/ 34 w 100"/>
                <a:gd name="T33" fmla="*/ 58 h 100"/>
                <a:gd name="T34" fmla="*/ 34 w 100"/>
                <a:gd name="T35" fmla="*/ 59 h 100"/>
                <a:gd name="T36" fmla="*/ 6 w 100"/>
                <a:gd name="T37" fmla="*/ 73 h 100"/>
                <a:gd name="T38" fmla="*/ 0 w 100"/>
                <a:gd name="T39" fmla="*/ 81 h 100"/>
                <a:gd name="T40" fmla="*/ 0 w 100"/>
                <a:gd name="T41" fmla="*/ 92 h 100"/>
                <a:gd name="T42" fmla="*/ 8 w 100"/>
                <a:gd name="T43" fmla="*/ 100 h 100"/>
                <a:gd name="T44" fmla="*/ 10 w 100"/>
                <a:gd name="T45" fmla="*/ 82 h 100"/>
                <a:gd name="T46" fmla="*/ 44 w 100"/>
                <a:gd name="T47" fmla="*/ 62 h 100"/>
                <a:gd name="T48" fmla="*/ 44 w 100"/>
                <a:gd name="T49" fmla="*/ 61 h 100"/>
                <a:gd name="T50" fmla="*/ 44 w 100"/>
                <a:gd name="T51" fmla="*/ 56 h 100"/>
                <a:gd name="T52" fmla="*/ 43 w 100"/>
                <a:gd name="T53" fmla="*/ 53 h 100"/>
                <a:gd name="T54" fmla="*/ 37 w 100"/>
                <a:gd name="T55" fmla="*/ 42 h 100"/>
                <a:gd name="T56" fmla="*/ 35 w 100"/>
                <a:gd name="T57" fmla="*/ 40 h 100"/>
                <a:gd name="T58" fmla="*/ 34 w 100"/>
                <a:gd name="T59" fmla="*/ 38 h 100"/>
                <a:gd name="T60" fmla="*/ 35 w 100"/>
                <a:gd name="T61" fmla="*/ 36 h 100"/>
                <a:gd name="T62" fmla="*/ 36 w 100"/>
                <a:gd name="T63" fmla="*/ 33 h 100"/>
                <a:gd name="T64" fmla="*/ 36 w 100"/>
                <a:gd name="T65" fmla="*/ 23 h 100"/>
                <a:gd name="T66" fmla="*/ 50 w 100"/>
                <a:gd name="T67" fmla="*/ 10 h 100"/>
                <a:gd name="T68" fmla="*/ 65 w 100"/>
                <a:gd name="T69" fmla="*/ 23 h 100"/>
                <a:gd name="T70" fmla="*/ 65 w 100"/>
                <a:gd name="T71" fmla="*/ 33 h 100"/>
                <a:gd name="T72" fmla="*/ 66 w 100"/>
                <a:gd name="T73" fmla="*/ 36 h 100"/>
                <a:gd name="T74" fmla="*/ 66 w 100"/>
                <a:gd name="T75" fmla="*/ 38 h 100"/>
                <a:gd name="T76" fmla="*/ 65 w 100"/>
                <a:gd name="T77" fmla="*/ 40 h 100"/>
                <a:gd name="T78" fmla="*/ 64 w 100"/>
                <a:gd name="T79" fmla="*/ 42 h 100"/>
                <a:gd name="T80" fmla="*/ 58 w 100"/>
                <a:gd name="T81" fmla="*/ 53 h 100"/>
                <a:gd name="T82" fmla="*/ 57 w 100"/>
                <a:gd name="T83" fmla="*/ 56 h 100"/>
                <a:gd name="T84" fmla="*/ 57 w 100"/>
                <a:gd name="T85" fmla="*/ 61 h 100"/>
                <a:gd name="T86" fmla="*/ 57 w 100"/>
                <a:gd name="T87" fmla="*/ 62 h 100"/>
                <a:gd name="T88" fmla="*/ 91 w 100"/>
                <a:gd name="T89" fmla="*/ 82 h 100"/>
                <a:gd name="T90" fmla="*/ 91 w 100"/>
                <a:gd name="T91" fmla="*/ 91 h 100"/>
                <a:gd name="T92" fmla="*/ 10 w 100"/>
                <a:gd name="T93" fmla="*/ 91 h 100"/>
                <a:gd name="T94" fmla="*/ 10 w 100"/>
                <a:gd name="T95" fmla="*/ 8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0" h="100">
                  <a:moveTo>
                    <a:pt x="8" y="100"/>
                  </a:moveTo>
                  <a:cubicBezTo>
                    <a:pt x="92" y="100"/>
                    <a:pt x="92" y="100"/>
                    <a:pt x="92" y="100"/>
                  </a:cubicBezTo>
                  <a:cubicBezTo>
                    <a:pt x="97" y="100"/>
                    <a:pt x="100" y="97"/>
                    <a:pt x="100" y="92"/>
                  </a:cubicBezTo>
                  <a:cubicBezTo>
                    <a:pt x="100" y="81"/>
                    <a:pt x="100" y="81"/>
                    <a:pt x="100" y="81"/>
                  </a:cubicBezTo>
                  <a:cubicBezTo>
                    <a:pt x="100" y="77"/>
                    <a:pt x="98" y="74"/>
                    <a:pt x="95" y="73"/>
                  </a:cubicBezTo>
                  <a:cubicBezTo>
                    <a:pt x="73" y="64"/>
                    <a:pt x="67" y="60"/>
                    <a:pt x="66" y="60"/>
                  </a:cubicBezTo>
                  <a:cubicBezTo>
                    <a:pt x="66" y="58"/>
                    <a:pt x="66" y="58"/>
                    <a:pt x="66" y="58"/>
                  </a:cubicBezTo>
                  <a:cubicBezTo>
                    <a:pt x="69" y="55"/>
                    <a:pt x="71" y="51"/>
                    <a:pt x="72" y="47"/>
                  </a:cubicBezTo>
                  <a:cubicBezTo>
                    <a:pt x="75" y="44"/>
                    <a:pt x="76" y="41"/>
                    <a:pt x="76" y="38"/>
                  </a:cubicBezTo>
                  <a:cubicBezTo>
                    <a:pt x="76" y="36"/>
                    <a:pt x="76" y="33"/>
                    <a:pt x="75" y="32"/>
                  </a:cubicBezTo>
                  <a:cubicBezTo>
                    <a:pt x="75" y="23"/>
                    <a:pt x="75" y="23"/>
                    <a:pt x="75" y="23"/>
                  </a:cubicBezTo>
                  <a:cubicBezTo>
                    <a:pt x="75" y="9"/>
                    <a:pt x="66" y="0"/>
                    <a:pt x="50" y="0"/>
                  </a:cubicBezTo>
                  <a:cubicBezTo>
                    <a:pt x="35" y="0"/>
                    <a:pt x="26" y="9"/>
                    <a:pt x="26" y="23"/>
                  </a:cubicBezTo>
                  <a:cubicBezTo>
                    <a:pt x="26" y="32"/>
                    <a:pt x="26" y="32"/>
                    <a:pt x="26" y="32"/>
                  </a:cubicBezTo>
                  <a:cubicBezTo>
                    <a:pt x="25" y="33"/>
                    <a:pt x="25" y="36"/>
                    <a:pt x="25" y="38"/>
                  </a:cubicBezTo>
                  <a:cubicBezTo>
                    <a:pt x="25" y="41"/>
                    <a:pt x="26" y="44"/>
                    <a:pt x="28" y="47"/>
                  </a:cubicBezTo>
                  <a:cubicBezTo>
                    <a:pt x="30" y="51"/>
                    <a:pt x="32" y="55"/>
                    <a:pt x="34" y="58"/>
                  </a:cubicBezTo>
                  <a:cubicBezTo>
                    <a:pt x="34" y="59"/>
                    <a:pt x="34" y="59"/>
                    <a:pt x="34" y="59"/>
                  </a:cubicBezTo>
                  <a:cubicBezTo>
                    <a:pt x="33" y="61"/>
                    <a:pt x="27" y="65"/>
                    <a:pt x="6" y="73"/>
                  </a:cubicBezTo>
                  <a:cubicBezTo>
                    <a:pt x="2" y="74"/>
                    <a:pt x="0" y="77"/>
                    <a:pt x="0" y="81"/>
                  </a:cubicBezTo>
                  <a:cubicBezTo>
                    <a:pt x="0" y="92"/>
                    <a:pt x="0" y="92"/>
                    <a:pt x="0" y="92"/>
                  </a:cubicBezTo>
                  <a:cubicBezTo>
                    <a:pt x="0" y="97"/>
                    <a:pt x="4" y="100"/>
                    <a:pt x="8" y="100"/>
                  </a:cubicBezTo>
                  <a:close/>
                  <a:moveTo>
                    <a:pt x="10" y="82"/>
                  </a:moveTo>
                  <a:cubicBezTo>
                    <a:pt x="39" y="71"/>
                    <a:pt x="43" y="66"/>
                    <a:pt x="44" y="62"/>
                  </a:cubicBezTo>
                  <a:cubicBezTo>
                    <a:pt x="44" y="62"/>
                    <a:pt x="44" y="61"/>
                    <a:pt x="44" y="61"/>
                  </a:cubicBezTo>
                  <a:cubicBezTo>
                    <a:pt x="44" y="56"/>
                    <a:pt x="44" y="56"/>
                    <a:pt x="44" y="56"/>
                  </a:cubicBezTo>
                  <a:cubicBezTo>
                    <a:pt x="44" y="55"/>
                    <a:pt x="44" y="54"/>
                    <a:pt x="43" y="53"/>
                  </a:cubicBezTo>
                  <a:cubicBezTo>
                    <a:pt x="40" y="50"/>
                    <a:pt x="38" y="47"/>
                    <a:pt x="37" y="42"/>
                  </a:cubicBezTo>
                  <a:cubicBezTo>
                    <a:pt x="37" y="41"/>
                    <a:pt x="36" y="40"/>
                    <a:pt x="35" y="40"/>
                  </a:cubicBezTo>
                  <a:cubicBezTo>
                    <a:pt x="35" y="39"/>
                    <a:pt x="34" y="39"/>
                    <a:pt x="34" y="38"/>
                  </a:cubicBezTo>
                  <a:cubicBezTo>
                    <a:pt x="34" y="37"/>
                    <a:pt x="35" y="36"/>
                    <a:pt x="35" y="36"/>
                  </a:cubicBezTo>
                  <a:cubicBezTo>
                    <a:pt x="36" y="35"/>
                    <a:pt x="36" y="34"/>
                    <a:pt x="36" y="33"/>
                  </a:cubicBezTo>
                  <a:cubicBezTo>
                    <a:pt x="36" y="23"/>
                    <a:pt x="36" y="23"/>
                    <a:pt x="36" y="23"/>
                  </a:cubicBezTo>
                  <a:cubicBezTo>
                    <a:pt x="36" y="14"/>
                    <a:pt x="41" y="10"/>
                    <a:pt x="50" y="10"/>
                  </a:cubicBezTo>
                  <a:cubicBezTo>
                    <a:pt x="60" y="10"/>
                    <a:pt x="65" y="14"/>
                    <a:pt x="65" y="23"/>
                  </a:cubicBezTo>
                  <a:cubicBezTo>
                    <a:pt x="65" y="33"/>
                    <a:pt x="65" y="33"/>
                    <a:pt x="65" y="33"/>
                  </a:cubicBezTo>
                  <a:cubicBezTo>
                    <a:pt x="65" y="34"/>
                    <a:pt x="65" y="35"/>
                    <a:pt x="66" y="36"/>
                  </a:cubicBezTo>
                  <a:cubicBezTo>
                    <a:pt x="66" y="36"/>
                    <a:pt x="66" y="37"/>
                    <a:pt x="66" y="38"/>
                  </a:cubicBezTo>
                  <a:cubicBezTo>
                    <a:pt x="66" y="39"/>
                    <a:pt x="66" y="39"/>
                    <a:pt x="65" y="40"/>
                  </a:cubicBezTo>
                  <a:cubicBezTo>
                    <a:pt x="65" y="40"/>
                    <a:pt x="64" y="41"/>
                    <a:pt x="64" y="42"/>
                  </a:cubicBezTo>
                  <a:cubicBezTo>
                    <a:pt x="62" y="47"/>
                    <a:pt x="60" y="50"/>
                    <a:pt x="58" y="53"/>
                  </a:cubicBezTo>
                  <a:cubicBezTo>
                    <a:pt x="57" y="54"/>
                    <a:pt x="57" y="55"/>
                    <a:pt x="57" y="56"/>
                  </a:cubicBezTo>
                  <a:cubicBezTo>
                    <a:pt x="57" y="61"/>
                    <a:pt x="57" y="61"/>
                    <a:pt x="57" y="61"/>
                  </a:cubicBezTo>
                  <a:cubicBezTo>
                    <a:pt x="57" y="61"/>
                    <a:pt x="57" y="62"/>
                    <a:pt x="57" y="62"/>
                  </a:cubicBezTo>
                  <a:cubicBezTo>
                    <a:pt x="58" y="66"/>
                    <a:pt x="62" y="71"/>
                    <a:pt x="91" y="82"/>
                  </a:cubicBezTo>
                  <a:cubicBezTo>
                    <a:pt x="91" y="91"/>
                    <a:pt x="91" y="91"/>
                    <a:pt x="91" y="91"/>
                  </a:cubicBezTo>
                  <a:cubicBezTo>
                    <a:pt x="10" y="91"/>
                    <a:pt x="10" y="91"/>
                    <a:pt x="10" y="91"/>
                  </a:cubicBezTo>
                  <a:lnTo>
                    <a:pt x="10" y="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65" name="Freeform 427">
              <a:extLst>
                <a:ext uri="{FF2B5EF4-FFF2-40B4-BE49-F238E27FC236}">
                  <a16:creationId xmlns:a16="http://schemas.microsoft.com/office/drawing/2014/main" id="{98291795-B1C4-5EF1-DFD4-D079EE36425B}"/>
                </a:ext>
              </a:extLst>
            </p:cNvPr>
            <p:cNvSpPr>
              <a:spLocks/>
            </p:cNvSpPr>
            <p:nvPr/>
          </p:nvSpPr>
          <p:spPr bwMode="auto">
            <a:xfrm>
              <a:off x="8642350" y="2214563"/>
              <a:ext cx="182563" cy="23813"/>
            </a:xfrm>
            <a:custGeom>
              <a:avLst/>
              <a:gdLst>
                <a:gd name="T0" fmla="*/ 5 w 74"/>
                <a:gd name="T1" fmla="*/ 10 h 10"/>
                <a:gd name="T2" fmla="*/ 69 w 74"/>
                <a:gd name="T3" fmla="*/ 10 h 10"/>
                <a:gd name="T4" fmla="*/ 74 w 74"/>
                <a:gd name="T5" fmla="*/ 5 h 10"/>
                <a:gd name="T6" fmla="*/ 69 w 74"/>
                <a:gd name="T7" fmla="*/ 0 h 10"/>
                <a:gd name="T8" fmla="*/ 5 w 74"/>
                <a:gd name="T9" fmla="*/ 0 h 10"/>
                <a:gd name="T10" fmla="*/ 0 w 74"/>
                <a:gd name="T11" fmla="*/ 5 h 10"/>
                <a:gd name="T12" fmla="*/ 5 w 74"/>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74" h="10">
                  <a:moveTo>
                    <a:pt x="5" y="10"/>
                  </a:moveTo>
                  <a:cubicBezTo>
                    <a:pt x="69" y="10"/>
                    <a:pt x="69" y="10"/>
                    <a:pt x="69" y="10"/>
                  </a:cubicBezTo>
                  <a:cubicBezTo>
                    <a:pt x="71" y="10"/>
                    <a:pt x="74" y="8"/>
                    <a:pt x="74" y="5"/>
                  </a:cubicBezTo>
                  <a:cubicBezTo>
                    <a:pt x="74" y="2"/>
                    <a:pt x="71" y="0"/>
                    <a:pt x="69" y="0"/>
                  </a:cubicBezTo>
                  <a:cubicBezTo>
                    <a:pt x="5" y="0"/>
                    <a:pt x="5" y="0"/>
                    <a:pt x="5" y="0"/>
                  </a:cubicBezTo>
                  <a:cubicBezTo>
                    <a:pt x="2" y="0"/>
                    <a:pt x="0" y="2"/>
                    <a:pt x="0" y="5"/>
                  </a:cubicBezTo>
                  <a:cubicBezTo>
                    <a:pt x="0" y="8"/>
                    <a:pt x="2" y="10"/>
                    <a:pt x="5" y="1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66" name="Freeform 428">
              <a:extLst>
                <a:ext uri="{FF2B5EF4-FFF2-40B4-BE49-F238E27FC236}">
                  <a16:creationId xmlns:a16="http://schemas.microsoft.com/office/drawing/2014/main" id="{AAF43ACD-2A96-489E-6C8D-3628E45E8BBB}"/>
                </a:ext>
              </a:extLst>
            </p:cNvPr>
            <p:cNvSpPr>
              <a:spLocks/>
            </p:cNvSpPr>
            <p:nvPr/>
          </p:nvSpPr>
          <p:spPr bwMode="auto">
            <a:xfrm>
              <a:off x="8642350" y="2147888"/>
              <a:ext cx="182563" cy="23813"/>
            </a:xfrm>
            <a:custGeom>
              <a:avLst/>
              <a:gdLst>
                <a:gd name="T0" fmla="*/ 5 w 74"/>
                <a:gd name="T1" fmla="*/ 10 h 10"/>
                <a:gd name="T2" fmla="*/ 69 w 74"/>
                <a:gd name="T3" fmla="*/ 10 h 10"/>
                <a:gd name="T4" fmla="*/ 74 w 74"/>
                <a:gd name="T5" fmla="*/ 5 h 10"/>
                <a:gd name="T6" fmla="*/ 69 w 74"/>
                <a:gd name="T7" fmla="*/ 0 h 10"/>
                <a:gd name="T8" fmla="*/ 5 w 74"/>
                <a:gd name="T9" fmla="*/ 0 h 10"/>
                <a:gd name="T10" fmla="*/ 0 w 74"/>
                <a:gd name="T11" fmla="*/ 5 h 10"/>
                <a:gd name="T12" fmla="*/ 5 w 74"/>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74" h="10">
                  <a:moveTo>
                    <a:pt x="5" y="10"/>
                  </a:moveTo>
                  <a:cubicBezTo>
                    <a:pt x="69" y="10"/>
                    <a:pt x="69" y="10"/>
                    <a:pt x="69" y="10"/>
                  </a:cubicBezTo>
                  <a:cubicBezTo>
                    <a:pt x="71" y="10"/>
                    <a:pt x="74" y="8"/>
                    <a:pt x="74" y="5"/>
                  </a:cubicBezTo>
                  <a:cubicBezTo>
                    <a:pt x="74" y="2"/>
                    <a:pt x="71" y="0"/>
                    <a:pt x="69" y="0"/>
                  </a:cubicBezTo>
                  <a:cubicBezTo>
                    <a:pt x="5" y="0"/>
                    <a:pt x="5" y="0"/>
                    <a:pt x="5" y="0"/>
                  </a:cubicBezTo>
                  <a:cubicBezTo>
                    <a:pt x="2" y="0"/>
                    <a:pt x="0" y="2"/>
                    <a:pt x="0" y="5"/>
                  </a:cubicBezTo>
                  <a:cubicBezTo>
                    <a:pt x="0" y="8"/>
                    <a:pt x="2" y="10"/>
                    <a:pt x="5" y="1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sp>
          <p:nvSpPr>
            <p:cNvPr id="67" name="Freeform 429">
              <a:extLst>
                <a:ext uri="{FF2B5EF4-FFF2-40B4-BE49-F238E27FC236}">
                  <a16:creationId xmlns:a16="http://schemas.microsoft.com/office/drawing/2014/main" id="{492D6D4B-2E2E-FCA8-603C-86011EDED2A5}"/>
                </a:ext>
              </a:extLst>
            </p:cNvPr>
            <p:cNvSpPr>
              <a:spLocks noEditPoints="1"/>
            </p:cNvSpPr>
            <p:nvPr/>
          </p:nvSpPr>
          <p:spPr bwMode="auto">
            <a:xfrm>
              <a:off x="8305800" y="1987550"/>
              <a:ext cx="590550" cy="512763"/>
            </a:xfrm>
            <a:custGeom>
              <a:avLst/>
              <a:gdLst>
                <a:gd name="T0" fmla="*/ 234 w 239"/>
                <a:gd name="T1" fmla="*/ 0 h 208"/>
                <a:gd name="T2" fmla="*/ 5 w 239"/>
                <a:gd name="T3" fmla="*/ 0 h 208"/>
                <a:gd name="T4" fmla="*/ 0 w 239"/>
                <a:gd name="T5" fmla="*/ 5 h 208"/>
                <a:gd name="T6" fmla="*/ 0 w 239"/>
                <a:gd name="T7" fmla="*/ 203 h 208"/>
                <a:gd name="T8" fmla="*/ 5 w 239"/>
                <a:gd name="T9" fmla="*/ 208 h 208"/>
                <a:gd name="T10" fmla="*/ 52 w 239"/>
                <a:gd name="T11" fmla="*/ 208 h 208"/>
                <a:gd name="T12" fmla="*/ 57 w 239"/>
                <a:gd name="T13" fmla="*/ 203 h 208"/>
                <a:gd name="T14" fmla="*/ 57 w 239"/>
                <a:gd name="T15" fmla="*/ 188 h 208"/>
                <a:gd name="T16" fmla="*/ 68 w 239"/>
                <a:gd name="T17" fmla="*/ 176 h 208"/>
                <a:gd name="T18" fmla="*/ 80 w 239"/>
                <a:gd name="T19" fmla="*/ 188 h 208"/>
                <a:gd name="T20" fmla="*/ 80 w 239"/>
                <a:gd name="T21" fmla="*/ 203 h 208"/>
                <a:gd name="T22" fmla="*/ 84 w 239"/>
                <a:gd name="T23" fmla="*/ 208 h 208"/>
                <a:gd name="T24" fmla="*/ 154 w 239"/>
                <a:gd name="T25" fmla="*/ 208 h 208"/>
                <a:gd name="T26" fmla="*/ 159 w 239"/>
                <a:gd name="T27" fmla="*/ 203 h 208"/>
                <a:gd name="T28" fmla="*/ 159 w 239"/>
                <a:gd name="T29" fmla="*/ 188 h 208"/>
                <a:gd name="T30" fmla="*/ 171 w 239"/>
                <a:gd name="T31" fmla="*/ 176 h 208"/>
                <a:gd name="T32" fmla="*/ 182 w 239"/>
                <a:gd name="T33" fmla="*/ 188 h 208"/>
                <a:gd name="T34" fmla="*/ 182 w 239"/>
                <a:gd name="T35" fmla="*/ 203 h 208"/>
                <a:gd name="T36" fmla="*/ 187 w 239"/>
                <a:gd name="T37" fmla="*/ 208 h 208"/>
                <a:gd name="T38" fmla="*/ 234 w 239"/>
                <a:gd name="T39" fmla="*/ 208 h 208"/>
                <a:gd name="T40" fmla="*/ 239 w 239"/>
                <a:gd name="T41" fmla="*/ 203 h 208"/>
                <a:gd name="T42" fmla="*/ 239 w 239"/>
                <a:gd name="T43" fmla="*/ 5 h 208"/>
                <a:gd name="T44" fmla="*/ 234 w 239"/>
                <a:gd name="T45" fmla="*/ 0 h 208"/>
                <a:gd name="T46" fmla="*/ 229 w 239"/>
                <a:gd name="T47" fmla="*/ 198 h 208"/>
                <a:gd name="T48" fmla="*/ 192 w 239"/>
                <a:gd name="T49" fmla="*/ 198 h 208"/>
                <a:gd name="T50" fmla="*/ 192 w 239"/>
                <a:gd name="T51" fmla="*/ 188 h 208"/>
                <a:gd name="T52" fmla="*/ 171 w 239"/>
                <a:gd name="T53" fmla="*/ 167 h 208"/>
                <a:gd name="T54" fmla="*/ 150 w 239"/>
                <a:gd name="T55" fmla="*/ 188 h 208"/>
                <a:gd name="T56" fmla="*/ 150 w 239"/>
                <a:gd name="T57" fmla="*/ 198 h 208"/>
                <a:gd name="T58" fmla="*/ 89 w 239"/>
                <a:gd name="T59" fmla="*/ 198 h 208"/>
                <a:gd name="T60" fmla="*/ 89 w 239"/>
                <a:gd name="T61" fmla="*/ 188 h 208"/>
                <a:gd name="T62" fmla="*/ 68 w 239"/>
                <a:gd name="T63" fmla="*/ 167 h 208"/>
                <a:gd name="T64" fmla="*/ 47 w 239"/>
                <a:gd name="T65" fmla="*/ 188 h 208"/>
                <a:gd name="T66" fmla="*/ 47 w 239"/>
                <a:gd name="T67" fmla="*/ 198 h 208"/>
                <a:gd name="T68" fmla="*/ 10 w 239"/>
                <a:gd name="T69" fmla="*/ 198 h 208"/>
                <a:gd name="T70" fmla="*/ 10 w 239"/>
                <a:gd name="T71" fmla="*/ 10 h 208"/>
                <a:gd name="T72" fmla="*/ 229 w 239"/>
                <a:gd name="T73" fmla="*/ 10 h 208"/>
                <a:gd name="T74" fmla="*/ 229 w 239"/>
                <a:gd name="T75" fmla="*/ 19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9" h="208">
                  <a:moveTo>
                    <a:pt x="234" y="0"/>
                  </a:moveTo>
                  <a:cubicBezTo>
                    <a:pt x="5" y="0"/>
                    <a:pt x="5" y="0"/>
                    <a:pt x="5" y="0"/>
                  </a:cubicBezTo>
                  <a:cubicBezTo>
                    <a:pt x="2" y="0"/>
                    <a:pt x="0" y="2"/>
                    <a:pt x="0" y="5"/>
                  </a:cubicBezTo>
                  <a:cubicBezTo>
                    <a:pt x="0" y="203"/>
                    <a:pt x="0" y="203"/>
                    <a:pt x="0" y="203"/>
                  </a:cubicBezTo>
                  <a:cubicBezTo>
                    <a:pt x="0" y="206"/>
                    <a:pt x="2" y="208"/>
                    <a:pt x="5" y="208"/>
                  </a:cubicBezTo>
                  <a:cubicBezTo>
                    <a:pt x="52" y="208"/>
                    <a:pt x="52" y="208"/>
                    <a:pt x="52" y="208"/>
                  </a:cubicBezTo>
                  <a:cubicBezTo>
                    <a:pt x="55" y="208"/>
                    <a:pt x="57" y="206"/>
                    <a:pt x="57" y="203"/>
                  </a:cubicBezTo>
                  <a:cubicBezTo>
                    <a:pt x="57" y="188"/>
                    <a:pt x="57" y="188"/>
                    <a:pt x="57" y="188"/>
                  </a:cubicBezTo>
                  <a:cubicBezTo>
                    <a:pt x="57" y="181"/>
                    <a:pt x="62" y="176"/>
                    <a:pt x="68" y="176"/>
                  </a:cubicBezTo>
                  <a:cubicBezTo>
                    <a:pt x="74" y="176"/>
                    <a:pt x="80" y="181"/>
                    <a:pt x="80" y="188"/>
                  </a:cubicBezTo>
                  <a:cubicBezTo>
                    <a:pt x="80" y="203"/>
                    <a:pt x="80" y="203"/>
                    <a:pt x="80" y="203"/>
                  </a:cubicBezTo>
                  <a:cubicBezTo>
                    <a:pt x="80" y="206"/>
                    <a:pt x="82" y="208"/>
                    <a:pt x="84" y="208"/>
                  </a:cubicBezTo>
                  <a:cubicBezTo>
                    <a:pt x="154" y="208"/>
                    <a:pt x="154" y="208"/>
                    <a:pt x="154" y="208"/>
                  </a:cubicBezTo>
                  <a:cubicBezTo>
                    <a:pt x="157" y="208"/>
                    <a:pt x="159" y="206"/>
                    <a:pt x="159" y="203"/>
                  </a:cubicBezTo>
                  <a:cubicBezTo>
                    <a:pt x="159" y="188"/>
                    <a:pt x="159" y="188"/>
                    <a:pt x="159" y="188"/>
                  </a:cubicBezTo>
                  <a:cubicBezTo>
                    <a:pt x="159" y="181"/>
                    <a:pt x="164" y="176"/>
                    <a:pt x="171" y="176"/>
                  </a:cubicBezTo>
                  <a:cubicBezTo>
                    <a:pt x="177" y="176"/>
                    <a:pt x="182" y="181"/>
                    <a:pt x="182" y="188"/>
                  </a:cubicBezTo>
                  <a:cubicBezTo>
                    <a:pt x="182" y="203"/>
                    <a:pt x="182" y="203"/>
                    <a:pt x="182" y="203"/>
                  </a:cubicBezTo>
                  <a:cubicBezTo>
                    <a:pt x="182" y="206"/>
                    <a:pt x="184" y="208"/>
                    <a:pt x="187" y="208"/>
                  </a:cubicBezTo>
                  <a:cubicBezTo>
                    <a:pt x="234" y="208"/>
                    <a:pt x="234" y="208"/>
                    <a:pt x="234" y="208"/>
                  </a:cubicBezTo>
                  <a:cubicBezTo>
                    <a:pt x="237" y="208"/>
                    <a:pt x="239" y="206"/>
                    <a:pt x="239" y="203"/>
                  </a:cubicBezTo>
                  <a:cubicBezTo>
                    <a:pt x="239" y="5"/>
                    <a:pt x="239" y="5"/>
                    <a:pt x="239" y="5"/>
                  </a:cubicBezTo>
                  <a:cubicBezTo>
                    <a:pt x="239" y="2"/>
                    <a:pt x="237" y="0"/>
                    <a:pt x="234" y="0"/>
                  </a:cubicBezTo>
                  <a:close/>
                  <a:moveTo>
                    <a:pt x="229" y="198"/>
                  </a:moveTo>
                  <a:cubicBezTo>
                    <a:pt x="192" y="198"/>
                    <a:pt x="192" y="198"/>
                    <a:pt x="192" y="198"/>
                  </a:cubicBezTo>
                  <a:cubicBezTo>
                    <a:pt x="192" y="188"/>
                    <a:pt x="192" y="188"/>
                    <a:pt x="192" y="188"/>
                  </a:cubicBezTo>
                  <a:cubicBezTo>
                    <a:pt x="192" y="176"/>
                    <a:pt x="182" y="167"/>
                    <a:pt x="171" y="167"/>
                  </a:cubicBezTo>
                  <a:cubicBezTo>
                    <a:pt x="159" y="167"/>
                    <a:pt x="150" y="176"/>
                    <a:pt x="150" y="188"/>
                  </a:cubicBezTo>
                  <a:cubicBezTo>
                    <a:pt x="150" y="198"/>
                    <a:pt x="150" y="198"/>
                    <a:pt x="150" y="198"/>
                  </a:cubicBezTo>
                  <a:cubicBezTo>
                    <a:pt x="89" y="198"/>
                    <a:pt x="89" y="198"/>
                    <a:pt x="89" y="198"/>
                  </a:cubicBezTo>
                  <a:cubicBezTo>
                    <a:pt x="89" y="188"/>
                    <a:pt x="89" y="188"/>
                    <a:pt x="89" y="188"/>
                  </a:cubicBezTo>
                  <a:cubicBezTo>
                    <a:pt x="89" y="176"/>
                    <a:pt x="80" y="167"/>
                    <a:pt x="68" y="167"/>
                  </a:cubicBezTo>
                  <a:cubicBezTo>
                    <a:pt x="56" y="167"/>
                    <a:pt x="47" y="176"/>
                    <a:pt x="47" y="188"/>
                  </a:cubicBezTo>
                  <a:cubicBezTo>
                    <a:pt x="47" y="198"/>
                    <a:pt x="47" y="198"/>
                    <a:pt x="47" y="198"/>
                  </a:cubicBezTo>
                  <a:cubicBezTo>
                    <a:pt x="10" y="198"/>
                    <a:pt x="10" y="198"/>
                    <a:pt x="10" y="198"/>
                  </a:cubicBezTo>
                  <a:cubicBezTo>
                    <a:pt x="10" y="10"/>
                    <a:pt x="10" y="10"/>
                    <a:pt x="10" y="10"/>
                  </a:cubicBezTo>
                  <a:cubicBezTo>
                    <a:pt x="229" y="10"/>
                    <a:pt x="229" y="10"/>
                    <a:pt x="229" y="10"/>
                  </a:cubicBezTo>
                  <a:lnTo>
                    <a:pt x="229" y="1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085" tIns="43543" rIns="87085" bIns="43543" numCol="1" anchor="t" anchorCtr="0" compatLnSpc="1">
              <a:prstTxWarp prst="textNoShape">
                <a:avLst/>
              </a:prstTxWarp>
            </a:bodyPr>
            <a:lstStyle/>
            <a:p>
              <a:endParaRPr lang="en-US" sz="1715"/>
            </a:p>
          </p:txBody>
        </p:sp>
      </p:grpSp>
      <p:pic>
        <p:nvPicPr>
          <p:cNvPr id="68" name="Picture 67">
            <a:extLst>
              <a:ext uri="{FF2B5EF4-FFF2-40B4-BE49-F238E27FC236}">
                <a16:creationId xmlns:a16="http://schemas.microsoft.com/office/drawing/2014/main" id="{3EF7668C-98BD-7F0C-B01F-E2A93463759F}"/>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5" y="6582031"/>
            <a:ext cx="12190476" cy="274320"/>
          </a:xfrm>
          <a:prstGeom prst="rect">
            <a:avLst/>
          </a:prstGeom>
        </p:spPr>
      </p:pic>
      <p:pic>
        <p:nvPicPr>
          <p:cNvPr id="69" name="Picture 68">
            <a:extLst>
              <a:ext uri="{FF2B5EF4-FFF2-40B4-BE49-F238E27FC236}">
                <a16:creationId xmlns:a16="http://schemas.microsoft.com/office/drawing/2014/main" id="{A5CDBB2C-FDC9-D5E4-8EFE-A9A4C2CF3188}"/>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 y="0"/>
            <a:ext cx="12191999" cy="274320"/>
          </a:xfrm>
          <a:prstGeom prst="rect">
            <a:avLst/>
          </a:prstGeom>
        </p:spPr>
      </p:pic>
      <p:pic>
        <p:nvPicPr>
          <p:cNvPr id="2" name="Graphic 1">
            <a:extLst>
              <a:ext uri="{FF2B5EF4-FFF2-40B4-BE49-F238E27FC236}">
                <a16:creationId xmlns:a16="http://schemas.microsoft.com/office/drawing/2014/main" id="{603EC9A6-9512-7C35-E6DA-643976E428B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11713" y="5684593"/>
            <a:ext cx="807156" cy="8071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9BF0A22-F390-D60A-D52B-BE6A06EBFBE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l="37747" b="22035"/>
          <a:stretch/>
        </p:blipFill>
        <p:spPr>
          <a:xfrm>
            <a:off x="-7582" y="3627120"/>
            <a:ext cx="2892219" cy="3364019"/>
          </a:xfrm>
          <a:prstGeom prst="rect">
            <a:avLst/>
          </a:prstGeom>
        </p:spPr>
      </p:pic>
      <p:sp>
        <p:nvSpPr>
          <p:cNvPr id="4" name="Text 2"/>
          <p:cNvSpPr>
            <a:spLocks noGrp="1"/>
          </p:cNvSpPr>
          <p:nvPr>
            <p:ph type="title" idx="4294967295"/>
          </p:nvPr>
        </p:nvSpPr>
        <p:spPr>
          <a:xfrm>
            <a:off x="323829" y="503279"/>
            <a:ext cx="10972800" cy="60960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44692"/>
                </a:solidFill>
                <a:effectLst/>
                <a:uLnTx/>
                <a:uFillTx/>
                <a:latin typeface="Open Sans" panose="020B0606030504020204" pitchFamily="34" charset="0"/>
                <a:ea typeface="Open Sans" panose="020B0606030504020204" pitchFamily="34" charset="0"/>
                <a:cs typeface="Open Sans" panose="020B0606030504020204" pitchFamily="34" charset="0"/>
              </a:rPr>
              <a:t>What AI Actually Looks Like at Work</a:t>
            </a:r>
            <a:endParaRPr kumimoji="0" lang="en-US" sz="32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323830" y="1150387"/>
            <a:ext cx="11633332" cy="487680"/>
          </a:xfrm>
          <a:prstGeom prst="rect">
            <a:avLst/>
          </a:prstGeom>
          <a:noFill/>
          <a:ln/>
        </p:spPr>
        <p:txBody>
          <a:bodyPr wrap="square" lIns="0" tIns="0" rIns="0" bIns="0" rtlCol="0" anchor="ctr"/>
          <a:lstStyle/>
          <a:p>
            <a:r>
              <a:rPr lang="en-US" sz="1867">
                <a:latin typeface="Open Sans" panose="020B0606030504020204" pitchFamily="34" charset="0"/>
                <a:ea typeface="Open Sans" panose="020B0606030504020204" pitchFamily="34" charset="0"/>
                <a:cs typeface="Open Sans" panose="020B0606030504020204" pitchFamily="34" charset="0"/>
              </a:rPr>
              <a:t>AI is already embedded in daily tasks across job centers, employers, and workforce organizations — the question is whether people know how to use it well.</a:t>
            </a:r>
          </a:p>
        </p:txBody>
      </p:sp>
      <p:sp>
        <p:nvSpPr>
          <p:cNvPr id="6" name="Shape 4" descr="Frame with content specific to Job Center Staff"/>
          <p:cNvSpPr/>
          <p:nvPr/>
        </p:nvSpPr>
        <p:spPr>
          <a:xfrm>
            <a:off x="766355" y="2141867"/>
            <a:ext cx="3474720" cy="3573416"/>
          </a:xfrm>
          <a:prstGeom prst="rect">
            <a:avLst/>
          </a:prstGeom>
          <a:solidFill>
            <a:srgbClr val="F4F8FA"/>
          </a:solidFill>
          <a:ln/>
          <a:effectLst>
            <a:outerShdw blurRad="38100" dist="12700" dir="8100000" algn="bl" rotWithShape="0">
              <a:srgbClr val="000000">
                <a:alpha val="6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a:extLst>
              <a:ext uri="{C183D7F6-B498-43B3-948B-1728B52AA6E4}">
                <adec:decorative xmlns:adec="http://schemas.microsoft.com/office/drawing/2017/decorative" val="1"/>
              </a:ext>
            </a:extLst>
          </p:cNvPr>
          <p:cNvSpPr/>
          <p:nvPr/>
        </p:nvSpPr>
        <p:spPr>
          <a:xfrm>
            <a:off x="766355" y="2141867"/>
            <a:ext cx="3474720" cy="60960"/>
          </a:xfrm>
          <a:prstGeom prst="rect">
            <a:avLst/>
          </a:prstGeom>
          <a:solidFill>
            <a:srgbClr val="00A99D"/>
          </a:solidFill>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pic>
        <p:nvPicPr>
          <p:cNvPr id="8" name="Image 0">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49235" y="2385707"/>
            <a:ext cx="365760" cy="365760"/>
          </a:xfrm>
          <a:prstGeom prst="rect">
            <a:avLst/>
          </a:prstGeom>
        </p:spPr>
      </p:pic>
      <p:sp>
        <p:nvSpPr>
          <p:cNvPr id="9" name="Text 6"/>
          <p:cNvSpPr/>
          <p:nvPr/>
        </p:nvSpPr>
        <p:spPr>
          <a:xfrm>
            <a:off x="1436915" y="2324747"/>
            <a:ext cx="2621280" cy="487680"/>
          </a:xfrm>
          <a:prstGeom prst="rect">
            <a:avLst/>
          </a:prstGeom>
          <a:noFill/>
          <a:ln/>
        </p:spPr>
        <p:txBody>
          <a:bodyPr wrap="square" lIns="0" tIns="0" rIns="0" bIns="0" rtlCol="0" anchor="ctr"/>
          <a:lstStyle/>
          <a:p>
            <a:r>
              <a:rPr lang="en-US" sz="1733" b="1">
                <a:solidFill>
                  <a:srgbClr val="044692"/>
                </a:solidFill>
                <a:latin typeface="Open Sans" panose="020B0606030504020204" pitchFamily="34" charset="0"/>
                <a:ea typeface="Open Sans" panose="020B0606030504020204" pitchFamily="34" charset="0"/>
                <a:cs typeface="Open Sans" panose="020B0606030504020204" pitchFamily="34" charset="0"/>
              </a:rPr>
              <a:t>Job Center Staff</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p:cNvSpPr/>
          <p:nvPr/>
        </p:nvSpPr>
        <p:spPr>
          <a:xfrm>
            <a:off x="949235" y="2934347"/>
            <a:ext cx="3108960" cy="2438400"/>
          </a:xfrm>
          <a:prstGeom prst="rect">
            <a:avLst/>
          </a:prstGeom>
          <a:noFill/>
          <a:ln/>
        </p:spPr>
        <p:txBody>
          <a:bodyPr wrap="square" rtlCol="0" anchor="t"/>
          <a:lstStyle/>
          <a:p>
            <a:pPr>
              <a:lnSpc>
                <a:spcPct val="130000"/>
              </a:lnSpc>
            </a:pPr>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Digital Navigators introduce AI alongside basic digital skills, showing job seekers how to tailor a resume to a specific posting, generate practice interview questions – in minutes, not hours. </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8" descr="Frame with content specific to Employers about how AI impacts the employer"/>
          <p:cNvSpPr/>
          <p:nvPr/>
        </p:nvSpPr>
        <p:spPr>
          <a:xfrm>
            <a:off x="4423955" y="2141867"/>
            <a:ext cx="3474720" cy="3573416"/>
          </a:xfrm>
          <a:prstGeom prst="rect">
            <a:avLst/>
          </a:prstGeom>
          <a:solidFill>
            <a:srgbClr val="F4F8FA"/>
          </a:solidFill>
          <a:ln/>
          <a:effectLst>
            <a:outerShdw blurRad="38100" dist="12700" dir="8100000" algn="bl" rotWithShape="0">
              <a:srgbClr val="000000">
                <a:alpha val="6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9">
            <a:extLst>
              <a:ext uri="{C183D7F6-B498-43B3-948B-1728B52AA6E4}">
                <adec:decorative xmlns:adec="http://schemas.microsoft.com/office/drawing/2017/decorative" val="1"/>
              </a:ext>
            </a:extLst>
          </p:cNvPr>
          <p:cNvSpPr/>
          <p:nvPr/>
        </p:nvSpPr>
        <p:spPr>
          <a:xfrm>
            <a:off x="4423955" y="2141867"/>
            <a:ext cx="3474720" cy="60960"/>
          </a:xfrm>
          <a:prstGeom prst="rect">
            <a:avLst/>
          </a:prstGeom>
          <a:solidFill>
            <a:srgbClr val="00A99D"/>
          </a:solidFill>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pic>
        <p:nvPicPr>
          <p:cNvPr id="13" name="Image 1">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606835" y="2385707"/>
            <a:ext cx="365760" cy="365760"/>
          </a:xfrm>
          <a:prstGeom prst="rect">
            <a:avLst/>
          </a:prstGeom>
        </p:spPr>
      </p:pic>
      <p:sp>
        <p:nvSpPr>
          <p:cNvPr id="14" name="Text 10"/>
          <p:cNvSpPr/>
          <p:nvPr/>
        </p:nvSpPr>
        <p:spPr>
          <a:xfrm>
            <a:off x="5094515" y="2324747"/>
            <a:ext cx="2621280" cy="487680"/>
          </a:xfrm>
          <a:prstGeom prst="rect">
            <a:avLst/>
          </a:prstGeom>
          <a:noFill/>
          <a:ln/>
        </p:spPr>
        <p:txBody>
          <a:bodyPr wrap="square" lIns="0" tIns="0" rIns="0" bIns="0" rtlCol="0" anchor="ctr"/>
          <a:lstStyle/>
          <a:p>
            <a:r>
              <a:rPr lang="en-US" sz="1733" b="1">
                <a:solidFill>
                  <a:srgbClr val="044692"/>
                </a:solidFill>
                <a:latin typeface="Open Sans" panose="020B0606030504020204" pitchFamily="34" charset="0"/>
                <a:ea typeface="Open Sans" panose="020B0606030504020204" pitchFamily="34" charset="0"/>
                <a:cs typeface="Open Sans" panose="020B0606030504020204" pitchFamily="34" charset="0"/>
              </a:rPr>
              <a:t>Employer</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4606835" y="2934347"/>
            <a:ext cx="3108960" cy="2438400"/>
          </a:xfrm>
          <a:prstGeom prst="rect">
            <a:avLst/>
          </a:prstGeom>
          <a:noFill/>
          <a:ln/>
        </p:spPr>
        <p:txBody>
          <a:bodyPr wrap="square" rtlCol="0" anchor="t"/>
          <a:lstStyle/>
          <a:p>
            <a:pPr>
              <a:lnSpc>
                <a:spcPct val="130000"/>
              </a:lnSpc>
            </a:pPr>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An engineering firm uses AI to search a century-old technical archive — identifying relevant documents, failure patterns, and compliance history that previously required days of manual review. </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2" descr="Frame with content specific information about the impact of AI on Workforce Development."/>
          <p:cNvSpPr/>
          <p:nvPr/>
        </p:nvSpPr>
        <p:spPr>
          <a:xfrm>
            <a:off x="8081555" y="2141867"/>
            <a:ext cx="3474720" cy="3573416"/>
          </a:xfrm>
          <a:prstGeom prst="rect">
            <a:avLst/>
          </a:prstGeom>
          <a:solidFill>
            <a:srgbClr val="F4F8FA"/>
          </a:solidFill>
          <a:ln/>
          <a:effectLst>
            <a:outerShdw blurRad="38100" dist="12700" dir="8100000" algn="bl" rotWithShape="0">
              <a:srgbClr val="000000">
                <a:alpha val="6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3">
            <a:extLst>
              <a:ext uri="{C183D7F6-B498-43B3-948B-1728B52AA6E4}">
                <adec:decorative xmlns:adec="http://schemas.microsoft.com/office/drawing/2017/decorative" val="1"/>
              </a:ext>
            </a:extLst>
          </p:cNvPr>
          <p:cNvSpPr/>
          <p:nvPr/>
        </p:nvSpPr>
        <p:spPr>
          <a:xfrm>
            <a:off x="8081555" y="2141867"/>
            <a:ext cx="3474720" cy="60960"/>
          </a:xfrm>
          <a:prstGeom prst="rect">
            <a:avLst/>
          </a:prstGeom>
          <a:solidFill>
            <a:srgbClr val="00A99D"/>
          </a:solidFill>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pic>
        <p:nvPicPr>
          <p:cNvPr id="18" name="Image 2">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264435" y="2385707"/>
            <a:ext cx="365760" cy="365760"/>
          </a:xfrm>
          <a:prstGeom prst="rect">
            <a:avLst/>
          </a:prstGeom>
        </p:spPr>
      </p:pic>
      <p:sp>
        <p:nvSpPr>
          <p:cNvPr id="19" name="Text 14"/>
          <p:cNvSpPr/>
          <p:nvPr/>
        </p:nvSpPr>
        <p:spPr>
          <a:xfrm>
            <a:off x="8752115" y="2324747"/>
            <a:ext cx="2673531" cy="487680"/>
          </a:xfrm>
          <a:prstGeom prst="rect">
            <a:avLst/>
          </a:prstGeom>
          <a:noFill/>
          <a:ln/>
        </p:spPr>
        <p:txBody>
          <a:bodyPr wrap="square" lIns="0" tIns="0" rIns="0" bIns="0" rtlCol="0" anchor="ctr"/>
          <a:lstStyle/>
          <a:p>
            <a:r>
              <a:rPr lang="en-US" sz="1733" b="1">
                <a:solidFill>
                  <a:srgbClr val="044692"/>
                </a:solidFill>
                <a:latin typeface="Open Sans" panose="020B0606030504020204" pitchFamily="34" charset="0"/>
                <a:ea typeface="Open Sans" panose="020B0606030504020204" pitchFamily="34" charset="0"/>
                <a:cs typeface="Open Sans" panose="020B0606030504020204" pitchFamily="34" charset="0"/>
              </a:rPr>
              <a:t>Workforce Development</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5"/>
          <p:cNvSpPr/>
          <p:nvPr/>
        </p:nvSpPr>
        <p:spPr>
          <a:xfrm>
            <a:off x="8208072" y="2934347"/>
            <a:ext cx="3217573" cy="2438400"/>
          </a:xfrm>
          <a:prstGeom prst="rect">
            <a:avLst/>
          </a:prstGeom>
          <a:noFill/>
          <a:ln/>
        </p:spPr>
        <p:txBody>
          <a:bodyPr wrap="square" rtlCol="0" anchor="t"/>
          <a:lstStyle/>
          <a:p>
            <a:pPr>
              <a:lnSpc>
                <a:spcPct val="130000"/>
              </a:lnSpc>
            </a:pPr>
            <a:r>
              <a:rPr lang="en-US" sz="1600">
                <a:solidFill>
                  <a:srgbClr val="333333"/>
                </a:solidFill>
                <a:latin typeface="Open Sans" panose="020B0606030504020204" pitchFamily="34" charset="0"/>
                <a:ea typeface="Open Sans" panose="020B0606030504020204" pitchFamily="34" charset="0"/>
                <a:cs typeface="Open Sans" panose="020B0606030504020204" pitchFamily="34" charset="0"/>
              </a:rPr>
              <a:t>A nonprofit leader uses AI translation tools to bridge language barriers for workers in the trades, then uses those same tools to draft communications, summarize program data, and expand the capacity of a small team.</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pic>
        <p:nvPicPr>
          <p:cNvPr id="22" name="Picture 21">
            <a:extLst>
              <a:ext uri="{FF2B5EF4-FFF2-40B4-BE49-F238E27FC236}">
                <a16:creationId xmlns:a16="http://schemas.microsoft.com/office/drawing/2014/main" id="{012F75A3-FC4E-E52F-45DE-B13DB3BF21E0}"/>
              </a:ex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25" y="6582031"/>
            <a:ext cx="12190476" cy="274320"/>
          </a:xfrm>
          <a:prstGeom prst="rect">
            <a:avLst/>
          </a:prstGeom>
        </p:spPr>
      </p:pic>
      <p:pic>
        <p:nvPicPr>
          <p:cNvPr id="23" name="Picture 22">
            <a:extLst>
              <a:ext uri="{FF2B5EF4-FFF2-40B4-BE49-F238E27FC236}">
                <a16:creationId xmlns:a16="http://schemas.microsoft.com/office/drawing/2014/main" id="{F6E8CE6F-64DC-28EC-5037-C68D37597048}"/>
              </a:ext>
              <a:ext uri="{C183D7F6-B498-43B3-948B-1728B52AA6E4}">
                <adec:decorative xmlns:adec="http://schemas.microsoft.com/office/drawing/2017/decorative" val="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 y="0"/>
            <a:ext cx="12191999" cy="2743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CB0AF-06BD-454F-913D-52C378BD8446}"/>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3F9D2ABC-695F-AFB7-8CA4-CE792E6C1B04}"/>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7" name="Title 6">
            <a:extLst>
              <a:ext uri="{FF2B5EF4-FFF2-40B4-BE49-F238E27FC236}">
                <a16:creationId xmlns:a16="http://schemas.microsoft.com/office/drawing/2014/main" id="{C14742A0-D3F5-3790-49F0-49B09F718C6A}"/>
              </a:ext>
            </a:extLst>
          </p:cNvPr>
          <p:cNvSpPr txBox="1">
            <a:spLocks noGrp="1"/>
          </p:cNvSpPr>
          <p:nvPr>
            <p:ph type="title" idx="4294967295"/>
          </p:nvPr>
        </p:nvSpPr>
        <p:spPr>
          <a:xfrm>
            <a:off x="654014" y="1905141"/>
            <a:ext cx="10883972" cy="17543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5400" b="1" dirty="0">
                <a:solidFill>
                  <a:srgbClr val="044692"/>
                </a:solidFill>
                <a:latin typeface="Poppins"/>
                <a:ea typeface="+mn-ea"/>
                <a:cs typeface="Poppins"/>
              </a:rPr>
              <a:t>A Data-Driven Training Plan for the Workforce Ecosystem</a:t>
            </a:r>
            <a:endParaRPr kumimoji="0" lang="en-US" sz="5400" b="0" i="0" u="none" strike="noStrike" kern="1200" cap="none" spc="0" normalizeH="0" baseline="0" noProof="0" dirty="0">
              <a:ln>
                <a:noFill/>
              </a:ln>
              <a:solidFill>
                <a:schemeClr val="tx1"/>
              </a:solidFill>
              <a:effectLst/>
              <a:uLnTx/>
              <a:uFillTx/>
              <a:latin typeface="+mn-lt"/>
              <a:ea typeface="+mn-ea"/>
              <a:cs typeface="+mn-cs"/>
            </a:endParaRPr>
          </a:p>
        </p:txBody>
      </p:sp>
      <p:pic>
        <p:nvPicPr>
          <p:cNvPr id="18" name="Picture 17">
            <a:extLst>
              <a:ext uri="{FF2B5EF4-FFF2-40B4-BE49-F238E27FC236}">
                <a16:creationId xmlns:a16="http://schemas.microsoft.com/office/drawing/2014/main" id="{9F088364-C665-767D-2043-D4A9AB0B889C}"/>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a:ln>
            <a:solidFill>
              <a:srgbClr val="4472C4"/>
            </a:solidFill>
          </a:ln>
        </p:spPr>
      </p:pic>
    </p:spTree>
    <p:extLst>
      <p:ext uri="{BB962C8B-B14F-4D97-AF65-F5344CB8AC3E}">
        <p14:creationId xmlns:p14="http://schemas.microsoft.com/office/powerpoint/2010/main" val="3447757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E0440-120D-A51D-8420-992C678F036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8029E86-3584-89E5-43B4-1F2D27992310}"/>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9" name="Title 11">
            <a:extLst>
              <a:ext uri="{FF2B5EF4-FFF2-40B4-BE49-F238E27FC236}">
                <a16:creationId xmlns:a16="http://schemas.microsoft.com/office/drawing/2014/main" id="{809C06E5-D1FC-2335-2D82-38A3B52BE0BE}"/>
              </a:ext>
            </a:extLst>
          </p:cNvPr>
          <p:cNvSpPr txBox="1">
            <a:spLocks noGrp="1"/>
          </p:cNvSpPr>
          <p:nvPr>
            <p:ph type="title" idx="4294967295"/>
          </p:nvPr>
        </p:nvSpPr>
        <p:spPr>
          <a:xfrm>
            <a:off x="923676" y="916805"/>
            <a:ext cx="10344647" cy="109800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lang="en-US" sz="3200" b="1" dirty="0">
                <a:solidFill>
                  <a:srgbClr val="044692"/>
                </a:solidFill>
                <a:latin typeface="Poppins"/>
                <a:cs typeface="Poppins"/>
              </a:rPr>
              <a:t>Building AI fluency in the Workforce Ecosystem</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
        <p:nvSpPr>
          <p:cNvPr id="7" name="Slide Number Placeholder 2">
            <a:extLst>
              <a:ext uri="{FF2B5EF4-FFF2-40B4-BE49-F238E27FC236}">
                <a16:creationId xmlns:a16="http://schemas.microsoft.com/office/drawing/2014/main" id="{F7EA78C9-750E-0213-868D-C0284EA40EB5}"/>
              </a:ext>
            </a:extLst>
          </p:cNvPr>
          <p:cNvSpPr>
            <a:spLocks noGrp="1"/>
          </p:cNvSpPr>
          <p:nvPr>
            <p:ph type="sldNum" sz="quarter" idx="12"/>
          </p:nvPr>
        </p:nvSpPr>
        <p:spPr/>
        <p:txBody>
          <a:bodyPr/>
          <a:lstStyle/>
          <a:p>
            <a:fld id="{0D06D882-AB59-4AF3-BFF8-983A7E7E971E}" type="slidenum">
              <a:rPr lang="en-US" smtClean="0"/>
              <a:pPr/>
              <a:t>18</a:t>
            </a:fld>
            <a:endParaRPr lang="en-US"/>
          </a:p>
        </p:txBody>
      </p:sp>
      <p:pic>
        <p:nvPicPr>
          <p:cNvPr id="3" name="Picture 2">
            <a:extLst>
              <a:ext uri="{FF2B5EF4-FFF2-40B4-BE49-F238E27FC236}">
                <a16:creationId xmlns:a16="http://schemas.microsoft.com/office/drawing/2014/main" id="{9CA88D03-6EC1-0FBC-51EE-CFA91BB82822}"/>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
        <p:nvSpPr>
          <p:cNvPr id="4" name="Title 11">
            <a:extLst>
              <a:ext uri="{FF2B5EF4-FFF2-40B4-BE49-F238E27FC236}">
                <a16:creationId xmlns:a16="http://schemas.microsoft.com/office/drawing/2014/main" id="{2F79B32A-793D-F01E-777B-D56D948FC8A9}"/>
              </a:ext>
            </a:extLst>
          </p:cNvPr>
          <p:cNvSpPr txBox="1">
            <a:spLocks/>
          </p:cNvSpPr>
          <p:nvPr/>
        </p:nvSpPr>
        <p:spPr>
          <a:xfrm>
            <a:off x="526305" y="2289131"/>
            <a:ext cx="11139388" cy="4292899"/>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r>
              <a:rPr lang="en-US" sz="3200" dirty="0">
                <a:latin typeface="Poppins"/>
                <a:cs typeface="Poppins"/>
              </a:rPr>
              <a:t>AI Academy Learning Management is a web-based platform that provides courses about artificial intelligence (AI), generative AI (GenAI), agentic AI, and other emerging technologies.</a:t>
            </a:r>
          </a:p>
          <a:p>
            <a:pPr>
              <a:defRPr/>
            </a:pPr>
            <a:endParaRPr lang="en-US" sz="3200" dirty="0">
              <a:latin typeface="Poppins"/>
              <a:cs typeface="Poppins"/>
            </a:endParaRPr>
          </a:p>
          <a:p>
            <a:pPr>
              <a:defRPr/>
            </a:pPr>
            <a:endParaRPr lang="en-US" sz="3200" b="1" dirty="0">
              <a:solidFill>
                <a:srgbClr val="044692"/>
              </a:solidFill>
              <a:latin typeface="Poppins"/>
              <a:cs typeface="Poppins"/>
            </a:endParaRPr>
          </a:p>
          <a:p>
            <a:pPr>
              <a:defRPr/>
            </a:pPr>
            <a:endParaRPr lang="en-US" sz="3200" b="1" dirty="0">
              <a:solidFill>
                <a:srgbClr val="044692"/>
              </a:solidFill>
              <a:latin typeface="Poppins"/>
              <a:cs typeface="Poppins"/>
            </a:endParaRPr>
          </a:p>
          <a:p>
            <a:pPr>
              <a:defRPr/>
            </a:pPr>
            <a:endParaRPr lang="en-US" sz="3200" b="1" dirty="0">
              <a:solidFill>
                <a:srgbClr val="044692"/>
              </a:solidFill>
              <a:latin typeface="Poppins"/>
              <a:cs typeface="Poppins"/>
            </a:endParaRPr>
          </a:p>
          <a:p>
            <a:pPr>
              <a:defRPr/>
            </a:pPr>
            <a:endParaRPr lang="en-US" sz="3200" dirty="0"/>
          </a:p>
        </p:txBody>
      </p:sp>
    </p:spTree>
    <p:extLst>
      <p:ext uri="{BB962C8B-B14F-4D97-AF65-F5344CB8AC3E}">
        <p14:creationId xmlns:p14="http://schemas.microsoft.com/office/powerpoint/2010/main" val="1820844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a:extLst>
              <a:ext uri="{C183D7F6-B498-43B3-948B-1728B52AA6E4}">
                <adec:decorative xmlns:adec="http://schemas.microsoft.com/office/drawing/2017/decorative" val="1"/>
              </a:ext>
            </a:extLst>
          </p:cNvPr>
          <p:cNvGrpSpPr/>
          <p:nvPr/>
        </p:nvGrpSpPr>
        <p:grpSpPr>
          <a:xfrm>
            <a:off x="7277804" y="1289809"/>
            <a:ext cx="1274398" cy="1502776"/>
            <a:chOff x="0" y="-66675"/>
            <a:chExt cx="503466" cy="593689"/>
          </a:xfrm>
        </p:grpSpPr>
        <p:sp>
          <p:nvSpPr>
            <p:cNvPr id="10" name="Freeform 10"/>
            <p:cNvSpPr/>
            <p:nvPr/>
          </p:nvSpPr>
          <p:spPr>
            <a:xfrm>
              <a:off x="0" y="0"/>
              <a:ext cx="503466" cy="527014"/>
            </a:xfrm>
            <a:custGeom>
              <a:avLst/>
              <a:gdLst/>
              <a:ahLst/>
              <a:cxnLst/>
              <a:rect l="l" t="t" r="r" b="b"/>
              <a:pathLst>
                <a:path w="503466" h="527014">
                  <a:moveTo>
                    <a:pt x="206549" y="0"/>
                  </a:moveTo>
                  <a:lnTo>
                    <a:pt x="296917" y="0"/>
                  </a:lnTo>
                  <a:cubicBezTo>
                    <a:pt x="410991" y="0"/>
                    <a:pt x="503466" y="92475"/>
                    <a:pt x="503466" y="206549"/>
                  </a:cubicBezTo>
                  <a:lnTo>
                    <a:pt x="503466" y="320466"/>
                  </a:lnTo>
                  <a:cubicBezTo>
                    <a:pt x="503466" y="434539"/>
                    <a:pt x="410991" y="527014"/>
                    <a:pt x="296917" y="527014"/>
                  </a:cubicBezTo>
                  <a:lnTo>
                    <a:pt x="206549" y="527014"/>
                  </a:lnTo>
                  <a:cubicBezTo>
                    <a:pt x="92475" y="527014"/>
                    <a:pt x="0" y="434539"/>
                    <a:pt x="0" y="320466"/>
                  </a:cubicBezTo>
                  <a:lnTo>
                    <a:pt x="0" y="206549"/>
                  </a:lnTo>
                  <a:cubicBezTo>
                    <a:pt x="0" y="92475"/>
                    <a:pt x="92475" y="0"/>
                    <a:pt x="206549" y="0"/>
                  </a:cubicBezTo>
                  <a:close/>
                </a:path>
              </a:pathLst>
            </a:custGeom>
            <a:solidFill>
              <a:srgbClr val="1D9A50"/>
            </a:solidFill>
          </p:spPr>
          <p:txBody>
            <a:bodyPr/>
            <a:lstStyle/>
            <a:p>
              <a:endParaRPr lang="en-US" sz="1200">
                <a:latin typeface="Poppins" panose="00000500000000000000" pitchFamily="2" charset="0"/>
                <a:cs typeface="Poppins" panose="00000500000000000000" pitchFamily="2" charset="0"/>
              </a:endParaRPr>
            </a:p>
          </p:txBody>
        </p:sp>
        <p:sp>
          <p:nvSpPr>
            <p:cNvPr id="11" name="TextBox 11"/>
            <p:cNvSpPr txBox="1"/>
            <p:nvPr/>
          </p:nvSpPr>
          <p:spPr>
            <a:xfrm>
              <a:off x="0" y="-66675"/>
              <a:ext cx="503466" cy="593689"/>
            </a:xfrm>
            <a:prstGeom prst="rect">
              <a:avLst/>
            </a:prstGeom>
          </p:spPr>
          <p:txBody>
            <a:bodyPr lIns="33867" tIns="33867" rIns="33867" bIns="33867" rtlCol="0" anchor="ctr"/>
            <a:lstStyle/>
            <a:p>
              <a:pPr algn="ctr">
                <a:lnSpc>
                  <a:spcPts val="1269"/>
                </a:lnSpc>
              </a:pPr>
              <a:endParaRPr sz="1200">
                <a:latin typeface="Poppins" panose="00000500000000000000" pitchFamily="2" charset="0"/>
                <a:cs typeface="Poppins" panose="00000500000000000000" pitchFamily="2" charset="0"/>
              </a:endParaRP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AI Fundamentals </a:t>
              </a: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 11 lessons</a:t>
              </a:r>
            </a:p>
          </p:txBody>
        </p:sp>
      </p:grpSp>
      <p:grpSp>
        <p:nvGrpSpPr>
          <p:cNvPr id="12" name="Group 12">
            <a:extLst>
              <a:ext uri="{C183D7F6-B498-43B3-948B-1728B52AA6E4}">
                <adec:decorative xmlns:adec="http://schemas.microsoft.com/office/drawing/2017/decorative" val="1"/>
              </a:ext>
            </a:extLst>
          </p:cNvPr>
          <p:cNvGrpSpPr/>
          <p:nvPr/>
        </p:nvGrpSpPr>
        <p:grpSpPr>
          <a:xfrm>
            <a:off x="8868429" y="1289809"/>
            <a:ext cx="1274398" cy="1502776"/>
            <a:chOff x="0" y="-66675"/>
            <a:chExt cx="503466" cy="593689"/>
          </a:xfrm>
        </p:grpSpPr>
        <p:sp>
          <p:nvSpPr>
            <p:cNvPr id="13" name="Freeform 13"/>
            <p:cNvSpPr/>
            <p:nvPr/>
          </p:nvSpPr>
          <p:spPr>
            <a:xfrm>
              <a:off x="0" y="0"/>
              <a:ext cx="503466" cy="527014"/>
            </a:xfrm>
            <a:custGeom>
              <a:avLst/>
              <a:gdLst/>
              <a:ahLst/>
              <a:cxnLst/>
              <a:rect l="l" t="t" r="r" b="b"/>
              <a:pathLst>
                <a:path w="503466" h="527014">
                  <a:moveTo>
                    <a:pt x="206549" y="0"/>
                  </a:moveTo>
                  <a:lnTo>
                    <a:pt x="296917" y="0"/>
                  </a:lnTo>
                  <a:cubicBezTo>
                    <a:pt x="410991" y="0"/>
                    <a:pt x="503466" y="92475"/>
                    <a:pt x="503466" y="206549"/>
                  </a:cubicBezTo>
                  <a:lnTo>
                    <a:pt x="503466" y="320466"/>
                  </a:lnTo>
                  <a:cubicBezTo>
                    <a:pt x="503466" y="434539"/>
                    <a:pt x="410991" y="527014"/>
                    <a:pt x="296917" y="527014"/>
                  </a:cubicBezTo>
                  <a:lnTo>
                    <a:pt x="206549" y="527014"/>
                  </a:lnTo>
                  <a:cubicBezTo>
                    <a:pt x="92475" y="527014"/>
                    <a:pt x="0" y="434539"/>
                    <a:pt x="0" y="320466"/>
                  </a:cubicBezTo>
                  <a:lnTo>
                    <a:pt x="0" y="206549"/>
                  </a:lnTo>
                  <a:cubicBezTo>
                    <a:pt x="0" y="92475"/>
                    <a:pt x="92475" y="0"/>
                    <a:pt x="206549" y="0"/>
                  </a:cubicBezTo>
                  <a:close/>
                </a:path>
              </a:pathLst>
            </a:custGeom>
            <a:solidFill>
              <a:srgbClr val="1D9A50"/>
            </a:solidFill>
          </p:spPr>
          <p:txBody>
            <a:bodyPr/>
            <a:lstStyle/>
            <a:p>
              <a:endParaRPr lang="en-US" sz="1200">
                <a:latin typeface="Poppins" panose="00000500000000000000" pitchFamily="2" charset="0"/>
                <a:cs typeface="Poppins" panose="00000500000000000000" pitchFamily="2" charset="0"/>
              </a:endParaRPr>
            </a:p>
          </p:txBody>
        </p:sp>
        <p:sp>
          <p:nvSpPr>
            <p:cNvPr id="14" name="TextBox 14"/>
            <p:cNvSpPr txBox="1"/>
            <p:nvPr/>
          </p:nvSpPr>
          <p:spPr>
            <a:xfrm>
              <a:off x="0" y="-66675"/>
              <a:ext cx="503466" cy="593689"/>
            </a:xfrm>
            <a:prstGeom prst="rect">
              <a:avLst/>
            </a:prstGeom>
          </p:spPr>
          <p:txBody>
            <a:bodyPr lIns="33867" tIns="33867" rIns="33867" bIns="33867" rtlCol="0" anchor="ctr"/>
            <a:lstStyle/>
            <a:p>
              <a:pPr algn="ctr">
                <a:lnSpc>
                  <a:spcPts val="1269"/>
                </a:lnSpc>
              </a:pPr>
              <a:endParaRPr sz="1200">
                <a:latin typeface="Poppins" panose="00000500000000000000" pitchFamily="2" charset="0"/>
                <a:cs typeface="Poppins" panose="00000500000000000000" pitchFamily="2" charset="0"/>
              </a:endParaRP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AI - Powered Productivity</a:t>
              </a: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9 lessons</a:t>
              </a: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 </a:t>
              </a:r>
            </a:p>
          </p:txBody>
        </p:sp>
      </p:grpSp>
      <p:grpSp>
        <p:nvGrpSpPr>
          <p:cNvPr id="15" name="Group 15">
            <a:extLst>
              <a:ext uri="{C183D7F6-B498-43B3-948B-1728B52AA6E4}">
                <adec:decorative xmlns:adec="http://schemas.microsoft.com/office/drawing/2017/decorative" val="1"/>
              </a:ext>
            </a:extLst>
          </p:cNvPr>
          <p:cNvGrpSpPr/>
          <p:nvPr/>
        </p:nvGrpSpPr>
        <p:grpSpPr>
          <a:xfrm>
            <a:off x="10460327" y="1289809"/>
            <a:ext cx="1274398" cy="1502776"/>
            <a:chOff x="0" y="-66675"/>
            <a:chExt cx="503466" cy="593689"/>
          </a:xfrm>
        </p:grpSpPr>
        <p:sp>
          <p:nvSpPr>
            <p:cNvPr id="16" name="Freeform 16"/>
            <p:cNvSpPr/>
            <p:nvPr/>
          </p:nvSpPr>
          <p:spPr>
            <a:xfrm>
              <a:off x="0" y="0"/>
              <a:ext cx="503466" cy="527014"/>
            </a:xfrm>
            <a:custGeom>
              <a:avLst/>
              <a:gdLst/>
              <a:ahLst/>
              <a:cxnLst/>
              <a:rect l="l" t="t" r="r" b="b"/>
              <a:pathLst>
                <a:path w="503466" h="527014">
                  <a:moveTo>
                    <a:pt x="206549" y="0"/>
                  </a:moveTo>
                  <a:lnTo>
                    <a:pt x="296917" y="0"/>
                  </a:lnTo>
                  <a:cubicBezTo>
                    <a:pt x="410991" y="0"/>
                    <a:pt x="503466" y="92475"/>
                    <a:pt x="503466" y="206549"/>
                  </a:cubicBezTo>
                  <a:lnTo>
                    <a:pt x="503466" y="320466"/>
                  </a:lnTo>
                  <a:cubicBezTo>
                    <a:pt x="503466" y="434539"/>
                    <a:pt x="410991" y="527014"/>
                    <a:pt x="296917" y="527014"/>
                  </a:cubicBezTo>
                  <a:lnTo>
                    <a:pt x="206549" y="527014"/>
                  </a:lnTo>
                  <a:cubicBezTo>
                    <a:pt x="92475" y="527014"/>
                    <a:pt x="0" y="434539"/>
                    <a:pt x="0" y="320466"/>
                  </a:cubicBezTo>
                  <a:lnTo>
                    <a:pt x="0" y="206549"/>
                  </a:lnTo>
                  <a:cubicBezTo>
                    <a:pt x="0" y="92475"/>
                    <a:pt x="92475" y="0"/>
                    <a:pt x="206549" y="0"/>
                  </a:cubicBezTo>
                  <a:close/>
                </a:path>
              </a:pathLst>
            </a:custGeom>
            <a:solidFill>
              <a:srgbClr val="1D9A50"/>
            </a:solidFill>
          </p:spPr>
          <p:txBody>
            <a:bodyPr/>
            <a:lstStyle/>
            <a:p>
              <a:endParaRPr lang="en-US" sz="1200">
                <a:latin typeface="Poppins" panose="00000500000000000000" pitchFamily="2" charset="0"/>
                <a:cs typeface="Poppins" panose="00000500000000000000" pitchFamily="2" charset="0"/>
              </a:endParaRPr>
            </a:p>
          </p:txBody>
        </p:sp>
        <p:sp>
          <p:nvSpPr>
            <p:cNvPr id="17" name="TextBox 17"/>
            <p:cNvSpPr txBox="1"/>
            <p:nvPr/>
          </p:nvSpPr>
          <p:spPr>
            <a:xfrm>
              <a:off x="0" y="-66675"/>
              <a:ext cx="503466" cy="593689"/>
            </a:xfrm>
            <a:prstGeom prst="rect">
              <a:avLst/>
            </a:prstGeom>
          </p:spPr>
          <p:txBody>
            <a:bodyPr lIns="33867" tIns="33867" rIns="33867" bIns="33867" rtlCol="0" anchor="ctr"/>
            <a:lstStyle/>
            <a:p>
              <a:pPr algn="ctr">
                <a:lnSpc>
                  <a:spcPts val="1269"/>
                </a:lnSpc>
              </a:pPr>
              <a:r>
                <a:rPr lang="en-US" sz="1200" b="1" spc="-4">
                  <a:solidFill>
                    <a:srgbClr val="FFFFFF"/>
                  </a:solidFill>
                  <a:latin typeface="Poppins" panose="00000500000000000000" pitchFamily="2" charset="0"/>
                  <a:ea typeface="Mont Bold"/>
                  <a:cs typeface="Poppins" panose="00000500000000000000" pitchFamily="2" charset="0"/>
                  <a:sym typeface="Mont Bold"/>
                </a:rPr>
                <a:t>Prompt Engineering Basics</a:t>
              </a:r>
            </a:p>
            <a:p>
              <a:pPr algn="ctr">
                <a:lnSpc>
                  <a:spcPts val="1269"/>
                </a:lnSpc>
              </a:pPr>
              <a:r>
                <a:rPr lang="en-US" sz="1200" b="1" spc="-4">
                  <a:solidFill>
                    <a:srgbClr val="FFFFFF"/>
                  </a:solidFill>
                  <a:latin typeface="Poppins" panose="00000500000000000000" pitchFamily="2" charset="0"/>
                  <a:ea typeface="Mont Bold"/>
                  <a:cs typeface="Poppins" panose="00000500000000000000" pitchFamily="2" charset="0"/>
                  <a:sym typeface="Mont Bold"/>
                </a:rPr>
                <a:t>7 lessons</a:t>
              </a:r>
            </a:p>
          </p:txBody>
        </p:sp>
      </p:grpSp>
      <p:grpSp>
        <p:nvGrpSpPr>
          <p:cNvPr id="18" name="Group 18">
            <a:extLst>
              <a:ext uri="{C183D7F6-B498-43B3-948B-1728B52AA6E4}">
                <adec:decorative xmlns:adec="http://schemas.microsoft.com/office/drawing/2017/decorative" val="1"/>
              </a:ext>
            </a:extLst>
          </p:cNvPr>
          <p:cNvGrpSpPr/>
          <p:nvPr/>
        </p:nvGrpSpPr>
        <p:grpSpPr>
          <a:xfrm>
            <a:off x="5710024" y="2743602"/>
            <a:ext cx="1274398" cy="1502776"/>
            <a:chOff x="0" y="-66675"/>
            <a:chExt cx="503466" cy="593689"/>
          </a:xfrm>
        </p:grpSpPr>
        <p:sp>
          <p:nvSpPr>
            <p:cNvPr id="19" name="Freeform 19"/>
            <p:cNvSpPr/>
            <p:nvPr/>
          </p:nvSpPr>
          <p:spPr>
            <a:xfrm>
              <a:off x="0" y="0"/>
              <a:ext cx="503466" cy="527014"/>
            </a:xfrm>
            <a:custGeom>
              <a:avLst/>
              <a:gdLst/>
              <a:ahLst/>
              <a:cxnLst/>
              <a:rect l="l" t="t" r="r" b="b"/>
              <a:pathLst>
                <a:path w="503466" h="527014">
                  <a:moveTo>
                    <a:pt x="206549" y="0"/>
                  </a:moveTo>
                  <a:lnTo>
                    <a:pt x="296917" y="0"/>
                  </a:lnTo>
                  <a:cubicBezTo>
                    <a:pt x="410991" y="0"/>
                    <a:pt x="503466" y="92475"/>
                    <a:pt x="503466" y="206549"/>
                  </a:cubicBezTo>
                  <a:lnTo>
                    <a:pt x="503466" y="320466"/>
                  </a:lnTo>
                  <a:cubicBezTo>
                    <a:pt x="503466" y="434539"/>
                    <a:pt x="410991" y="527014"/>
                    <a:pt x="296917" y="527014"/>
                  </a:cubicBezTo>
                  <a:lnTo>
                    <a:pt x="206549" y="527014"/>
                  </a:lnTo>
                  <a:cubicBezTo>
                    <a:pt x="92475" y="527014"/>
                    <a:pt x="0" y="434539"/>
                    <a:pt x="0" y="320466"/>
                  </a:cubicBezTo>
                  <a:lnTo>
                    <a:pt x="0" y="206549"/>
                  </a:lnTo>
                  <a:cubicBezTo>
                    <a:pt x="0" y="92475"/>
                    <a:pt x="92475" y="0"/>
                    <a:pt x="206549" y="0"/>
                  </a:cubicBezTo>
                  <a:close/>
                </a:path>
              </a:pathLst>
            </a:custGeom>
            <a:solidFill>
              <a:srgbClr val="1D9A50"/>
            </a:solidFill>
          </p:spPr>
          <p:txBody>
            <a:bodyPr/>
            <a:lstStyle/>
            <a:p>
              <a:endParaRPr lang="en-US" sz="1200">
                <a:latin typeface="Poppins" panose="00000500000000000000" pitchFamily="2" charset="0"/>
                <a:cs typeface="Poppins" panose="00000500000000000000" pitchFamily="2" charset="0"/>
              </a:endParaRPr>
            </a:p>
          </p:txBody>
        </p:sp>
        <p:sp>
          <p:nvSpPr>
            <p:cNvPr id="20" name="TextBox 20"/>
            <p:cNvSpPr txBox="1"/>
            <p:nvPr/>
          </p:nvSpPr>
          <p:spPr>
            <a:xfrm>
              <a:off x="0" y="-66675"/>
              <a:ext cx="503466" cy="593689"/>
            </a:xfrm>
            <a:prstGeom prst="rect">
              <a:avLst/>
            </a:prstGeom>
          </p:spPr>
          <p:txBody>
            <a:bodyPr lIns="33867" tIns="33867" rIns="33867" bIns="33867" rtlCol="0" anchor="ctr"/>
            <a:lstStyle/>
            <a:p>
              <a:pPr algn="ctr">
                <a:lnSpc>
                  <a:spcPts val="1269"/>
                </a:lnSpc>
              </a:pPr>
              <a:r>
                <a:rPr lang="en-US" sz="1200" b="1" spc="-4">
                  <a:solidFill>
                    <a:srgbClr val="FFFFFF"/>
                  </a:solidFill>
                  <a:latin typeface="Poppins" panose="00000500000000000000" pitchFamily="2" charset="0"/>
                  <a:ea typeface="Mont Bold"/>
                  <a:cs typeface="Poppins" panose="00000500000000000000" pitchFamily="2" charset="0"/>
                  <a:sym typeface="Mont Bold"/>
                </a:rPr>
                <a:t>Technology, Trust, and Ethics</a:t>
              </a:r>
            </a:p>
            <a:p>
              <a:pPr algn="ctr">
                <a:lnSpc>
                  <a:spcPts val="1269"/>
                </a:lnSpc>
              </a:pPr>
              <a:r>
                <a:rPr lang="en-US" sz="1200" b="1" spc="-4">
                  <a:solidFill>
                    <a:srgbClr val="FFFFFF"/>
                  </a:solidFill>
                  <a:latin typeface="Poppins" panose="00000500000000000000" pitchFamily="2" charset="0"/>
                  <a:ea typeface="Mont Bold"/>
                  <a:cs typeface="Poppins" panose="00000500000000000000" pitchFamily="2" charset="0"/>
                  <a:sym typeface="Mont Bold"/>
                </a:rPr>
                <a:t>6 lessons</a:t>
              </a:r>
            </a:p>
          </p:txBody>
        </p:sp>
      </p:grpSp>
      <p:grpSp>
        <p:nvGrpSpPr>
          <p:cNvPr id="21" name="Group 21">
            <a:extLst>
              <a:ext uri="{C183D7F6-B498-43B3-948B-1728B52AA6E4}">
                <adec:decorative xmlns:adec="http://schemas.microsoft.com/office/drawing/2017/decorative" val="1"/>
              </a:ext>
            </a:extLst>
          </p:cNvPr>
          <p:cNvGrpSpPr/>
          <p:nvPr/>
        </p:nvGrpSpPr>
        <p:grpSpPr>
          <a:xfrm>
            <a:off x="7333671" y="2743602"/>
            <a:ext cx="1274398" cy="1502776"/>
            <a:chOff x="0" y="-66675"/>
            <a:chExt cx="503466" cy="593689"/>
          </a:xfrm>
        </p:grpSpPr>
        <p:sp>
          <p:nvSpPr>
            <p:cNvPr id="22" name="Freeform 22"/>
            <p:cNvSpPr/>
            <p:nvPr/>
          </p:nvSpPr>
          <p:spPr>
            <a:xfrm>
              <a:off x="0" y="0"/>
              <a:ext cx="503466" cy="527014"/>
            </a:xfrm>
            <a:custGeom>
              <a:avLst/>
              <a:gdLst/>
              <a:ahLst/>
              <a:cxnLst/>
              <a:rect l="l" t="t" r="r" b="b"/>
              <a:pathLst>
                <a:path w="503466" h="527014">
                  <a:moveTo>
                    <a:pt x="206549" y="0"/>
                  </a:moveTo>
                  <a:lnTo>
                    <a:pt x="296917" y="0"/>
                  </a:lnTo>
                  <a:cubicBezTo>
                    <a:pt x="410991" y="0"/>
                    <a:pt x="503466" y="92475"/>
                    <a:pt x="503466" y="206549"/>
                  </a:cubicBezTo>
                  <a:lnTo>
                    <a:pt x="503466" y="320466"/>
                  </a:lnTo>
                  <a:cubicBezTo>
                    <a:pt x="503466" y="434539"/>
                    <a:pt x="410991" y="527014"/>
                    <a:pt x="296917" y="527014"/>
                  </a:cubicBezTo>
                  <a:lnTo>
                    <a:pt x="206549" y="527014"/>
                  </a:lnTo>
                  <a:cubicBezTo>
                    <a:pt x="92475" y="527014"/>
                    <a:pt x="0" y="434539"/>
                    <a:pt x="0" y="320466"/>
                  </a:cubicBezTo>
                  <a:lnTo>
                    <a:pt x="0" y="206549"/>
                  </a:lnTo>
                  <a:cubicBezTo>
                    <a:pt x="0" y="92475"/>
                    <a:pt x="92475" y="0"/>
                    <a:pt x="206549" y="0"/>
                  </a:cubicBezTo>
                  <a:close/>
                </a:path>
              </a:pathLst>
            </a:custGeom>
            <a:solidFill>
              <a:srgbClr val="1D9A50"/>
            </a:solidFill>
          </p:spPr>
          <p:txBody>
            <a:bodyPr/>
            <a:lstStyle/>
            <a:p>
              <a:endParaRPr lang="en-US" sz="1200">
                <a:latin typeface="Poppins" panose="00000500000000000000" pitchFamily="2" charset="0"/>
                <a:cs typeface="Poppins" panose="00000500000000000000" pitchFamily="2" charset="0"/>
              </a:endParaRPr>
            </a:p>
          </p:txBody>
        </p:sp>
        <p:sp>
          <p:nvSpPr>
            <p:cNvPr id="23" name="TextBox 23"/>
            <p:cNvSpPr txBox="1"/>
            <p:nvPr/>
          </p:nvSpPr>
          <p:spPr>
            <a:xfrm>
              <a:off x="0" y="-66675"/>
              <a:ext cx="503466" cy="593689"/>
            </a:xfrm>
            <a:prstGeom prst="rect">
              <a:avLst/>
            </a:prstGeom>
          </p:spPr>
          <p:txBody>
            <a:bodyPr lIns="33867" tIns="33867" rIns="33867" bIns="33867" rtlCol="0" anchor="ctr"/>
            <a:lstStyle/>
            <a:p>
              <a:pPr algn="ctr">
                <a:lnSpc>
                  <a:spcPts val="1269"/>
                </a:lnSpc>
              </a:pPr>
              <a:r>
                <a:rPr lang="en-US" sz="1200" b="1" spc="-4">
                  <a:solidFill>
                    <a:srgbClr val="FFFFFF"/>
                  </a:solidFill>
                  <a:latin typeface="Poppins" panose="00000500000000000000" pitchFamily="2" charset="0"/>
                  <a:ea typeface="Mont Bold"/>
                  <a:cs typeface="Poppins" panose="00000500000000000000" pitchFamily="2" charset="0"/>
                  <a:sym typeface="Mont Bold"/>
                </a:rPr>
                <a:t>Problem Solving with AI </a:t>
              </a: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 7 lessons</a:t>
              </a:r>
            </a:p>
          </p:txBody>
        </p:sp>
      </p:grpSp>
      <p:grpSp>
        <p:nvGrpSpPr>
          <p:cNvPr id="24" name="Group 24">
            <a:extLst>
              <a:ext uri="{C183D7F6-B498-43B3-948B-1728B52AA6E4}">
                <adec:decorative xmlns:adec="http://schemas.microsoft.com/office/drawing/2017/decorative" val="1"/>
              </a:ext>
            </a:extLst>
          </p:cNvPr>
          <p:cNvGrpSpPr/>
          <p:nvPr/>
        </p:nvGrpSpPr>
        <p:grpSpPr>
          <a:xfrm>
            <a:off x="8869065" y="2743602"/>
            <a:ext cx="1274398" cy="1502776"/>
            <a:chOff x="0" y="-66675"/>
            <a:chExt cx="503466" cy="593689"/>
          </a:xfrm>
        </p:grpSpPr>
        <p:sp>
          <p:nvSpPr>
            <p:cNvPr id="25" name="Freeform 25"/>
            <p:cNvSpPr/>
            <p:nvPr/>
          </p:nvSpPr>
          <p:spPr>
            <a:xfrm>
              <a:off x="0" y="0"/>
              <a:ext cx="503466" cy="527014"/>
            </a:xfrm>
            <a:custGeom>
              <a:avLst/>
              <a:gdLst/>
              <a:ahLst/>
              <a:cxnLst/>
              <a:rect l="l" t="t" r="r" b="b"/>
              <a:pathLst>
                <a:path w="503466" h="527014">
                  <a:moveTo>
                    <a:pt x="206549" y="0"/>
                  </a:moveTo>
                  <a:lnTo>
                    <a:pt x="296917" y="0"/>
                  </a:lnTo>
                  <a:cubicBezTo>
                    <a:pt x="410991" y="0"/>
                    <a:pt x="503466" y="92475"/>
                    <a:pt x="503466" y="206549"/>
                  </a:cubicBezTo>
                  <a:lnTo>
                    <a:pt x="503466" y="320466"/>
                  </a:lnTo>
                  <a:cubicBezTo>
                    <a:pt x="503466" y="434539"/>
                    <a:pt x="410991" y="527014"/>
                    <a:pt x="296917" y="527014"/>
                  </a:cubicBezTo>
                  <a:lnTo>
                    <a:pt x="206549" y="527014"/>
                  </a:lnTo>
                  <a:cubicBezTo>
                    <a:pt x="92475" y="527014"/>
                    <a:pt x="0" y="434539"/>
                    <a:pt x="0" y="320466"/>
                  </a:cubicBezTo>
                  <a:lnTo>
                    <a:pt x="0" y="206549"/>
                  </a:lnTo>
                  <a:cubicBezTo>
                    <a:pt x="0" y="92475"/>
                    <a:pt x="92475" y="0"/>
                    <a:pt x="206549" y="0"/>
                  </a:cubicBezTo>
                  <a:close/>
                </a:path>
              </a:pathLst>
            </a:custGeom>
            <a:solidFill>
              <a:srgbClr val="1D9A50"/>
            </a:solidFill>
          </p:spPr>
          <p:txBody>
            <a:bodyPr/>
            <a:lstStyle/>
            <a:p>
              <a:endParaRPr lang="en-US" sz="1200">
                <a:latin typeface="Poppins" panose="00000500000000000000" pitchFamily="2" charset="0"/>
                <a:cs typeface="Poppins" panose="00000500000000000000" pitchFamily="2" charset="0"/>
              </a:endParaRPr>
            </a:p>
          </p:txBody>
        </p:sp>
        <p:sp>
          <p:nvSpPr>
            <p:cNvPr id="26" name="TextBox 26"/>
            <p:cNvSpPr txBox="1"/>
            <p:nvPr/>
          </p:nvSpPr>
          <p:spPr>
            <a:xfrm>
              <a:off x="0" y="-66675"/>
              <a:ext cx="503466" cy="593689"/>
            </a:xfrm>
            <a:prstGeom prst="rect">
              <a:avLst/>
            </a:prstGeom>
          </p:spPr>
          <p:txBody>
            <a:bodyPr lIns="33867" tIns="33867" rIns="33867" bIns="33867" rtlCol="0" anchor="ctr"/>
            <a:lstStyle/>
            <a:p>
              <a:pPr algn="ctr">
                <a:lnSpc>
                  <a:spcPts val="1269"/>
                </a:lnSpc>
              </a:pPr>
              <a:endParaRPr sz="1200">
                <a:latin typeface="Poppins" panose="00000500000000000000" pitchFamily="2" charset="0"/>
                <a:cs typeface="Poppins" panose="00000500000000000000" pitchFamily="2" charset="0"/>
              </a:endParaRP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Agentic AI Essentials </a:t>
              </a: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 9 lessons</a:t>
              </a:r>
            </a:p>
            <a:p>
              <a:pPr algn="ctr">
                <a:lnSpc>
                  <a:spcPts val="1301"/>
                </a:lnSpc>
              </a:pPr>
              <a:endParaRPr lang="en-US" sz="1200" b="1" spc="-4">
                <a:solidFill>
                  <a:srgbClr val="FFFFFF"/>
                </a:solidFill>
                <a:latin typeface="Poppins" panose="00000500000000000000" pitchFamily="2" charset="0"/>
                <a:ea typeface="Mont Bold"/>
                <a:cs typeface="Poppins" panose="00000500000000000000" pitchFamily="2" charset="0"/>
                <a:sym typeface="Mont Bold"/>
              </a:endParaRPr>
            </a:p>
          </p:txBody>
        </p:sp>
      </p:grpSp>
      <p:grpSp>
        <p:nvGrpSpPr>
          <p:cNvPr id="27" name="Group 27">
            <a:extLst>
              <a:ext uri="{C183D7F6-B498-43B3-948B-1728B52AA6E4}">
                <adec:decorative xmlns:adec="http://schemas.microsoft.com/office/drawing/2017/decorative" val="1"/>
              </a:ext>
            </a:extLst>
          </p:cNvPr>
          <p:cNvGrpSpPr/>
          <p:nvPr/>
        </p:nvGrpSpPr>
        <p:grpSpPr>
          <a:xfrm>
            <a:off x="10490756" y="2743602"/>
            <a:ext cx="1274398" cy="1502776"/>
            <a:chOff x="0" y="-66675"/>
            <a:chExt cx="503466" cy="593689"/>
          </a:xfrm>
        </p:grpSpPr>
        <p:sp>
          <p:nvSpPr>
            <p:cNvPr id="28" name="Freeform 28"/>
            <p:cNvSpPr/>
            <p:nvPr/>
          </p:nvSpPr>
          <p:spPr>
            <a:xfrm>
              <a:off x="0" y="0"/>
              <a:ext cx="503466" cy="527014"/>
            </a:xfrm>
            <a:custGeom>
              <a:avLst/>
              <a:gdLst/>
              <a:ahLst/>
              <a:cxnLst/>
              <a:rect l="l" t="t" r="r" b="b"/>
              <a:pathLst>
                <a:path w="503466" h="527014">
                  <a:moveTo>
                    <a:pt x="206549" y="0"/>
                  </a:moveTo>
                  <a:lnTo>
                    <a:pt x="296917" y="0"/>
                  </a:lnTo>
                  <a:cubicBezTo>
                    <a:pt x="410991" y="0"/>
                    <a:pt x="503466" y="92475"/>
                    <a:pt x="503466" y="206549"/>
                  </a:cubicBezTo>
                  <a:lnTo>
                    <a:pt x="503466" y="320466"/>
                  </a:lnTo>
                  <a:cubicBezTo>
                    <a:pt x="503466" y="434539"/>
                    <a:pt x="410991" y="527014"/>
                    <a:pt x="296917" y="527014"/>
                  </a:cubicBezTo>
                  <a:lnTo>
                    <a:pt x="206549" y="527014"/>
                  </a:lnTo>
                  <a:cubicBezTo>
                    <a:pt x="92475" y="527014"/>
                    <a:pt x="0" y="434539"/>
                    <a:pt x="0" y="320466"/>
                  </a:cubicBezTo>
                  <a:lnTo>
                    <a:pt x="0" y="206549"/>
                  </a:lnTo>
                  <a:cubicBezTo>
                    <a:pt x="0" y="92475"/>
                    <a:pt x="92475" y="0"/>
                    <a:pt x="206549" y="0"/>
                  </a:cubicBezTo>
                  <a:close/>
                </a:path>
              </a:pathLst>
            </a:custGeom>
            <a:solidFill>
              <a:srgbClr val="1D9A50"/>
            </a:solidFill>
          </p:spPr>
          <p:txBody>
            <a:bodyPr/>
            <a:lstStyle/>
            <a:p>
              <a:endParaRPr lang="en-US" sz="1200">
                <a:latin typeface="Poppins" panose="00000500000000000000" pitchFamily="2" charset="0"/>
                <a:cs typeface="Poppins" panose="00000500000000000000" pitchFamily="2" charset="0"/>
              </a:endParaRPr>
            </a:p>
          </p:txBody>
        </p:sp>
        <p:sp>
          <p:nvSpPr>
            <p:cNvPr id="29" name="TextBox 29"/>
            <p:cNvSpPr txBox="1"/>
            <p:nvPr/>
          </p:nvSpPr>
          <p:spPr>
            <a:xfrm>
              <a:off x="0" y="-66675"/>
              <a:ext cx="503466" cy="593689"/>
            </a:xfrm>
            <a:prstGeom prst="rect">
              <a:avLst/>
            </a:prstGeom>
          </p:spPr>
          <p:txBody>
            <a:bodyPr lIns="33867" tIns="33867" rIns="33867" bIns="33867" rtlCol="0" anchor="ctr"/>
            <a:lstStyle/>
            <a:p>
              <a:pPr algn="ctr">
                <a:lnSpc>
                  <a:spcPts val="1269"/>
                </a:lnSpc>
              </a:pPr>
              <a:r>
                <a:rPr lang="en-US" sz="1200" b="1" spc="-4">
                  <a:solidFill>
                    <a:srgbClr val="FFFFFF"/>
                  </a:solidFill>
                  <a:latin typeface="Poppins" panose="00000500000000000000" pitchFamily="2" charset="0"/>
                  <a:ea typeface="Mont Bold"/>
                  <a:cs typeface="Poppins" panose="00000500000000000000" pitchFamily="2" charset="0"/>
                  <a:sym typeface="Mont Bold"/>
                </a:rPr>
                <a:t>Applied Agentic AI </a:t>
              </a:r>
            </a:p>
            <a:p>
              <a:pPr algn="ctr">
                <a:lnSpc>
                  <a:spcPts val="1301"/>
                </a:lnSpc>
              </a:pPr>
              <a:r>
                <a:rPr lang="en-US" sz="1200" b="1" spc="-4">
                  <a:solidFill>
                    <a:srgbClr val="FFFFFF"/>
                  </a:solidFill>
                  <a:latin typeface="Poppins" panose="00000500000000000000" pitchFamily="2" charset="0"/>
                  <a:ea typeface="Mont Bold"/>
                  <a:cs typeface="Poppins" panose="00000500000000000000" pitchFamily="2" charset="0"/>
                  <a:sym typeface="Mont Bold"/>
                </a:rPr>
                <a:t> 7 lessons</a:t>
              </a:r>
            </a:p>
          </p:txBody>
        </p:sp>
      </p:grpSp>
      <p:grpSp>
        <p:nvGrpSpPr>
          <p:cNvPr id="30" name="Group 30">
            <a:extLst>
              <a:ext uri="{C183D7F6-B498-43B3-948B-1728B52AA6E4}">
                <adec:decorative xmlns:adec="http://schemas.microsoft.com/office/drawing/2017/decorative" val="1"/>
              </a:ext>
            </a:extLst>
          </p:cNvPr>
          <p:cNvGrpSpPr/>
          <p:nvPr/>
        </p:nvGrpSpPr>
        <p:grpSpPr>
          <a:xfrm>
            <a:off x="5716996" y="1289809"/>
            <a:ext cx="1274398" cy="1502776"/>
            <a:chOff x="0" y="-66675"/>
            <a:chExt cx="503466" cy="593689"/>
          </a:xfrm>
        </p:grpSpPr>
        <p:sp>
          <p:nvSpPr>
            <p:cNvPr id="31" name="Freeform 31"/>
            <p:cNvSpPr/>
            <p:nvPr/>
          </p:nvSpPr>
          <p:spPr>
            <a:xfrm>
              <a:off x="0" y="0"/>
              <a:ext cx="503466" cy="527014"/>
            </a:xfrm>
            <a:custGeom>
              <a:avLst/>
              <a:gdLst/>
              <a:ahLst/>
              <a:cxnLst/>
              <a:rect l="l" t="t" r="r" b="b"/>
              <a:pathLst>
                <a:path w="503466" h="527014">
                  <a:moveTo>
                    <a:pt x="206549" y="0"/>
                  </a:moveTo>
                  <a:lnTo>
                    <a:pt x="296917" y="0"/>
                  </a:lnTo>
                  <a:cubicBezTo>
                    <a:pt x="410991" y="0"/>
                    <a:pt x="503466" y="92475"/>
                    <a:pt x="503466" y="206549"/>
                  </a:cubicBezTo>
                  <a:lnTo>
                    <a:pt x="503466" y="320466"/>
                  </a:lnTo>
                  <a:cubicBezTo>
                    <a:pt x="503466" y="434539"/>
                    <a:pt x="410991" y="527014"/>
                    <a:pt x="296917" y="527014"/>
                  </a:cubicBezTo>
                  <a:lnTo>
                    <a:pt x="206549" y="527014"/>
                  </a:lnTo>
                  <a:cubicBezTo>
                    <a:pt x="92475" y="527014"/>
                    <a:pt x="0" y="434539"/>
                    <a:pt x="0" y="320466"/>
                  </a:cubicBezTo>
                  <a:lnTo>
                    <a:pt x="0" y="206549"/>
                  </a:lnTo>
                  <a:cubicBezTo>
                    <a:pt x="0" y="92475"/>
                    <a:pt x="92475" y="0"/>
                    <a:pt x="206549" y="0"/>
                  </a:cubicBezTo>
                  <a:close/>
                </a:path>
              </a:pathLst>
            </a:custGeom>
            <a:solidFill>
              <a:srgbClr val="1D9A50"/>
            </a:solidFill>
          </p:spPr>
          <p:txBody>
            <a:bodyPr/>
            <a:lstStyle/>
            <a:p>
              <a:endParaRPr lang="en-US" sz="1200">
                <a:latin typeface="Poppins" panose="00000500000000000000" pitchFamily="2" charset="0"/>
                <a:cs typeface="Poppins" panose="00000500000000000000" pitchFamily="2" charset="0"/>
              </a:endParaRPr>
            </a:p>
          </p:txBody>
        </p:sp>
        <p:sp>
          <p:nvSpPr>
            <p:cNvPr id="32" name="TextBox 32"/>
            <p:cNvSpPr txBox="1"/>
            <p:nvPr/>
          </p:nvSpPr>
          <p:spPr>
            <a:xfrm>
              <a:off x="0" y="-66675"/>
              <a:ext cx="503466" cy="593689"/>
            </a:xfrm>
            <a:prstGeom prst="rect">
              <a:avLst/>
            </a:prstGeom>
          </p:spPr>
          <p:txBody>
            <a:bodyPr lIns="33867" tIns="33867" rIns="33867" bIns="33867" rtlCol="0" anchor="ctr"/>
            <a:lstStyle/>
            <a:p>
              <a:pPr algn="ctr">
                <a:lnSpc>
                  <a:spcPts val="1269"/>
                </a:lnSpc>
              </a:pPr>
              <a:r>
                <a:rPr lang="en-US" sz="1200" b="1" spc="-4">
                  <a:solidFill>
                    <a:srgbClr val="FFFFFF"/>
                  </a:solidFill>
                  <a:latin typeface="Poppins" panose="00000500000000000000" pitchFamily="2" charset="0"/>
                  <a:ea typeface="Mont Bold"/>
                  <a:cs typeface="Poppins" panose="00000500000000000000" pitchFamily="2" charset="0"/>
                  <a:sym typeface="Mont Bold"/>
                </a:rPr>
                <a:t>Welcome &amp; Orientation</a:t>
              </a:r>
            </a:p>
            <a:p>
              <a:pPr algn="ctr">
                <a:lnSpc>
                  <a:spcPts val="1269"/>
                </a:lnSpc>
              </a:pPr>
              <a:endParaRPr lang="en-US" sz="1200" b="1" spc="-4">
                <a:solidFill>
                  <a:srgbClr val="FFFFFF"/>
                </a:solidFill>
                <a:latin typeface="Poppins" panose="00000500000000000000" pitchFamily="2" charset="0"/>
                <a:ea typeface="Mont Bold"/>
                <a:cs typeface="Poppins" panose="00000500000000000000" pitchFamily="2" charset="0"/>
                <a:sym typeface="Mont Bold"/>
              </a:endParaRPr>
            </a:p>
            <a:p>
              <a:pPr algn="ctr">
                <a:lnSpc>
                  <a:spcPts val="1269"/>
                </a:lnSpc>
              </a:pPr>
              <a:r>
                <a:rPr lang="en-US" sz="1200" b="1" spc="-4">
                  <a:solidFill>
                    <a:srgbClr val="FFFFFF"/>
                  </a:solidFill>
                  <a:latin typeface="Poppins" panose="00000500000000000000" pitchFamily="2" charset="0"/>
                  <a:ea typeface="Mont Bold"/>
                  <a:cs typeface="Poppins" panose="00000500000000000000" pitchFamily="2" charset="0"/>
                  <a:sym typeface="Mont Bold"/>
                </a:rPr>
                <a:t>5 minutes</a:t>
              </a:r>
            </a:p>
          </p:txBody>
        </p:sp>
      </p:grpSp>
      <p:sp>
        <p:nvSpPr>
          <p:cNvPr id="33" name="Freeform 33">
            <a:extLst>
              <a:ext uri="{C183D7F6-B498-43B3-948B-1728B52AA6E4}">
                <adec:decorative xmlns:adec="http://schemas.microsoft.com/office/drawing/2017/decorative" val="1"/>
              </a:ext>
            </a:extLst>
          </p:cNvPr>
          <p:cNvSpPr/>
          <p:nvPr/>
        </p:nvSpPr>
        <p:spPr>
          <a:xfrm rot="5400000">
            <a:off x="6058482" y="943348"/>
            <a:ext cx="615931" cy="173231"/>
          </a:xfrm>
          <a:custGeom>
            <a:avLst/>
            <a:gdLst/>
            <a:ahLst/>
            <a:cxnLst/>
            <a:rect l="l" t="t" r="r" b="b"/>
            <a:pathLst>
              <a:path w="923897" h="259846">
                <a:moveTo>
                  <a:pt x="0" y="0"/>
                </a:moveTo>
                <a:lnTo>
                  <a:pt x="923897" y="0"/>
                </a:lnTo>
                <a:lnTo>
                  <a:pt x="923897" y="259846"/>
                </a:lnTo>
                <a:lnTo>
                  <a:pt x="0" y="2598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p>
        </p:txBody>
      </p:sp>
      <p:sp>
        <p:nvSpPr>
          <p:cNvPr id="34" name="Freeform 34">
            <a:extLst>
              <a:ext uri="{C183D7F6-B498-43B3-948B-1728B52AA6E4}">
                <adec:decorative xmlns:adec="http://schemas.microsoft.com/office/drawing/2017/decorative" val="1"/>
              </a:ext>
            </a:extLst>
          </p:cNvPr>
          <p:cNvSpPr/>
          <p:nvPr/>
        </p:nvSpPr>
        <p:spPr>
          <a:xfrm>
            <a:off x="6984421" y="2177309"/>
            <a:ext cx="285611" cy="80328"/>
          </a:xfrm>
          <a:custGeom>
            <a:avLst/>
            <a:gdLst/>
            <a:ahLst/>
            <a:cxnLst/>
            <a:rect l="l" t="t" r="r" b="b"/>
            <a:pathLst>
              <a:path w="428416" h="120492">
                <a:moveTo>
                  <a:pt x="0" y="0"/>
                </a:moveTo>
                <a:lnTo>
                  <a:pt x="428416" y="0"/>
                </a:lnTo>
                <a:lnTo>
                  <a:pt x="428416" y="120492"/>
                </a:lnTo>
                <a:lnTo>
                  <a:pt x="0" y="1204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latin typeface="Poppins" panose="00000500000000000000" pitchFamily="2" charset="0"/>
              <a:cs typeface="Poppins" panose="00000500000000000000" pitchFamily="2" charset="0"/>
            </a:endParaRPr>
          </a:p>
        </p:txBody>
      </p:sp>
      <p:sp>
        <p:nvSpPr>
          <p:cNvPr id="35" name="Freeform 35">
            <a:extLst>
              <a:ext uri="{C183D7F6-B498-43B3-948B-1728B52AA6E4}">
                <adec:decorative xmlns:adec="http://schemas.microsoft.com/office/drawing/2017/decorative" val="1"/>
              </a:ext>
            </a:extLst>
          </p:cNvPr>
          <p:cNvSpPr/>
          <p:nvPr/>
        </p:nvSpPr>
        <p:spPr>
          <a:xfrm>
            <a:off x="8558552" y="2177309"/>
            <a:ext cx="285611" cy="80328"/>
          </a:xfrm>
          <a:custGeom>
            <a:avLst/>
            <a:gdLst/>
            <a:ahLst/>
            <a:cxnLst/>
            <a:rect l="l" t="t" r="r" b="b"/>
            <a:pathLst>
              <a:path w="428416" h="120492">
                <a:moveTo>
                  <a:pt x="0" y="0"/>
                </a:moveTo>
                <a:lnTo>
                  <a:pt x="428416" y="0"/>
                </a:lnTo>
                <a:lnTo>
                  <a:pt x="428416" y="120492"/>
                </a:lnTo>
                <a:lnTo>
                  <a:pt x="0" y="1204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latin typeface="Poppins" panose="00000500000000000000" pitchFamily="2" charset="0"/>
              <a:cs typeface="Poppins" panose="00000500000000000000" pitchFamily="2" charset="0"/>
            </a:endParaRPr>
          </a:p>
        </p:txBody>
      </p:sp>
      <p:sp>
        <p:nvSpPr>
          <p:cNvPr id="36" name="Freeform 36">
            <a:extLst>
              <a:ext uri="{C183D7F6-B498-43B3-948B-1728B52AA6E4}">
                <adec:decorative xmlns:adec="http://schemas.microsoft.com/office/drawing/2017/decorative" val="1"/>
              </a:ext>
            </a:extLst>
          </p:cNvPr>
          <p:cNvSpPr/>
          <p:nvPr/>
        </p:nvSpPr>
        <p:spPr>
          <a:xfrm>
            <a:off x="10168226" y="2217473"/>
            <a:ext cx="285611" cy="80328"/>
          </a:xfrm>
          <a:custGeom>
            <a:avLst/>
            <a:gdLst/>
            <a:ahLst/>
            <a:cxnLst/>
            <a:rect l="l" t="t" r="r" b="b"/>
            <a:pathLst>
              <a:path w="428416" h="120492">
                <a:moveTo>
                  <a:pt x="0" y="0"/>
                </a:moveTo>
                <a:lnTo>
                  <a:pt x="428416" y="0"/>
                </a:lnTo>
                <a:lnTo>
                  <a:pt x="428416" y="120492"/>
                </a:lnTo>
                <a:lnTo>
                  <a:pt x="0" y="1204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latin typeface="Poppins" panose="00000500000000000000" pitchFamily="2" charset="0"/>
              <a:cs typeface="Poppins" panose="00000500000000000000" pitchFamily="2" charset="0"/>
            </a:endParaRPr>
          </a:p>
        </p:txBody>
      </p:sp>
      <p:sp>
        <p:nvSpPr>
          <p:cNvPr id="37" name="TextBox 37"/>
          <p:cNvSpPr txBox="1">
            <a:spLocks noGrp="1"/>
          </p:cNvSpPr>
          <p:nvPr>
            <p:ph type="title" idx="4294967295"/>
          </p:nvPr>
        </p:nvSpPr>
        <p:spPr>
          <a:xfrm>
            <a:off x="586074" y="388762"/>
            <a:ext cx="4464889" cy="128240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457200" rtl="0" eaLnBrk="1" fontAlgn="auto" latinLnBrk="0" hangingPunct="1">
              <a:lnSpc>
                <a:spcPts val="4980"/>
              </a:lnSpc>
              <a:spcBef>
                <a:spcPts val="0"/>
              </a:spcBef>
              <a:spcAft>
                <a:spcPts val="0"/>
              </a:spcAft>
              <a:buClrTx/>
              <a:buSzTx/>
              <a:buFontTx/>
              <a:buNone/>
              <a:tabLst/>
              <a:defRPr/>
            </a:pPr>
            <a:r>
              <a:rPr kumimoji="0" lang="en-US" sz="3800" b="1" i="0" u="none" strike="noStrike" kern="1200" cap="none" spc="-211" normalizeH="0" baseline="0" noProof="0">
                <a:ln>
                  <a:noFill/>
                </a:ln>
                <a:solidFill>
                  <a:srgbClr val="2C3084"/>
                </a:solidFill>
                <a:effectLst/>
                <a:uLnTx/>
                <a:uFillTx/>
                <a:latin typeface="Poppins" panose="00000500000000000000" pitchFamily="2" charset="0"/>
                <a:ea typeface="Mont Bold"/>
                <a:cs typeface="Poppins" panose="00000500000000000000" pitchFamily="2" charset="0"/>
                <a:sym typeface="Mont Bold"/>
              </a:rPr>
              <a:t>AI Academy: Modules</a:t>
            </a:r>
          </a:p>
        </p:txBody>
      </p:sp>
      <p:sp>
        <p:nvSpPr>
          <p:cNvPr id="38" name="TextBox 38"/>
          <p:cNvSpPr txBox="1"/>
          <p:nvPr/>
        </p:nvSpPr>
        <p:spPr>
          <a:xfrm>
            <a:off x="571828" y="1823681"/>
            <a:ext cx="4413705" cy="4315797"/>
          </a:xfrm>
          <a:prstGeom prst="rect">
            <a:avLst/>
          </a:prstGeom>
        </p:spPr>
        <p:txBody>
          <a:bodyPr wrap="square" lIns="0" tIns="0" rIns="0" bIns="0" rtlCol="0" anchor="t">
            <a:spAutoFit/>
          </a:bodyPr>
          <a:lstStyle/>
          <a:p>
            <a:pPr>
              <a:lnSpc>
                <a:spcPts val="2613"/>
              </a:lnSpc>
            </a:pPr>
            <a:r>
              <a:rPr lang="en-US" b="1">
                <a:solidFill>
                  <a:srgbClr val="2C3084"/>
                </a:solidFill>
                <a:latin typeface="Poppins" panose="00000500000000000000" pitchFamily="2" charset="0"/>
                <a:ea typeface="Poppins Bold"/>
                <a:cs typeface="Poppins" panose="00000500000000000000" pitchFamily="2" charset="0"/>
                <a:sym typeface="Poppins Bold"/>
              </a:rPr>
              <a:t>AI Academy</a:t>
            </a:r>
          </a:p>
          <a:p>
            <a:pPr marL="403033" lvl="1" indent="-201517">
              <a:lnSpc>
                <a:spcPts val="2613"/>
              </a:lnSpc>
              <a:buFont typeface="Arial"/>
              <a:buChar char="•"/>
            </a:pPr>
            <a:r>
              <a:rPr lang="en-US">
                <a:solidFill>
                  <a:srgbClr val="2C3084"/>
                </a:solidFill>
                <a:latin typeface="Poppins" panose="00000500000000000000" pitchFamily="2" charset="0"/>
                <a:ea typeface="Poppins"/>
                <a:cs typeface="Poppins" panose="00000500000000000000" pitchFamily="2" charset="0"/>
                <a:sym typeface="Poppins"/>
              </a:rPr>
              <a:t>Registration is required</a:t>
            </a:r>
          </a:p>
          <a:p>
            <a:pPr marL="403033" lvl="1" indent="-201517">
              <a:lnSpc>
                <a:spcPts val="2613"/>
              </a:lnSpc>
              <a:buFont typeface="Arial"/>
              <a:buChar char="•"/>
            </a:pPr>
            <a:r>
              <a:rPr lang="en-US">
                <a:solidFill>
                  <a:srgbClr val="2C3084"/>
                </a:solidFill>
                <a:latin typeface="Poppins" panose="00000500000000000000" pitchFamily="2" charset="0"/>
                <a:ea typeface="Poppins"/>
                <a:cs typeface="Poppins" panose="00000500000000000000" pitchFamily="2" charset="0"/>
                <a:sym typeface="Poppins"/>
              </a:rPr>
              <a:t>Learning management system (modular format) with videos to reinforce concepts</a:t>
            </a:r>
          </a:p>
          <a:p>
            <a:pPr marL="403033" lvl="1" indent="-201517">
              <a:lnSpc>
                <a:spcPts val="2613"/>
              </a:lnSpc>
              <a:buFont typeface="Arial"/>
              <a:buChar char="•"/>
            </a:pPr>
            <a:r>
              <a:rPr lang="en-US">
                <a:solidFill>
                  <a:srgbClr val="2C3084"/>
                </a:solidFill>
                <a:latin typeface="Poppins" panose="00000500000000000000" pitchFamily="2" charset="0"/>
                <a:ea typeface="Poppins"/>
                <a:cs typeface="Poppins" panose="00000500000000000000" pitchFamily="2" charset="0"/>
                <a:sym typeface="Poppins"/>
              </a:rPr>
              <a:t>3.5 hours to complete all modules</a:t>
            </a:r>
          </a:p>
          <a:p>
            <a:pPr marL="403033" lvl="1" indent="-201517">
              <a:lnSpc>
                <a:spcPts val="2613"/>
              </a:lnSpc>
              <a:buFont typeface="Arial"/>
              <a:buChar char="•"/>
            </a:pPr>
            <a:r>
              <a:rPr lang="en-US">
                <a:solidFill>
                  <a:srgbClr val="2C3084"/>
                </a:solidFill>
                <a:latin typeface="Poppins" panose="00000500000000000000" pitchFamily="2" charset="0"/>
                <a:ea typeface="Poppins"/>
                <a:cs typeface="Poppins" panose="00000500000000000000" pitchFamily="2" charset="0"/>
                <a:sym typeface="Poppins"/>
              </a:rPr>
              <a:t>Recommended to take the course in sequence</a:t>
            </a:r>
          </a:p>
          <a:p>
            <a:pPr marL="403033" lvl="1" indent="-201517">
              <a:lnSpc>
                <a:spcPts val="2613"/>
              </a:lnSpc>
              <a:buFont typeface="Arial"/>
              <a:buChar char="•"/>
            </a:pPr>
            <a:r>
              <a:rPr lang="en-US">
                <a:solidFill>
                  <a:srgbClr val="2C3084"/>
                </a:solidFill>
                <a:latin typeface="Poppins" panose="00000500000000000000" pitchFamily="2" charset="0"/>
                <a:ea typeface="Poppins"/>
                <a:cs typeface="Poppins" panose="00000500000000000000" pitchFamily="2" charset="0"/>
                <a:sym typeface="Poppins"/>
              </a:rPr>
              <a:t>Retake option is available</a:t>
            </a:r>
          </a:p>
          <a:p>
            <a:pPr marL="806066" lvl="2" indent="-268689">
              <a:lnSpc>
                <a:spcPts val="2613"/>
              </a:lnSpc>
              <a:buFont typeface="Arial"/>
              <a:buChar char="⚬"/>
            </a:pPr>
            <a:r>
              <a:rPr lang="en-US">
                <a:solidFill>
                  <a:srgbClr val="2C3084"/>
                </a:solidFill>
                <a:latin typeface="Poppins" panose="00000500000000000000" pitchFamily="2" charset="0"/>
                <a:ea typeface="Poppins"/>
                <a:cs typeface="Poppins" panose="00000500000000000000" pitchFamily="2" charset="0"/>
                <a:sym typeface="Poppins"/>
              </a:rPr>
              <a:t>No pass/fail</a:t>
            </a:r>
          </a:p>
          <a:p>
            <a:pPr marL="403033" lvl="1" indent="-201517">
              <a:lnSpc>
                <a:spcPts val="2613"/>
              </a:lnSpc>
              <a:buFont typeface="Arial"/>
              <a:buChar char="•"/>
            </a:pPr>
            <a:r>
              <a:rPr lang="en-US">
                <a:solidFill>
                  <a:srgbClr val="2C3084"/>
                </a:solidFill>
                <a:latin typeface="Poppins" panose="00000500000000000000" pitchFamily="2" charset="0"/>
                <a:ea typeface="Poppins"/>
                <a:cs typeface="Poppins" panose="00000500000000000000" pitchFamily="2" charset="0"/>
                <a:sym typeface="Poppins"/>
              </a:rPr>
              <a:t>Dashboard tracker for admins</a:t>
            </a:r>
          </a:p>
          <a:p>
            <a:pPr marL="403033" lvl="1" indent="-201517">
              <a:lnSpc>
                <a:spcPts val="2613"/>
              </a:lnSpc>
              <a:buFont typeface="Arial"/>
              <a:buChar char="•"/>
            </a:pPr>
            <a:r>
              <a:rPr lang="en-US">
                <a:solidFill>
                  <a:srgbClr val="2C3084"/>
                </a:solidFill>
                <a:latin typeface="Poppins" panose="00000500000000000000" pitchFamily="2" charset="0"/>
                <a:ea typeface="Poppins"/>
                <a:cs typeface="Poppins" panose="00000500000000000000" pitchFamily="2" charset="0"/>
                <a:sym typeface="Poppins"/>
              </a:rPr>
              <a:t>Participant receives digital badges and certificate of completion</a:t>
            </a:r>
          </a:p>
        </p:txBody>
      </p:sp>
      <p:sp>
        <p:nvSpPr>
          <p:cNvPr id="39" name="TextBox 39"/>
          <p:cNvSpPr txBox="1"/>
          <p:nvPr/>
        </p:nvSpPr>
        <p:spPr>
          <a:xfrm>
            <a:off x="5710022" y="455408"/>
            <a:ext cx="1274399" cy="247375"/>
          </a:xfrm>
          <a:prstGeom prst="rect">
            <a:avLst/>
          </a:prstGeom>
        </p:spPr>
        <p:txBody>
          <a:bodyPr wrap="square" lIns="0" tIns="0" rIns="0" bIns="0" rtlCol="0" anchor="t">
            <a:spAutoFit/>
          </a:bodyPr>
          <a:lstStyle/>
          <a:p>
            <a:pPr algn="ctr">
              <a:lnSpc>
                <a:spcPts val="1867"/>
              </a:lnSpc>
            </a:pPr>
            <a:r>
              <a:rPr lang="en-US" b="1" dirty="0">
                <a:solidFill>
                  <a:srgbClr val="2C3084"/>
                </a:solidFill>
                <a:latin typeface="Poppins Bold"/>
                <a:ea typeface="Poppins Bold"/>
                <a:cs typeface="Poppins Bold"/>
                <a:sym typeface="Poppins Bold"/>
              </a:rPr>
              <a:t>Start Here</a:t>
            </a:r>
          </a:p>
        </p:txBody>
      </p:sp>
      <p:sp>
        <p:nvSpPr>
          <p:cNvPr id="40" name="Freeform 40">
            <a:extLst>
              <a:ext uri="{C183D7F6-B498-43B3-948B-1728B52AA6E4}">
                <adec:decorative xmlns:adec="http://schemas.microsoft.com/office/drawing/2017/decorative" val="1"/>
              </a:ext>
            </a:extLst>
          </p:cNvPr>
          <p:cNvSpPr/>
          <p:nvPr/>
        </p:nvSpPr>
        <p:spPr>
          <a:xfrm>
            <a:off x="6996876" y="3539211"/>
            <a:ext cx="285611" cy="80328"/>
          </a:xfrm>
          <a:custGeom>
            <a:avLst/>
            <a:gdLst/>
            <a:ahLst/>
            <a:cxnLst/>
            <a:rect l="l" t="t" r="r" b="b"/>
            <a:pathLst>
              <a:path w="428416" h="120492">
                <a:moveTo>
                  <a:pt x="0" y="0"/>
                </a:moveTo>
                <a:lnTo>
                  <a:pt x="428416" y="0"/>
                </a:lnTo>
                <a:lnTo>
                  <a:pt x="428416" y="120492"/>
                </a:lnTo>
                <a:lnTo>
                  <a:pt x="0" y="1204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latin typeface="Poppins" panose="00000500000000000000" pitchFamily="2" charset="0"/>
              <a:cs typeface="Poppins" panose="00000500000000000000" pitchFamily="2" charset="0"/>
            </a:endParaRPr>
          </a:p>
        </p:txBody>
      </p:sp>
      <p:sp>
        <p:nvSpPr>
          <p:cNvPr id="41" name="Freeform 41">
            <a:extLst>
              <a:ext uri="{C183D7F6-B498-43B3-948B-1728B52AA6E4}">
                <adec:decorative xmlns:adec="http://schemas.microsoft.com/office/drawing/2017/decorative" val="1"/>
              </a:ext>
            </a:extLst>
          </p:cNvPr>
          <p:cNvSpPr/>
          <p:nvPr/>
        </p:nvSpPr>
        <p:spPr>
          <a:xfrm>
            <a:off x="8608069" y="3539211"/>
            <a:ext cx="285611" cy="80328"/>
          </a:xfrm>
          <a:custGeom>
            <a:avLst/>
            <a:gdLst/>
            <a:ahLst/>
            <a:cxnLst/>
            <a:rect l="l" t="t" r="r" b="b"/>
            <a:pathLst>
              <a:path w="428416" h="120492">
                <a:moveTo>
                  <a:pt x="0" y="0"/>
                </a:moveTo>
                <a:lnTo>
                  <a:pt x="428416" y="0"/>
                </a:lnTo>
                <a:lnTo>
                  <a:pt x="428416" y="120492"/>
                </a:lnTo>
                <a:lnTo>
                  <a:pt x="0" y="1204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latin typeface="Poppins" panose="00000500000000000000" pitchFamily="2" charset="0"/>
              <a:cs typeface="Poppins" panose="00000500000000000000" pitchFamily="2" charset="0"/>
            </a:endParaRPr>
          </a:p>
        </p:txBody>
      </p:sp>
      <p:sp>
        <p:nvSpPr>
          <p:cNvPr id="42" name="Freeform 42">
            <a:extLst>
              <a:ext uri="{C183D7F6-B498-43B3-948B-1728B52AA6E4}">
                <adec:decorative xmlns:adec="http://schemas.microsoft.com/office/drawing/2017/decorative" val="1"/>
              </a:ext>
            </a:extLst>
          </p:cNvPr>
          <p:cNvSpPr/>
          <p:nvPr/>
        </p:nvSpPr>
        <p:spPr>
          <a:xfrm>
            <a:off x="10174716" y="3539211"/>
            <a:ext cx="285611" cy="80328"/>
          </a:xfrm>
          <a:custGeom>
            <a:avLst/>
            <a:gdLst/>
            <a:ahLst/>
            <a:cxnLst/>
            <a:rect l="l" t="t" r="r" b="b"/>
            <a:pathLst>
              <a:path w="428416" h="120492">
                <a:moveTo>
                  <a:pt x="0" y="0"/>
                </a:moveTo>
                <a:lnTo>
                  <a:pt x="428416" y="0"/>
                </a:lnTo>
                <a:lnTo>
                  <a:pt x="428416" y="120492"/>
                </a:lnTo>
                <a:lnTo>
                  <a:pt x="0" y="1204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latin typeface="Poppins" panose="00000500000000000000" pitchFamily="2" charset="0"/>
              <a:cs typeface="Poppins" panose="00000500000000000000" pitchFamily="2" charset="0"/>
            </a:endParaRPr>
          </a:p>
        </p:txBody>
      </p:sp>
      <p:sp>
        <p:nvSpPr>
          <p:cNvPr id="43" name="TextBox 14">
            <a:extLst>
              <a:ext uri="{FF2B5EF4-FFF2-40B4-BE49-F238E27FC236}">
                <a16:creationId xmlns:a16="http://schemas.microsoft.com/office/drawing/2014/main" id="{FD88BC64-B69B-B12F-D647-614BA3A66B4E}"/>
              </a:ext>
            </a:extLst>
          </p:cNvPr>
          <p:cNvSpPr txBox="1"/>
          <p:nvPr/>
        </p:nvSpPr>
        <p:spPr>
          <a:xfrm>
            <a:off x="5800335" y="4714679"/>
            <a:ext cx="5946676" cy="317074"/>
          </a:xfrm>
          <a:prstGeom prst="rect">
            <a:avLst/>
          </a:prstGeom>
        </p:spPr>
        <p:txBody>
          <a:bodyPr lIns="0" tIns="0" rIns="0" bIns="0" rtlCol="0" anchor="t">
            <a:spAutoFit/>
          </a:bodyPr>
          <a:lstStyle/>
          <a:p>
            <a:pPr>
              <a:lnSpc>
                <a:spcPts val="2613"/>
              </a:lnSpc>
            </a:pPr>
            <a:r>
              <a:rPr lang="en-US" sz="1866" b="1">
                <a:solidFill>
                  <a:srgbClr val="2C3084"/>
                </a:solidFill>
                <a:latin typeface="Poppins Bold"/>
                <a:ea typeface="Poppins Bold"/>
                <a:cs typeface="Poppins Bold"/>
                <a:sym typeface="Poppins Bold"/>
              </a:rPr>
              <a:t>30 Minute Friday - Lunch and Learn Sessions</a:t>
            </a:r>
          </a:p>
        </p:txBody>
      </p:sp>
      <p:sp>
        <p:nvSpPr>
          <p:cNvPr id="44" name="TextBox 13">
            <a:extLst>
              <a:ext uri="{FF2B5EF4-FFF2-40B4-BE49-F238E27FC236}">
                <a16:creationId xmlns:a16="http://schemas.microsoft.com/office/drawing/2014/main" id="{D0D552FE-0B10-9749-ECB9-71E927792710}"/>
              </a:ext>
            </a:extLst>
          </p:cNvPr>
          <p:cNvSpPr txBox="1"/>
          <p:nvPr/>
        </p:nvSpPr>
        <p:spPr>
          <a:xfrm>
            <a:off x="5800335" y="5109454"/>
            <a:ext cx="6186689" cy="1622752"/>
          </a:xfrm>
          <a:prstGeom prst="rect">
            <a:avLst/>
          </a:prstGeom>
        </p:spPr>
        <p:txBody>
          <a:bodyPr wrap="square" lIns="0" tIns="0" rIns="0" bIns="0" rtlCol="0" anchor="t">
            <a:spAutoFit/>
          </a:bodyPr>
          <a:lstStyle/>
          <a:p>
            <a:pPr>
              <a:lnSpc>
                <a:spcPct val="150000"/>
              </a:lnSpc>
            </a:pPr>
            <a:r>
              <a:rPr lang="en-US" b="1">
                <a:solidFill>
                  <a:srgbClr val="2C3084"/>
                </a:solidFill>
                <a:latin typeface="Poppins Bold"/>
                <a:ea typeface="Poppins Bold"/>
                <a:cs typeface="Poppins Bold"/>
                <a:sym typeface="Poppins Bold"/>
              </a:rPr>
              <a:t>Session I – </a:t>
            </a:r>
            <a:r>
              <a:rPr lang="en-US">
                <a:solidFill>
                  <a:srgbClr val="2C3084"/>
                </a:solidFill>
                <a:latin typeface="Poppins"/>
                <a:cs typeface="Poppins"/>
                <a:sym typeface="Poppins Bold"/>
              </a:rPr>
              <a:t>AI Fundamentals and Powered Productivity</a:t>
            </a:r>
          </a:p>
          <a:p>
            <a:pPr>
              <a:lnSpc>
                <a:spcPct val="150000"/>
              </a:lnSpc>
            </a:pPr>
            <a:r>
              <a:rPr lang="en-US" b="1">
                <a:solidFill>
                  <a:srgbClr val="2C3084"/>
                </a:solidFill>
                <a:latin typeface="Poppins Bold"/>
                <a:ea typeface="Poppins Bold"/>
                <a:cs typeface="Poppins Bold"/>
                <a:sym typeface="Poppins Bold"/>
              </a:rPr>
              <a:t>Session  II - </a:t>
            </a:r>
            <a:r>
              <a:rPr lang="en-US">
                <a:solidFill>
                  <a:srgbClr val="2C3084"/>
                </a:solidFill>
                <a:latin typeface="Poppins"/>
                <a:ea typeface="Poppins"/>
                <a:cs typeface="Poppins"/>
                <a:sym typeface="Poppins"/>
              </a:rPr>
              <a:t>Problem solving with AI and Agentic AI</a:t>
            </a:r>
            <a:endParaRPr lang="en-US" b="1">
              <a:solidFill>
                <a:srgbClr val="2C3084"/>
              </a:solidFill>
              <a:latin typeface="Poppins Bold"/>
              <a:ea typeface="Poppins Bold"/>
              <a:cs typeface="Poppins Bold"/>
              <a:sym typeface="Poppins Bold"/>
            </a:endParaRPr>
          </a:p>
          <a:p>
            <a:pPr>
              <a:lnSpc>
                <a:spcPct val="150000"/>
              </a:lnSpc>
            </a:pPr>
            <a:r>
              <a:rPr lang="en-US" b="1">
                <a:solidFill>
                  <a:srgbClr val="2C3084"/>
                </a:solidFill>
                <a:latin typeface="Poppins Bold"/>
                <a:ea typeface="Poppins Bold"/>
                <a:cs typeface="Poppins Bold"/>
                <a:sym typeface="Poppins Bold"/>
              </a:rPr>
              <a:t>Session III – </a:t>
            </a:r>
            <a:r>
              <a:rPr lang="en-US">
                <a:solidFill>
                  <a:srgbClr val="2C3084"/>
                </a:solidFill>
                <a:latin typeface="Poppins"/>
                <a:ea typeface="Poppins"/>
                <a:cs typeface="Poppins"/>
                <a:sym typeface="Poppins"/>
              </a:rPr>
              <a:t>Prompt Engineering Basics and Technology, Trust, and Ethics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a:extLst>
              <a:ext uri="{C183D7F6-B498-43B3-948B-1728B52AA6E4}">
                <adec:decorative xmlns:adec="http://schemas.microsoft.com/office/drawing/2017/decorative" val="1"/>
              </a:ext>
            </a:extLst>
          </p:cNvPr>
          <p:cNvGrpSpPr/>
          <p:nvPr/>
        </p:nvGrpSpPr>
        <p:grpSpPr>
          <a:xfrm>
            <a:off x="-1145670" y="-408379"/>
            <a:ext cx="2057400" cy="3688143"/>
            <a:chOff x="0" y="0"/>
            <a:chExt cx="812800" cy="1457044"/>
          </a:xfrm>
        </p:grpSpPr>
        <p:sp>
          <p:nvSpPr>
            <p:cNvPr id="7" name="Freeform 7">
              <a:extLst>
                <a:ext uri="{C183D7F6-B498-43B3-948B-1728B52AA6E4}">
                  <adec:decorative xmlns:adec="http://schemas.microsoft.com/office/drawing/2017/decorative" val="1"/>
                </a:ext>
              </a:extLst>
            </p:cNvPr>
            <p:cNvSpPr/>
            <p:nvPr/>
          </p:nvSpPr>
          <p:spPr>
            <a:xfrm>
              <a:off x="0" y="0"/>
              <a:ext cx="812800" cy="1457044"/>
            </a:xfrm>
            <a:custGeom>
              <a:avLst/>
              <a:gdLst/>
              <a:ahLst/>
              <a:cxnLst/>
              <a:rect l="l" t="t" r="r" b="b"/>
              <a:pathLst>
                <a:path w="812800" h="1457044">
                  <a:moveTo>
                    <a:pt x="127941" y="0"/>
                  </a:moveTo>
                  <a:lnTo>
                    <a:pt x="684859" y="0"/>
                  </a:lnTo>
                  <a:cubicBezTo>
                    <a:pt x="718791" y="0"/>
                    <a:pt x="751333" y="13479"/>
                    <a:pt x="775327" y="37473"/>
                  </a:cubicBezTo>
                  <a:cubicBezTo>
                    <a:pt x="799321" y="61467"/>
                    <a:pt x="812800" y="94009"/>
                    <a:pt x="812800" y="127941"/>
                  </a:cubicBezTo>
                  <a:lnTo>
                    <a:pt x="812800" y="1329103"/>
                  </a:lnTo>
                  <a:cubicBezTo>
                    <a:pt x="812800" y="1363035"/>
                    <a:pt x="799321" y="1395578"/>
                    <a:pt x="775327" y="1419571"/>
                  </a:cubicBezTo>
                  <a:cubicBezTo>
                    <a:pt x="751333" y="1443565"/>
                    <a:pt x="718791" y="1457044"/>
                    <a:pt x="684859" y="1457044"/>
                  </a:cubicBezTo>
                  <a:lnTo>
                    <a:pt x="127941" y="1457044"/>
                  </a:lnTo>
                  <a:cubicBezTo>
                    <a:pt x="94009" y="1457044"/>
                    <a:pt x="61467" y="1443565"/>
                    <a:pt x="37473" y="1419571"/>
                  </a:cubicBezTo>
                  <a:cubicBezTo>
                    <a:pt x="13479" y="1395578"/>
                    <a:pt x="0" y="1363035"/>
                    <a:pt x="0" y="1329103"/>
                  </a:cubicBezTo>
                  <a:lnTo>
                    <a:pt x="0" y="127941"/>
                  </a:lnTo>
                  <a:cubicBezTo>
                    <a:pt x="0" y="94009"/>
                    <a:pt x="13479" y="61467"/>
                    <a:pt x="37473" y="37473"/>
                  </a:cubicBezTo>
                  <a:cubicBezTo>
                    <a:pt x="61467" y="13479"/>
                    <a:pt x="94009" y="0"/>
                    <a:pt x="127941" y="0"/>
                  </a:cubicBezTo>
                  <a:close/>
                </a:path>
              </a:pathLst>
            </a:custGeom>
            <a:solidFill>
              <a:srgbClr val="2C3084"/>
            </a:solidFill>
          </p:spPr>
          <p:txBody>
            <a:bodyPr/>
            <a:lstStyle/>
            <a:p>
              <a:endParaRPr lang="en-US" sz="1200"/>
            </a:p>
          </p:txBody>
        </p:sp>
        <p:sp>
          <p:nvSpPr>
            <p:cNvPr id="8" name="TextBox 8"/>
            <p:cNvSpPr txBox="1"/>
            <p:nvPr/>
          </p:nvSpPr>
          <p:spPr>
            <a:xfrm>
              <a:off x="0" y="-66675"/>
              <a:ext cx="812800" cy="1523719"/>
            </a:xfrm>
            <a:prstGeom prst="rect">
              <a:avLst/>
            </a:prstGeom>
          </p:spPr>
          <p:txBody>
            <a:bodyPr lIns="33867" tIns="33867" rIns="33867" bIns="33867" rtlCol="0" anchor="ctr"/>
            <a:lstStyle/>
            <a:p>
              <a:pPr algn="ctr">
                <a:lnSpc>
                  <a:spcPts val="1269"/>
                </a:lnSpc>
              </a:pPr>
              <a:endParaRPr sz="1200"/>
            </a:p>
          </p:txBody>
        </p:sp>
      </p:grpSp>
      <p:sp>
        <p:nvSpPr>
          <p:cNvPr id="10" name="TextBox 10"/>
          <p:cNvSpPr txBox="1">
            <a:spLocks noGrp="1"/>
          </p:cNvSpPr>
          <p:nvPr>
            <p:ph type="title" idx="4294967295"/>
          </p:nvPr>
        </p:nvSpPr>
        <p:spPr>
          <a:xfrm>
            <a:off x="1329168" y="316965"/>
            <a:ext cx="9059425" cy="61734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457200" rtl="0" eaLnBrk="1" fontAlgn="auto" latinLnBrk="0" hangingPunct="1">
              <a:lnSpc>
                <a:spcPts val="4980"/>
              </a:lnSpc>
              <a:spcBef>
                <a:spcPts val="0"/>
              </a:spcBef>
              <a:spcAft>
                <a:spcPts val="0"/>
              </a:spcAft>
              <a:buClrTx/>
              <a:buSzTx/>
              <a:buFontTx/>
              <a:buNone/>
              <a:tabLst/>
              <a:defRPr/>
            </a:pPr>
            <a:r>
              <a:rPr kumimoji="0" lang="en-US" sz="3800" b="1" i="0" u="none" strike="noStrike" kern="1200" cap="none" spc="-211" normalizeH="0" baseline="0" noProof="0">
                <a:ln>
                  <a:noFill/>
                </a:ln>
                <a:solidFill>
                  <a:srgbClr val="2C3084"/>
                </a:solidFill>
                <a:effectLst/>
                <a:uLnTx/>
                <a:uFillTx/>
                <a:latin typeface="Poppins" panose="00000500000000000000" pitchFamily="2" charset="0"/>
                <a:ea typeface="Mont Bold"/>
                <a:cs typeface="Poppins" panose="00000500000000000000" pitchFamily="2" charset="0"/>
                <a:sym typeface="Mont Bold"/>
              </a:rPr>
              <a:t>Self-paced learning modules</a:t>
            </a:r>
          </a:p>
        </p:txBody>
      </p:sp>
      <p:sp>
        <p:nvSpPr>
          <p:cNvPr id="11" name="TextBox 11"/>
          <p:cNvSpPr txBox="1"/>
          <p:nvPr/>
        </p:nvSpPr>
        <p:spPr>
          <a:xfrm>
            <a:off x="1430768" y="1435692"/>
            <a:ext cx="6967147" cy="2616101"/>
          </a:xfrm>
          <a:prstGeom prst="rect">
            <a:avLst/>
          </a:prstGeom>
        </p:spPr>
        <p:txBody>
          <a:bodyPr wrap="square" lIns="0" tIns="0" rIns="0" bIns="0" rtlCol="0" anchor="t">
            <a:spAutoFit/>
          </a:bodyPr>
          <a:lstStyle/>
          <a:p>
            <a:pPr>
              <a:spcAft>
                <a:spcPts val="200"/>
              </a:spcAft>
            </a:pPr>
            <a:r>
              <a:rPr lang="en-US" sz="2000" b="1">
                <a:solidFill>
                  <a:srgbClr val="2C3084"/>
                </a:solidFill>
                <a:latin typeface="Poppins Bold"/>
                <a:ea typeface="Poppins Bold"/>
                <a:cs typeface="Poppins Bold"/>
                <a:sym typeface="Poppins Bold"/>
              </a:rPr>
              <a:t>Week 1: </a:t>
            </a:r>
            <a:r>
              <a:rPr lang="en-US" sz="2000">
                <a:solidFill>
                  <a:srgbClr val="2C3084"/>
                </a:solidFill>
                <a:latin typeface="Poppins"/>
                <a:ea typeface="Poppins"/>
                <a:cs typeface="Poppins"/>
                <a:sym typeface="Poppins"/>
              </a:rPr>
              <a:t>Welcome and Self Assessment Survey and AI Fundamentals</a:t>
            </a:r>
          </a:p>
          <a:p>
            <a:pPr>
              <a:spcAft>
                <a:spcPts val="200"/>
              </a:spcAft>
            </a:pPr>
            <a:r>
              <a:rPr lang="en-US" sz="2000" b="1">
                <a:solidFill>
                  <a:srgbClr val="2C3084"/>
                </a:solidFill>
                <a:latin typeface="Poppins Bold"/>
                <a:ea typeface="Poppins Bold"/>
                <a:cs typeface="Poppins Bold"/>
                <a:sym typeface="Poppins Bold"/>
              </a:rPr>
              <a:t>Week 2: </a:t>
            </a:r>
            <a:r>
              <a:rPr lang="en-US" sz="2000">
                <a:solidFill>
                  <a:srgbClr val="2C3084"/>
                </a:solidFill>
                <a:latin typeface="Poppins"/>
                <a:ea typeface="Poppins"/>
                <a:cs typeface="Poppins"/>
                <a:sym typeface="Poppins"/>
              </a:rPr>
              <a:t>AI Powered Productivity </a:t>
            </a:r>
          </a:p>
          <a:p>
            <a:pPr>
              <a:spcAft>
                <a:spcPts val="200"/>
              </a:spcAft>
            </a:pPr>
            <a:r>
              <a:rPr lang="en-US" sz="2000" b="1">
                <a:solidFill>
                  <a:srgbClr val="2C3084"/>
                </a:solidFill>
                <a:latin typeface="Poppins Bold"/>
                <a:ea typeface="Poppins Bold"/>
                <a:cs typeface="Poppins Bold"/>
                <a:sym typeface="Poppins Bold"/>
              </a:rPr>
              <a:t>Week 3: </a:t>
            </a:r>
            <a:r>
              <a:rPr lang="en-US" sz="2000">
                <a:solidFill>
                  <a:srgbClr val="2C3084"/>
                </a:solidFill>
                <a:latin typeface="Poppins"/>
                <a:ea typeface="Poppins"/>
                <a:cs typeface="Poppins"/>
                <a:sym typeface="Poppins"/>
              </a:rPr>
              <a:t>Prompt Engineering Basics</a:t>
            </a:r>
          </a:p>
          <a:p>
            <a:pPr>
              <a:spcAft>
                <a:spcPts val="200"/>
              </a:spcAft>
            </a:pPr>
            <a:r>
              <a:rPr lang="en-US" sz="2000" b="1">
                <a:solidFill>
                  <a:srgbClr val="2C3084"/>
                </a:solidFill>
                <a:latin typeface="Poppins Bold"/>
                <a:ea typeface="Poppins Bold"/>
                <a:cs typeface="Poppins Bold"/>
                <a:sym typeface="Poppins Bold"/>
              </a:rPr>
              <a:t>Week 4: </a:t>
            </a:r>
            <a:r>
              <a:rPr lang="en-US" sz="2000">
                <a:solidFill>
                  <a:srgbClr val="2C3084"/>
                </a:solidFill>
                <a:latin typeface="Poppins"/>
                <a:ea typeface="Poppins"/>
                <a:cs typeface="Poppins"/>
                <a:sym typeface="Poppins"/>
              </a:rPr>
              <a:t>Technology, Trust, and Ethics</a:t>
            </a:r>
          </a:p>
          <a:p>
            <a:pPr>
              <a:spcAft>
                <a:spcPts val="200"/>
              </a:spcAft>
            </a:pPr>
            <a:r>
              <a:rPr lang="en-US" sz="2000" b="1">
                <a:solidFill>
                  <a:srgbClr val="2C3084"/>
                </a:solidFill>
                <a:latin typeface="Poppins Bold"/>
                <a:ea typeface="Poppins Bold"/>
                <a:cs typeface="Poppins Bold"/>
                <a:sym typeface="Poppins Bold"/>
              </a:rPr>
              <a:t>Week 5: </a:t>
            </a:r>
            <a:r>
              <a:rPr lang="en-US" sz="2000">
                <a:solidFill>
                  <a:srgbClr val="2C3084"/>
                </a:solidFill>
                <a:latin typeface="Poppins"/>
                <a:ea typeface="Poppins"/>
                <a:cs typeface="Poppins"/>
                <a:sym typeface="Poppins"/>
              </a:rPr>
              <a:t>Problem Solving with AI</a:t>
            </a:r>
          </a:p>
          <a:p>
            <a:pPr>
              <a:spcAft>
                <a:spcPts val="200"/>
              </a:spcAft>
            </a:pPr>
            <a:r>
              <a:rPr lang="en-US" sz="2000" b="1">
                <a:solidFill>
                  <a:srgbClr val="2C3084"/>
                </a:solidFill>
                <a:latin typeface="Poppins Bold"/>
                <a:ea typeface="Poppins Bold"/>
                <a:cs typeface="Poppins Bold"/>
                <a:sym typeface="Poppins Bold"/>
              </a:rPr>
              <a:t>Week 6: </a:t>
            </a:r>
            <a:r>
              <a:rPr lang="en-US" sz="2000">
                <a:solidFill>
                  <a:srgbClr val="2C3084"/>
                </a:solidFill>
                <a:latin typeface="Poppins"/>
                <a:ea typeface="Poppins"/>
                <a:cs typeface="Poppins"/>
                <a:sym typeface="Poppins"/>
              </a:rPr>
              <a:t>Agentic AI Essentials</a:t>
            </a:r>
          </a:p>
          <a:p>
            <a:pPr>
              <a:spcAft>
                <a:spcPts val="200"/>
              </a:spcAft>
            </a:pPr>
            <a:r>
              <a:rPr lang="en-US" sz="2000" b="1">
                <a:solidFill>
                  <a:srgbClr val="2C3084"/>
                </a:solidFill>
                <a:latin typeface="Poppins Bold"/>
                <a:ea typeface="Poppins Bold"/>
                <a:cs typeface="Poppins Bold"/>
                <a:sym typeface="Poppins Bold"/>
              </a:rPr>
              <a:t>Week 7: </a:t>
            </a:r>
            <a:r>
              <a:rPr lang="en-US" sz="2000">
                <a:solidFill>
                  <a:srgbClr val="2C3084"/>
                </a:solidFill>
                <a:latin typeface="Poppins"/>
                <a:ea typeface="Poppins"/>
                <a:cs typeface="Poppins"/>
                <a:sym typeface="Poppins"/>
              </a:rPr>
              <a:t>Applied Agentic AI</a:t>
            </a:r>
          </a:p>
        </p:txBody>
      </p:sp>
      <p:sp>
        <p:nvSpPr>
          <p:cNvPr id="14" name="TextBox 14"/>
          <p:cNvSpPr txBox="1"/>
          <p:nvPr/>
        </p:nvSpPr>
        <p:spPr>
          <a:xfrm>
            <a:off x="1430768" y="4233351"/>
            <a:ext cx="5946676" cy="321883"/>
          </a:xfrm>
          <a:prstGeom prst="rect">
            <a:avLst/>
          </a:prstGeom>
        </p:spPr>
        <p:txBody>
          <a:bodyPr lIns="0" tIns="0" rIns="0" bIns="0" rtlCol="0" anchor="t">
            <a:spAutoFit/>
          </a:bodyPr>
          <a:lstStyle/>
          <a:p>
            <a:pPr>
              <a:lnSpc>
                <a:spcPts val="2613"/>
              </a:lnSpc>
            </a:pPr>
            <a:r>
              <a:rPr lang="en-US" sz="2000" b="1">
                <a:solidFill>
                  <a:srgbClr val="2C3084"/>
                </a:solidFill>
                <a:latin typeface="Poppins Bold"/>
                <a:ea typeface="Poppins Bold"/>
                <a:cs typeface="Poppins Bold"/>
                <a:sym typeface="Poppins Bold"/>
              </a:rPr>
              <a:t>30 Minute Friday - Lunch and Learn Sessions</a:t>
            </a:r>
          </a:p>
        </p:txBody>
      </p:sp>
      <p:sp>
        <p:nvSpPr>
          <p:cNvPr id="13" name="TextBox 13"/>
          <p:cNvSpPr txBox="1"/>
          <p:nvPr/>
        </p:nvSpPr>
        <p:spPr>
          <a:xfrm>
            <a:off x="1430768" y="4639620"/>
            <a:ext cx="7252852" cy="1282402"/>
          </a:xfrm>
          <a:prstGeom prst="rect">
            <a:avLst/>
          </a:prstGeom>
        </p:spPr>
        <p:txBody>
          <a:bodyPr wrap="square" lIns="0" tIns="0" rIns="0" bIns="0" rtlCol="0" anchor="t">
            <a:spAutoFit/>
          </a:bodyPr>
          <a:lstStyle/>
          <a:p>
            <a:pPr marL="342900" indent="-342900">
              <a:spcAft>
                <a:spcPts val="200"/>
              </a:spcAft>
              <a:buFont typeface="Arial" panose="020B0604020202020204" pitchFamily="34" charset="0"/>
              <a:buChar char="•"/>
            </a:pPr>
            <a:r>
              <a:rPr lang="en-US" sz="2000" b="1" dirty="0">
                <a:solidFill>
                  <a:srgbClr val="2C3084"/>
                </a:solidFill>
                <a:latin typeface="Poppins Bold"/>
                <a:ea typeface="Poppins Bold"/>
                <a:cs typeface="Poppins Bold"/>
                <a:sym typeface="Poppins Bold"/>
              </a:rPr>
              <a:t>Session I – </a:t>
            </a:r>
            <a:r>
              <a:rPr lang="en-US" sz="2000" dirty="0">
                <a:solidFill>
                  <a:srgbClr val="2C3084"/>
                </a:solidFill>
                <a:latin typeface="Poppins"/>
                <a:cs typeface="Poppins"/>
                <a:sym typeface="Poppins Bold"/>
              </a:rPr>
              <a:t>AI Fundamentals and Powered Productivity</a:t>
            </a:r>
          </a:p>
          <a:p>
            <a:pPr marL="342900" indent="-342900">
              <a:spcAft>
                <a:spcPts val="200"/>
              </a:spcAft>
              <a:buFont typeface="Arial" panose="020B0604020202020204" pitchFamily="34" charset="0"/>
              <a:buChar char="•"/>
            </a:pPr>
            <a:r>
              <a:rPr lang="en-US" sz="2000" b="1" dirty="0">
                <a:solidFill>
                  <a:srgbClr val="2C3084"/>
                </a:solidFill>
                <a:latin typeface="Poppins Bold"/>
                <a:ea typeface="Poppins Bold"/>
                <a:cs typeface="Poppins Bold"/>
                <a:sym typeface="Poppins Bold"/>
              </a:rPr>
              <a:t>Session II - </a:t>
            </a:r>
            <a:r>
              <a:rPr lang="en-US" sz="2000" dirty="0">
                <a:solidFill>
                  <a:srgbClr val="2C3084"/>
                </a:solidFill>
                <a:latin typeface="Poppins"/>
                <a:ea typeface="Poppins"/>
                <a:cs typeface="Poppins"/>
                <a:sym typeface="Poppins"/>
              </a:rPr>
              <a:t>Problem Solving with AI and Agentic AI</a:t>
            </a:r>
            <a:endParaRPr lang="en-US" sz="2000" b="1" dirty="0">
              <a:solidFill>
                <a:srgbClr val="2C3084"/>
              </a:solidFill>
              <a:latin typeface="Poppins Bold"/>
              <a:ea typeface="Poppins Bold"/>
              <a:cs typeface="Poppins Bold"/>
              <a:sym typeface="Poppins Bold"/>
            </a:endParaRPr>
          </a:p>
          <a:p>
            <a:pPr marL="342900" indent="-342900">
              <a:spcAft>
                <a:spcPts val="200"/>
              </a:spcAft>
              <a:buFont typeface="Arial" panose="020B0604020202020204" pitchFamily="34" charset="0"/>
              <a:buChar char="•"/>
            </a:pPr>
            <a:r>
              <a:rPr lang="en-US" sz="2000" b="1" dirty="0">
                <a:solidFill>
                  <a:srgbClr val="2C3084"/>
                </a:solidFill>
                <a:latin typeface="Poppins Bold"/>
                <a:ea typeface="Poppins Bold"/>
                <a:cs typeface="Poppins Bold"/>
                <a:sym typeface="Poppins Bold"/>
              </a:rPr>
              <a:t>Session III – </a:t>
            </a:r>
            <a:r>
              <a:rPr lang="en-US" sz="2000" dirty="0">
                <a:solidFill>
                  <a:srgbClr val="2C3084"/>
                </a:solidFill>
                <a:latin typeface="Poppins"/>
                <a:ea typeface="Poppins"/>
                <a:cs typeface="Poppins"/>
                <a:sym typeface="Poppins"/>
              </a:rPr>
              <a:t>Prompt Engineering Basics and Technology, Trust, and Ethics</a:t>
            </a:r>
          </a:p>
        </p:txBody>
      </p:sp>
      <p:sp>
        <p:nvSpPr>
          <p:cNvPr id="9" name="Freeform 9">
            <a:extLst>
              <a:ext uri="{C183D7F6-B498-43B3-948B-1728B52AA6E4}">
                <adec:decorative xmlns:adec="http://schemas.microsoft.com/office/drawing/2017/decorative" val="1"/>
              </a:ext>
            </a:extLst>
          </p:cNvPr>
          <p:cNvSpPr/>
          <p:nvPr/>
        </p:nvSpPr>
        <p:spPr>
          <a:xfrm>
            <a:off x="8683620" y="1996193"/>
            <a:ext cx="2406936" cy="2244830"/>
          </a:xfrm>
          <a:custGeom>
            <a:avLst/>
            <a:gdLst/>
            <a:ahLst/>
            <a:cxnLst/>
            <a:rect l="l" t="t" r="r" b="b"/>
            <a:pathLst>
              <a:path w="4629873" h="4114800">
                <a:moveTo>
                  <a:pt x="0" y="0"/>
                </a:moveTo>
                <a:lnTo>
                  <a:pt x="4629874" y="0"/>
                </a:lnTo>
                <a:lnTo>
                  <a:pt x="4629874"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200"/>
          </a:p>
        </p:txBody>
      </p:sp>
      <p:grpSp>
        <p:nvGrpSpPr>
          <p:cNvPr id="3" name="Group 3">
            <a:extLst>
              <a:ext uri="{C183D7F6-B498-43B3-948B-1728B52AA6E4}">
                <adec:decorative xmlns:adec="http://schemas.microsoft.com/office/drawing/2017/decorative" val="1"/>
              </a:ext>
            </a:extLst>
          </p:cNvPr>
          <p:cNvGrpSpPr/>
          <p:nvPr/>
        </p:nvGrpSpPr>
        <p:grpSpPr>
          <a:xfrm>
            <a:off x="1329169" y="6343199"/>
            <a:ext cx="11307939" cy="5479015"/>
            <a:chOff x="0" y="0"/>
            <a:chExt cx="4467334" cy="2164549"/>
          </a:xfrm>
        </p:grpSpPr>
        <p:sp>
          <p:nvSpPr>
            <p:cNvPr id="4" name="Freeform 4">
              <a:extLst>
                <a:ext uri="{C183D7F6-B498-43B3-948B-1728B52AA6E4}">
                  <adec:decorative xmlns:adec="http://schemas.microsoft.com/office/drawing/2017/decorative" val="1"/>
                </a:ext>
              </a:extLst>
            </p:cNvPr>
            <p:cNvSpPr/>
            <p:nvPr/>
          </p:nvSpPr>
          <p:spPr>
            <a:xfrm>
              <a:off x="0" y="0"/>
              <a:ext cx="4467334" cy="2164549"/>
            </a:xfrm>
            <a:custGeom>
              <a:avLst/>
              <a:gdLst/>
              <a:ahLst/>
              <a:cxnLst/>
              <a:rect l="l" t="t" r="r" b="b"/>
              <a:pathLst>
                <a:path w="4467334" h="2164549">
                  <a:moveTo>
                    <a:pt x="23278" y="0"/>
                  </a:moveTo>
                  <a:lnTo>
                    <a:pt x="4444056" y="0"/>
                  </a:lnTo>
                  <a:cubicBezTo>
                    <a:pt x="4450230" y="0"/>
                    <a:pt x="4456150" y="2452"/>
                    <a:pt x="4460516" y="6818"/>
                  </a:cubicBezTo>
                  <a:cubicBezTo>
                    <a:pt x="4464881" y="11183"/>
                    <a:pt x="4467334" y="17104"/>
                    <a:pt x="4467334" y="23278"/>
                  </a:cubicBezTo>
                  <a:lnTo>
                    <a:pt x="4467334" y="2141271"/>
                  </a:lnTo>
                  <a:cubicBezTo>
                    <a:pt x="4467334" y="2154127"/>
                    <a:pt x="4456912" y="2164549"/>
                    <a:pt x="4444056" y="2164549"/>
                  </a:cubicBezTo>
                  <a:lnTo>
                    <a:pt x="23278" y="2164549"/>
                  </a:lnTo>
                  <a:cubicBezTo>
                    <a:pt x="17104" y="2164549"/>
                    <a:pt x="11183" y="2162097"/>
                    <a:pt x="6818" y="2157731"/>
                  </a:cubicBezTo>
                  <a:cubicBezTo>
                    <a:pt x="2452" y="2153366"/>
                    <a:pt x="0" y="2147445"/>
                    <a:pt x="0" y="2141271"/>
                  </a:cubicBezTo>
                  <a:lnTo>
                    <a:pt x="0" y="23278"/>
                  </a:lnTo>
                  <a:cubicBezTo>
                    <a:pt x="0" y="17104"/>
                    <a:pt x="2452" y="11183"/>
                    <a:pt x="6818" y="6818"/>
                  </a:cubicBezTo>
                  <a:cubicBezTo>
                    <a:pt x="11183" y="2452"/>
                    <a:pt x="17104" y="0"/>
                    <a:pt x="23278" y="0"/>
                  </a:cubicBezTo>
                  <a:close/>
                </a:path>
              </a:pathLst>
            </a:custGeom>
            <a:solidFill>
              <a:srgbClr val="2C3084"/>
            </a:solidFill>
          </p:spPr>
          <p:txBody>
            <a:bodyPr/>
            <a:lstStyle/>
            <a:p>
              <a:endParaRPr lang="en-US" sz="1200"/>
            </a:p>
          </p:txBody>
        </p:sp>
        <p:sp>
          <p:nvSpPr>
            <p:cNvPr id="5" name="TextBox 5"/>
            <p:cNvSpPr txBox="1"/>
            <p:nvPr/>
          </p:nvSpPr>
          <p:spPr>
            <a:xfrm>
              <a:off x="0" y="-66675"/>
              <a:ext cx="4467334" cy="2231224"/>
            </a:xfrm>
            <a:prstGeom prst="rect">
              <a:avLst/>
            </a:prstGeom>
          </p:spPr>
          <p:txBody>
            <a:bodyPr lIns="33867" tIns="33867" rIns="33867" bIns="33867" rtlCol="0" anchor="ctr"/>
            <a:lstStyle/>
            <a:p>
              <a:pPr algn="ctr">
                <a:lnSpc>
                  <a:spcPts val="1269"/>
                </a:lnSpc>
              </a:pPr>
              <a:endParaRPr sz="120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C183D7F6-B498-43B3-948B-1728B52AA6E4}">
                <adec:decorative xmlns:adec="http://schemas.microsoft.com/office/drawing/2017/decorative" val="1"/>
              </a:ext>
            </a:extLst>
          </p:cNvPr>
          <p:cNvSpPr/>
          <p:nvPr/>
        </p:nvSpPr>
        <p:spPr>
          <a:xfrm flipV="1">
            <a:off x="-793573" y="-559782"/>
            <a:ext cx="3095289" cy="2743200"/>
          </a:xfrm>
          <a:custGeom>
            <a:avLst/>
            <a:gdLst/>
            <a:ahLst/>
            <a:cxnLst/>
            <a:rect l="l" t="t" r="r" b="b"/>
            <a:pathLst>
              <a:path w="4642934" h="4114800">
                <a:moveTo>
                  <a:pt x="0" y="4114800"/>
                </a:moveTo>
                <a:lnTo>
                  <a:pt x="4642934" y="4114800"/>
                </a:lnTo>
                <a:lnTo>
                  <a:pt x="4642934" y="0"/>
                </a:lnTo>
                <a:lnTo>
                  <a:pt x="0" y="0"/>
                </a:lnTo>
                <a:lnTo>
                  <a:pt x="0"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5" name="TextBox 5"/>
          <p:cNvSpPr txBox="1">
            <a:spLocks noGrp="1"/>
          </p:cNvSpPr>
          <p:nvPr>
            <p:ph type="title" idx="4294967295"/>
          </p:nvPr>
        </p:nvSpPr>
        <p:spPr>
          <a:xfrm>
            <a:off x="1477296" y="514398"/>
            <a:ext cx="9986936" cy="58862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457200" rtl="0" eaLnBrk="1" fontAlgn="auto" latinLnBrk="0" hangingPunct="1">
              <a:lnSpc>
                <a:spcPts val="4980"/>
              </a:lnSpc>
              <a:spcBef>
                <a:spcPts val="0"/>
              </a:spcBef>
              <a:spcAft>
                <a:spcPts val="0"/>
              </a:spcAft>
              <a:buClrTx/>
              <a:buSzTx/>
              <a:buFontTx/>
              <a:buNone/>
              <a:tabLst/>
              <a:defRPr/>
            </a:pPr>
            <a:r>
              <a:rPr kumimoji="0" lang="en-US" sz="3000" b="1" i="0" u="none" strike="noStrike" kern="1200" cap="none" spc="-211" normalizeH="0" baseline="0" noProof="0">
                <a:ln>
                  <a:noFill/>
                </a:ln>
                <a:solidFill>
                  <a:srgbClr val="2C3084"/>
                </a:solidFill>
                <a:effectLst/>
                <a:uLnTx/>
                <a:uFillTx/>
                <a:latin typeface="Poppins" panose="00000500000000000000" pitchFamily="2" charset="0"/>
                <a:ea typeface="Mont Bold"/>
                <a:cs typeface="Poppins" panose="00000500000000000000" pitchFamily="2" charset="0"/>
                <a:sym typeface="Mont Bold"/>
              </a:rPr>
              <a:t>Cohort I: Workforce Development Staff &amp; Digital Navigators</a:t>
            </a:r>
          </a:p>
        </p:txBody>
      </p:sp>
      <p:sp>
        <p:nvSpPr>
          <p:cNvPr id="4" name="Freeform 4" descr="Image of workforce Development cohort description. "/>
          <p:cNvSpPr/>
          <p:nvPr/>
        </p:nvSpPr>
        <p:spPr>
          <a:xfrm>
            <a:off x="1901906" y="1414708"/>
            <a:ext cx="8246504" cy="3900032"/>
          </a:xfrm>
          <a:custGeom>
            <a:avLst/>
            <a:gdLst/>
            <a:ahLst/>
            <a:cxnLst/>
            <a:rect l="l" t="t" r="r" b="b"/>
            <a:pathLst>
              <a:path w="9658679" h="4153232">
                <a:moveTo>
                  <a:pt x="0" y="0"/>
                </a:moveTo>
                <a:lnTo>
                  <a:pt x="9658679" y="0"/>
                </a:lnTo>
                <a:lnTo>
                  <a:pt x="9658679" y="4153232"/>
                </a:lnTo>
                <a:lnTo>
                  <a:pt x="0" y="4153232"/>
                </a:lnTo>
                <a:lnTo>
                  <a:pt x="0" y="0"/>
                </a:lnTo>
                <a:close/>
              </a:path>
            </a:pathLst>
          </a:custGeom>
          <a:blipFill>
            <a:blip r:embed="rId4"/>
            <a:stretch>
              <a:fillRect/>
            </a:stretch>
          </a:blipFill>
        </p:spPr>
        <p:txBody>
          <a:bodyPr/>
          <a:lstStyle/>
          <a:p>
            <a:endParaRPr lang="en-US" sz="1200"/>
          </a:p>
        </p:txBody>
      </p:sp>
      <p:sp>
        <p:nvSpPr>
          <p:cNvPr id="6" name="TextBox 6"/>
          <p:cNvSpPr txBox="1"/>
          <p:nvPr/>
        </p:nvSpPr>
        <p:spPr>
          <a:xfrm>
            <a:off x="2232508" y="3347855"/>
            <a:ext cx="1802580" cy="791755"/>
          </a:xfrm>
          <a:prstGeom prst="rect">
            <a:avLst/>
          </a:prstGeom>
        </p:spPr>
        <p:txBody>
          <a:bodyPr wrap="square" lIns="0" tIns="0" rIns="0" bIns="0" rtlCol="0" anchor="t">
            <a:spAutoFit/>
          </a:bodyPr>
          <a:lstStyle/>
          <a:p>
            <a:pPr algn="ctr">
              <a:lnSpc>
                <a:spcPct val="150000"/>
              </a:lnSpc>
            </a:pPr>
            <a:r>
              <a:rPr lang="en-US" b="1" spc="-4" dirty="0">
                <a:solidFill>
                  <a:schemeClr val="bg1"/>
                </a:solidFill>
                <a:latin typeface="Poppins" panose="00000500000000000000" pitchFamily="2" charset="0"/>
                <a:cs typeface="Poppins" panose="00000500000000000000" pitchFamily="2" charset="0"/>
                <a:sym typeface="Mont Bold"/>
              </a:rPr>
              <a:t>Information</a:t>
            </a:r>
            <a:r>
              <a:rPr lang="en-US" b="1" spc="-4" dirty="0">
                <a:solidFill>
                  <a:schemeClr val="bg1"/>
                </a:solidFill>
                <a:latin typeface="Poppins" panose="00000500000000000000" pitchFamily="2" charset="0"/>
                <a:ea typeface="Mont Bold"/>
                <a:cs typeface="Poppins" panose="00000500000000000000" pitchFamily="2" charset="0"/>
                <a:sym typeface="Mont Bold"/>
              </a:rPr>
              <a:t> Session</a:t>
            </a:r>
          </a:p>
        </p:txBody>
      </p:sp>
      <p:sp>
        <p:nvSpPr>
          <p:cNvPr id="8" name="TextBox 8"/>
          <p:cNvSpPr txBox="1"/>
          <p:nvPr/>
        </p:nvSpPr>
        <p:spPr>
          <a:xfrm>
            <a:off x="4700203" y="3073037"/>
            <a:ext cx="1914500" cy="1341393"/>
          </a:xfrm>
          <a:prstGeom prst="rect">
            <a:avLst/>
          </a:prstGeom>
        </p:spPr>
        <p:txBody>
          <a:bodyPr wrap="square" lIns="0" tIns="0" rIns="0" bIns="0" rtlCol="0" anchor="t">
            <a:spAutoFit/>
          </a:bodyPr>
          <a:lstStyle/>
          <a:p>
            <a:pPr algn="ctr">
              <a:lnSpc>
                <a:spcPct val="150000"/>
              </a:lnSpc>
            </a:pPr>
            <a:r>
              <a:rPr lang="en-US" sz="2000" b="1" spc="-4">
                <a:solidFill>
                  <a:schemeClr val="bg1"/>
                </a:solidFill>
                <a:latin typeface="Poppins" panose="00000500000000000000" pitchFamily="2" charset="0"/>
                <a:ea typeface="Mont Bold"/>
                <a:cs typeface="Poppins" panose="00000500000000000000" pitchFamily="2" charset="0"/>
                <a:sym typeface="Mont Bold"/>
              </a:rPr>
              <a:t>AI Academy Platform Training</a:t>
            </a:r>
          </a:p>
        </p:txBody>
      </p:sp>
      <p:sp>
        <p:nvSpPr>
          <p:cNvPr id="7" name="TextBox 7"/>
          <p:cNvSpPr txBox="1"/>
          <p:nvPr/>
        </p:nvSpPr>
        <p:spPr>
          <a:xfrm>
            <a:off x="7609493" y="3164665"/>
            <a:ext cx="1373945" cy="1341393"/>
          </a:xfrm>
          <a:prstGeom prst="rect">
            <a:avLst/>
          </a:prstGeom>
        </p:spPr>
        <p:txBody>
          <a:bodyPr wrap="square" lIns="0" tIns="0" rIns="0" bIns="0" rtlCol="0" anchor="t">
            <a:spAutoFit/>
          </a:bodyPr>
          <a:lstStyle/>
          <a:p>
            <a:pPr algn="ctr">
              <a:lnSpc>
                <a:spcPct val="150000"/>
              </a:lnSpc>
            </a:pPr>
            <a:r>
              <a:rPr lang="en-US" sz="2000" b="1" spc="-4">
                <a:solidFill>
                  <a:schemeClr val="bg1"/>
                </a:solidFill>
                <a:latin typeface="Poppins" panose="00000500000000000000" pitchFamily="2" charset="0"/>
                <a:ea typeface="Mont Bold"/>
                <a:cs typeface="Poppins" panose="00000500000000000000" pitchFamily="2" charset="0"/>
                <a:sym typeface="Mont Bold"/>
              </a:rPr>
              <a:t>Instructor </a:t>
            </a:r>
            <a:r>
              <a:rPr lang="en-US" sz="2000" b="1" spc="-4">
                <a:solidFill>
                  <a:schemeClr val="bg1"/>
                </a:solidFill>
                <a:latin typeface="Poppins" panose="00000500000000000000" pitchFamily="2" charset="0"/>
                <a:cs typeface="Poppins" panose="00000500000000000000" pitchFamily="2" charset="0"/>
                <a:sym typeface="Mont Bold"/>
              </a:rPr>
              <a:t>Led</a:t>
            </a:r>
            <a:r>
              <a:rPr lang="en-US" sz="2000" b="1" spc="-4">
                <a:solidFill>
                  <a:schemeClr val="bg1"/>
                </a:solidFill>
                <a:latin typeface="Poppins" panose="00000500000000000000" pitchFamily="2" charset="0"/>
                <a:ea typeface="Mont Bold"/>
                <a:cs typeface="Poppins" panose="00000500000000000000" pitchFamily="2" charset="0"/>
                <a:sym typeface="Mont Bold"/>
              </a:rPr>
              <a:t> </a:t>
            </a:r>
          </a:p>
          <a:p>
            <a:pPr algn="ctr">
              <a:lnSpc>
                <a:spcPct val="150000"/>
              </a:lnSpc>
            </a:pPr>
            <a:r>
              <a:rPr lang="en-US" sz="2000" b="1" spc="-4">
                <a:solidFill>
                  <a:schemeClr val="bg1"/>
                </a:solidFill>
                <a:latin typeface="Poppins" panose="00000500000000000000" pitchFamily="2" charset="0"/>
                <a:ea typeface="Mont Bold"/>
                <a:cs typeface="Poppins" panose="00000500000000000000" pitchFamily="2" charset="0"/>
                <a:sym typeface="Mont Bold"/>
              </a:rPr>
              <a:t>Capstone</a:t>
            </a:r>
          </a:p>
        </p:txBody>
      </p:sp>
      <p:sp>
        <p:nvSpPr>
          <p:cNvPr id="9" name="TextBox 9"/>
          <p:cNvSpPr txBox="1"/>
          <p:nvPr/>
        </p:nvSpPr>
        <p:spPr>
          <a:xfrm>
            <a:off x="1797065" y="5503470"/>
            <a:ext cx="2673466" cy="235321"/>
          </a:xfrm>
          <a:prstGeom prst="rect">
            <a:avLst/>
          </a:prstGeom>
        </p:spPr>
        <p:txBody>
          <a:bodyPr wrap="square" lIns="0" tIns="0" rIns="0" bIns="0" rtlCol="0" anchor="t">
            <a:spAutoFit/>
          </a:bodyPr>
          <a:lstStyle/>
          <a:p>
            <a:pPr algn="ctr">
              <a:lnSpc>
                <a:spcPts val="1680"/>
              </a:lnSpc>
            </a:pPr>
            <a:r>
              <a:rPr lang="en-US" sz="2000">
                <a:solidFill>
                  <a:srgbClr val="000000"/>
                </a:solidFill>
                <a:latin typeface="Poppins"/>
                <a:ea typeface="Poppins"/>
                <a:cs typeface="Poppins"/>
                <a:sym typeface="Poppins"/>
              </a:rPr>
              <a:t>30 Minutes</a:t>
            </a:r>
          </a:p>
        </p:txBody>
      </p:sp>
      <p:sp>
        <p:nvSpPr>
          <p:cNvPr id="10" name="TextBox 10"/>
          <p:cNvSpPr txBox="1"/>
          <p:nvPr/>
        </p:nvSpPr>
        <p:spPr>
          <a:xfrm>
            <a:off x="4491283" y="5495581"/>
            <a:ext cx="2480574" cy="235321"/>
          </a:xfrm>
          <a:prstGeom prst="rect">
            <a:avLst/>
          </a:prstGeom>
        </p:spPr>
        <p:txBody>
          <a:bodyPr wrap="square" lIns="0" tIns="0" rIns="0" bIns="0" rtlCol="0" anchor="t">
            <a:spAutoFit/>
          </a:bodyPr>
          <a:lstStyle/>
          <a:p>
            <a:pPr algn="ctr">
              <a:lnSpc>
                <a:spcPts val="1680"/>
              </a:lnSpc>
            </a:pPr>
            <a:r>
              <a:rPr lang="en-US" sz="2000">
                <a:solidFill>
                  <a:srgbClr val="000000"/>
                </a:solidFill>
                <a:latin typeface="Poppins"/>
                <a:ea typeface="Poppins"/>
                <a:cs typeface="Poppins"/>
                <a:sym typeface="Poppins"/>
              </a:rPr>
              <a:t>8 Weeks</a:t>
            </a:r>
          </a:p>
        </p:txBody>
      </p:sp>
      <p:sp>
        <p:nvSpPr>
          <p:cNvPr id="11" name="TextBox 11"/>
          <p:cNvSpPr txBox="1"/>
          <p:nvPr/>
        </p:nvSpPr>
        <p:spPr>
          <a:xfrm>
            <a:off x="7138111" y="5512485"/>
            <a:ext cx="2480574" cy="453329"/>
          </a:xfrm>
          <a:prstGeom prst="rect">
            <a:avLst/>
          </a:prstGeom>
        </p:spPr>
        <p:txBody>
          <a:bodyPr wrap="square" lIns="0" tIns="0" rIns="0" bIns="0" rtlCol="0" anchor="t">
            <a:spAutoFit/>
          </a:bodyPr>
          <a:lstStyle/>
          <a:p>
            <a:pPr algn="ctr">
              <a:lnSpc>
                <a:spcPts val="1680"/>
              </a:lnSpc>
            </a:pPr>
            <a:r>
              <a:rPr lang="en-US" sz="2000" dirty="0">
                <a:solidFill>
                  <a:srgbClr val="000000"/>
                </a:solidFill>
                <a:latin typeface="Poppins"/>
                <a:ea typeface="Poppins"/>
                <a:cs typeface="Poppins"/>
                <a:sym typeface="Poppins"/>
              </a:rPr>
              <a:t>1 Hour </a:t>
            </a:r>
            <a:br>
              <a:rPr lang="en-US" sz="2000" dirty="0">
                <a:solidFill>
                  <a:srgbClr val="000000"/>
                </a:solidFill>
                <a:latin typeface="Poppins"/>
                <a:ea typeface="Poppins"/>
                <a:cs typeface="Poppins"/>
                <a:sym typeface="Poppins"/>
              </a:rPr>
            </a:br>
            <a:r>
              <a:rPr lang="en-US" sz="2000" dirty="0">
                <a:solidFill>
                  <a:srgbClr val="000000"/>
                </a:solidFill>
                <a:latin typeface="Poppins"/>
                <a:ea typeface="Poppins"/>
                <a:cs typeface="Poppins"/>
                <a:sym typeface="Poppins"/>
              </a:rPr>
              <a:t>Prompt-a-thon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007F80-6E21-F853-88C1-D3D19EDAC63D}"/>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8" name="TextBox 8"/>
          <p:cNvSpPr txBox="1">
            <a:spLocks noGrp="1"/>
          </p:cNvSpPr>
          <p:nvPr>
            <p:ph type="title" idx="4294967295"/>
          </p:nvPr>
        </p:nvSpPr>
        <p:spPr>
          <a:xfrm>
            <a:off x="558679" y="674776"/>
            <a:ext cx="10651954" cy="64960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457200" rtl="0" eaLnBrk="1" fontAlgn="auto" latinLnBrk="0" hangingPunct="1">
              <a:lnSpc>
                <a:spcPts val="4980"/>
              </a:lnSpc>
              <a:spcBef>
                <a:spcPts val="0"/>
              </a:spcBef>
              <a:spcAft>
                <a:spcPts val="0"/>
              </a:spcAft>
              <a:buClrTx/>
              <a:buSzTx/>
              <a:buFontTx/>
              <a:buNone/>
              <a:tabLst/>
              <a:defRPr/>
            </a:pPr>
            <a:r>
              <a:rPr kumimoji="0" lang="en-US" sz="4400" b="1" i="0" u="none" strike="noStrike" kern="1200" cap="none" spc="-211" normalizeH="0" baseline="0" noProof="0" dirty="0">
                <a:ln>
                  <a:noFill/>
                </a:ln>
                <a:solidFill>
                  <a:srgbClr val="2C3084"/>
                </a:solidFill>
                <a:effectLst/>
                <a:uLnTx/>
                <a:uFillTx/>
                <a:latin typeface="Poppins" panose="00000500000000000000" pitchFamily="2" charset="0"/>
                <a:ea typeface="Mont Bold"/>
                <a:cs typeface="Poppins" panose="00000500000000000000" pitchFamily="2" charset="0"/>
                <a:sym typeface="Mont Bold"/>
              </a:rPr>
              <a:t>Cohort II:  Summer Youth</a:t>
            </a:r>
          </a:p>
        </p:txBody>
      </p:sp>
      <p:sp>
        <p:nvSpPr>
          <p:cNvPr id="13" name="TextBox 13"/>
          <p:cNvSpPr txBox="1"/>
          <p:nvPr/>
        </p:nvSpPr>
        <p:spPr>
          <a:xfrm>
            <a:off x="7335584" y="1675238"/>
            <a:ext cx="2501266" cy="316497"/>
          </a:xfrm>
          <a:prstGeom prst="rect">
            <a:avLst/>
          </a:prstGeom>
        </p:spPr>
        <p:txBody>
          <a:bodyPr wrap="square" lIns="0" tIns="0" rIns="0" bIns="0" rtlCol="0" anchor="t">
            <a:spAutoFit/>
          </a:bodyPr>
          <a:lstStyle/>
          <a:p>
            <a:pPr algn="ctr">
              <a:lnSpc>
                <a:spcPts val="2613"/>
              </a:lnSpc>
            </a:pPr>
            <a:r>
              <a:rPr lang="en-US" sz="1850" b="1" dirty="0">
                <a:solidFill>
                  <a:srgbClr val="2C3084"/>
                </a:solidFill>
                <a:latin typeface="Poppins Bold"/>
                <a:ea typeface="Poppins Bold"/>
                <a:cs typeface="Poppins Bold"/>
                <a:sym typeface="Poppins Bold"/>
              </a:rPr>
              <a:t>Total Cohort Size: 58</a:t>
            </a:r>
          </a:p>
        </p:txBody>
      </p:sp>
      <p:sp>
        <p:nvSpPr>
          <p:cNvPr id="3" name="TextBox 38">
            <a:extLst>
              <a:ext uri="{FF2B5EF4-FFF2-40B4-BE49-F238E27FC236}">
                <a16:creationId xmlns:a16="http://schemas.microsoft.com/office/drawing/2014/main" id="{5D0294B9-7B61-A24E-8DE9-0F7A3BB6E6AB}"/>
              </a:ext>
            </a:extLst>
          </p:cNvPr>
          <p:cNvSpPr txBox="1"/>
          <p:nvPr/>
        </p:nvSpPr>
        <p:spPr>
          <a:xfrm>
            <a:off x="409723" y="2091713"/>
            <a:ext cx="4652116" cy="3315523"/>
          </a:xfrm>
          <a:prstGeom prst="rect">
            <a:avLst/>
          </a:prstGeom>
        </p:spPr>
        <p:txBody>
          <a:bodyPr wrap="square" lIns="0" tIns="0" rIns="0" bIns="0" rtlCol="0" anchor="t">
            <a:spAutoFit/>
          </a:bodyPr>
          <a:lstStyle/>
          <a:p>
            <a:pPr>
              <a:lnSpc>
                <a:spcPts val="2613"/>
              </a:lnSpc>
            </a:pPr>
            <a:r>
              <a:rPr lang="en-US" sz="2400" b="1" dirty="0">
                <a:latin typeface="Poppins" panose="00000500000000000000" pitchFamily="2" charset="0"/>
                <a:ea typeface="Poppins Bold"/>
                <a:cs typeface="Poppins" panose="00000500000000000000" pitchFamily="2" charset="0"/>
                <a:sym typeface="Poppins Bold"/>
              </a:rPr>
              <a:t>3 Individual Cohorts</a:t>
            </a:r>
          </a:p>
          <a:p>
            <a:pPr>
              <a:lnSpc>
                <a:spcPts val="2613"/>
              </a:lnSpc>
            </a:pPr>
            <a:r>
              <a:rPr lang="en-US" sz="2400" b="1" dirty="0">
                <a:latin typeface="Poppins" panose="00000500000000000000" pitchFamily="2" charset="0"/>
                <a:ea typeface="Poppins Bold"/>
                <a:cs typeface="Poppins" panose="00000500000000000000" pitchFamily="2" charset="0"/>
                <a:sym typeface="Poppins Bold"/>
              </a:rPr>
              <a:t>58 Total Participants</a:t>
            </a:r>
          </a:p>
          <a:p>
            <a:pPr marL="285750" indent="-285750">
              <a:lnSpc>
                <a:spcPts val="2613"/>
              </a:lnSpc>
              <a:buFont typeface="Arial" panose="020B0604020202020204" pitchFamily="34" charset="0"/>
              <a:buChar char="•"/>
            </a:pPr>
            <a:r>
              <a:rPr lang="en-US" sz="2200" dirty="0">
                <a:latin typeface="Poppins" panose="00000500000000000000" pitchFamily="2" charset="0"/>
                <a:ea typeface="Poppins Bold"/>
                <a:cs typeface="Poppins" panose="00000500000000000000" pitchFamily="2" charset="0"/>
                <a:sym typeface="Poppins Bold"/>
              </a:rPr>
              <a:t>Lessons were differentiated for youth </a:t>
            </a:r>
          </a:p>
          <a:p>
            <a:pPr marL="285750" indent="-285750">
              <a:lnSpc>
                <a:spcPts val="2613"/>
              </a:lnSpc>
              <a:buFont typeface="Arial" panose="020B0604020202020204" pitchFamily="34" charset="0"/>
              <a:buChar char="•"/>
            </a:pPr>
            <a:r>
              <a:rPr lang="en-US" sz="2200" dirty="0">
                <a:latin typeface="Poppins" panose="00000500000000000000" pitchFamily="2" charset="0"/>
                <a:ea typeface="Poppins Bold"/>
                <a:cs typeface="Poppins" panose="00000500000000000000" pitchFamily="2" charset="0"/>
                <a:sym typeface="Poppins Bold"/>
              </a:rPr>
              <a:t>AI fundamentals and terminology</a:t>
            </a:r>
          </a:p>
          <a:p>
            <a:pPr marL="285750" indent="-285750">
              <a:lnSpc>
                <a:spcPts val="2613"/>
              </a:lnSpc>
              <a:buFont typeface="Arial" panose="020B0604020202020204" pitchFamily="34" charset="0"/>
              <a:buChar char="•"/>
            </a:pPr>
            <a:r>
              <a:rPr lang="en-US" sz="2200" dirty="0">
                <a:latin typeface="Poppins" panose="00000500000000000000" pitchFamily="2" charset="0"/>
                <a:ea typeface="Poppins Bold"/>
                <a:cs typeface="Poppins" panose="00000500000000000000" pitchFamily="2" charset="0"/>
                <a:sym typeface="Poppins Bold"/>
              </a:rPr>
              <a:t>Ethics and responsible use</a:t>
            </a:r>
          </a:p>
          <a:p>
            <a:pPr marL="285750" indent="-285750">
              <a:lnSpc>
                <a:spcPts val="2613"/>
              </a:lnSpc>
              <a:buFont typeface="Arial" panose="020B0604020202020204" pitchFamily="34" charset="0"/>
              <a:buChar char="•"/>
            </a:pPr>
            <a:r>
              <a:rPr lang="en-US" sz="2200" dirty="0">
                <a:latin typeface="Poppins" panose="00000500000000000000" pitchFamily="2" charset="0"/>
                <a:ea typeface="Poppins Bold"/>
                <a:cs typeface="Poppins" panose="00000500000000000000" pitchFamily="2" charset="0"/>
                <a:sym typeface="Poppins Bold"/>
              </a:rPr>
              <a:t>Ages 14 – 18 (up to 21 years if on an IEP)</a:t>
            </a:r>
          </a:p>
          <a:p>
            <a:pPr marL="285750" indent="-285750">
              <a:lnSpc>
                <a:spcPts val="2613"/>
              </a:lnSpc>
              <a:buFont typeface="Arial" panose="020B0604020202020204" pitchFamily="34" charset="0"/>
              <a:buChar char="•"/>
            </a:pPr>
            <a:endParaRPr lang="en-US" dirty="0">
              <a:solidFill>
                <a:srgbClr val="2C3084"/>
              </a:solidFill>
              <a:latin typeface="Poppins" panose="00000500000000000000" pitchFamily="2" charset="0"/>
              <a:ea typeface="Poppins Bold"/>
              <a:cs typeface="Poppins" panose="00000500000000000000" pitchFamily="2" charset="0"/>
              <a:sym typeface="Poppins Bold"/>
            </a:endParaRPr>
          </a:p>
        </p:txBody>
      </p:sp>
      <p:sp>
        <p:nvSpPr>
          <p:cNvPr id="38" name="Freeform 2" descr="image of a brain and computer">
            <a:extLst>
              <a:ext uri="{FF2B5EF4-FFF2-40B4-BE49-F238E27FC236}">
                <a16:creationId xmlns:a16="http://schemas.microsoft.com/office/drawing/2014/main" id="{44AFBBC8-3CF5-6025-2CAB-88D7B3D9C709}"/>
              </a:ext>
            </a:extLst>
          </p:cNvPr>
          <p:cNvSpPr/>
          <p:nvPr/>
        </p:nvSpPr>
        <p:spPr>
          <a:xfrm>
            <a:off x="5562082" y="2113054"/>
            <a:ext cx="1442277" cy="1255981"/>
          </a:xfrm>
          <a:prstGeom prst="roundRect">
            <a:avLst/>
          </a:prstGeom>
          <a:blipFill>
            <a:blip r:embed="rId4"/>
            <a:stretch>
              <a:fillRect/>
            </a:stretch>
          </a:blipFill>
        </p:spPr>
        <p:txBody>
          <a:bodyPr/>
          <a:lstStyle/>
          <a:p>
            <a:endParaRPr lang="en-US"/>
          </a:p>
        </p:txBody>
      </p:sp>
      <p:sp>
        <p:nvSpPr>
          <p:cNvPr id="32" name="TextBox 17">
            <a:extLst>
              <a:ext uri="{FF2B5EF4-FFF2-40B4-BE49-F238E27FC236}">
                <a16:creationId xmlns:a16="http://schemas.microsoft.com/office/drawing/2014/main" id="{3E0FB574-0C72-1766-CBED-750398AAA1EB}"/>
              </a:ext>
            </a:extLst>
          </p:cNvPr>
          <p:cNvSpPr txBox="1"/>
          <p:nvPr/>
        </p:nvSpPr>
        <p:spPr>
          <a:xfrm>
            <a:off x="5585894" y="3451994"/>
            <a:ext cx="1442277" cy="222753"/>
          </a:xfrm>
          <a:prstGeom prst="rect">
            <a:avLst/>
          </a:prstGeom>
        </p:spPr>
        <p:txBody>
          <a:bodyPr wrap="square" lIns="0" tIns="0" rIns="0" bIns="0" rtlCol="0" anchor="t">
            <a:spAutoFit/>
          </a:bodyPr>
          <a:lstStyle/>
          <a:p>
            <a:pPr algn="ctr">
              <a:lnSpc>
                <a:spcPts val="1759"/>
              </a:lnSpc>
              <a:spcBef>
                <a:spcPct val="0"/>
              </a:spcBef>
            </a:pPr>
            <a:r>
              <a:rPr lang="en-US" sz="1466" b="1" dirty="0">
                <a:solidFill>
                  <a:srgbClr val="2C3084"/>
                </a:solidFill>
                <a:latin typeface="Poppins 2 Bold"/>
                <a:ea typeface="Poppins 2 Bold"/>
                <a:cs typeface="Poppins 2 Bold"/>
                <a:sym typeface="Poppins 2 Bold"/>
              </a:rPr>
              <a:t>Machine Learning</a:t>
            </a:r>
          </a:p>
        </p:txBody>
      </p:sp>
      <p:grpSp>
        <p:nvGrpSpPr>
          <p:cNvPr id="17" name="Group 12" descr="image of a brain">
            <a:extLst>
              <a:ext uri="{FF2B5EF4-FFF2-40B4-BE49-F238E27FC236}">
                <a16:creationId xmlns:a16="http://schemas.microsoft.com/office/drawing/2014/main" id="{47A216AA-5DB5-1D94-FF36-E207FF45992E}"/>
              </a:ext>
            </a:extLst>
          </p:cNvPr>
          <p:cNvGrpSpPr/>
          <p:nvPr/>
        </p:nvGrpSpPr>
        <p:grpSpPr>
          <a:xfrm>
            <a:off x="7246622" y="2143803"/>
            <a:ext cx="1209363" cy="1225233"/>
            <a:chOff x="0" y="0"/>
            <a:chExt cx="4165600" cy="5080000"/>
          </a:xfrm>
        </p:grpSpPr>
        <p:sp>
          <p:nvSpPr>
            <p:cNvPr id="18" name="Freeform 13">
              <a:extLst>
                <a:ext uri="{FF2B5EF4-FFF2-40B4-BE49-F238E27FC236}">
                  <a16:creationId xmlns:a16="http://schemas.microsoft.com/office/drawing/2014/main" id="{DB040AAE-F8BD-E327-E314-39D1FB2C981F}"/>
                </a:ext>
              </a:extLst>
            </p:cNvPr>
            <p:cNvSpPr/>
            <p:nvPr/>
          </p:nvSpPr>
          <p:spPr>
            <a:xfrm>
              <a:off x="0" y="0"/>
              <a:ext cx="4165600" cy="5080000"/>
            </a:xfrm>
            <a:custGeom>
              <a:avLst/>
              <a:gdLst/>
              <a:ahLst/>
              <a:cxnLst/>
              <a:rect l="l" t="t" r="r" b="b"/>
              <a:pathLst>
                <a:path w="4165600" h="5080000">
                  <a:moveTo>
                    <a:pt x="416560" y="0"/>
                  </a:moveTo>
                  <a:lnTo>
                    <a:pt x="3749040" y="0"/>
                  </a:lnTo>
                  <a:cubicBezTo>
                    <a:pt x="3979100" y="0"/>
                    <a:pt x="4165600" y="186500"/>
                    <a:pt x="4165600" y="416560"/>
                  </a:cubicBezTo>
                  <a:lnTo>
                    <a:pt x="4165600" y="4663440"/>
                  </a:lnTo>
                  <a:cubicBezTo>
                    <a:pt x="4165600" y="4893500"/>
                    <a:pt x="3979100" y="5080000"/>
                    <a:pt x="3749040" y="5080000"/>
                  </a:cubicBezTo>
                  <a:lnTo>
                    <a:pt x="416560" y="5080000"/>
                  </a:lnTo>
                  <a:cubicBezTo>
                    <a:pt x="186500" y="5080000"/>
                    <a:pt x="0" y="4893500"/>
                    <a:pt x="0" y="4663440"/>
                  </a:cubicBezTo>
                  <a:lnTo>
                    <a:pt x="0" y="416560"/>
                  </a:lnTo>
                  <a:cubicBezTo>
                    <a:pt x="0" y="186500"/>
                    <a:pt x="186500" y="0"/>
                    <a:pt x="416560" y="0"/>
                  </a:cubicBezTo>
                  <a:close/>
                </a:path>
              </a:pathLst>
            </a:custGeom>
            <a:blipFill>
              <a:blip r:embed="rId5"/>
              <a:stretch>
                <a:fillRect/>
              </a:stretch>
            </a:blipFill>
          </p:spPr>
          <p:txBody>
            <a:bodyPr/>
            <a:lstStyle/>
            <a:p>
              <a:endParaRPr lang="en-US"/>
            </a:p>
          </p:txBody>
        </p:sp>
      </p:grpSp>
      <p:sp>
        <p:nvSpPr>
          <p:cNvPr id="12" name="TextBox 11">
            <a:extLst>
              <a:ext uri="{FF2B5EF4-FFF2-40B4-BE49-F238E27FC236}">
                <a16:creationId xmlns:a16="http://schemas.microsoft.com/office/drawing/2014/main" id="{1574200A-B835-9E3A-9A59-983B6AE7E336}"/>
              </a:ext>
            </a:extLst>
          </p:cNvPr>
          <p:cNvSpPr txBox="1"/>
          <p:nvPr/>
        </p:nvSpPr>
        <p:spPr>
          <a:xfrm>
            <a:off x="7130162" y="3450417"/>
            <a:ext cx="1442277" cy="222753"/>
          </a:xfrm>
          <a:prstGeom prst="rect">
            <a:avLst/>
          </a:prstGeom>
        </p:spPr>
        <p:txBody>
          <a:bodyPr wrap="square" lIns="0" tIns="0" rIns="0" bIns="0" rtlCol="0" anchor="t">
            <a:spAutoFit/>
          </a:bodyPr>
          <a:lstStyle/>
          <a:p>
            <a:pPr algn="ctr">
              <a:lnSpc>
                <a:spcPts val="1759"/>
              </a:lnSpc>
              <a:spcBef>
                <a:spcPct val="0"/>
              </a:spcBef>
            </a:pPr>
            <a:r>
              <a:rPr lang="en-US" sz="1466" b="1" dirty="0">
                <a:solidFill>
                  <a:srgbClr val="2C3084"/>
                </a:solidFill>
                <a:latin typeface="Poppins 2 Bold"/>
                <a:ea typeface="Poppins 2 Bold"/>
                <a:cs typeface="Poppins 2 Bold"/>
                <a:sym typeface="Poppins 2 Bold"/>
              </a:rPr>
              <a:t>Deep Learning</a:t>
            </a:r>
          </a:p>
        </p:txBody>
      </p:sp>
      <p:grpSp>
        <p:nvGrpSpPr>
          <p:cNvPr id="15" name="Group 9" descr="Man looking at a cell phone">
            <a:extLst>
              <a:ext uri="{FF2B5EF4-FFF2-40B4-BE49-F238E27FC236}">
                <a16:creationId xmlns:a16="http://schemas.microsoft.com/office/drawing/2014/main" id="{12E009D7-3FCD-C312-A96F-323734A5A93F}"/>
              </a:ext>
            </a:extLst>
          </p:cNvPr>
          <p:cNvGrpSpPr/>
          <p:nvPr/>
        </p:nvGrpSpPr>
        <p:grpSpPr>
          <a:xfrm>
            <a:off x="8708471" y="2133889"/>
            <a:ext cx="1209363" cy="1225233"/>
            <a:chOff x="0" y="0"/>
            <a:chExt cx="4165600" cy="5080000"/>
          </a:xfrm>
        </p:grpSpPr>
        <p:sp>
          <p:nvSpPr>
            <p:cNvPr id="16" name="Freeform 10">
              <a:extLst>
                <a:ext uri="{FF2B5EF4-FFF2-40B4-BE49-F238E27FC236}">
                  <a16:creationId xmlns:a16="http://schemas.microsoft.com/office/drawing/2014/main" id="{BFD8C47B-CF48-5AB5-AAA9-E32E1CEFEF84}"/>
                </a:ext>
              </a:extLst>
            </p:cNvPr>
            <p:cNvSpPr/>
            <p:nvPr/>
          </p:nvSpPr>
          <p:spPr>
            <a:xfrm>
              <a:off x="0" y="0"/>
              <a:ext cx="4165600" cy="5080000"/>
            </a:xfrm>
            <a:custGeom>
              <a:avLst/>
              <a:gdLst/>
              <a:ahLst/>
              <a:cxnLst/>
              <a:rect l="l" t="t" r="r" b="b"/>
              <a:pathLst>
                <a:path w="4165600" h="5080000">
                  <a:moveTo>
                    <a:pt x="416560" y="0"/>
                  </a:moveTo>
                  <a:lnTo>
                    <a:pt x="3749040" y="0"/>
                  </a:lnTo>
                  <a:cubicBezTo>
                    <a:pt x="3979100" y="0"/>
                    <a:pt x="4165600" y="186500"/>
                    <a:pt x="4165600" y="416560"/>
                  </a:cubicBezTo>
                  <a:lnTo>
                    <a:pt x="4165600" y="4663440"/>
                  </a:lnTo>
                  <a:cubicBezTo>
                    <a:pt x="4165600" y="4893500"/>
                    <a:pt x="3979100" y="5080000"/>
                    <a:pt x="3749040" y="5080000"/>
                  </a:cubicBezTo>
                  <a:lnTo>
                    <a:pt x="416560" y="5080000"/>
                  </a:lnTo>
                  <a:cubicBezTo>
                    <a:pt x="186500" y="5080000"/>
                    <a:pt x="0" y="4893500"/>
                    <a:pt x="0" y="4663440"/>
                  </a:cubicBezTo>
                  <a:lnTo>
                    <a:pt x="0" y="416560"/>
                  </a:lnTo>
                  <a:cubicBezTo>
                    <a:pt x="0" y="186500"/>
                    <a:pt x="186500" y="0"/>
                    <a:pt x="416560" y="0"/>
                  </a:cubicBezTo>
                  <a:close/>
                </a:path>
              </a:pathLst>
            </a:custGeom>
            <a:blipFill>
              <a:blip r:embed="rId6"/>
              <a:stretch>
                <a:fillRect/>
              </a:stretch>
            </a:blipFill>
          </p:spPr>
          <p:txBody>
            <a:bodyPr/>
            <a:lstStyle/>
            <a:p>
              <a:endParaRPr lang="en-US"/>
            </a:p>
          </p:txBody>
        </p:sp>
      </p:grpSp>
      <p:sp>
        <p:nvSpPr>
          <p:cNvPr id="10" name="TextBox 8">
            <a:extLst>
              <a:ext uri="{FF2B5EF4-FFF2-40B4-BE49-F238E27FC236}">
                <a16:creationId xmlns:a16="http://schemas.microsoft.com/office/drawing/2014/main" id="{DE39D2D1-45F0-D536-616E-36062B4D603E}"/>
              </a:ext>
            </a:extLst>
          </p:cNvPr>
          <p:cNvSpPr txBox="1"/>
          <p:nvPr/>
        </p:nvSpPr>
        <p:spPr>
          <a:xfrm>
            <a:off x="8586217" y="3450416"/>
            <a:ext cx="1442277" cy="222753"/>
          </a:xfrm>
          <a:prstGeom prst="rect">
            <a:avLst/>
          </a:prstGeom>
        </p:spPr>
        <p:txBody>
          <a:bodyPr wrap="square" lIns="0" tIns="0" rIns="0" bIns="0" rtlCol="0" anchor="t">
            <a:spAutoFit/>
          </a:bodyPr>
          <a:lstStyle/>
          <a:p>
            <a:pPr algn="ctr">
              <a:lnSpc>
                <a:spcPts val="1759"/>
              </a:lnSpc>
              <a:spcBef>
                <a:spcPct val="0"/>
              </a:spcBef>
            </a:pPr>
            <a:r>
              <a:rPr lang="en-US" sz="1466" b="1" dirty="0">
                <a:solidFill>
                  <a:srgbClr val="2C3084"/>
                </a:solidFill>
                <a:latin typeface="Poppins 2 Bold"/>
                <a:ea typeface="Poppins 2 Bold"/>
                <a:cs typeface="Poppins 2 Bold"/>
                <a:sym typeface="Poppins 2 Bold"/>
              </a:rPr>
              <a:t>Generative AI</a:t>
            </a:r>
          </a:p>
        </p:txBody>
      </p:sp>
      <p:grpSp>
        <p:nvGrpSpPr>
          <p:cNvPr id="5" name="Group 6" descr="robot sitting at a desk">
            <a:extLst>
              <a:ext uri="{FF2B5EF4-FFF2-40B4-BE49-F238E27FC236}">
                <a16:creationId xmlns:a16="http://schemas.microsoft.com/office/drawing/2014/main" id="{36199C52-AB29-523A-F5E7-A6454B8DA3E8}"/>
              </a:ext>
            </a:extLst>
          </p:cNvPr>
          <p:cNvGrpSpPr/>
          <p:nvPr/>
        </p:nvGrpSpPr>
        <p:grpSpPr>
          <a:xfrm>
            <a:off x="10203862" y="2128427"/>
            <a:ext cx="1209363" cy="1225233"/>
            <a:chOff x="0" y="0"/>
            <a:chExt cx="4165600" cy="5080000"/>
          </a:xfrm>
        </p:grpSpPr>
        <p:sp>
          <p:nvSpPr>
            <p:cNvPr id="6" name="Freeform 7">
              <a:extLst>
                <a:ext uri="{FF2B5EF4-FFF2-40B4-BE49-F238E27FC236}">
                  <a16:creationId xmlns:a16="http://schemas.microsoft.com/office/drawing/2014/main" id="{C1153D6D-5644-90A8-4252-52A9ECAD8A81}"/>
                </a:ext>
              </a:extLst>
            </p:cNvPr>
            <p:cNvSpPr/>
            <p:nvPr/>
          </p:nvSpPr>
          <p:spPr>
            <a:xfrm>
              <a:off x="0" y="0"/>
              <a:ext cx="4165600" cy="5080000"/>
            </a:xfrm>
            <a:custGeom>
              <a:avLst/>
              <a:gdLst/>
              <a:ahLst/>
              <a:cxnLst/>
              <a:rect l="l" t="t" r="r" b="b"/>
              <a:pathLst>
                <a:path w="4165600" h="5080000">
                  <a:moveTo>
                    <a:pt x="416560" y="0"/>
                  </a:moveTo>
                  <a:lnTo>
                    <a:pt x="3749040" y="0"/>
                  </a:lnTo>
                  <a:cubicBezTo>
                    <a:pt x="3979100" y="0"/>
                    <a:pt x="4165600" y="186500"/>
                    <a:pt x="4165600" y="416560"/>
                  </a:cubicBezTo>
                  <a:lnTo>
                    <a:pt x="4165600" y="4663440"/>
                  </a:lnTo>
                  <a:cubicBezTo>
                    <a:pt x="4165600" y="4893500"/>
                    <a:pt x="3979100" y="5080000"/>
                    <a:pt x="3749040" y="5080000"/>
                  </a:cubicBezTo>
                  <a:lnTo>
                    <a:pt x="416560" y="5080000"/>
                  </a:lnTo>
                  <a:cubicBezTo>
                    <a:pt x="186500" y="5080000"/>
                    <a:pt x="0" y="4893500"/>
                    <a:pt x="0" y="4663440"/>
                  </a:cubicBezTo>
                  <a:lnTo>
                    <a:pt x="0" y="416560"/>
                  </a:lnTo>
                  <a:cubicBezTo>
                    <a:pt x="0" y="186500"/>
                    <a:pt x="186500" y="0"/>
                    <a:pt x="416560" y="0"/>
                  </a:cubicBezTo>
                  <a:close/>
                </a:path>
              </a:pathLst>
            </a:custGeom>
            <a:blipFill>
              <a:blip r:embed="rId7"/>
              <a:stretch>
                <a:fillRect/>
              </a:stretch>
            </a:blipFill>
          </p:spPr>
          <p:txBody>
            <a:bodyPr/>
            <a:lstStyle/>
            <a:p>
              <a:endParaRPr lang="en-US"/>
            </a:p>
          </p:txBody>
        </p:sp>
      </p:grpSp>
      <p:sp>
        <p:nvSpPr>
          <p:cNvPr id="4" name="TextBox 5">
            <a:extLst>
              <a:ext uri="{FF2B5EF4-FFF2-40B4-BE49-F238E27FC236}">
                <a16:creationId xmlns:a16="http://schemas.microsoft.com/office/drawing/2014/main" id="{3AACA45C-E5FC-B9BF-BDBA-03CA72EE7592}"/>
              </a:ext>
            </a:extLst>
          </p:cNvPr>
          <p:cNvSpPr txBox="1"/>
          <p:nvPr/>
        </p:nvSpPr>
        <p:spPr>
          <a:xfrm>
            <a:off x="10274300" y="3448426"/>
            <a:ext cx="1095950" cy="222753"/>
          </a:xfrm>
          <a:prstGeom prst="rect">
            <a:avLst/>
          </a:prstGeom>
        </p:spPr>
        <p:txBody>
          <a:bodyPr wrap="square" lIns="0" tIns="0" rIns="0" bIns="0" rtlCol="0" anchor="t">
            <a:spAutoFit/>
          </a:bodyPr>
          <a:lstStyle/>
          <a:p>
            <a:pPr algn="ctr">
              <a:lnSpc>
                <a:spcPts val="1759"/>
              </a:lnSpc>
              <a:spcBef>
                <a:spcPct val="0"/>
              </a:spcBef>
            </a:pPr>
            <a:r>
              <a:rPr lang="en-US" sz="1466" b="1" dirty="0">
                <a:solidFill>
                  <a:srgbClr val="2B2F83"/>
                </a:solidFill>
                <a:latin typeface="Poppins 2 Bold"/>
                <a:ea typeface="Poppins 2 Bold"/>
                <a:cs typeface="Poppins 2 Bold"/>
                <a:sym typeface="Poppins 2 Bold"/>
              </a:rPr>
              <a:t>Agentic AI</a:t>
            </a:r>
          </a:p>
        </p:txBody>
      </p:sp>
      <p:sp>
        <p:nvSpPr>
          <p:cNvPr id="40" name="Freeform 3" descr="image of a laptop and a robots hand">
            <a:extLst>
              <a:ext uri="{FF2B5EF4-FFF2-40B4-BE49-F238E27FC236}">
                <a16:creationId xmlns:a16="http://schemas.microsoft.com/office/drawing/2014/main" id="{17DA9A89-D078-89A7-0D59-DD14407F0112}"/>
              </a:ext>
            </a:extLst>
          </p:cNvPr>
          <p:cNvSpPr/>
          <p:nvPr/>
        </p:nvSpPr>
        <p:spPr>
          <a:xfrm>
            <a:off x="5562082" y="3972722"/>
            <a:ext cx="1547445" cy="1250364"/>
          </a:xfrm>
          <a:prstGeom prst="roundRect">
            <a:avLst/>
          </a:prstGeom>
          <a:blipFill>
            <a:blip r:embed="rId8"/>
            <a:stretch>
              <a:fillRect/>
            </a:stretch>
          </a:blipFill>
        </p:spPr>
        <p:txBody>
          <a:bodyPr/>
          <a:lstStyle/>
          <a:p>
            <a:endParaRPr lang="en-US"/>
          </a:p>
        </p:txBody>
      </p:sp>
      <p:sp>
        <p:nvSpPr>
          <p:cNvPr id="37" name="TextBox 17">
            <a:extLst>
              <a:ext uri="{FF2B5EF4-FFF2-40B4-BE49-F238E27FC236}">
                <a16:creationId xmlns:a16="http://schemas.microsoft.com/office/drawing/2014/main" id="{3F13FE94-A92C-9015-0C7B-8DAF7BA71753}"/>
              </a:ext>
            </a:extLst>
          </p:cNvPr>
          <p:cNvSpPr txBox="1"/>
          <p:nvPr/>
        </p:nvSpPr>
        <p:spPr>
          <a:xfrm>
            <a:off x="5614665" y="5325450"/>
            <a:ext cx="1442277" cy="222753"/>
          </a:xfrm>
          <a:prstGeom prst="rect">
            <a:avLst/>
          </a:prstGeom>
        </p:spPr>
        <p:txBody>
          <a:bodyPr wrap="square" lIns="0" tIns="0" rIns="0" bIns="0" rtlCol="0" anchor="t">
            <a:spAutoFit/>
          </a:bodyPr>
          <a:lstStyle/>
          <a:p>
            <a:pPr algn="ctr">
              <a:lnSpc>
                <a:spcPts val="1759"/>
              </a:lnSpc>
              <a:spcBef>
                <a:spcPct val="0"/>
              </a:spcBef>
            </a:pPr>
            <a:r>
              <a:rPr lang="en-US" sz="1466" b="1" dirty="0">
                <a:solidFill>
                  <a:srgbClr val="2B2F83"/>
                </a:solidFill>
                <a:latin typeface="Poppins 2 Bold"/>
                <a:ea typeface="Poppins 2 Bold"/>
                <a:cs typeface="Poppins 2 Bold"/>
                <a:sym typeface="Poppins 2 Bold"/>
              </a:rPr>
              <a:t>Benefits </a:t>
            </a:r>
          </a:p>
        </p:txBody>
      </p:sp>
      <p:sp>
        <p:nvSpPr>
          <p:cNvPr id="39" name="Freeform 4" descr="image of a woman">
            <a:extLst>
              <a:ext uri="{FF2B5EF4-FFF2-40B4-BE49-F238E27FC236}">
                <a16:creationId xmlns:a16="http://schemas.microsoft.com/office/drawing/2014/main" id="{3CF1F9A1-6B28-C06E-98DC-9E42F298DA8F}"/>
              </a:ext>
            </a:extLst>
          </p:cNvPr>
          <p:cNvSpPr/>
          <p:nvPr/>
        </p:nvSpPr>
        <p:spPr>
          <a:xfrm>
            <a:off x="7246622" y="3977306"/>
            <a:ext cx="1325818" cy="1250364"/>
          </a:xfrm>
          <a:prstGeom prst="roundRect">
            <a:avLst/>
          </a:prstGeom>
          <a:blipFill>
            <a:blip r:embed="rId9"/>
            <a:stretch>
              <a:fillRect/>
            </a:stretch>
          </a:blipFill>
        </p:spPr>
        <p:txBody>
          <a:bodyPr/>
          <a:lstStyle/>
          <a:p>
            <a:endParaRPr lang="en-US"/>
          </a:p>
        </p:txBody>
      </p:sp>
      <p:sp>
        <p:nvSpPr>
          <p:cNvPr id="31" name="TextBox 17">
            <a:extLst>
              <a:ext uri="{FF2B5EF4-FFF2-40B4-BE49-F238E27FC236}">
                <a16:creationId xmlns:a16="http://schemas.microsoft.com/office/drawing/2014/main" id="{9301F6BE-343A-3775-9CF1-3581B134264A}"/>
              </a:ext>
            </a:extLst>
          </p:cNvPr>
          <p:cNvSpPr txBox="1"/>
          <p:nvPr/>
        </p:nvSpPr>
        <p:spPr>
          <a:xfrm>
            <a:off x="7388027" y="5323835"/>
            <a:ext cx="1184412" cy="222753"/>
          </a:xfrm>
          <a:prstGeom prst="rect">
            <a:avLst/>
          </a:prstGeom>
        </p:spPr>
        <p:txBody>
          <a:bodyPr wrap="square" lIns="0" tIns="0" rIns="0" bIns="0" rtlCol="0" anchor="t">
            <a:spAutoFit/>
          </a:bodyPr>
          <a:lstStyle/>
          <a:p>
            <a:pPr algn="ctr">
              <a:lnSpc>
                <a:spcPts val="1759"/>
              </a:lnSpc>
              <a:spcBef>
                <a:spcPct val="0"/>
              </a:spcBef>
            </a:pPr>
            <a:r>
              <a:rPr lang="en-US" sz="1466" b="1" dirty="0">
                <a:solidFill>
                  <a:srgbClr val="2B2F83"/>
                </a:solidFill>
                <a:latin typeface="Poppins 2 Bold"/>
                <a:ea typeface="Poppins 2 Bold"/>
                <a:cs typeface="Poppins 2 Bold"/>
                <a:sym typeface="Poppins 2 Bold"/>
              </a:rPr>
              <a:t>Challenges </a:t>
            </a:r>
          </a:p>
        </p:txBody>
      </p:sp>
      <p:sp>
        <p:nvSpPr>
          <p:cNvPr id="41" name="Freeform 5" descr="image of a man sitting in front of a computer and typing">
            <a:extLst>
              <a:ext uri="{FF2B5EF4-FFF2-40B4-BE49-F238E27FC236}">
                <a16:creationId xmlns:a16="http://schemas.microsoft.com/office/drawing/2014/main" id="{26E1FD81-2953-DE52-C52B-C73A872F16C7}"/>
              </a:ext>
            </a:extLst>
          </p:cNvPr>
          <p:cNvSpPr/>
          <p:nvPr/>
        </p:nvSpPr>
        <p:spPr>
          <a:xfrm>
            <a:off x="8688897" y="3972722"/>
            <a:ext cx="1442277" cy="1250364"/>
          </a:xfrm>
          <a:prstGeom prst="roundRect">
            <a:avLst/>
          </a:prstGeom>
          <a:blipFill>
            <a:blip r:embed="rId10"/>
            <a:stretch>
              <a:fillRect/>
            </a:stretch>
          </a:blipFill>
        </p:spPr>
        <p:txBody>
          <a:bodyPr/>
          <a:lstStyle/>
          <a:p>
            <a:endParaRPr lang="en-US"/>
          </a:p>
        </p:txBody>
      </p:sp>
      <p:sp>
        <p:nvSpPr>
          <p:cNvPr id="27" name="TextBox 17">
            <a:extLst>
              <a:ext uri="{FF2B5EF4-FFF2-40B4-BE49-F238E27FC236}">
                <a16:creationId xmlns:a16="http://schemas.microsoft.com/office/drawing/2014/main" id="{F7538B53-E7E3-B971-D367-6E3FCD0AB39A}"/>
              </a:ext>
            </a:extLst>
          </p:cNvPr>
          <p:cNvSpPr txBox="1"/>
          <p:nvPr/>
        </p:nvSpPr>
        <p:spPr>
          <a:xfrm>
            <a:off x="8688896" y="5314254"/>
            <a:ext cx="1442277" cy="453586"/>
          </a:xfrm>
          <a:prstGeom prst="rect">
            <a:avLst/>
          </a:prstGeom>
        </p:spPr>
        <p:txBody>
          <a:bodyPr wrap="square" lIns="0" tIns="0" rIns="0" bIns="0" rtlCol="0" anchor="t">
            <a:spAutoFit/>
          </a:bodyPr>
          <a:lstStyle/>
          <a:p>
            <a:pPr algn="ctr">
              <a:lnSpc>
                <a:spcPts val="1759"/>
              </a:lnSpc>
              <a:spcBef>
                <a:spcPct val="0"/>
              </a:spcBef>
            </a:pPr>
            <a:r>
              <a:rPr lang="en-US" sz="1466" b="1" dirty="0">
                <a:solidFill>
                  <a:srgbClr val="2B2F83"/>
                </a:solidFill>
                <a:latin typeface="Poppins 2 Bold"/>
                <a:ea typeface="Poppins 2 Bold"/>
                <a:cs typeface="Poppins 2 Bold"/>
                <a:sym typeface="Poppins 2 Bold"/>
              </a:rPr>
              <a:t>Ethics</a:t>
            </a:r>
          </a:p>
          <a:p>
            <a:pPr algn="ctr">
              <a:lnSpc>
                <a:spcPts val="1759"/>
              </a:lnSpc>
              <a:spcBef>
                <a:spcPct val="0"/>
              </a:spcBef>
            </a:pPr>
            <a:r>
              <a:rPr lang="en-US" sz="1466" b="1" dirty="0">
                <a:solidFill>
                  <a:srgbClr val="2B2F83"/>
                </a:solidFill>
                <a:latin typeface="Poppins 2 Bold"/>
                <a:ea typeface="Poppins 2 Bold"/>
                <a:cs typeface="Poppins 2 Bold"/>
                <a:sym typeface="Poppins 2 Bold"/>
              </a:rPr>
              <a:t> and Safety </a:t>
            </a:r>
          </a:p>
        </p:txBody>
      </p:sp>
      <p:grpSp>
        <p:nvGrpSpPr>
          <p:cNvPr id="28" name="Group 18" descr="man sitting at a desk in front of a computer">
            <a:extLst>
              <a:ext uri="{FF2B5EF4-FFF2-40B4-BE49-F238E27FC236}">
                <a16:creationId xmlns:a16="http://schemas.microsoft.com/office/drawing/2014/main" id="{DB241C5C-5188-A689-C908-D783F13C1FF9}"/>
              </a:ext>
            </a:extLst>
          </p:cNvPr>
          <p:cNvGrpSpPr/>
          <p:nvPr/>
        </p:nvGrpSpPr>
        <p:grpSpPr>
          <a:xfrm>
            <a:off x="10247631" y="3972722"/>
            <a:ext cx="1209363" cy="1250364"/>
            <a:chOff x="0" y="0"/>
            <a:chExt cx="4165600" cy="5080000"/>
          </a:xfrm>
        </p:grpSpPr>
        <p:sp>
          <p:nvSpPr>
            <p:cNvPr id="29" name="Freeform 19">
              <a:extLst>
                <a:ext uri="{FF2B5EF4-FFF2-40B4-BE49-F238E27FC236}">
                  <a16:creationId xmlns:a16="http://schemas.microsoft.com/office/drawing/2014/main" id="{40A7BF40-FFDD-8427-3BE6-CBC3C013C7B7}"/>
                </a:ext>
              </a:extLst>
            </p:cNvPr>
            <p:cNvSpPr/>
            <p:nvPr/>
          </p:nvSpPr>
          <p:spPr>
            <a:xfrm>
              <a:off x="0" y="0"/>
              <a:ext cx="4165600" cy="5080000"/>
            </a:xfrm>
            <a:custGeom>
              <a:avLst/>
              <a:gdLst/>
              <a:ahLst/>
              <a:cxnLst/>
              <a:rect l="l" t="t" r="r" b="b"/>
              <a:pathLst>
                <a:path w="4165600" h="5080000">
                  <a:moveTo>
                    <a:pt x="416560" y="0"/>
                  </a:moveTo>
                  <a:lnTo>
                    <a:pt x="3749040" y="0"/>
                  </a:lnTo>
                  <a:cubicBezTo>
                    <a:pt x="3979100" y="0"/>
                    <a:pt x="4165600" y="186500"/>
                    <a:pt x="4165600" y="416560"/>
                  </a:cubicBezTo>
                  <a:lnTo>
                    <a:pt x="4165600" y="4663440"/>
                  </a:lnTo>
                  <a:cubicBezTo>
                    <a:pt x="4165600" y="4893500"/>
                    <a:pt x="3979100" y="5080000"/>
                    <a:pt x="3749040" y="5080000"/>
                  </a:cubicBezTo>
                  <a:lnTo>
                    <a:pt x="416560" y="5080000"/>
                  </a:lnTo>
                  <a:cubicBezTo>
                    <a:pt x="186500" y="5080000"/>
                    <a:pt x="0" y="4893500"/>
                    <a:pt x="0" y="4663440"/>
                  </a:cubicBezTo>
                  <a:lnTo>
                    <a:pt x="0" y="416560"/>
                  </a:lnTo>
                  <a:cubicBezTo>
                    <a:pt x="0" y="186500"/>
                    <a:pt x="186500" y="0"/>
                    <a:pt x="416560" y="0"/>
                  </a:cubicBezTo>
                  <a:close/>
                </a:path>
              </a:pathLst>
            </a:custGeom>
            <a:blipFill>
              <a:blip r:embed="rId11"/>
              <a:stretch>
                <a:fillRect/>
              </a:stretch>
            </a:blipFill>
          </p:spPr>
          <p:txBody>
            <a:bodyPr/>
            <a:lstStyle/>
            <a:p>
              <a:endParaRPr lang="en-US"/>
            </a:p>
          </p:txBody>
        </p:sp>
      </p:grpSp>
      <p:sp>
        <p:nvSpPr>
          <p:cNvPr id="30" name="TextBox 17">
            <a:extLst>
              <a:ext uri="{FF2B5EF4-FFF2-40B4-BE49-F238E27FC236}">
                <a16:creationId xmlns:a16="http://schemas.microsoft.com/office/drawing/2014/main" id="{54381B46-0D9B-FF2F-F82A-D54BD962BD9F}"/>
              </a:ext>
            </a:extLst>
          </p:cNvPr>
          <p:cNvSpPr txBox="1"/>
          <p:nvPr/>
        </p:nvSpPr>
        <p:spPr>
          <a:xfrm>
            <a:off x="10087406" y="5323835"/>
            <a:ext cx="1442277" cy="222753"/>
          </a:xfrm>
          <a:prstGeom prst="rect">
            <a:avLst/>
          </a:prstGeom>
        </p:spPr>
        <p:txBody>
          <a:bodyPr wrap="square" lIns="0" tIns="0" rIns="0" bIns="0" rtlCol="0" anchor="t">
            <a:spAutoFit/>
          </a:bodyPr>
          <a:lstStyle/>
          <a:p>
            <a:pPr algn="ctr">
              <a:lnSpc>
                <a:spcPts val="1759"/>
              </a:lnSpc>
              <a:spcBef>
                <a:spcPct val="0"/>
              </a:spcBef>
            </a:pPr>
            <a:r>
              <a:rPr lang="en-US" sz="1466" b="1" dirty="0">
                <a:solidFill>
                  <a:srgbClr val="2C3084"/>
                </a:solidFill>
                <a:latin typeface="Poppins 2 Bold"/>
                <a:ea typeface="Poppins 2 Bold"/>
                <a:cs typeface="Poppins 2 Bold"/>
                <a:sym typeface="Poppins 2 Bold"/>
              </a:rPr>
              <a:t>Use Cases</a:t>
            </a:r>
          </a:p>
        </p:txBody>
      </p:sp>
      <p:pic>
        <p:nvPicPr>
          <p:cNvPr id="7" name="Picture 6">
            <a:extLst>
              <a:ext uri="{FF2B5EF4-FFF2-40B4-BE49-F238E27FC236}">
                <a16:creationId xmlns:a16="http://schemas.microsoft.com/office/drawing/2014/main" id="{525FDA7E-F6FF-F3F7-CE23-AB9190B22A50}"/>
              </a:ext>
              <a:ext uri="{C183D7F6-B498-43B3-948B-1728B52AA6E4}">
                <adec:decorative xmlns:adec="http://schemas.microsoft.com/office/drawing/2017/decorative" val="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21492-30E0-761E-A2DD-BD2CDA551A3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878B3EC-27AA-0058-FF85-A9B2CD246917}"/>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8" name="TextBox 8">
            <a:extLst>
              <a:ext uri="{FF2B5EF4-FFF2-40B4-BE49-F238E27FC236}">
                <a16:creationId xmlns:a16="http://schemas.microsoft.com/office/drawing/2014/main" id="{9D90793D-445F-506B-9C2F-99E2C5D3617D}"/>
              </a:ext>
            </a:extLst>
          </p:cNvPr>
          <p:cNvSpPr txBox="1">
            <a:spLocks noGrp="1"/>
          </p:cNvSpPr>
          <p:nvPr>
            <p:ph type="title" idx="4294967295"/>
          </p:nvPr>
        </p:nvSpPr>
        <p:spPr>
          <a:xfrm>
            <a:off x="330409" y="448035"/>
            <a:ext cx="10651954" cy="59580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457200" rtl="0" eaLnBrk="1" fontAlgn="auto" latinLnBrk="0" hangingPunct="1">
              <a:lnSpc>
                <a:spcPts val="4980"/>
              </a:lnSpc>
              <a:spcBef>
                <a:spcPts val="0"/>
              </a:spcBef>
              <a:spcAft>
                <a:spcPts val="0"/>
              </a:spcAft>
              <a:buClrTx/>
              <a:buSzTx/>
              <a:buFontTx/>
              <a:buNone/>
              <a:tabLst/>
              <a:defRPr/>
            </a:pPr>
            <a:r>
              <a:rPr kumimoji="0" lang="en-US" sz="3200" b="0" i="0" u="none" strike="noStrike" kern="1200" cap="none" spc="-211" normalizeH="0" baseline="0" noProof="0" dirty="0">
                <a:ln>
                  <a:noFill/>
                </a:ln>
                <a:solidFill>
                  <a:srgbClr val="2C3084"/>
                </a:solidFill>
                <a:effectLst/>
                <a:uLnTx/>
                <a:uFillTx/>
                <a:latin typeface="Poppins" panose="00000500000000000000" pitchFamily="2" charset="0"/>
                <a:ea typeface="Mont Bold"/>
                <a:cs typeface="Poppins" panose="00000500000000000000" pitchFamily="2" charset="0"/>
                <a:sym typeface="Mont Bold"/>
              </a:rPr>
              <a:t>What’s Next?</a:t>
            </a:r>
          </a:p>
        </p:txBody>
      </p:sp>
      <p:sp>
        <p:nvSpPr>
          <p:cNvPr id="2" name="TextBox 11">
            <a:extLst>
              <a:ext uri="{FF2B5EF4-FFF2-40B4-BE49-F238E27FC236}">
                <a16:creationId xmlns:a16="http://schemas.microsoft.com/office/drawing/2014/main" id="{CF7B56C6-F7A7-FECA-EE49-888D03FBB04D}"/>
              </a:ext>
            </a:extLst>
          </p:cNvPr>
          <p:cNvSpPr txBox="1"/>
          <p:nvPr/>
        </p:nvSpPr>
        <p:spPr>
          <a:xfrm>
            <a:off x="330409" y="1600940"/>
            <a:ext cx="6278445" cy="1668534"/>
          </a:xfrm>
          <a:prstGeom prst="rect">
            <a:avLst/>
          </a:prstGeom>
        </p:spPr>
        <p:txBody>
          <a:bodyPr wrap="square" lIns="0" tIns="0" rIns="0" bIns="0" rtlCol="0" anchor="t">
            <a:spAutoFit/>
          </a:bodyPr>
          <a:lstStyle/>
          <a:p>
            <a:pPr marL="171450" indent="-171450">
              <a:buFont typeface="Arial" panose="020B0604020202020204" pitchFamily="34" charset="0"/>
              <a:buChar char="•"/>
            </a:pPr>
            <a:r>
              <a:rPr lang="en-US" b="1" dirty="0">
                <a:latin typeface="Poppins"/>
                <a:ea typeface="Poppins"/>
                <a:cs typeface="Poppins"/>
                <a:sym typeface="Poppins Bold"/>
              </a:rPr>
              <a:t>Cohort III: </a:t>
            </a:r>
            <a:r>
              <a:rPr lang="en-US" dirty="0">
                <a:latin typeface="Poppins" panose="00000500000000000000" pitchFamily="2" charset="0"/>
                <a:cs typeface="Poppins" panose="00000500000000000000" pitchFamily="2" charset="0"/>
                <a:sym typeface="Poppins Bold"/>
              </a:rPr>
              <a:t>Municipalities, e</a:t>
            </a:r>
            <a:r>
              <a:rPr lang="en-US" dirty="0">
                <a:latin typeface="Poppins" panose="00000500000000000000" pitchFamily="2" charset="0"/>
                <a:cs typeface="Poppins" panose="00000500000000000000" pitchFamily="2" charset="0"/>
              </a:rPr>
              <a:t>mployers, businesses &amp; industry associations, governmental units, contractors, partner agencies, and academia</a:t>
            </a:r>
            <a:r>
              <a:rPr lang="en-US" b="1" dirty="0">
                <a:latin typeface="Poppins"/>
                <a:cs typeface="Poppins"/>
              </a:rPr>
              <a:t>	</a:t>
            </a:r>
            <a:r>
              <a:rPr lang="en-US" dirty="0">
                <a:latin typeface="Poppins"/>
                <a:ea typeface="Poppins"/>
                <a:cs typeface="Poppins"/>
                <a:sym typeface="Poppins Bold"/>
              </a:rPr>
              <a:t> </a:t>
            </a:r>
          </a:p>
          <a:p>
            <a:pPr marL="171450" indent="-171450">
              <a:spcBef>
                <a:spcPts val="600"/>
              </a:spcBef>
              <a:buFont typeface="Arial" panose="020B0604020202020204" pitchFamily="34" charset="0"/>
              <a:buChar char="•"/>
            </a:pPr>
            <a:r>
              <a:rPr lang="en-US" b="1" dirty="0">
                <a:latin typeface="Poppins"/>
                <a:ea typeface="Poppins"/>
                <a:cs typeface="Poppins"/>
                <a:sym typeface="Poppins Bold"/>
              </a:rPr>
              <a:t>Cohort IV and beyond: </a:t>
            </a:r>
            <a:r>
              <a:rPr lang="en-US" dirty="0">
                <a:latin typeface="Poppins"/>
                <a:ea typeface="Poppins"/>
                <a:cs typeface="Poppins"/>
                <a:sym typeface="Poppins Bold"/>
              </a:rPr>
              <a:t>WIOA-enrolled customers and Job seekers (recurring cohorts)</a:t>
            </a:r>
            <a:endParaRPr lang="en-US" dirty="0">
              <a:latin typeface="Poppins"/>
              <a:ea typeface="Poppins"/>
              <a:cs typeface="Poppins"/>
            </a:endParaRPr>
          </a:p>
          <a:p>
            <a:pPr>
              <a:lnSpc>
                <a:spcPts val="1680"/>
              </a:lnSpc>
            </a:pPr>
            <a:endParaRPr lang="en-US" sz="1200" dirty="0">
              <a:latin typeface="Poppins" panose="00000500000000000000" pitchFamily="2" charset="0"/>
              <a:ea typeface="Poppins"/>
              <a:cs typeface="Poppins" panose="00000500000000000000" pitchFamily="2" charset="0"/>
              <a:sym typeface="Poppins"/>
            </a:endParaRPr>
          </a:p>
        </p:txBody>
      </p:sp>
      <p:sp>
        <p:nvSpPr>
          <p:cNvPr id="3" name="TextBox 11">
            <a:extLst>
              <a:ext uri="{FF2B5EF4-FFF2-40B4-BE49-F238E27FC236}">
                <a16:creationId xmlns:a16="http://schemas.microsoft.com/office/drawing/2014/main" id="{D93A338A-5662-75A2-049D-4B953107A233}"/>
              </a:ext>
            </a:extLst>
          </p:cNvPr>
          <p:cNvSpPr txBox="1"/>
          <p:nvPr/>
        </p:nvSpPr>
        <p:spPr>
          <a:xfrm>
            <a:off x="330409" y="3790124"/>
            <a:ext cx="6161831" cy="2304605"/>
          </a:xfrm>
          <a:prstGeom prst="rect">
            <a:avLst/>
          </a:prstGeom>
        </p:spPr>
        <p:txBody>
          <a:bodyPr wrap="square" lIns="0" tIns="0" rIns="0" bIns="0" rtlCol="0" anchor="t">
            <a:spAutoFit/>
          </a:bodyPr>
          <a:lstStyle/>
          <a:p>
            <a:r>
              <a:rPr lang="en-US" b="1">
                <a:latin typeface="Poppins" panose="00000500000000000000" pitchFamily="2" charset="0"/>
                <a:ea typeface="Poppins"/>
                <a:cs typeface="Poppins" panose="00000500000000000000" pitchFamily="2" charset="0"/>
                <a:sym typeface="Poppins Bold"/>
              </a:rPr>
              <a:t>Business Consultation Sessions: </a:t>
            </a:r>
            <a:r>
              <a:rPr lang="en-US">
                <a:latin typeface="Poppins" panose="00000500000000000000" pitchFamily="2" charset="0"/>
                <a:ea typeface="Poppins"/>
                <a:cs typeface="Poppins" panose="00000500000000000000" pitchFamily="2" charset="0"/>
                <a:sym typeface="Poppins Bold"/>
              </a:rPr>
              <a:t>5</a:t>
            </a:r>
          </a:p>
          <a:p>
            <a:pPr marL="285750" indent="-285750">
              <a:buFont typeface="Arial" panose="020B0604020202020204" pitchFamily="34" charset="0"/>
              <a:buChar char="•"/>
            </a:pPr>
            <a:r>
              <a:rPr lang="en-US">
                <a:latin typeface="Poppins" panose="00000500000000000000" pitchFamily="2" charset="0"/>
                <a:ea typeface="Poppins"/>
                <a:cs typeface="Poppins" panose="00000500000000000000" pitchFamily="2" charset="0"/>
                <a:sym typeface="Poppins Bold"/>
              </a:rPr>
              <a:t>Learn about trends and use cases specific to their industry</a:t>
            </a:r>
          </a:p>
          <a:p>
            <a:pPr marL="285750" indent="-285750">
              <a:buFont typeface="Arial" panose="020B0604020202020204" pitchFamily="34" charset="0"/>
              <a:buChar char="•"/>
            </a:pPr>
            <a:r>
              <a:rPr lang="en-US">
                <a:latin typeface="Poppins" panose="00000500000000000000" pitchFamily="2" charset="0"/>
                <a:ea typeface="Poppins"/>
                <a:cs typeface="Poppins" panose="00000500000000000000" pitchFamily="2" charset="0"/>
                <a:sym typeface="Poppins Bold"/>
              </a:rPr>
              <a:t>Understand the skill needs of employers in an AI Era</a:t>
            </a:r>
          </a:p>
          <a:p>
            <a:pPr marL="285750" indent="-285750">
              <a:buFont typeface="Arial" panose="020B0604020202020204" pitchFamily="34" charset="0"/>
              <a:buChar char="•"/>
            </a:pPr>
            <a:r>
              <a:rPr lang="en-US">
                <a:latin typeface="Poppins" panose="00000500000000000000" pitchFamily="2" charset="0"/>
                <a:ea typeface="Poppins"/>
                <a:cs typeface="Poppins" panose="00000500000000000000" pitchFamily="2" charset="0"/>
                <a:sym typeface="Poppins Bold"/>
              </a:rPr>
              <a:t>Discuss strategies to help local business navigate AI adoption</a:t>
            </a:r>
          </a:p>
          <a:p>
            <a:pPr marL="285750" indent="-285750">
              <a:lnSpc>
                <a:spcPts val="1680"/>
              </a:lnSpc>
              <a:buFont typeface="Arial" panose="020B0604020202020204" pitchFamily="34" charset="0"/>
              <a:buChar char="•"/>
            </a:pPr>
            <a:endParaRPr lang="en-US">
              <a:latin typeface="Poppins" panose="00000500000000000000" pitchFamily="2" charset="0"/>
              <a:ea typeface="Poppins"/>
              <a:cs typeface="Poppins" panose="00000500000000000000" pitchFamily="2" charset="0"/>
              <a:sym typeface="Poppins Bold"/>
            </a:endParaRPr>
          </a:p>
          <a:p>
            <a:pPr marL="285750" indent="-285750">
              <a:lnSpc>
                <a:spcPts val="1680"/>
              </a:lnSpc>
              <a:buFont typeface="Arial" panose="020B0604020202020204" pitchFamily="34" charset="0"/>
              <a:buChar char="•"/>
            </a:pPr>
            <a:endParaRPr lang="en-US">
              <a:latin typeface="Poppins" panose="00000500000000000000" pitchFamily="2" charset="0"/>
              <a:ea typeface="Poppins"/>
              <a:cs typeface="Poppins" panose="00000500000000000000" pitchFamily="2" charset="0"/>
              <a:sym typeface="Poppins Bold"/>
            </a:endParaRPr>
          </a:p>
          <a:p>
            <a:pPr>
              <a:lnSpc>
                <a:spcPts val="1680"/>
              </a:lnSpc>
            </a:pPr>
            <a:endParaRPr lang="en-US" sz="1200">
              <a:latin typeface="Poppins" panose="00000500000000000000" pitchFamily="2" charset="0"/>
              <a:ea typeface="Poppins"/>
              <a:cs typeface="Poppins" panose="00000500000000000000" pitchFamily="2" charset="0"/>
              <a:sym typeface="Poppins"/>
            </a:endParaRPr>
          </a:p>
        </p:txBody>
      </p:sp>
      <p:pic>
        <p:nvPicPr>
          <p:cNvPr id="5" name="Picture 4" descr="A person giving a presentation">
            <a:extLst>
              <a:ext uri="{FF2B5EF4-FFF2-40B4-BE49-F238E27FC236}">
                <a16:creationId xmlns:a16="http://schemas.microsoft.com/office/drawing/2014/main" id="{E8723771-ED33-3ACF-8699-302C9AF79A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99619" y="1895256"/>
            <a:ext cx="4483390" cy="3362543"/>
          </a:xfrm>
          <a:prstGeom prst="rect">
            <a:avLst/>
          </a:prstGeom>
        </p:spPr>
      </p:pic>
      <p:pic>
        <p:nvPicPr>
          <p:cNvPr id="6" name="Picture 5">
            <a:extLst>
              <a:ext uri="{FF2B5EF4-FFF2-40B4-BE49-F238E27FC236}">
                <a16:creationId xmlns:a16="http://schemas.microsoft.com/office/drawing/2014/main" id="{BA46E558-F24F-9E46-1FEF-EC4FB6A3E83F}"/>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Tree>
    <p:extLst>
      <p:ext uri="{BB962C8B-B14F-4D97-AF65-F5344CB8AC3E}">
        <p14:creationId xmlns:p14="http://schemas.microsoft.com/office/powerpoint/2010/main" val="2727432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F2355-BA2B-DC9D-3948-5543CA8750AD}"/>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C193BD7B-80E7-4DD1-3A6C-784D3944A8C4}"/>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7" name="Title 6">
            <a:extLst>
              <a:ext uri="{FF2B5EF4-FFF2-40B4-BE49-F238E27FC236}">
                <a16:creationId xmlns:a16="http://schemas.microsoft.com/office/drawing/2014/main" id="{6CDEE502-5BA8-B214-8FBE-7307EECF6515}"/>
              </a:ext>
            </a:extLst>
          </p:cNvPr>
          <p:cNvSpPr txBox="1">
            <a:spLocks noGrp="1"/>
          </p:cNvSpPr>
          <p:nvPr>
            <p:ph type="title" idx="4294967295"/>
          </p:nvPr>
        </p:nvSpPr>
        <p:spPr>
          <a:xfrm>
            <a:off x="654014" y="1905141"/>
            <a:ext cx="10883972" cy="17543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5400" b="1" dirty="0">
                <a:solidFill>
                  <a:srgbClr val="044692"/>
                </a:solidFill>
                <a:latin typeface="Poppins"/>
                <a:ea typeface="+mn-ea"/>
                <a:cs typeface="Poppins"/>
              </a:rPr>
              <a:t>Building Digital Literacy in Partnership </a:t>
            </a:r>
            <a:endParaRPr kumimoji="0" lang="en-US" sz="5400" b="0" i="0" u="none" strike="noStrike" kern="1200" cap="none" spc="0" normalizeH="0" baseline="0" noProof="0" dirty="0">
              <a:ln>
                <a:noFill/>
              </a:ln>
              <a:solidFill>
                <a:schemeClr val="tx1"/>
              </a:solidFill>
              <a:effectLst/>
              <a:uLnTx/>
              <a:uFillTx/>
              <a:latin typeface="+mn-lt"/>
              <a:ea typeface="+mn-ea"/>
              <a:cs typeface="+mn-cs"/>
            </a:endParaRPr>
          </a:p>
        </p:txBody>
      </p:sp>
      <p:pic>
        <p:nvPicPr>
          <p:cNvPr id="18" name="Picture 17">
            <a:extLst>
              <a:ext uri="{FF2B5EF4-FFF2-40B4-BE49-F238E27FC236}">
                <a16:creationId xmlns:a16="http://schemas.microsoft.com/office/drawing/2014/main" id="{336EB23B-7A91-893C-999E-E270BBCAADD2}"/>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a:ln>
            <a:solidFill>
              <a:srgbClr val="4472C4"/>
            </a:solidFill>
          </a:ln>
        </p:spPr>
      </p:pic>
    </p:spTree>
    <p:extLst>
      <p:ext uri="{BB962C8B-B14F-4D97-AF65-F5344CB8AC3E}">
        <p14:creationId xmlns:p14="http://schemas.microsoft.com/office/powerpoint/2010/main" val="3795712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3737D-B856-B316-344E-2A5AE88E22E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38A69B-EA82-49BE-B986-FEACE3A13C2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009521" y="1061231"/>
            <a:ext cx="3162061" cy="2719534"/>
          </a:xfrm>
          <a:prstGeom prst="rect">
            <a:avLst/>
          </a:prstGeom>
        </p:spPr>
      </p:pic>
      <p:pic>
        <p:nvPicPr>
          <p:cNvPr id="4" name="Picture 3">
            <a:extLst>
              <a:ext uri="{FF2B5EF4-FFF2-40B4-BE49-F238E27FC236}">
                <a16:creationId xmlns:a16="http://schemas.microsoft.com/office/drawing/2014/main" id="{4ACDDCFE-6B8B-5070-DD96-F18AB368FA0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852748" y="3588108"/>
            <a:ext cx="5221265" cy="2838680"/>
          </a:xfrm>
          <a:prstGeom prst="rect">
            <a:avLst/>
          </a:prstGeom>
        </p:spPr>
      </p:pic>
      <p:sp>
        <p:nvSpPr>
          <p:cNvPr id="14" name="Title 2">
            <a:extLst>
              <a:ext uri="{FF2B5EF4-FFF2-40B4-BE49-F238E27FC236}">
                <a16:creationId xmlns:a16="http://schemas.microsoft.com/office/drawing/2014/main" id="{676782AC-1202-80D5-CC40-C09CDD2F33A5}"/>
              </a:ext>
            </a:extLst>
          </p:cNvPr>
          <p:cNvSpPr txBox="1">
            <a:spLocks noGrp="1"/>
          </p:cNvSpPr>
          <p:nvPr>
            <p:ph type="title" idx="4294967295"/>
          </p:nvPr>
        </p:nvSpPr>
        <p:spPr>
          <a:xfrm>
            <a:off x="314647" y="632369"/>
            <a:ext cx="11235193" cy="6194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9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914400" eaLnBrk="0" fontAlgn="base" hangingPunct="0">
              <a:lnSpc>
                <a:spcPct val="100000"/>
              </a:lnSpc>
              <a:spcBef>
                <a:spcPts val="300"/>
              </a:spcBef>
              <a:spcAft>
                <a:spcPts val="300"/>
              </a:spcAft>
            </a:pPr>
            <a:r>
              <a:rPr lang="en-US" altLang="en-US" sz="3200">
                <a:solidFill>
                  <a:srgbClr val="044692"/>
                </a:solidFill>
                <a:latin typeface="Poppins" panose="00000500000000000000" pitchFamily="2" charset="0"/>
                <a:cs typeface="Poppins" panose="00000500000000000000" pitchFamily="2" charset="0"/>
              </a:rPr>
              <a:t>Strategic and equity-driven approach through partnerships</a:t>
            </a:r>
          </a:p>
        </p:txBody>
      </p:sp>
      <p:sp>
        <p:nvSpPr>
          <p:cNvPr id="5" name="Content Placeholder 2">
            <a:extLst>
              <a:ext uri="{FF2B5EF4-FFF2-40B4-BE49-F238E27FC236}">
                <a16:creationId xmlns:a16="http://schemas.microsoft.com/office/drawing/2014/main" id="{CA268D7D-D58A-D1CD-BDC0-76D893D4F94C}"/>
              </a:ext>
            </a:extLst>
          </p:cNvPr>
          <p:cNvSpPr>
            <a:spLocks noGrp="1"/>
          </p:cNvSpPr>
          <p:nvPr>
            <p:ph sz="half" idx="1"/>
          </p:nvPr>
        </p:nvSpPr>
        <p:spPr>
          <a:xfrm>
            <a:off x="388538" y="1449253"/>
            <a:ext cx="6646607" cy="5408747"/>
          </a:xfrm>
        </p:spPr>
        <p:txBody>
          <a:bodyPr numCol="1" spcCol="457200">
            <a:noAutofit/>
          </a:bodyPr>
          <a:lstStyle/>
          <a:p>
            <a:pPr marL="0" indent="0" defTabSz="914400" eaLnBrk="0" fontAlgn="base" hangingPunct="0">
              <a:lnSpc>
                <a:spcPct val="100000"/>
              </a:lnSpc>
              <a:spcBef>
                <a:spcPts val="300"/>
              </a:spcBef>
              <a:spcAft>
                <a:spcPts val="300"/>
              </a:spcAft>
              <a:buNone/>
            </a:pPr>
            <a:r>
              <a:rPr lang="en-US" altLang="en-US" sz="1600" b="1">
                <a:latin typeface="Poppins" panose="00000500000000000000" pitchFamily="2" charset="0"/>
                <a:cs typeface="Poppins" panose="00000500000000000000" pitchFamily="2" charset="0"/>
              </a:rPr>
              <a:t>Lake County Workforce Development</a:t>
            </a:r>
          </a:p>
          <a:p>
            <a:pPr lvl="1" defTabSz="914400" eaLnBrk="0" fontAlgn="base" hangingPunct="0">
              <a:lnSpc>
                <a:spcPct val="100000"/>
              </a:lnSpc>
              <a:spcBef>
                <a:spcPts val="300"/>
              </a:spcBef>
              <a:spcAft>
                <a:spcPts val="300"/>
              </a:spcAft>
            </a:pPr>
            <a:r>
              <a:rPr lang="en-US" altLang="en-US" sz="1600" b="1" i="1">
                <a:latin typeface="Poppins" panose="00000500000000000000" pitchFamily="2" charset="0"/>
                <a:cs typeface="Poppins" panose="00000500000000000000" pitchFamily="2" charset="0"/>
              </a:rPr>
              <a:t>Expand</a:t>
            </a:r>
            <a:r>
              <a:rPr lang="en-US" altLang="en-US" sz="1600">
                <a:latin typeface="Poppins" panose="00000500000000000000" pitchFamily="2" charset="0"/>
                <a:cs typeface="Poppins" panose="00000500000000000000" pitchFamily="2" charset="0"/>
              </a:rPr>
              <a:t> AI literacy and career pathways for job seekers and employers</a:t>
            </a:r>
          </a:p>
          <a:p>
            <a:pPr lvl="1" defTabSz="914400" eaLnBrk="0" fontAlgn="base" hangingPunct="0">
              <a:lnSpc>
                <a:spcPct val="100000"/>
              </a:lnSpc>
              <a:spcBef>
                <a:spcPts val="300"/>
              </a:spcBef>
              <a:spcAft>
                <a:spcPts val="300"/>
              </a:spcAft>
            </a:pPr>
            <a:r>
              <a:rPr lang="en-US" altLang="en-US" sz="1600" b="1" i="1">
                <a:latin typeface="Poppins" panose="00000500000000000000" pitchFamily="2" charset="0"/>
                <a:cs typeface="Poppins" panose="00000500000000000000" pitchFamily="2" charset="0"/>
              </a:rPr>
              <a:t>Equip</a:t>
            </a:r>
            <a:r>
              <a:rPr lang="en-US" altLang="en-US" sz="1600">
                <a:latin typeface="Poppins" panose="00000500000000000000" pitchFamily="2" charset="0"/>
                <a:cs typeface="Poppins" panose="00000500000000000000" pitchFamily="2" charset="0"/>
              </a:rPr>
              <a:t> the workforce with ethical, hands-on training in high-impact technologies</a:t>
            </a:r>
          </a:p>
          <a:p>
            <a:pPr lvl="1" defTabSz="914400" eaLnBrk="0" fontAlgn="base" hangingPunct="0">
              <a:lnSpc>
                <a:spcPct val="100000"/>
              </a:lnSpc>
              <a:spcBef>
                <a:spcPts val="300"/>
              </a:spcBef>
              <a:spcAft>
                <a:spcPts val="300"/>
              </a:spcAft>
            </a:pPr>
            <a:r>
              <a:rPr lang="en-US" altLang="en-US" sz="1600" b="1" i="1">
                <a:latin typeface="Poppins" panose="00000500000000000000" pitchFamily="2" charset="0"/>
                <a:cs typeface="Poppins" panose="00000500000000000000" pitchFamily="2" charset="0"/>
              </a:rPr>
              <a:t>Support</a:t>
            </a:r>
            <a:r>
              <a:rPr lang="en-US" altLang="en-US" sz="1600">
                <a:latin typeface="Poppins" panose="00000500000000000000" pitchFamily="2" charset="0"/>
                <a:cs typeface="Poppins" panose="00000500000000000000" pitchFamily="2" charset="0"/>
              </a:rPr>
              <a:t> local employers with AI adoption, consultation, and workflow integration</a:t>
            </a:r>
          </a:p>
          <a:p>
            <a:pPr lvl="1" defTabSz="914400" eaLnBrk="0" fontAlgn="base" hangingPunct="0">
              <a:lnSpc>
                <a:spcPct val="100000"/>
              </a:lnSpc>
              <a:spcBef>
                <a:spcPts val="300"/>
              </a:spcBef>
              <a:spcAft>
                <a:spcPts val="300"/>
              </a:spcAft>
            </a:pPr>
            <a:r>
              <a:rPr lang="en-US" altLang="en-US" sz="1600" b="1" i="1">
                <a:latin typeface="Poppins" panose="00000500000000000000" pitchFamily="2" charset="0"/>
                <a:cs typeface="Poppins" panose="00000500000000000000" pitchFamily="2" charset="0"/>
              </a:rPr>
              <a:t>Build</a:t>
            </a:r>
            <a:r>
              <a:rPr lang="en-US" altLang="en-US" sz="1600">
                <a:latin typeface="Poppins" panose="00000500000000000000" pitchFamily="2" charset="0"/>
                <a:cs typeface="Poppins" panose="00000500000000000000" pitchFamily="2" charset="0"/>
              </a:rPr>
              <a:t> sustainable strategy for AI education across sectors</a:t>
            </a:r>
          </a:p>
          <a:p>
            <a:pPr marL="0" indent="0" defTabSz="914400" eaLnBrk="0" fontAlgn="base" hangingPunct="0">
              <a:lnSpc>
                <a:spcPct val="100000"/>
              </a:lnSpc>
              <a:spcBef>
                <a:spcPts val="300"/>
              </a:spcBef>
              <a:spcAft>
                <a:spcPts val="300"/>
              </a:spcAft>
              <a:buNone/>
            </a:pPr>
            <a:endParaRPr lang="en-US" altLang="en-US" sz="1600" b="1">
              <a:latin typeface="Poppins" panose="00000500000000000000" pitchFamily="2" charset="0"/>
              <a:cs typeface="Poppins" panose="00000500000000000000" pitchFamily="2" charset="0"/>
            </a:endParaRPr>
          </a:p>
          <a:p>
            <a:pPr marL="0" indent="0" defTabSz="914400" eaLnBrk="0" fontAlgn="base" hangingPunct="0">
              <a:lnSpc>
                <a:spcPct val="100000"/>
              </a:lnSpc>
              <a:spcBef>
                <a:spcPts val="300"/>
              </a:spcBef>
              <a:spcAft>
                <a:spcPts val="300"/>
              </a:spcAft>
              <a:buNone/>
            </a:pPr>
            <a:r>
              <a:rPr lang="en-US" altLang="en-US" sz="1600" b="1">
                <a:latin typeface="Poppins" panose="00000500000000000000" pitchFamily="2" charset="0"/>
                <a:cs typeface="Poppins" panose="00000500000000000000" pitchFamily="2" charset="0"/>
              </a:rPr>
              <a:t>Lake County Digital Growth Initiative</a:t>
            </a:r>
          </a:p>
          <a:p>
            <a:pPr marL="285750" indent="-285750"/>
            <a:r>
              <a:rPr lang="en-US" sz="1600">
                <a:solidFill>
                  <a:srgbClr val="222222"/>
                </a:solidFill>
                <a:highlight>
                  <a:srgbClr val="FFFFFF"/>
                </a:highlight>
                <a:latin typeface="Poppins" panose="00000500000000000000" pitchFamily="2" charset="0"/>
                <a:cs typeface="Poppins" panose="00000500000000000000" pitchFamily="2" charset="0"/>
              </a:rPr>
              <a:t>American Rescue Plan Act (</a:t>
            </a:r>
            <a:r>
              <a:rPr lang="en-US" sz="1600">
                <a:latin typeface="Poppins" panose="00000500000000000000" pitchFamily="2" charset="0"/>
                <a:cs typeface="Poppins" panose="00000500000000000000" pitchFamily="2" charset="0"/>
              </a:rPr>
              <a:t>ARPA) State and Local Fiscal Recovery Funded</a:t>
            </a:r>
          </a:p>
          <a:p>
            <a:pPr marL="285750" indent="-285750"/>
            <a:r>
              <a:rPr lang="en-US" sz="1600">
                <a:latin typeface="Poppins" panose="00000500000000000000" pitchFamily="2" charset="0"/>
                <a:cs typeface="Poppins" panose="00000500000000000000" pitchFamily="2" charset="0"/>
              </a:rPr>
              <a:t>Deliver digital literacy in Lake County</a:t>
            </a:r>
          </a:p>
          <a:p>
            <a:pPr marL="285750" indent="-285750"/>
            <a:r>
              <a:rPr lang="en-US" sz="1600">
                <a:latin typeface="Poppins" panose="00000500000000000000" pitchFamily="2" charset="0"/>
                <a:cs typeface="Poppins" panose="00000500000000000000" pitchFamily="2" charset="0"/>
              </a:rPr>
              <a:t>No cost laptop opportunity</a:t>
            </a:r>
          </a:p>
          <a:p>
            <a:pPr marL="285750" indent="-285750"/>
            <a:endParaRPr lang="en-US" sz="1600">
              <a:latin typeface="Poppins" panose="00000500000000000000" pitchFamily="2" charset="0"/>
              <a:cs typeface="Poppins" panose="00000500000000000000" pitchFamily="2" charset="0"/>
            </a:endParaRPr>
          </a:p>
          <a:p>
            <a:pPr marL="285750" indent="-285750"/>
            <a:endParaRPr lang="en-US" sz="1600">
              <a:latin typeface="Poppins" panose="00000500000000000000" pitchFamily="2" charset="0"/>
              <a:cs typeface="Poppins" panose="00000500000000000000" pitchFamily="2" charset="0"/>
            </a:endParaRPr>
          </a:p>
          <a:p>
            <a:pPr marL="285750" indent="-285750"/>
            <a:endParaRPr lang="en-US" sz="1600">
              <a:latin typeface="Poppins" panose="00000500000000000000" pitchFamily="2" charset="0"/>
              <a:cs typeface="Poppins" panose="00000500000000000000" pitchFamily="2" charset="0"/>
            </a:endParaRPr>
          </a:p>
          <a:p>
            <a:pPr marL="0" indent="0">
              <a:buNone/>
            </a:pPr>
            <a:endParaRPr lang="en-US" sz="1600">
              <a:latin typeface="Poppins" panose="00000500000000000000" pitchFamily="2" charset="0"/>
              <a:cs typeface="Poppins" panose="00000500000000000000" pitchFamily="2" charset="0"/>
            </a:endParaRPr>
          </a:p>
          <a:p>
            <a:pPr marL="0" indent="0" defTabSz="914400" eaLnBrk="0" fontAlgn="base" hangingPunct="0">
              <a:lnSpc>
                <a:spcPct val="100000"/>
              </a:lnSpc>
              <a:spcBef>
                <a:spcPts val="300"/>
              </a:spcBef>
              <a:spcAft>
                <a:spcPts val="300"/>
              </a:spcAft>
              <a:buNone/>
            </a:pPr>
            <a:endParaRPr lang="en-US" altLang="en-US" sz="1600">
              <a:latin typeface="Poppins" panose="00000500000000000000" pitchFamily="2" charset="0"/>
              <a:cs typeface="Poppins" panose="00000500000000000000" pitchFamily="2" charset="0"/>
            </a:endParaRPr>
          </a:p>
        </p:txBody>
      </p:sp>
      <p:pic>
        <p:nvPicPr>
          <p:cNvPr id="2" name="Picture 1">
            <a:extLst>
              <a:ext uri="{FF2B5EF4-FFF2-40B4-BE49-F238E27FC236}">
                <a16:creationId xmlns:a16="http://schemas.microsoft.com/office/drawing/2014/main" id="{D5CB7A53-43C6-594D-824B-8A196802D908}"/>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1"/>
            <a:ext cx="12192000" cy="420623"/>
          </a:xfrm>
          <a:prstGeom prst="rect">
            <a:avLst/>
          </a:prstGeom>
        </p:spPr>
      </p:pic>
      <p:pic>
        <p:nvPicPr>
          <p:cNvPr id="3" name="Picture 2">
            <a:extLst>
              <a:ext uri="{FF2B5EF4-FFF2-40B4-BE49-F238E27FC236}">
                <a16:creationId xmlns:a16="http://schemas.microsoft.com/office/drawing/2014/main" id="{54FE27D2-D3AE-EED4-DB08-4891F04BA4E2}"/>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5" y="6582031"/>
            <a:ext cx="12190476" cy="274320"/>
          </a:xfrm>
          <a:prstGeom prst="rect">
            <a:avLst/>
          </a:prstGeom>
        </p:spPr>
      </p:pic>
    </p:spTree>
    <p:extLst>
      <p:ext uri="{BB962C8B-B14F-4D97-AF65-F5344CB8AC3E}">
        <p14:creationId xmlns:p14="http://schemas.microsoft.com/office/powerpoint/2010/main" val="3188240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5C3C-5E00-41DF-6C1F-74078C9B529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CE0E5D3-16D1-3DE7-5202-717048F51B2F}"/>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2" name="Title 1">
            <a:extLst>
              <a:ext uri="{FF2B5EF4-FFF2-40B4-BE49-F238E27FC236}">
                <a16:creationId xmlns:a16="http://schemas.microsoft.com/office/drawing/2014/main" id="{E164AFAD-C582-05A8-4C14-203DC6177D1A}"/>
              </a:ext>
            </a:extLst>
          </p:cNvPr>
          <p:cNvSpPr>
            <a:spLocks noGrp="1"/>
          </p:cNvSpPr>
          <p:nvPr>
            <p:ph type="title"/>
          </p:nvPr>
        </p:nvSpPr>
        <p:spPr>
          <a:xfrm>
            <a:off x="331687" y="554320"/>
            <a:ext cx="10960000" cy="733225"/>
          </a:xfrm>
        </p:spPr>
        <p:txBody>
          <a:bodyPr vert="horz" lIns="91440" tIns="45720" rIns="91440" bIns="45720" rtlCol="0" anchor="ctr">
            <a:noAutofit/>
          </a:bodyPr>
          <a:lstStyle/>
          <a:p>
            <a:r>
              <a:rPr lang="en-US" sz="3600" dirty="0">
                <a:solidFill>
                  <a:srgbClr val="044692"/>
                </a:solidFill>
                <a:latin typeface="Poppins" panose="00000500000000000000" pitchFamily="2" charset="0"/>
                <a:cs typeface="Poppins" panose="00000500000000000000" pitchFamily="2" charset="0"/>
              </a:rPr>
              <a:t>Partnership</a:t>
            </a:r>
            <a:r>
              <a:rPr lang="en-US" sz="3600" dirty="0">
                <a:solidFill>
                  <a:srgbClr val="044692"/>
                </a:solidFill>
                <a:latin typeface="Poppins 1"/>
              </a:rPr>
              <a:t> </a:t>
            </a:r>
            <a:r>
              <a:rPr lang="en-US" sz="3600" dirty="0">
                <a:solidFill>
                  <a:srgbClr val="044692"/>
                </a:solidFill>
                <a:latin typeface="Poppins" panose="00000500000000000000" pitchFamily="2" charset="0"/>
                <a:cs typeface="Poppins" panose="00000500000000000000" pitchFamily="2" charset="0"/>
              </a:rPr>
              <a:t>and Integrated Services </a:t>
            </a:r>
          </a:p>
        </p:txBody>
      </p:sp>
      <p:sp>
        <p:nvSpPr>
          <p:cNvPr id="5" name="TextBox 4">
            <a:extLst>
              <a:ext uri="{FF2B5EF4-FFF2-40B4-BE49-F238E27FC236}">
                <a16:creationId xmlns:a16="http://schemas.microsoft.com/office/drawing/2014/main" id="{8F4A5AC4-2DAD-3A84-2CC8-8E01E9CA63DD}"/>
              </a:ext>
            </a:extLst>
          </p:cNvPr>
          <p:cNvSpPr txBox="1"/>
          <p:nvPr/>
        </p:nvSpPr>
        <p:spPr>
          <a:xfrm>
            <a:off x="331686" y="1548050"/>
            <a:ext cx="618957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kern="100" dirty="0">
              <a:latin typeface="Poppins" panose="00000500000000000000" pitchFamily="2" charset="0"/>
              <a:cs typeface="Poppins" panose="00000500000000000000" pitchFamily="2" charset="0"/>
            </a:endParaRPr>
          </a:p>
          <a:p>
            <a:r>
              <a:rPr lang="en-US" kern="100" dirty="0">
                <a:latin typeface="Poppins" panose="00000500000000000000" pitchFamily="2" charset="0"/>
                <a:cs typeface="Poppins" panose="00000500000000000000" pitchFamily="2" charset="0"/>
              </a:rPr>
              <a:t>Digital Growth Initiative:  CY25-26</a:t>
            </a:r>
          </a:p>
          <a:p>
            <a:pPr marL="285750" indent="-285750">
              <a:buFont typeface="Arial" panose="020B0604020202020204" pitchFamily="34" charset="0"/>
              <a:buChar char="•"/>
            </a:pPr>
            <a:r>
              <a:rPr lang="en-US" b="1" kern="100" dirty="0">
                <a:latin typeface="Poppins" panose="00000500000000000000" pitchFamily="2" charset="0"/>
                <a:cs typeface="Poppins" panose="00000500000000000000" pitchFamily="2" charset="0"/>
              </a:rPr>
              <a:t>Device Distribution: </a:t>
            </a:r>
            <a:r>
              <a:rPr lang="en-US" kern="100" dirty="0">
                <a:latin typeface="Poppins" panose="00000500000000000000" pitchFamily="2" charset="0"/>
                <a:cs typeface="Poppins" panose="00000500000000000000" pitchFamily="2" charset="0"/>
              </a:rPr>
              <a:t>103</a:t>
            </a:r>
          </a:p>
          <a:p>
            <a:pPr marL="285750" indent="-285750">
              <a:buFont typeface="Arial" panose="020B0604020202020204" pitchFamily="34" charset="0"/>
              <a:buChar char="•"/>
            </a:pPr>
            <a:r>
              <a:rPr lang="en-US" b="1" kern="100" dirty="0">
                <a:latin typeface="Poppins" panose="00000500000000000000" pitchFamily="2" charset="0"/>
                <a:cs typeface="Poppins" panose="00000500000000000000" pitchFamily="2" charset="0"/>
              </a:rPr>
              <a:t>Total Cohorts Held in Partnership</a:t>
            </a:r>
            <a:r>
              <a:rPr lang="en-US" kern="100" dirty="0">
                <a:latin typeface="Poppins" panose="00000500000000000000" pitchFamily="2" charset="0"/>
                <a:cs typeface="Poppins" panose="00000500000000000000" pitchFamily="2" charset="0"/>
              </a:rPr>
              <a:t>: 12</a:t>
            </a:r>
          </a:p>
          <a:p>
            <a:pPr marL="285750" indent="-285750">
              <a:buFont typeface="Arial" panose="020B0604020202020204" pitchFamily="34" charset="0"/>
              <a:buChar char="•"/>
            </a:pPr>
            <a:r>
              <a:rPr lang="en-US" b="1" dirty="0">
                <a:latin typeface="Poppins" panose="00000500000000000000" pitchFamily="2" charset="0"/>
                <a:cs typeface="Poppins" panose="00000500000000000000" pitchFamily="2" charset="0"/>
              </a:rPr>
              <a:t>SYEP Workshops Held: </a:t>
            </a:r>
            <a:r>
              <a:rPr lang="en-US" dirty="0">
                <a:latin typeface="Poppins" panose="00000500000000000000" pitchFamily="2" charset="0"/>
                <a:cs typeface="Poppins" panose="00000500000000000000" pitchFamily="2" charset="0"/>
              </a:rPr>
              <a:t>26 </a:t>
            </a:r>
            <a:endParaRPr lang="en-US" kern="100" dirty="0">
              <a:latin typeface="Poppins" panose="00000500000000000000" pitchFamily="2" charset="0"/>
              <a:cs typeface="Poppins" panose="00000500000000000000" pitchFamily="2" charset="0"/>
            </a:endParaRPr>
          </a:p>
          <a:p>
            <a:endParaRPr lang="en-US" kern="100" dirty="0">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DDD44EDF-35BA-878E-04B6-5A17FBB96066}"/>
              </a:ext>
            </a:extLst>
          </p:cNvPr>
          <p:cNvSpPr txBox="1"/>
          <p:nvPr/>
        </p:nvSpPr>
        <p:spPr>
          <a:xfrm>
            <a:off x="331686" y="3526718"/>
            <a:ext cx="6189571"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kern="100" dirty="0">
              <a:latin typeface="Poppins" panose="00000500000000000000" pitchFamily="2" charset="0"/>
              <a:cs typeface="Poppins" panose="00000500000000000000" pitchFamily="2" charset="0"/>
            </a:endParaRPr>
          </a:p>
          <a:p>
            <a:r>
              <a:rPr lang="en-US" kern="100" dirty="0">
                <a:latin typeface="Poppins" panose="00000500000000000000" pitchFamily="2" charset="0"/>
                <a:cs typeface="Poppins" panose="00000500000000000000" pitchFamily="2" charset="0"/>
              </a:rPr>
              <a:t>Lake County Workforce Development (Cohort 1-2): </a:t>
            </a:r>
          </a:p>
          <a:p>
            <a:pPr marL="285750" indent="-285750">
              <a:buFont typeface="Arial" panose="020B0604020202020204" pitchFamily="34" charset="0"/>
              <a:buChar char="•"/>
            </a:pPr>
            <a:r>
              <a:rPr lang="en-US" b="1" kern="100" dirty="0">
                <a:latin typeface="Poppins" panose="00000500000000000000" pitchFamily="2" charset="0"/>
                <a:cs typeface="Poppins" panose="00000500000000000000" pitchFamily="2" charset="0"/>
              </a:rPr>
              <a:t>AI Academy Hands-On Workshops: </a:t>
            </a:r>
            <a:r>
              <a:rPr lang="en-US" kern="100" dirty="0">
                <a:latin typeface="Poppins" panose="00000500000000000000" pitchFamily="2" charset="0"/>
                <a:cs typeface="Poppins" panose="00000500000000000000" pitchFamily="2" charset="0"/>
              </a:rPr>
              <a:t>4</a:t>
            </a:r>
          </a:p>
          <a:p>
            <a:pPr marL="285750" indent="-285750">
              <a:buFont typeface="Arial" panose="020B0604020202020204" pitchFamily="34" charset="0"/>
              <a:buChar char="•"/>
            </a:pPr>
            <a:r>
              <a:rPr lang="en-US" b="1" kern="100" dirty="0">
                <a:latin typeface="Poppins" panose="00000500000000000000" pitchFamily="2" charset="0"/>
                <a:cs typeface="Poppins" panose="00000500000000000000" pitchFamily="2" charset="0"/>
              </a:rPr>
              <a:t>Attendees: </a:t>
            </a:r>
            <a:r>
              <a:rPr lang="en-US" kern="100" dirty="0">
                <a:latin typeface="Poppins" panose="00000500000000000000" pitchFamily="2" charset="0"/>
                <a:cs typeface="Poppins" panose="00000500000000000000" pitchFamily="2" charset="0"/>
              </a:rPr>
              <a:t>111</a:t>
            </a:r>
          </a:p>
          <a:p>
            <a:pPr marL="285750" indent="-285750">
              <a:buFont typeface="Arial" panose="020B0604020202020204" pitchFamily="34" charset="0"/>
              <a:buChar char="•"/>
            </a:pPr>
            <a:r>
              <a:rPr lang="en-US" b="1" kern="100" dirty="0">
                <a:latin typeface="Poppins" panose="00000500000000000000" pitchFamily="2" charset="0"/>
                <a:cs typeface="Poppins" panose="00000500000000000000" pitchFamily="2" charset="0"/>
              </a:rPr>
              <a:t>AI Academy enrolled participants: </a:t>
            </a:r>
            <a:r>
              <a:rPr lang="en-US" kern="100" dirty="0">
                <a:latin typeface="Poppins" panose="00000500000000000000" pitchFamily="2" charset="0"/>
                <a:cs typeface="Poppins" panose="00000500000000000000" pitchFamily="2" charset="0"/>
              </a:rPr>
              <a:t>111</a:t>
            </a:r>
          </a:p>
          <a:p>
            <a:pPr marL="685800" lvl="2" indent="-228600" defTabSz="914400">
              <a:spcBef>
                <a:spcPts val="0"/>
              </a:spcBef>
            </a:pPr>
            <a:endParaRPr lang="en-US" sz="1400" dirty="0">
              <a:latin typeface="Poppins" panose="00000500000000000000" pitchFamily="2" charset="0"/>
              <a:cs typeface="Poppins" panose="00000500000000000000" pitchFamily="2" charset="0"/>
            </a:endParaRPr>
          </a:p>
          <a:p>
            <a:endParaRPr lang="en-US" kern="100" dirty="0">
              <a:latin typeface="Poppins" panose="00000500000000000000" pitchFamily="2" charset="0"/>
              <a:cs typeface="Poppins" panose="00000500000000000000" pitchFamily="2" charset="0"/>
            </a:endParaRPr>
          </a:p>
          <a:p>
            <a:endParaRPr lang="en-US" kern="100" dirty="0">
              <a:latin typeface="Poppins" panose="00000500000000000000" pitchFamily="2" charset="0"/>
              <a:cs typeface="Poppins" panose="00000500000000000000" pitchFamily="2" charset="0"/>
            </a:endParaRPr>
          </a:p>
        </p:txBody>
      </p:sp>
      <p:pic>
        <p:nvPicPr>
          <p:cNvPr id="6" name="Picture 5">
            <a:extLst>
              <a:ext uri="{FF2B5EF4-FFF2-40B4-BE49-F238E27FC236}">
                <a16:creationId xmlns:a16="http://schemas.microsoft.com/office/drawing/2014/main" id="{3742EF26-4811-97CC-79E0-D51FD0BD35A8}"/>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2270" y="5816577"/>
            <a:ext cx="2194978" cy="388461"/>
          </a:xfrm>
          <a:prstGeom prst="rect">
            <a:avLst/>
          </a:prstGeom>
        </p:spPr>
      </p:pic>
      <p:pic>
        <p:nvPicPr>
          <p:cNvPr id="15" name="Picture 14">
            <a:extLst>
              <a:ext uri="{FF2B5EF4-FFF2-40B4-BE49-F238E27FC236}">
                <a16:creationId xmlns:a16="http://schemas.microsoft.com/office/drawing/2014/main" id="{2A7A031A-FF69-7018-7E48-BC5741AADD2A}"/>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8143" y="1671133"/>
            <a:ext cx="5052256" cy="3789192"/>
          </a:xfrm>
          <a:prstGeom prst="rect">
            <a:avLst/>
          </a:prstGeom>
        </p:spPr>
      </p:pic>
      <p:sp>
        <p:nvSpPr>
          <p:cNvPr id="3" name="Rectangle 1">
            <a:extLst>
              <a:ext uri="{FF2B5EF4-FFF2-40B4-BE49-F238E27FC236}">
                <a16:creationId xmlns:a16="http://schemas.microsoft.com/office/drawing/2014/main" id="{D257254C-3C7F-176C-3A4E-22DA3242AD88}"/>
              </a:ext>
              <a:ext uri="{C183D7F6-B498-43B3-948B-1728B52AA6E4}">
                <adec:decorative xmlns:adec="http://schemas.microsoft.com/office/drawing/2017/decorative" val="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6" name="Picture 2">
            <a:extLst>
              <a:ext uri="{FF2B5EF4-FFF2-40B4-BE49-F238E27FC236}">
                <a16:creationId xmlns:a16="http://schemas.microsoft.com/office/drawing/2014/main" id="{D3883311-F2CC-B88E-34EF-95564B380F97}"/>
              </a:ext>
              <a:ext uri="{C183D7F6-B498-43B3-948B-1728B52AA6E4}">
                <adec:decorative xmlns:adec="http://schemas.microsoft.com/office/drawing/2017/decorative" val="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69721" y="5583408"/>
            <a:ext cx="1756191" cy="73174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4E70426-95DF-A5A2-B59F-DA7D2459A461}"/>
              </a:ex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17710" y="5614042"/>
            <a:ext cx="2428996" cy="731086"/>
          </a:xfrm>
          <a:prstGeom prst="rect">
            <a:avLst/>
          </a:prstGeom>
        </p:spPr>
      </p:pic>
      <p:pic>
        <p:nvPicPr>
          <p:cNvPr id="7" name="Picture 6">
            <a:extLst>
              <a:ext uri="{FF2B5EF4-FFF2-40B4-BE49-F238E27FC236}">
                <a16:creationId xmlns:a16="http://schemas.microsoft.com/office/drawing/2014/main" id="{38EED5C4-9071-536F-07F8-0598D92AD654}"/>
              </a:ext>
              <a:ext uri="{C183D7F6-B498-43B3-948B-1728B52AA6E4}">
                <adec:decorative xmlns:adec="http://schemas.microsoft.com/office/drawing/2017/decorative" val="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Tree>
    <p:extLst>
      <p:ext uri="{BB962C8B-B14F-4D97-AF65-F5344CB8AC3E}">
        <p14:creationId xmlns:p14="http://schemas.microsoft.com/office/powerpoint/2010/main" val="1458511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36058-E2FE-9C4D-CEC9-CEA799F1D1B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82A52A2-0C93-2D2E-96E6-AB0E73D18C7D}"/>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1657"/>
            <a:ext cx="12191999" cy="438911"/>
          </a:xfrm>
          <a:prstGeom prst="rect">
            <a:avLst/>
          </a:prstGeom>
        </p:spPr>
      </p:pic>
      <p:sp>
        <p:nvSpPr>
          <p:cNvPr id="11" name="Title 10">
            <a:extLst>
              <a:ext uri="{FF2B5EF4-FFF2-40B4-BE49-F238E27FC236}">
                <a16:creationId xmlns:a16="http://schemas.microsoft.com/office/drawing/2014/main" id="{709150F2-ADC9-37A7-2622-850AC4A6CCB5}"/>
              </a:ext>
            </a:extLst>
          </p:cNvPr>
          <p:cNvSpPr txBox="1">
            <a:spLocks noGrp="1"/>
          </p:cNvSpPr>
          <p:nvPr>
            <p:ph type="title" idx="4294967295"/>
          </p:nvPr>
        </p:nvSpPr>
        <p:spPr>
          <a:xfrm>
            <a:off x="2888604" y="15104"/>
            <a:ext cx="6414787"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Poppins"/>
                <a:ea typeface="+mn-ea"/>
                <a:cs typeface="Poppins"/>
              </a:rPr>
              <a:t>Expanding and Strengthening </a:t>
            </a:r>
            <a:r>
              <a:rPr lang="en-US" sz="2000" b="1" dirty="0">
                <a:solidFill>
                  <a:schemeClr val="bg1"/>
                </a:solidFill>
                <a:latin typeface="Poppins"/>
                <a:ea typeface="+mn-ea"/>
                <a:cs typeface="Poppins"/>
              </a:rPr>
              <a:t>D</a:t>
            </a:r>
            <a:r>
              <a:rPr kumimoji="0" lang="en-US" sz="2000" b="1" i="0" u="none" strike="noStrike" kern="1200" cap="none" spc="0" normalizeH="0" baseline="0" noProof="0" dirty="0" err="1">
                <a:ln>
                  <a:noFill/>
                </a:ln>
                <a:solidFill>
                  <a:schemeClr val="bg1"/>
                </a:solidFill>
                <a:effectLst/>
                <a:uLnTx/>
                <a:uFillTx/>
                <a:latin typeface="Poppins"/>
                <a:ea typeface="+mn-ea"/>
                <a:cs typeface="Poppins"/>
              </a:rPr>
              <a:t>igital</a:t>
            </a:r>
            <a:r>
              <a:rPr kumimoji="0" lang="en-US" sz="2000" b="1" i="0" u="none" strike="noStrike" kern="1200" cap="none" spc="0" normalizeH="0" baseline="0" noProof="0" dirty="0">
                <a:ln>
                  <a:noFill/>
                </a:ln>
                <a:solidFill>
                  <a:schemeClr val="bg1"/>
                </a:solidFill>
                <a:effectLst/>
                <a:uLnTx/>
                <a:uFillTx/>
                <a:latin typeface="Poppins"/>
                <a:ea typeface="+mn-ea"/>
                <a:cs typeface="Poppins"/>
              </a:rPr>
              <a:t> </a:t>
            </a:r>
            <a:r>
              <a:rPr lang="en-US" sz="2000" b="1" dirty="0">
                <a:solidFill>
                  <a:schemeClr val="bg1"/>
                </a:solidFill>
                <a:latin typeface="Poppins"/>
                <a:ea typeface="+mn-ea"/>
                <a:cs typeface="Poppins"/>
              </a:rPr>
              <a:t>L</a:t>
            </a:r>
            <a:r>
              <a:rPr kumimoji="0" lang="en-US" sz="2000" b="1" i="0" u="none" strike="noStrike" kern="1200" cap="none" spc="0" normalizeH="0" baseline="0" noProof="0" dirty="0" err="1">
                <a:ln>
                  <a:noFill/>
                </a:ln>
                <a:solidFill>
                  <a:schemeClr val="bg1"/>
                </a:solidFill>
                <a:effectLst/>
                <a:uLnTx/>
                <a:uFillTx/>
                <a:latin typeface="Poppins"/>
                <a:ea typeface="+mn-ea"/>
                <a:cs typeface="Poppins"/>
              </a:rPr>
              <a:t>iteracy</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a:extLst>
              <a:ext uri="{FF2B5EF4-FFF2-40B4-BE49-F238E27FC236}">
                <a16:creationId xmlns:a16="http://schemas.microsoft.com/office/drawing/2014/main" id="{C778B78C-6CF2-D453-EC21-2FC1FE9DC7F4}"/>
              </a:ext>
              <a:ext uri="{C183D7F6-B498-43B3-948B-1728B52AA6E4}">
                <adec:decorative xmlns:adec="http://schemas.microsoft.com/office/drawing/2017/decorative" val="1"/>
              </a:ext>
            </a:extLst>
          </p:cNvPr>
          <p:cNvSpPr/>
          <p:nvPr/>
        </p:nvSpPr>
        <p:spPr>
          <a:xfrm>
            <a:off x="2107096" y="-2"/>
            <a:ext cx="8175818" cy="438912"/>
          </a:xfrm>
          <a:prstGeom prst="rect">
            <a:avLst/>
          </a:prstGeom>
          <a:noFill/>
          <a:ln/>
        </p:spPr>
        <p:txBody>
          <a:bodyPr wrap="square" lIns="508" tIns="508" rIns="508" bIns="508" rtlCol="0" anchor="ctr">
            <a:noAutofit/>
          </a:bodyPr>
          <a:lstStyle/>
          <a:p>
            <a:pPr algn="ctr"/>
            <a:endParaRPr lang="en-US" b="1">
              <a:solidFill>
                <a:schemeClr val="bg1"/>
              </a:solidFill>
              <a:latin typeface="Poppins"/>
              <a:cs typeface="Poppins"/>
            </a:endParaRPr>
          </a:p>
        </p:txBody>
      </p:sp>
      <p:sp>
        <p:nvSpPr>
          <p:cNvPr id="10" name="TextBox 9">
            <a:extLst>
              <a:ext uri="{FF2B5EF4-FFF2-40B4-BE49-F238E27FC236}">
                <a16:creationId xmlns:a16="http://schemas.microsoft.com/office/drawing/2014/main" id="{88CFDAD4-A438-1CBF-7573-6DC8FFB51380}"/>
              </a:ext>
            </a:extLst>
          </p:cNvPr>
          <p:cNvSpPr txBox="1"/>
          <p:nvPr/>
        </p:nvSpPr>
        <p:spPr>
          <a:xfrm>
            <a:off x="968827" y="854508"/>
            <a:ext cx="10254343" cy="2585323"/>
          </a:xfrm>
          <a:prstGeom prst="rect">
            <a:avLst/>
          </a:prstGeom>
          <a:noFill/>
        </p:spPr>
        <p:txBody>
          <a:bodyPr wrap="square" rtlCol="0">
            <a:spAutoFit/>
          </a:bodyPr>
          <a:lstStyle/>
          <a:p>
            <a:pPr algn="ctr"/>
            <a:r>
              <a:rPr lang="en-US" dirty="0">
                <a:latin typeface="Poppins" panose="00000500000000000000" pitchFamily="2" charset="0"/>
                <a:cs typeface="Poppins" panose="00000500000000000000" pitchFamily="2" charset="0"/>
              </a:rPr>
              <a:t>Anna, a former Digital Navigator, shared, “A participant seemed to distance himself from using technology because he was having a hard time learning all the little tricks to use applications. He kept expressing how he didn't know much and that he didn't know what he was doing. As the classes went by, she noticed he became more comfortable with using his laptop and browsing the internet. She believed that the activities helped him practice the skills he learned, which made a big difference. He was also very attentive during class and asked questions, which she thinks helped him learn a lot. He passed the class with a great score and was very happy at the end of the cohort.”</a:t>
            </a:r>
          </a:p>
          <a:p>
            <a:endParaRPr lang="en-US" dirty="0"/>
          </a:p>
        </p:txBody>
      </p:sp>
      <p:sp>
        <p:nvSpPr>
          <p:cNvPr id="5" name="Rectangle: Rounded Corners 4" descr="image of people at a computer desk">
            <a:extLst>
              <a:ext uri="{FF2B5EF4-FFF2-40B4-BE49-F238E27FC236}">
                <a16:creationId xmlns:a16="http://schemas.microsoft.com/office/drawing/2014/main" id="{5E83ADF7-8C9B-E14A-399B-D68DD10291E6}"/>
              </a:ext>
            </a:extLst>
          </p:cNvPr>
          <p:cNvSpPr/>
          <p:nvPr/>
        </p:nvSpPr>
        <p:spPr>
          <a:xfrm>
            <a:off x="1292807" y="3516833"/>
            <a:ext cx="5029200" cy="2926808"/>
          </a:xfrm>
          <a:prstGeom prst="roundRect">
            <a:avLst/>
          </a:pr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of people standing with certficates in their hand">
            <a:extLst>
              <a:ext uri="{FF2B5EF4-FFF2-40B4-BE49-F238E27FC236}">
                <a16:creationId xmlns:a16="http://schemas.microsoft.com/office/drawing/2014/main" id="{6C6B7CBA-D2F2-90D3-7E2A-521DBA3233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55061" y="3459754"/>
            <a:ext cx="3657600" cy="2983887"/>
          </a:xfrm>
          <a:prstGeom prst="round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1989B9ED-9545-2E02-DBF2-28844E207833}"/>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spTree>
    <p:extLst>
      <p:ext uri="{BB962C8B-B14F-4D97-AF65-F5344CB8AC3E}">
        <p14:creationId xmlns:p14="http://schemas.microsoft.com/office/powerpoint/2010/main" val="2729665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BDE7-CB26-EA05-0622-B477E32988E9}"/>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A33BE1B6-C715-1D2E-0A44-3AAE709D8ADF}"/>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
        <p:nvSpPr>
          <p:cNvPr id="7" name="Title 6">
            <a:extLst>
              <a:ext uri="{FF2B5EF4-FFF2-40B4-BE49-F238E27FC236}">
                <a16:creationId xmlns:a16="http://schemas.microsoft.com/office/drawing/2014/main" id="{BD77CA85-600E-7A4C-9F33-295B1E9C8479}"/>
              </a:ext>
            </a:extLst>
          </p:cNvPr>
          <p:cNvSpPr txBox="1">
            <a:spLocks noGrp="1"/>
          </p:cNvSpPr>
          <p:nvPr>
            <p:ph type="title" idx="4294967295"/>
          </p:nvPr>
        </p:nvSpPr>
        <p:spPr>
          <a:xfrm>
            <a:off x="654014" y="1905141"/>
            <a:ext cx="10883972" cy="9233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5400" b="1" dirty="0">
                <a:solidFill>
                  <a:srgbClr val="044692"/>
                </a:solidFill>
                <a:latin typeface="Poppins"/>
                <a:ea typeface="+mn-ea"/>
                <a:cs typeface="Poppins"/>
              </a:rPr>
              <a:t>Sustainability Plan</a:t>
            </a:r>
            <a:endParaRPr kumimoji="0" lang="en-US" sz="5400" b="0" i="0" u="none" strike="noStrike" kern="1200" cap="none" spc="0" normalizeH="0" baseline="0" noProof="0" dirty="0">
              <a:ln>
                <a:noFill/>
              </a:ln>
              <a:solidFill>
                <a:schemeClr val="tx1"/>
              </a:solidFill>
              <a:effectLst/>
              <a:uLnTx/>
              <a:uFillTx/>
              <a:latin typeface="+mn-lt"/>
              <a:ea typeface="+mn-ea"/>
              <a:cs typeface="+mn-cs"/>
            </a:endParaRPr>
          </a:p>
        </p:txBody>
      </p:sp>
      <p:pic>
        <p:nvPicPr>
          <p:cNvPr id="18" name="Picture 17">
            <a:extLst>
              <a:ext uri="{FF2B5EF4-FFF2-40B4-BE49-F238E27FC236}">
                <a16:creationId xmlns:a16="http://schemas.microsoft.com/office/drawing/2014/main" id="{62B98B26-A458-D699-7D21-DA48902894B3}"/>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a:ln>
            <a:solidFill>
              <a:srgbClr val="4472C4"/>
            </a:solidFill>
          </a:ln>
        </p:spPr>
      </p:pic>
    </p:spTree>
    <p:extLst>
      <p:ext uri="{BB962C8B-B14F-4D97-AF65-F5344CB8AC3E}">
        <p14:creationId xmlns:p14="http://schemas.microsoft.com/office/powerpoint/2010/main" val="489077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A8C47-5BFC-221D-C9F9-7EBFD200CDD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992293-577C-6C24-688B-24FC4745DD88}"/>
              </a:ext>
              <a:ext uri="{C183D7F6-B498-43B3-948B-1728B52AA6E4}">
                <adec:decorative xmlns:adec="http://schemas.microsoft.com/office/drawing/2017/decorative" val="1"/>
              </a:ext>
            </a:extLst>
          </p:cNvPr>
          <p:cNvSpPr/>
          <p:nvPr/>
        </p:nvSpPr>
        <p:spPr>
          <a:xfrm>
            <a:off x="0" y="0"/>
            <a:ext cx="12188952" cy="263174"/>
          </a:xfrm>
          <a:custGeom>
            <a:avLst/>
            <a:gdLst/>
            <a:ahLst/>
            <a:cxnLst/>
            <a:rect l="l" t="t" r="r" b="b"/>
            <a:pathLst>
              <a:path w="18283428" h="394761">
                <a:moveTo>
                  <a:pt x="0" y="0"/>
                </a:moveTo>
                <a:lnTo>
                  <a:pt x="18283428" y="0"/>
                </a:lnTo>
                <a:lnTo>
                  <a:pt x="18283428" y="394761"/>
                </a:lnTo>
                <a:lnTo>
                  <a:pt x="0" y="394761"/>
                </a:lnTo>
                <a:lnTo>
                  <a:pt x="0" y="0"/>
                </a:lnTo>
                <a:close/>
              </a:path>
            </a:pathLst>
          </a:custGeom>
          <a:blipFill>
            <a:blip r:embed="rId3"/>
            <a:stretch>
              <a:fillRect l="-74" r="-74" b="-301413"/>
            </a:stretch>
          </a:blipFill>
        </p:spPr>
        <p:txBody>
          <a:bodyPr/>
          <a:lstStyle/>
          <a:p>
            <a:endParaRPr lang="en-US"/>
          </a:p>
        </p:txBody>
      </p:sp>
      <p:sp>
        <p:nvSpPr>
          <p:cNvPr id="3" name="Freeform 3">
            <a:extLst>
              <a:ext uri="{FF2B5EF4-FFF2-40B4-BE49-F238E27FC236}">
                <a16:creationId xmlns:a16="http://schemas.microsoft.com/office/drawing/2014/main" id="{4591DA6D-655C-89C2-34E0-F3E37ADFF252}"/>
              </a:ext>
              <a:ext uri="{C183D7F6-B498-43B3-948B-1728B52AA6E4}">
                <adec:decorative xmlns:adec="http://schemas.microsoft.com/office/drawing/2017/decorative" val="1"/>
              </a:ext>
            </a:extLst>
          </p:cNvPr>
          <p:cNvSpPr/>
          <p:nvPr/>
        </p:nvSpPr>
        <p:spPr>
          <a:xfrm>
            <a:off x="1524" y="6633875"/>
            <a:ext cx="12188952" cy="224125"/>
          </a:xfrm>
          <a:custGeom>
            <a:avLst/>
            <a:gdLst/>
            <a:ahLst/>
            <a:cxnLst/>
            <a:rect l="l" t="t" r="r" b="b"/>
            <a:pathLst>
              <a:path w="18283428" h="336188">
                <a:moveTo>
                  <a:pt x="0" y="0"/>
                </a:moveTo>
                <a:lnTo>
                  <a:pt x="18283428" y="0"/>
                </a:lnTo>
                <a:lnTo>
                  <a:pt x="18283428" y="336188"/>
                </a:lnTo>
                <a:lnTo>
                  <a:pt x="0" y="336188"/>
                </a:lnTo>
                <a:lnTo>
                  <a:pt x="0" y="0"/>
                </a:lnTo>
                <a:close/>
              </a:path>
            </a:pathLst>
          </a:custGeom>
          <a:blipFill>
            <a:blip r:embed="rId4"/>
            <a:stretch>
              <a:fillRect t="-169864" b="-331"/>
            </a:stretch>
          </a:blipFill>
        </p:spPr>
        <p:txBody>
          <a:bodyPr/>
          <a:lstStyle/>
          <a:p>
            <a:endParaRPr lang="en-US"/>
          </a:p>
        </p:txBody>
      </p:sp>
      <p:sp>
        <p:nvSpPr>
          <p:cNvPr id="4" name="TextBox 4">
            <a:extLst>
              <a:ext uri="{FF2B5EF4-FFF2-40B4-BE49-F238E27FC236}">
                <a16:creationId xmlns:a16="http://schemas.microsoft.com/office/drawing/2014/main" id="{755571B3-7625-193A-3C4A-BD5E29AB9089}"/>
              </a:ext>
            </a:extLst>
          </p:cNvPr>
          <p:cNvSpPr txBox="1">
            <a:spLocks noGrp="1"/>
          </p:cNvSpPr>
          <p:nvPr>
            <p:ph type="title" idx="4294967295"/>
          </p:nvPr>
        </p:nvSpPr>
        <p:spPr>
          <a:xfrm>
            <a:off x="491531" y="754265"/>
            <a:ext cx="10167226" cy="44884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457200" rtl="0" eaLnBrk="1" fontAlgn="auto" latinLnBrk="0" hangingPunct="1">
              <a:lnSpc>
                <a:spcPts val="3456"/>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44692"/>
                </a:solidFill>
                <a:effectLst/>
                <a:uLnTx/>
                <a:uFillTx/>
                <a:latin typeface="Poppins" panose="00000500000000000000" pitchFamily="2" charset="0"/>
                <a:ea typeface="Poppins 1"/>
                <a:cs typeface="Poppins" panose="00000500000000000000" pitchFamily="2" charset="0"/>
                <a:sym typeface="Poppins 1"/>
              </a:rPr>
              <a:t>Sustainability Plan</a:t>
            </a:r>
          </a:p>
        </p:txBody>
      </p:sp>
      <p:sp>
        <p:nvSpPr>
          <p:cNvPr id="10" name="TextBox 9">
            <a:extLst>
              <a:ext uri="{FF2B5EF4-FFF2-40B4-BE49-F238E27FC236}">
                <a16:creationId xmlns:a16="http://schemas.microsoft.com/office/drawing/2014/main" id="{E1547C1D-0B05-D54B-FD36-997BA3CEBEDD}"/>
              </a:ext>
            </a:extLst>
          </p:cNvPr>
          <p:cNvSpPr txBox="1"/>
          <p:nvPr/>
        </p:nvSpPr>
        <p:spPr>
          <a:xfrm>
            <a:off x="417641" y="1514765"/>
            <a:ext cx="7156178" cy="5909310"/>
          </a:xfrm>
          <a:prstGeom prst="rect">
            <a:avLst/>
          </a:prstGeom>
          <a:noFill/>
        </p:spPr>
        <p:txBody>
          <a:bodyPr wrap="square" rtlCol="0">
            <a:spAutoFit/>
          </a:bodyPr>
          <a:lstStyle/>
          <a:p>
            <a:r>
              <a:rPr lang="en-US" dirty="0">
                <a:latin typeface="Poppins" panose="00000500000000000000" pitchFamily="2" charset="0"/>
                <a:cs typeface="Poppins" panose="00000500000000000000" pitchFamily="2" charset="0"/>
              </a:rPr>
              <a:t>Build upon the existing foundation of Lake County’s Digital Growth Initiative</a:t>
            </a:r>
          </a:p>
          <a:p>
            <a:endParaRPr lang="en-US" dirty="0"/>
          </a:p>
          <a:p>
            <a:r>
              <a:rPr lang="en-US" dirty="0">
                <a:latin typeface="Poppins" panose="00000500000000000000" pitchFamily="2" charset="0"/>
                <a:cs typeface="Poppins" panose="00000500000000000000" pitchFamily="2" charset="0"/>
              </a:rPr>
              <a:t>Bootcamp Focus Areas</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NorthStar Digital Literacy Curriculum</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Digital Certificates &amp; Micro-Credentials</a:t>
            </a:r>
          </a:p>
          <a:p>
            <a:endParaRPr lang="en-US" dirty="0">
              <a:latin typeface="Poppins" panose="00000500000000000000" pitchFamily="2" charset="0"/>
              <a:cs typeface="Poppins" panose="00000500000000000000" pitchFamily="2" charset="0"/>
            </a:endParaRPr>
          </a:p>
          <a:p>
            <a:r>
              <a:rPr lang="en-US" dirty="0">
                <a:latin typeface="Poppins" panose="00000500000000000000" pitchFamily="2" charset="0"/>
                <a:cs typeface="Poppins" panose="00000500000000000000" pitchFamily="2" charset="0"/>
              </a:rPr>
              <a:t>Embed AI fluency in Job Center career readiness workshops</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Resume Writing</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Effective Job Search</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Interviewing skills</a:t>
            </a:r>
          </a:p>
          <a:p>
            <a:pPr marL="285750" indent="-285750">
              <a:buFont typeface="Arial" panose="020B0604020202020204" pitchFamily="34" charset="0"/>
              <a:buChar char="•"/>
            </a:pPr>
            <a:endParaRPr lang="en-US" dirty="0">
              <a:latin typeface="Poppins" panose="00000500000000000000" pitchFamily="2" charset="0"/>
              <a:cs typeface="Poppins" panose="00000500000000000000" pitchFamily="2" charset="0"/>
            </a:endParaRPr>
          </a:p>
          <a:p>
            <a:r>
              <a:rPr lang="en-US" dirty="0">
                <a:latin typeface="Poppins" panose="00000500000000000000" pitchFamily="2" charset="0"/>
                <a:cs typeface="Poppins" panose="00000500000000000000" pitchFamily="2" charset="0"/>
              </a:rPr>
              <a:t>Purpose &amp; Impact</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Strengthen Workforce Readiness</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Support Layoff-Impacted Workers</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Enhance Countywide Digital Capacity</a:t>
            </a:r>
            <a:endParaRPr lang="en-US" dirty="0"/>
          </a:p>
          <a:p>
            <a:endParaRPr lang="en-US" dirty="0">
              <a:latin typeface="Poppins" panose="00000500000000000000" pitchFamily="2" charset="0"/>
              <a:cs typeface="Poppins" panose="00000500000000000000" pitchFamily="2" charset="0"/>
            </a:endParaRPr>
          </a:p>
          <a:p>
            <a:pPr lvl="1"/>
            <a:endParaRPr lang="en-US"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dirty="0">
              <a:latin typeface="Poppins" panose="00000500000000000000" pitchFamily="2" charset="0"/>
              <a:cs typeface="Poppins" panose="00000500000000000000" pitchFamily="2" charset="0"/>
            </a:endParaRPr>
          </a:p>
          <a:p>
            <a:endParaRPr lang="en-US"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dirty="0"/>
          </a:p>
        </p:txBody>
      </p:sp>
      <p:sp>
        <p:nvSpPr>
          <p:cNvPr id="5" name="Rectangle: Rounded Corners 4" descr="image of people in a conference room">
            <a:extLst>
              <a:ext uri="{FF2B5EF4-FFF2-40B4-BE49-F238E27FC236}">
                <a16:creationId xmlns:a16="http://schemas.microsoft.com/office/drawing/2014/main" id="{EADEE5D0-C19D-9F24-956E-0ECD3405E8B7}"/>
              </a:ext>
            </a:extLst>
          </p:cNvPr>
          <p:cNvSpPr/>
          <p:nvPr/>
        </p:nvSpPr>
        <p:spPr>
          <a:xfrm>
            <a:off x="7587969" y="2059608"/>
            <a:ext cx="3962400" cy="2926808"/>
          </a:xfrm>
          <a:prstGeom prst="roundRect">
            <a:avLst/>
          </a:prstGeom>
          <a:blipFill>
            <a:blip r:embed="rId5"/>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8087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270BB-AA0F-6387-9471-B93336F3C0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38CA4B-DEE5-C5E4-75ED-019DB48C78B0}"/>
              </a:ext>
              <a:ext uri="{C183D7F6-B498-43B3-948B-1728B52AA6E4}">
                <adec:decorative xmlns:adec="http://schemas.microsoft.com/office/drawing/2017/decorative" val="1"/>
              </a:ext>
            </a:extLst>
          </p:cNvPr>
          <p:cNvSpPr/>
          <p:nvPr/>
        </p:nvSpPr>
        <p:spPr>
          <a:xfrm>
            <a:off x="0" y="0"/>
            <a:ext cx="12188952" cy="263174"/>
          </a:xfrm>
          <a:custGeom>
            <a:avLst/>
            <a:gdLst/>
            <a:ahLst/>
            <a:cxnLst/>
            <a:rect l="l" t="t" r="r" b="b"/>
            <a:pathLst>
              <a:path w="18283428" h="394761">
                <a:moveTo>
                  <a:pt x="0" y="0"/>
                </a:moveTo>
                <a:lnTo>
                  <a:pt x="18283428" y="0"/>
                </a:lnTo>
                <a:lnTo>
                  <a:pt x="18283428" y="394761"/>
                </a:lnTo>
                <a:lnTo>
                  <a:pt x="0" y="394761"/>
                </a:lnTo>
                <a:lnTo>
                  <a:pt x="0" y="0"/>
                </a:lnTo>
                <a:close/>
              </a:path>
            </a:pathLst>
          </a:custGeom>
          <a:blipFill>
            <a:blip r:embed="rId3"/>
            <a:stretch>
              <a:fillRect l="-74" r="-74" b="-301413"/>
            </a:stretch>
          </a:blipFill>
        </p:spPr>
        <p:txBody>
          <a:bodyPr/>
          <a:lstStyle/>
          <a:p>
            <a:endParaRPr lang="en-US"/>
          </a:p>
        </p:txBody>
      </p:sp>
      <p:sp>
        <p:nvSpPr>
          <p:cNvPr id="4" name="TextBox 4">
            <a:extLst>
              <a:ext uri="{FF2B5EF4-FFF2-40B4-BE49-F238E27FC236}">
                <a16:creationId xmlns:a16="http://schemas.microsoft.com/office/drawing/2014/main" id="{C3861D3A-CCAF-5EDA-F56F-B9257A3EA223}"/>
              </a:ext>
            </a:extLst>
          </p:cNvPr>
          <p:cNvSpPr txBox="1">
            <a:spLocks noGrp="1"/>
          </p:cNvSpPr>
          <p:nvPr>
            <p:ph type="title" idx="4294967295"/>
          </p:nvPr>
        </p:nvSpPr>
        <p:spPr>
          <a:xfrm>
            <a:off x="676588" y="708099"/>
            <a:ext cx="10167226" cy="44884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457200" rtl="0" eaLnBrk="1" fontAlgn="auto" latinLnBrk="0" hangingPunct="1">
              <a:lnSpc>
                <a:spcPts val="3456"/>
              </a:lnSpc>
              <a:spcBef>
                <a:spcPct val="0"/>
              </a:spcBef>
              <a:spcAft>
                <a:spcPts val="0"/>
              </a:spcAft>
              <a:buClrTx/>
              <a:buSzTx/>
              <a:buFontTx/>
              <a:buNone/>
              <a:tabLst/>
              <a:defRPr/>
            </a:pPr>
            <a:r>
              <a:rPr kumimoji="0" lang="en-US" sz="3200" b="0" i="0" u="none" strike="noStrike" kern="1200" cap="none" spc="0" normalizeH="0" baseline="0" noProof="0">
                <a:ln>
                  <a:noFill/>
                </a:ln>
                <a:solidFill>
                  <a:srgbClr val="044692"/>
                </a:solidFill>
                <a:effectLst/>
                <a:uLnTx/>
                <a:uFillTx/>
                <a:latin typeface="Poppins"/>
                <a:ea typeface="Poppins 1"/>
                <a:cs typeface="Poppins"/>
                <a:sym typeface="Poppins 1"/>
              </a:rPr>
              <a:t>Continuous Learning: Ai4 2026 conference </a:t>
            </a:r>
          </a:p>
        </p:txBody>
      </p:sp>
      <p:sp>
        <p:nvSpPr>
          <p:cNvPr id="11" name="TextBox 10">
            <a:extLst>
              <a:ext uri="{FF2B5EF4-FFF2-40B4-BE49-F238E27FC236}">
                <a16:creationId xmlns:a16="http://schemas.microsoft.com/office/drawing/2014/main" id="{8AAF8707-4278-005D-357B-D44275FDCC83}"/>
              </a:ext>
            </a:extLst>
          </p:cNvPr>
          <p:cNvSpPr txBox="1"/>
          <p:nvPr/>
        </p:nvSpPr>
        <p:spPr>
          <a:xfrm>
            <a:off x="491531" y="1429224"/>
            <a:ext cx="6219121" cy="286232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Trending Topics</a:t>
            </a:r>
          </a:p>
          <a:p>
            <a:pPr marL="742950" lvl="1" indent="-285750">
              <a:buFont typeface="Arial" panose="020B0604020202020204" pitchFamily="34" charset="0"/>
              <a:buChar char="•"/>
            </a:pPr>
            <a:r>
              <a:rPr lang="en-US" dirty="0">
                <a:latin typeface="Poppins" panose="00000500000000000000" pitchFamily="2" charset="0"/>
                <a:cs typeface="Poppins" panose="00000500000000000000" pitchFamily="2" charset="0"/>
              </a:rPr>
              <a:t>Job and Industry Transformation</a:t>
            </a:r>
          </a:p>
          <a:p>
            <a:pPr marL="742950" lvl="1" indent="-285750">
              <a:buFont typeface="Arial" panose="020B0604020202020204" pitchFamily="34" charset="0"/>
              <a:buChar char="•"/>
            </a:pPr>
            <a:r>
              <a:rPr lang="en-US" dirty="0">
                <a:latin typeface="Poppins"/>
                <a:cs typeface="Poppins"/>
              </a:rPr>
              <a:t>“Tokenomics”</a:t>
            </a:r>
          </a:p>
          <a:p>
            <a:pPr marL="742950" lvl="1" indent="-285750">
              <a:buFont typeface="Arial" panose="020B0604020202020204" pitchFamily="34" charset="0"/>
              <a:buChar char="•"/>
            </a:pPr>
            <a:r>
              <a:rPr lang="en-US" dirty="0">
                <a:latin typeface="Poppins" panose="00000500000000000000" pitchFamily="2" charset="0"/>
                <a:cs typeface="Poppins" panose="00000500000000000000" pitchFamily="2" charset="0"/>
              </a:rPr>
              <a:t>Agentic AI – deployment and workflows</a:t>
            </a:r>
          </a:p>
          <a:p>
            <a:pPr marL="742950" lvl="1" indent="-285750">
              <a:buFont typeface="Arial" panose="020B0604020202020204" pitchFamily="34" charset="0"/>
              <a:buChar char="•"/>
            </a:pPr>
            <a:r>
              <a:rPr lang="en-US" dirty="0">
                <a:latin typeface="Poppins"/>
                <a:cs typeface="Poppins"/>
              </a:rPr>
              <a:t>Governance, regulation, and guardrails</a:t>
            </a:r>
            <a:endParaRPr lang="en-US" dirty="0">
              <a:latin typeface="Poppins" panose="00000500000000000000" pitchFamily="2" charset="0"/>
              <a:cs typeface="Poppins" panose="00000500000000000000" pitchFamily="2" charset="0"/>
            </a:endParaRPr>
          </a:p>
          <a:p>
            <a:pPr marL="742950" lvl="1" indent="-285750">
              <a:buFont typeface="Arial" panose="020B0604020202020204" pitchFamily="34" charset="0"/>
              <a:buChar char="•"/>
            </a:pPr>
            <a:r>
              <a:rPr lang="en-US" dirty="0">
                <a:latin typeface="Poppins" panose="00000500000000000000" pitchFamily="2" charset="0"/>
                <a:cs typeface="Poppins" panose="00000500000000000000" pitchFamily="2" charset="0"/>
              </a:rPr>
              <a:t>Ethics and responsible Use</a:t>
            </a:r>
          </a:p>
          <a:p>
            <a:pPr lvl="1"/>
            <a:endParaRPr lang="en-US" dirty="0">
              <a:latin typeface="Poppins" panose="00000500000000000000" pitchFamily="2" charset="0"/>
              <a:cs typeface="Poppins" panose="00000500000000000000" pitchFamily="2" charset="0"/>
            </a:endParaRPr>
          </a:p>
          <a:p>
            <a:pPr lvl="1"/>
            <a:endParaRPr lang="en-US" dirty="0">
              <a:latin typeface="Poppins" panose="00000500000000000000" pitchFamily="2" charset="0"/>
              <a:cs typeface="Poppins" panose="00000500000000000000" pitchFamily="2" charset="0"/>
            </a:endParaRPr>
          </a:p>
          <a:p>
            <a:endParaRPr lang="en-US"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dirty="0"/>
          </a:p>
        </p:txBody>
      </p:sp>
      <p:pic>
        <p:nvPicPr>
          <p:cNvPr id="3074" name="Picture 2" descr="People attending an AI conference">
            <a:extLst>
              <a:ext uri="{FF2B5EF4-FFF2-40B4-BE49-F238E27FC236}">
                <a16:creationId xmlns:a16="http://schemas.microsoft.com/office/drawing/2014/main" id="{D7B68C18-F780-37CC-DEC3-CCF261F584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9858" y="3634506"/>
            <a:ext cx="4264141" cy="2770500"/>
          </a:xfrm>
          <a:prstGeom prst="round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text and a robot standing&#10;">
            <a:extLst>
              <a:ext uri="{FF2B5EF4-FFF2-40B4-BE49-F238E27FC236}">
                <a16:creationId xmlns:a16="http://schemas.microsoft.com/office/drawing/2014/main" id="{59D1B2A4-864D-4AA8-84C8-B8589D213EE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5927156" y="2787980"/>
            <a:ext cx="4948051" cy="2286000"/>
          </a:xfrm>
          <a:prstGeom prst="roundRect">
            <a:avLst/>
          </a:prstGeom>
        </p:spPr>
      </p:pic>
      <p:pic>
        <p:nvPicPr>
          <p:cNvPr id="6" name="Picture 5" descr="A picture containing robots">
            <a:extLst>
              <a:ext uri="{FF2B5EF4-FFF2-40B4-BE49-F238E27FC236}">
                <a16:creationId xmlns:a16="http://schemas.microsoft.com/office/drawing/2014/main" id="{4B8B9C99-D6BD-B19E-F5D2-F1780CC59A9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8369788" y="2752407"/>
            <a:ext cx="4948052" cy="2286000"/>
          </a:xfrm>
          <a:prstGeom prst="roundRect">
            <a:avLst/>
          </a:prstGeom>
        </p:spPr>
      </p:pic>
      <p:sp>
        <p:nvSpPr>
          <p:cNvPr id="3" name="Freeform 3">
            <a:extLst>
              <a:ext uri="{FF2B5EF4-FFF2-40B4-BE49-F238E27FC236}">
                <a16:creationId xmlns:a16="http://schemas.microsoft.com/office/drawing/2014/main" id="{DD42BB15-161C-17C4-5F20-1AC4E953A53F}"/>
              </a:ext>
              <a:ext uri="{C183D7F6-B498-43B3-948B-1728B52AA6E4}">
                <adec:decorative xmlns:adec="http://schemas.microsoft.com/office/drawing/2017/decorative" val="1"/>
              </a:ext>
            </a:extLst>
          </p:cNvPr>
          <p:cNvSpPr/>
          <p:nvPr/>
        </p:nvSpPr>
        <p:spPr>
          <a:xfrm>
            <a:off x="1524" y="6633875"/>
            <a:ext cx="12188952" cy="224125"/>
          </a:xfrm>
          <a:custGeom>
            <a:avLst/>
            <a:gdLst/>
            <a:ahLst/>
            <a:cxnLst/>
            <a:rect l="l" t="t" r="r" b="b"/>
            <a:pathLst>
              <a:path w="18283428" h="336188">
                <a:moveTo>
                  <a:pt x="0" y="0"/>
                </a:moveTo>
                <a:lnTo>
                  <a:pt x="18283428" y="0"/>
                </a:lnTo>
                <a:lnTo>
                  <a:pt x="18283428" y="336188"/>
                </a:lnTo>
                <a:lnTo>
                  <a:pt x="0" y="336188"/>
                </a:lnTo>
                <a:lnTo>
                  <a:pt x="0" y="0"/>
                </a:lnTo>
                <a:close/>
              </a:path>
            </a:pathLst>
          </a:custGeom>
          <a:blipFill>
            <a:blip r:embed="rId7"/>
            <a:stretch>
              <a:fillRect t="-169864" b="-331"/>
            </a:stretch>
          </a:blipFill>
        </p:spPr>
        <p:txBody>
          <a:bodyPr/>
          <a:lstStyle/>
          <a:p>
            <a:endParaRPr lang="en-US"/>
          </a:p>
        </p:txBody>
      </p:sp>
    </p:spTree>
    <p:extLst>
      <p:ext uri="{BB962C8B-B14F-4D97-AF65-F5344CB8AC3E}">
        <p14:creationId xmlns:p14="http://schemas.microsoft.com/office/powerpoint/2010/main" val="3019899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878D90-3510-3EB7-521B-D55BF979A656}"/>
              </a:ext>
            </a:extLst>
          </p:cNvPr>
          <p:cNvSpPr>
            <a:spLocks noGrp="1"/>
          </p:cNvSpPr>
          <p:nvPr>
            <p:ph type="title"/>
          </p:nvPr>
        </p:nvSpPr>
        <p:spPr>
          <a:xfrm>
            <a:off x="838200" y="1192038"/>
            <a:ext cx="10515600" cy="1325563"/>
          </a:xfrm>
        </p:spPr>
        <p:txBody>
          <a:bodyPr>
            <a:normAutofit/>
          </a:bodyPr>
          <a:lstStyle/>
          <a:p>
            <a:r>
              <a:rPr lang="en-US" sz="4400" dirty="0">
                <a:solidFill>
                  <a:srgbClr val="044692"/>
                </a:solidFill>
                <a:latin typeface="Poppins" pitchFamily="2" charset="77"/>
                <a:cs typeface="Poppins" pitchFamily="2" charset="77"/>
              </a:rPr>
              <a:t>Thank You!</a:t>
            </a:r>
            <a:endParaRPr lang="en-US" sz="4400" dirty="0"/>
          </a:p>
        </p:txBody>
      </p:sp>
      <p:sp>
        <p:nvSpPr>
          <p:cNvPr id="4" name="Content Placeholder 3">
            <a:extLst>
              <a:ext uri="{FF2B5EF4-FFF2-40B4-BE49-F238E27FC236}">
                <a16:creationId xmlns:a16="http://schemas.microsoft.com/office/drawing/2014/main" id="{B7F0AD65-5E58-3254-AC4D-4B03177EB2EA}"/>
              </a:ext>
            </a:extLst>
          </p:cNvPr>
          <p:cNvSpPr>
            <a:spLocks noGrp="1"/>
          </p:cNvSpPr>
          <p:nvPr>
            <p:ph idx="1"/>
          </p:nvPr>
        </p:nvSpPr>
        <p:spPr>
          <a:xfrm>
            <a:off x="838200" y="2653225"/>
            <a:ext cx="5507182" cy="3523738"/>
          </a:xfrm>
        </p:spPr>
        <p:txBody>
          <a:bodyPr>
            <a:normAutofit/>
          </a:bodyPr>
          <a:lstStyle/>
          <a:p>
            <a:pPr marL="0" indent="0">
              <a:lnSpc>
                <a:spcPct val="100000"/>
              </a:lnSpc>
              <a:spcBef>
                <a:spcPts val="600"/>
              </a:spcBef>
              <a:spcAft>
                <a:spcPts val="600"/>
              </a:spcAft>
              <a:buFont typeface="Arial" panose="020B0604020202020204" pitchFamily="34" charset="0"/>
              <a:buNone/>
            </a:pPr>
            <a:r>
              <a:rPr lang="en-US" sz="3200" b="1" dirty="0">
                <a:latin typeface="Poppins" pitchFamily="2" charset="77"/>
                <a:cs typeface="Poppins" pitchFamily="2" charset="77"/>
              </a:rPr>
              <a:t>We’d be happy to take any questions you may have. </a:t>
            </a:r>
          </a:p>
        </p:txBody>
      </p:sp>
      <p:pic>
        <p:nvPicPr>
          <p:cNvPr id="5" name="Picture 4" descr="Back of people's heads and raised hands at corporate presentation with speaker and whiteboard out of focus in background">
            <a:extLst>
              <a:ext uri="{FF2B5EF4-FFF2-40B4-BE49-F238E27FC236}">
                <a16:creationId xmlns:a16="http://schemas.microsoft.com/office/drawing/2014/main" id="{18676B8B-BB8B-ED22-12CC-CC7061C6D5BA}"/>
              </a:ext>
            </a:extLst>
          </p:cNvPr>
          <p:cNvPicPr>
            <a:picLocks noChangeAspect="1"/>
          </p:cNvPicPr>
          <p:nvPr/>
        </p:nvPicPr>
        <p:blipFill>
          <a:blip r:embed="rId3" cstate="print">
            <a:extLst>
              <a:ext uri="{28A0092B-C50C-407E-A947-70E740481C1C}">
                <a14:useLocalDpi xmlns:a14="http://schemas.microsoft.com/office/drawing/2010/main" val="0"/>
              </a:ext>
            </a:extLst>
          </a:blip>
          <a:srcRect l="22267" r="22267"/>
          <a:stretch/>
        </p:blipFill>
        <p:spPr>
          <a:xfrm>
            <a:off x="6466700" y="-3417"/>
            <a:ext cx="5725237" cy="6856674"/>
          </a:xfrm>
          <a:prstGeom prst="rect">
            <a:avLst/>
          </a:prstGeom>
        </p:spPr>
      </p:pic>
      <p:pic>
        <p:nvPicPr>
          <p:cNvPr id="9" name="Picture 8">
            <a:extLst>
              <a:ext uri="{FF2B5EF4-FFF2-40B4-BE49-F238E27FC236}">
                <a16:creationId xmlns:a16="http://schemas.microsoft.com/office/drawing/2014/main" id="{3C6DD9BD-060A-09C4-E507-5FD24424E24C}"/>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 y="6582030"/>
            <a:ext cx="12190476" cy="274320"/>
          </a:xfrm>
          <a:prstGeom prst="rect">
            <a:avLst/>
          </a:prstGeom>
        </p:spPr>
      </p:pic>
      <p:pic>
        <p:nvPicPr>
          <p:cNvPr id="8" name="Picture 7">
            <a:extLst>
              <a:ext uri="{FF2B5EF4-FFF2-40B4-BE49-F238E27FC236}">
                <a16:creationId xmlns:a16="http://schemas.microsoft.com/office/drawing/2014/main" id="{B2C6B332-E128-EB8C-BB53-641421C8BC8D}"/>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 y="0"/>
            <a:ext cx="12191999" cy="274320"/>
          </a:xfrm>
          <a:prstGeom prst="rect">
            <a:avLst/>
          </a:prstGeom>
        </p:spPr>
      </p:pic>
    </p:spTree>
    <p:extLst>
      <p:ext uri="{BB962C8B-B14F-4D97-AF65-F5344CB8AC3E}">
        <p14:creationId xmlns:p14="http://schemas.microsoft.com/office/powerpoint/2010/main" val="189576573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9074B6F15E7994698495FA92FFB2ED1" ma:contentTypeVersion="16" ma:contentTypeDescription="Create a new document." ma:contentTypeScope="" ma:versionID="d144191006247681a6f45efd4fc8ff45">
  <xsd:schema xmlns:xsd="http://www.w3.org/2001/XMLSchema" xmlns:xs="http://www.w3.org/2001/XMLSchema" xmlns:p="http://schemas.microsoft.com/office/2006/metadata/properties" xmlns:ns2="91ade71f-ec6f-4011-ac4b-d89cb42d777e" xmlns:ns3="449cc757-b46d-4978-9712-7c2b10ba86b0" targetNamespace="http://schemas.microsoft.com/office/2006/metadata/properties" ma:root="true" ma:fieldsID="ec65447bce739bbe594a73901d9625aa" ns2:_="" ns3:_="">
    <xsd:import namespace="91ade71f-ec6f-4011-ac4b-d89cb42d777e"/>
    <xsd:import namespace="449cc757-b46d-4978-9712-7c2b10ba86b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ade71f-ec6f-4011-ac4b-d89cb42d77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35cff012-ee14-4b5b-bba5-913c131cba5b"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49cc757-b46d-4978-9712-7c2b10ba86b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c84130b3-640e-4f8c-b0ac-7a06d5c0f004}" ma:internalName="TaxCatchAll" ma:showField="CatchAllData" ma:web="449cc757-b46d-4978-9712-7c2b10ba86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1ade71f-ec6f-4011-ac4b-d89cb42d777e">
      <Terms xmlns="http://schemas.microsoft.com/office/infopath/2007/PartnerControls"/>
    </lcf76f155ced4ddcb4097134ff3c332f>
    <TaxCatchAll xmlns="449cc757-b46d-4978-9712-7c2b10ba86b0" xsi:nil="true"/>
  </documentManagement>
</p:properties>
</file>

<file path=customXml/itemProps1.xml><?xml version="1.0" encoding="utf-8"?>
<ds:datastoreItem xmlns:ds="http://schemas.openxmlformats.org/officeDocument/2006/customXml" ds:itemID="{4CEF5AAD-6C6B-45BD-BAD9-1520D519B043}">
  <ds:schemaRefs>
    <ds:schemaRef ds:uri="449cc757-b46d-4978-9712-7c2b10ba86b0"/>
    <ds:schemaRef ds:uri="91ade71f-ec6f-4011-ac4b-d89cb42d77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299D32F-AB3E-470D-A680-61CA1F2F41D2}">
  <ds:schemaRefs>
    <ds:schemaRef ds:uri="http://schemas.microsoft.com/sharepoint/v3/contenttype/forms"/>
  </ds:schemaRefs>
</ds:datastoreItem>
</file>

<file path=customXml/itemProps3.xml><?xml version="1.0" encoding="utf-8"?>
<ds:datastoreItem xmlns:ds="http://schemas.openxmlformats.org/officeDocument/2006/customXml" ds:itemID="{C880A0D2-F1F1-47D1-9172-BAE373C9D669}">
  <ds:schemaRefs>
    <ds:schemaRef ds:uri="http://www.w3.org/XML/1998/namespace"/>
    <ds:schemaRef ds:uri="http://purl.org/dc/terms/"/>
    <ds:schemaRef ds:uri="http://schemas.microsoft.com/office/2006/metadata/properties"/>
    <ds:schemaRef ds:uri="http://schemas.microsoft.com/office/infopath/2007/PartnerControls"/>
    <ds:schemaRef ds:uri="449cc757-b46d-4978-9712-7c2b10ba86b0"/>
    <ds:schemaRef ds:uri="http://schemas.openxmlformats.org/package/2006/metadata/core-properties"/>
    <ds:schemaRef ds:uri="http://schemas.microsoft.com/office/2006/documentManagement/types"/>
    <ds:schemaRef ds:uri="91ade71f-ec6f-4011-ac4b-d89cb42d777e"/>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415</TotalTime>
  <Words>2578</Words>
  <Application>Microsoft Office PowerPoint</Application>
  <PresentationFormat>Widescreen</PresentationFormat>
  <Paragraphs>412</Paragraphs>
  <Slides>31</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Calibri Light</vt:lpstr>
      <vt:lpstr>Arial</vt:lpstr>
      <vt:lpstr>Open Sans</vt:lpstr>
      <vt:lpstr>Poppins 2 Bold</vt:lpstr>
      <vt:lpstr>Poppins Bold</vt:lpstr>
      <vt:lpstr>Open Sans Extrabold</vt:lpstr>
      <vt:lpstr>Aptos</vt:lpstr>
      <vt:lpstr>Poppins 1</vt:lpstr>
      <vt:lpstr>Poppins</vt:lpstr>
      <vt:lpstr>Calibri</vt:lpstr>
      <vt:lpstr>1_Office Theme</vt:lpstr>
      <vt:lpstr>Artificial Intelligence, Workforce Transformation, &amp; the Future of Work in Lake County</vt:lpstr>
      <vt:lpstr>Lake County, IL (not CA) At-a-Glance</vt:lpstr>
      <vt:lpstr>Agenda</vt:lpstr>
      <vt:lpstr>Lake County Workforce Development AI Initiative</vt:lpstr>
      <vt:lpstr>Project Managers</vt:lpstr>
      <vt:lpstr>Background</vt:lpstr>
      <vt:lpstr>Intent</vt:lpstr>
      <vt:lpstr>Scope of Work: Research and Impact Report</vt:lpstr>
      <vt:lpstr>Scope of Work – Program Overview</vt:lpstr>
      <vt:lpstr>Funding &amp; Duration</vt:lpstr>
      <vt:lpstr>Key Metrics</vt:lpstr>
      <vt:lpstr>Local AI Research &amp;  Impact Report</vt:lpstr>
      <vt:lpstr>AI Trends</vt:lpstr>
      <vt:lpstr>DOL AI Literacy Framework </vt:lpstr>
      <vt:lpstr>Industry Trends</vt:lpstr>
      <vt:lpstr>What AI Actually Looks Like at Work</vt:lpstr>
      <vt:lpstr>A Data-Driven Training Plan for the Workforce Ecosystem</vt:lpstr>
      <vt:lpstr>Building AI fluency in the Workforce Ecosystem</vt:lpstr>
      <vt:lpstr>AI Academy: Modules</vt:lpstr>
      <vt:lpstr>Self-paced learning modules</vt:lpstr>
      <vt:lpstr>Cohort I: Workforce Development Staff &amp; Digital Navigators</vt:lpstr>
      <vt:lpstr>Cohort II:  Summer Youth</vt:lpstr>
      <vt:lpstr>What’s Next?</vt:lpstr>
      <vt:lpstr>Building Digital Literacy in Partnership </vt:lpstr>
      <vt:lpstr>Strategic and equity-driven approach through partnerships</vt:lpstr>
      <vt:lpstr>Partnership and Integrated Services </vt:lpstr>
      <vt:lpstr>Expanding and Strengthening Digital Literacy</vt:lpstr>
      <vt:lpstr>Sustainability Plan</vt:lpstr>
      <vt:lpstr>Sustainability Plan</vt:lpstr>
      <vt:lpstr>Continuous Learning: Ai4 2026 conference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Ross, Ashannti</dc:creator>
  <cp:lastModifiedBy>Eric Nordstrom</cp:lastModifiedBy>
  <cp:revision>4</cp:revision>
  <cp:lastPrinted>2025-07-09T18:27:39Z</cp:lastPrinted>
  <dcterms:created xsi:type="dcterms:W3CDTF">2019-03-18T16:45:06Z</dcterms:created>
  <dcterms:modified xsi:type="dcterms:W3CDTF">2026-09-09T16:50:32Z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0x01010059074B6F15E7994698495FA92FFB2ED1</vt:lpwstr>
  </property>
</Properties>
</file>