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2_0.xml" ContentType="application/vnd.ms-powerpoint.comments+xml"/>
  <Override PartName="/ppt/comments/modernComment_117_901B424B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1280" r:id="rId4"/>
    <p:sldId id="257" r:id="rId5"/>
    <p:sldId id="1283" r:id="rId6"/>
    <p:sldId id="258" r:id="rId7"/>
    <p:sldId id="1276" r:id="rId8"/>
    <p:sldId id="1279" r:id="rId9"/>
    <p:sldId id="259" r:id="rId10"/>
    <p:sldId id="260" r:id="rId11"/>
    <p:sldId id="1287" r:id="rId12"/>
    <p:sldId id="1284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1282" r:id="rId25"/>
    <p:sldId id="1285" r:id="rId26"/>
    <p:sldId id="272" r:id="rId27"/>
    <p:sldId id="1277" r:id="rId28"/>
    <p:sldId id="273" r:id="rId29"/>
    <p:sldId id="274" r:id="rId30"/>
    <p:sldId id="279" r:id="rId31"/>
    <p:sldId id="1286" r:id="rId32"/>
    <p:sldId id="1281" r:id="rId33"/>
    <p:sldId id="276" r:id="rId34"/>
    <p:sldId id="277" r:id="rId35"/>
  </p:sldIdLst>
  <p:sldSz cx="18288000" cy="10287000"/>
  <p:notesSz cx="6858000" cy="9144000"/>
  <p:embeddedFontLst>
    <p:embeddedFont>
      <p:font typeface="Crimson Text" panose="020B0604020202020204" charset="0"/>
      <p:regular r:id="rId37"/>
      <p:bold r:id="rId38"/>
      <p:italic r:id="rId39"/>
      <p:boldItalic r:id="rId40"/>
    </p:embeddedFont>
    <p:embeddedFont>
      <p:font typeface="Futura" panose="020B0604020202020204" charset="0"/>
      <p:regular r:id="rId41"/>
    </p:embeddedFont>
    <p:embeddedFont>
      <p:font typeface="Futura Bold" panose="020B0604020202020204" charset="0"/>
      <p:regular r:id="rId42"/>
    </p:embeddedFont>
    <p:embeddedFont>
      <p:font typeface="Futura Light" panose="020B0604020202020204" charset="0"/>
      <p:regular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Bold" panose="00000800000000000000" charset="0"/>
      <p:bold r:id="rId48"/>
    </p:embeddedFont>
  </p:embeddedFontLst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03BF1E-0A9E-6259-33F7-F4C3BF6A1C35}" name="Jacob Poore" initials="JP" userId="Jacob Poore" providerId="None"/>
  <p188:author id="{CB3203EC-3ED9-3685-2AA4-DD850ADBE44E}" name="Poore, Jacob" initials="JP" userId="S::jacob.poore@canyons.edu::2f483478-91df-42e0-a612-562323a8ff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730"/>
    <a:srgbClr val="004669"/>
    <a:srgbClr val="6CC9D8"/>
    <a:srgbClr val="5298A3"/>
    <a:srgbClr val="2E6878"/>
    <a:srgbClr val="A9BCC1"/>
    <a:srgbClr val="295965"/>
    <a:srgbClr val="DEE1CD"/>
    <a:srgbClr val="C8D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60" y="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ags" Target="tags/tag1.xml"/></Relationships>
</file>

<file path=ppt/comments/modernComment_11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B70842-6372-4531-BEFF-F2222DD58156}" authorId="{9603BF1E-0A9E-6259-33F7-F4C3BF6A1C35}" status="resolved" created="2026-08-26T23:52:16.685" complete="100000">
    <pc:sldMkLst xmlns:pc="http://schemas.microsoft.com/office/powerpoint/2013/main/command">
      <pc:docMk/>
      <pc:sldMk cId="0" sldId="274"/>
    </pc:sldMkLst>
    <p188:txBody>
      <a:bodyPr/>
      <a:lstStyle/>
      <a:p>
        <a:r>
          <a:rPr lang="en-US"/>
          <a:t>Added - I will speak to this work, much of which is just kicking off.</a:t>
        </a:r>
      </a:p>
    </p188:txBody>
  </p188:cm>
</p188:cmLst>
</file>

<file path=ppt/comments/modernComment_117_901B42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B12DD1-F754-4D1F-8644-7939498013FA}" authorId="{9603BF1E-0A9E-6259-33F7-F4C3BF6A1C35}" status="resolved" created="2026-08-26T23:52:24.639" complete="100000">
    <pc:sldMkLst xmlns:pc="http://schemas.microsoft.com/office/powerpoint/2013/main/command">
      <pc:docMk/>
      <pc:sldMk cId="2417705547" sldId="279"/>
    </pc:sldMkLst>
    <p188:txBody>
      <a:bodyPr/>
      <a:lstStyle/>
      <a:p>
        <a:r>
          <a:rPr lang="en-US"/>
          <a:t>Added - I will speak to this work, much of which is just kicking off.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3C5CB-603F-4B12-AC85-949E135C92CD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76A90-B920-4D4D-ADBF-64F512E87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8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43C7-1527-204E-C989-3F3606C9F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C49A5-255E-083E-C5CE-F9E78FB1D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A39CD-C1D6-662B-B977-2BFDE0F4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64B78-346D-9C7E-0A68-466F36D55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61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7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67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36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19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43C7-1527-204E-C989-3F3606C9F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C49A5-255E-083E-C5CE-F9E78FB1D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A39CD-C1D6-662B-B977-2BFDE0F4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64B78-346D-9C7E-0A68-466F36D55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0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50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43C7-1527-204E-C989-3F3606C9F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C49A5-255E-083E-C5CE-F9E78FB1D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A39CD-C1D6-662B-B977-2BFDE0F4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64B78-346D-9C7E-0A68-466F36D55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79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6A90-B920-4D4D-ADBF-64F512E8794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5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3AE-4094-4B69-91AB-90FE0E286BA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17750-457A-4E20-9D9F-4F818E048021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7AD-1995-42EF-A0D8-763339F62EB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11CF264-3FF4-7B40-FD7F-F4676FC5C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437FA-1AE6-49B9-AA53-B304FF7A0EC4}" type="datetime1">
              <a:rPr lang="en-US" smtClean="0"/>
              <a:t>9/3/2026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40C880-4059-B8E8-AF57-12F8C154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B97559-529D-4991-E09F-A409FBBF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78A4-AA28-4C10-B10D-513C066EBA45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610A0-FB1E-4E39-9D19-AE516129D82E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6F6A-67A9-4753-BAEC-03528CEA0A8B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190D9-BD5E-47D8-AD92-4B640D96DA49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8F7E-C13C-4D27-B1B4-298D936237B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EA43-BE6D-46B2-B411-390A23F93D8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79C8-EFF7-4AED-B269-D81D8F754AE3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85BB6D1-74C8-97AA-02A0-2BB8F21ECE33}"/>
              </a:ext>
            </a:extLst>
          </p:cNvPr>
          <p:cNvSpPr/>
          <p:nvPr/>
        </p:nvSpPr>
        <p:spPr>
          <a:xfrm>
            <a:off x="0" y="0"/>
            <a:ext cx="18288000" cy="74485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DB7AB-F1B7-6F38-82D6-79E29CE4D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0" y="1371602"/>
            <a:ext cx="11487150" cy="3543300"/>
          </a:xfrm>
        </p:spPr>
        <p:txBody>
          <a:bodyPr anchor="b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6CBC8-6805-1DF8-1084-1946E3ACA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2" y="5358086"/>
            <a:ext cx="11498580" cy="1193232"/>
          </a:xfrm>
        </p:spPr>
        <p:txBody>
          <a:bodyPr>
            <a:noAutofit/>
          </a:bodyPr>
          <a:lstStyle>
            <a:lvl1pPr marL="0" indent="0" algn="l">
              <a:buNone/>
              <a:defRPr sz="2100" b="0" i="0" cap="none" baseline="0">
                <a:solidFill>
                  <a:schemeClr val="bg1"/>
                </a:solidFill>
                <a:latin typeface="+mn-lt"/>
                <a:cs typeface="Montserrat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502347F-8A8E-5B5B-AFF3-344B5FF6A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76993" y="0"/>
            <a:ext cx="4611008" cy="744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6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Al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0A9002-32FA-337E-C3DF-47CEFBAC98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7755732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DB7AB-F1B7-6F38-82D6-79E29CE4D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2" y="4078559"/>
            <a:ext cx="13887449" cy="2261153"/>
          </a:xfrm>
        </p:spPr>
        <p:txBody>
          <a:bodyPr anchor="b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6CBC8-6805-1DF8-1084-1946E3ACA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1" y="6787274"/>
            <a:ext cx="13887449" cy="904461"/>
          </a:xfrm>
        </p:spPr>
        <p:txBody>
          <a:bodyPr>
            <a:noAutofit/>
          </a:bodyPr>
          <a:lstStyle>
            <a:lvl1pPr marL="0" indent="0" algn="l">
              <a:buNone/>
              <a:defRPr sz="2100" b="0" i="0" cap="none" baseline="0">
                <a:solidFill>
                  <a:schemeClr val="bg1"/>
                </a:solidFill>
                <a:latin typeface="+mn-lt"/>
                <a:cs typeface="Montserrat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41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82DE-A744-9550-53F8-3DE0B5240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1" y="1943101"/>
            <a:ext cx="11688041" cy="2735723"/>
          </a:xfrm>
        </p:spPr>
        <p:txBody>
          <a:bodyPr anchor="b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C1CA-471F-F798-5A01-3771139C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0251" y="5098257"/>
            <a:ext cx="11688041" cy="2483643"/>
          </a:xfrm>
        </p:spPr>
        <p:txBody>
          <a:bodyPr>
            <a:noAutofit/>
          </a:bodyPr>
          <a:lstStyle>
            <a:lvl1pPr marL="0" indent="0">
              <a:buNone/>
              <a:defRPr sz="2100" b="0" i="0" cap="none" baseline="0">
                <a:solidFill>
                  <a:schemeClr val="accent1"/>
                </a:solidFill>
                <a:latin typeface="+mn-lt"/>
                <a:cs typeface="Montserrat" pitchFamily="2" charset="0"/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D80889-E112-5A4B-109C-F447137CE710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C95418-79AC-8076-56C0-761E81906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5312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Al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82DE-A744-9550-53F8-3DE0B5240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0" y="1943101"/>
            <a:ext cx="7859370" cy="2735723"/>
          </a:xfrm>
        </p:spPr>
        <p:txBody>
          <a:bodyPr anchor="b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C1CA-471F-F798-5A01-3771139C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0252" y="5098257"/>
            <a:ext cx="7859367" cy="2483643"/>
          </a:xfrm>
        </p:spPr>
        <p:txBody>
          <a:bodyPr>
            <a:noAutofit/>
          </a:bodyPr>
          <a:lstStyle>
            <a:lvl1pPr marL="0" indent="0">
              <a:buNone/>
              <a:defRPr sz="2100" b="0" i="0" cap="none" baseline="0">
                <a:solidFill>
                  <a:schemeClr val="bg1"/>
                </a:solidFill>
                <a:latin typeface="Montserrat" pitchFamily="2" charset="77"/>
                <a:cs typeface="Montserrat" pitchFamily="2" charset="0"/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D158D95-9527-90EC-7FD4-E788563455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92108" y="658368"/>
            <a:ext cx="7895892" cy="9628632"/>
          </a:xfrm>
          <a:custGeom>
            <a:avLst/>
            <a:gdLst>
              <a:gd name="connsiteX0" fmla="*/ 3512852 w 5263928"/>
              <a:gd name="connsiteY0" fmla="*/ 0 h 6419088"/>
              <a:gd name="connsiteX1" fmla="*/ 5187286 w 5263928"/>
              <a:gd name="connsiteY1" fmla="*/ 423982 h 6419088"/>
              <a:gd name="connsiteX2" fmla="*/ 5263928 w 5263928"/>
              <a:gd name="connsiteY2" fmla="*/ 470543 h 6419088"/>
              <a:gd name="connsiteX3" fmla="*/ 5263928 w 5263928"/>
              <a:gd name="connsiteY3" fmla="*/ 6419088 h 6419088"/>
              <a:gd name="connsiteX4" fmla="*/ 1539855 w 5263928"/>
              <a:gd name="connsiteY4" fmla="*/ 6419088 h 6419088"/>
              <a:gd name="connsiteX5" fmla="*/ 1278352 w 5263928"/>
              <a:gd name="connsiteY5" fmla="*/ 6223540 h 6419088"/>
              <a:gd name="connsiteX6" fmla="*/ 0 w 5263928"/>
              <a:gd name="connsiteY6" fmla="*/ 3512852 h 6419088"/>
              <a:gd name="connsiteX7" fmla="*/ 3512852 w 5263928"/>
              <a:gd name="connsiteY7" fmla="*/ 0 h 64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63928" h="6419088">
                <a:moveTo>
                  <a:pt x="3512852" y="0"/>
                </a:moveTo>
                <a:cubicBezTo>
                  <a:pt x="4119132" y="0"/>
                  <a:pt x="4689539" y="153590"/>
                  <a:pt x="5187286" y="423982"/>
                </a:cubicBezTo>
                <a:lnTo>
                  <a:pt x="5263928" y="470543"/>
                </a:lnTo>
                <a:lnTo>
                  <a:pt x="5263928" y="6419088"/>
                </a:lnTo>
                <a:lnTo>
                  <a:pt x="1539855" y="6419088"/>
                </a:lnTo>
                <a:lnTo>
                  <a:pt x="1278352" y="6223540"/>
                </a:lnTo>
                <a:cubicBezTo>
                  <a:pt x="497630" y="5579231"/>
                  <a:pt x="0" y="4604156"/>
                  <a:pt x="0" y="3512852"/>
                </a:cubicBezTo>
                <a:cubicBezTo>
                  <a:pt x="0" y="1572757"/>
                  <a:pt x="1572757" y="0"/>
                  <a:pt x="351285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0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and Topic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3375719"/>
            <a:ext cx="16173450" cy="5368233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5A1CB-BE19-7921-181F-8A971486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24CD3-41A4-6815-97A8-2F11ADBD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F0E60-012C-CF30-8EDE-A8BD5956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59B2E6-0DF0-D45C-53D0-9B2A73B4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736497"/>
            <a:ext cx="16173450" cy="139541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BA4BA6F-52B9-F456-3671-25ACECB20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1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5503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2">
            <a:extLst>
              <a:ext uri="{FF2B5EF4-FFF2-40B4-BE49-F238E27FC236}">
                <a16:creationId xmlns:a16="http://schemas.microsoft.com/office/drawing/2014/main" id="{88B7ED89-3E2E-CE60-D03F-BEEC2E84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6250907" cy="10287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D5B1E-953B-B2F0-6C58-4DD9CE60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6605"/>
            <a:ext cx="4802151" cy="7937345"/>
          </a:xfrm>
        </p:spPr>
        <p:txBody>
          <a:bodyPr anchor="ctr">
            <a:noAutofit/>
          </a:bodyPr>
          <a:lstStyle>
            <a:lvl1pPr>
              <a:defRPr b="0" i="0">
                <a:solidFill>
                  <a:schemeClr val="bg1"/>
                </a:solidFill>
                <a:latin typeface="+mj-lt"/>
                <a:cs typeface="Crimson Tex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CBBDF93-795B-F9CD-70A4-E4F1118ADF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57279" y="807245"/>
            <a:ext cx="9630471" cy="7936706"/>
          </a:xfrm>
        </p:spPr>
        <p:txBody>
          <a:bodyPr anchor="ctr"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96745-7D30-7A27-87DD-072A95C4D6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CDA221-A94E-6387-5C97-9B21C2D49C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E977F5-F1E9-6A5E-BF89-2A3BDFC651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02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457451"/>
            <a:ext cx="16173450" cy="6286502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8A5C9D-D52C-5782-E796-E0F91DCB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C7B04BC-B946-1A32-889F-550E81FF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1EA30BD-42F8-E63F-7A59-E5C9EFFF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FDC0E3-B1EE-DD51-CE09-B3B7A28B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3566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333" y="2457451"/>
            <a:ext cx="12629367" cy="4085240"/>
          </a:xfrm>
        </p:spPr>
        <p:txBody>
          <a:bodyPr>
            <a:noAutofit/>
          </a:bodyPr>
          <a:lstStyle>
            <a:lvl1pPr marL="352425" indent="-338138">
              <a:tabLst/>
              <a:defRPr sz="5400" b="0" i="0">
                <a:latin typeface="Montserrat" pitchFamily="2" charset="0"/>
                <a:cs typeface="Montserrat" pitchFamily="2" charset="0"/>
              </a:defRPr>
            </a:lvl1pPr>
            <a:lvl2pPr marL="1033463" indent="-340520">
              <a:tabLst/>
              <a:defRPr sz="4800" b="0" i="0">
                <a:latin typeface="Montserrat" pitchFamily="2" charset="0"/>
                <a:cs typeface="Montserrat" pitchFamily="2" charset="0"/>
              </a:defRPr>
            </a:lvl2pPr>
            <a:lvl3pPr marL="1550195" indent="-252413">
              <a:tabLst/>
              <a:defRPr sz="3600" b="0" i="0">
                <a:latin typeface="Montserrat" pitchFamily="2" charset="0"/>
                <a:cs typeface="Montserrat" pitchFamily="2" charset="0"/>
              </a:defRPr>
            </a:lvl3pPr>
            <a:lvl4pPr marL="1978820" indent="-340520">
              <a:tabLst/>
              <a:defRPr sz="2700" b="0" i="0">
                <a:latin typeface="Montserrat" pitchFamily="2" charset="0"/>
                <a:cs typeface="Montserrat" pitchFamily="2" charset="0"/>
              </a:defRPr>
            </a:lvl4pPr>
            <a:lvl5pPr marL="2316957" indent="-264320">
              <a:tabLst/>
              <a:defRPr sz="2400" b="0" i="0">
                <a:latin typeface="Montserrat" pitchFamily="2" charset="0"/>
                <a:cs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01DA2B-5F28-5CDD-A536-64B5B5980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86051" y="6762751"/>
            <a:ext cx="12680519" cy="1624013"/>
          </a:xfrm>
        </p:spPr>
        <p:txBody>
          <a:bodyPr>
            <a:noAutofit/>
          </a:bodyPr>
          <a:lstStyle>
            <a:lvl1pPr>
              <a:defRPr sz="2400" b="0" i="0">
                <a:latin typeface="Montserrat" pitchFamily="2" charset="0"/>
                <a:cs typeface="Montserrat" pitchFamily="2" charset="0"/>
              </a:defRPr>
            </a:lvl1pPr>
            <a:lvl2pPr>
              <a:defRPr sz="2100" b="0" i="0">
                <a:latin typeface="Montserrat" pitchFamily="2" charset="0"/>
                <a:cs typeface="Montserrat" pitchFamily="2" charset="0"/>
              </a:defRPr>
            </a:lvl2pPr>
            <a:lvl3pPr>
              <a:defRPr sz="1800" b="0" i="0">
                <a:latin typeface="Montserrat" pitchFamily="2" charset="0"/>
                <a:cs typeface="Montserrat" pitchFamily="2" charset="0"/>
              </a:defRPr>
            </a:lvl3pPr>
            <a:lvl4pPr>
              <a:defRPr sz="1650" b="0" i="0">
                <a:latin typeface="Montserrat" pitchFamily="2" charset="0"/>
                <a:cs typeface="Montserrat" pitchFamily="2" charset="0"/>
              </a:defRPr>
            </a:lvl4pPr>
            <a:lvl5pPr>
              <a:defRPr sz="1650" b="0" i="0">
                <a:latin typeface="Montserrat" pitchFamily="2" charset="0"/>
                <a:cs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124E5E3-18F0-4F2B-236A-2E0EC5F1047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AD95CED-4A9F-8D1B-E70F-2A99CC4A1A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5D8F2A3-5D2C-32F6-6F29-65C4528256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63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28">
          <p15:clr>
            <a:srgbClr val="FBAE40"/>
          </p15:clr>
        </p15:guide>
        <p15:guide id="2" pos="6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E49E-68AE-3D4A-CCBD-9A59A896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1E2B-4B99-79B0-54BA-F49948919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2457452"/>
            <a:ext cx="7943850" cy="628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D620F-DFA8-EBB8-FB1A-557744CCE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457452"/>
            <a:ext cx="7943850" cy="628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A73D59B-3848-C639-59ED-4BA6F39E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E9FD55C-6E1C-4C9D-53DB-99D66F30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471297C-D859-45B6-206E-A6A5C3C0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14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F2165-9583-7CB2-70DB-307E8789F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457450"/>
            <a:ext cx="7998714" cy="941733"/>
          </a:xfrm>
        </p:spPr>
        <p:txBody>
          <a:bodyPr anchor="b"/>
          <a:lstStyle>
            <a:lvl1pPr marL="0" indent="0">
              <a:buNone/>
              <a:defRPr sz="3600" b="1" i="0">
                <a:solidFill>
                  <a:schemeClr val="accent4"/>
                </a:solidFill>
                <a:latin typeface="+mj-lt"/>
                <a:cs typeface="Montserrat" pitchFamily="2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7EE57-DAEA-B914-ACA2-B6F96AC8C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" y="3443909"/>
            <a:ext cx="7998714" cy="5300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53258-96B5-9E5B-F67A-CEAD93067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39597" y="2457450"/>
            <a:ext cx="7962554" cy="941733"/>
          </a:xfrm>
        </p:spPr>
        <p:txBody>
          <a:bodyPr anchor="b"/>
          <a:lstStyle>
            <a:lvl1pPr marL="0" indent="0">
              <a:buNone/>
              <a:defRPr sz="3600" b="1" i="0">
                <a:solidFill>
                  <a:schemeClr val="accent4"/>
                </a:solidFill>
                <a:latin typeface="+mj-lt"/>
                <a:cs typeface="Montserrat" pitchFamily="2" charset="0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BB925-1330-9833-6E33-FF4ADA5D2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443909"/>
            <a:ext cx="7943850" cy="5300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35972E6-0E46-2BF5-BBFF-EF8666AC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48691-893B-6F37-CE17-155A4A13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FE0AF15-F606-B96C-8787-67D7090E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A79A78C-65F4-2273-8B62-51F283BD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6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9248-1B51-A1C8-3207-547CC889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6615B6-55A6-DF14-A45E-13D169A0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785D2B-BE35-030B-4E29-01C6755E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BBA51A-2110-22D9-FE07-300E3E80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398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B087FA3-3D5E-C7D1-ADA0-7C26A4C77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87750" y="9548447"/>
            <a:ext cx="914400" cy="281354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71C7A2D-7626-D116-176C-7E8EB9A0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E65B32C-65EF-A791-F7B2-77B36998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792D363-72DA-7695-4595-37A65CA4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11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Left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7F2E-1FFC-A5A4-73D4-9F4D8FAF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1253477"/>
            <a:ext cx="7500158" cy="1876571"/>
          </a:xfrm>
        </p:spPr>
        <p:txBody>
          <a:bodyPr anchor="b"/>
          <a:lstStyle>
            <a:lvl1pPr>
              <a:defRPr sz="4800" b="0" i="0">
                <a:latin typeface="+mj-lt"/>
                <a:cs typeface="Crimson Tex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8E8E5-0198-7770-6FA2-6DF999DD6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1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D1E618C-51B5-BEC2-6D7D-02C8AEBC25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0" y="1943100"/>
            <a:ext cx="8058150" cy="680085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11E434C-368E-4F45-B953-DBB1BFB1AD7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8699" y="3394223"/>
            <a:ext cx="7500158" cy="534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AAEC7-68DF-DDA6-D55C-E510425F24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06756-27ED-33D0-75FC-F94F978CCA9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94F42F-1FB0-7782-FA7F-C0054930A4A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0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7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0BF6-7C48-C262-120B-F25520A9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2" y="3395876"/>
            <a:ext cx="10711266" cy="5348075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8E8E5-0198-7770-6FA2-6DF999DD6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1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D3B97E0-A7D8-416E-44CE-2B8D1AA962E5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11991314" y="2498898"/>
            <a:ext cx="5184921" cy="5184921"/>
          </a:xfrm>
          <a:custGeom>
            <a:avLst/>
            <a:gdLst>
              <a:gd name="connsiteX0" fmla="*/ 2296511 w 4593022"/>
              <a:gd name="connsiteY0" fmla="*/ 0 h 4593022"/>
              <a:gd name="connsiteX1" fmla="*/ 4593022 w 4593022"/>
              <a:gd name="connsiteY1" fmla="*/ 2296511 h 4593022"/>
              <a:gd name="connsiteX2" fmla="*/ 2296511 w 4593022"/>
              <a:gd name="connsiteY2" fmla="*/ 4593022 h 4593022"/>
              <a:gd name="connsiteX3" fmla="*/ 0 w 4593022"/>
              <a:gd name="connsiteY3" fmla="*/ 2296511 h 4593022"/>
              <a:gd name="connsiteX4" fmla="*/ 2296511 w 4593022"/>
              <a:gd name="connsiteY4" fmla="*/ 0 h 459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3022" h="4593022">
                <a:moveTo>
                  <a:pt x="2296511" y="0"/>
                </a:moveTo>
                <a:cubicBezTo>
                  <a:pt x="3564839" y="0"/>
                  <a:pt x="4593022" y="1028183"/>
                  <a:pt x="4593022" y="2296511"/>
                </a:cubicBezTo>
                <a:cubicBezTo>
                  <a:pt x="4593022" y="3564839"/>
                  <a:pt x="3564839" y="4593022"/>
                  <a:pt x="2296511" y="4593022"/>
                </a:cubicBezTo>
                <a:cubicBezTo>
                  <a:pt x="1028183" y="4593022"/>
                  <a:pt x="0" y="3564839"/>
                  <a:pt x="0" y="2296511"/>
                </a:cubicBezTo>
                <a:cubicBezTo>
                  <a:pt x="0" y="1028183"/>
                  <a:pt x="1028183" y="0"/>
                  <a:pt x="229651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0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B437C-4898-0616-74CD-61A8AB19357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915C59B-4636-9A98-09F2-9A5347DCB1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AC7751-D164-3D32-F119-E29E2C9AAC9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DF9794-2322-270B-5929-46D8A9A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1745497"/>
            <a:ext cx="10735475" cy="139541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743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1AC025-CE0B-08F4-C4A8-9CC614AE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24CF96-6FE8-FEE4-A7F8-115CF6B2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0F3007-76AE-2472-F59C-5792F428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27A73B-B13C-036D-AF45-70BD2CA6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512867"/>
            <a:ext cx="16173450" cy="104360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6A51DD-7F0D-2B8C-E9AF-627EEACB6C0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8288000" cy="8241507"/>
          </a:xfrm>
          <a:solidFill>
            <a:schemeClr val="bg2"/>
          </a:solidFill>
        </p:spPr>
        <p:txBody>
          <a:bodyPr anchor="ctr"/>
          <a:lstStyle>
            <a:lvl1pPr marL="0" indent="0" algn="ctr">
              <a:buFontTx/>
              <a:buNone/>
              <a:defRPr sz="3000"/>
            </a:lvl1pPr>
          </a:lstStyle>
          <a:p>
            <a:pPr lvl="0"/>
            <a:r>
              <a:rPr lang="en-US" dirty="0"/>
              <a:t>Click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1537054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DF37-4844-1FCB-6728-9ACEAE4B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251" y="1516149"/>
            <a:ext cx="7109751" cy="2400300"/>
          </a:xfrm>
        </p:spPr>
        <p:txBody>
          <a:bodyPr anchor="b">
            <a:noAutofit/>
          </a:bodyPr>
          <a:lstStyle>
            <a:lvl1pPr>
              <a:defRPr sz="5400" b="0" i="0">
                <a:latin typeface="+mj-lt"/>
                <a:cs typeface="Crimson Tex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526162-F0F0-3985-8662-893EB2F12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880778" y="2000250"/>
            <a:ext cx="6286500" cy="6286500"/>
          </a:xfrm>
          <a:custGeom>
            <a:avLst/>
            <a:gdLst>
              <a:gd name="connsiteX0" fmla="*/ 2296511 w 4593022"/>
              <a:gd name="connsiteY0" fmla="*/ 0 h 4593022"/>
              <a:gd name="connsiteX1" fmla="*/ 4593022 w 4593022"/>
              <a:gd name="connsiteY1" fmla="*/ 2296511 h 4593022"/>
              <a:gd name="connsiteX2" fmla="*/ 2296511 w 4593022"/>
              <a:gd name="connsiteY2" fmla="*/ 4593022 h 4593022"/>
              <a:gd name="connsiteX3" fmla="*/ 0 w 4593022"/>
              <a:gd name="connsiteY3" fmla="*/ 2296511 h 4593022"/>
              <a:gd name="connsiteX4" fmla="*/ 2296511 w 4593022"/>
              <a:gd name="connsiteY4" fmla="*/ 0 h 459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3022" h="4593022">
                <a:moveTo>
                  <a:pt x="2296511" y="0"/>
                </a:moveTo>
                <a:cubicBezTo>
                  <a:pt x="3564839" y="0"/>
                  <a:pt x="4593022" y="1028183"/>
                  <a:pt x="4593022" y="2296511"/>
                </a:cubicBezTo>
                <a:cubicBezTo>
                  <a:pt x="4593022" y="3564839"/>
                  <a:pt x="3564839" y="4593022"/>
                  <a:pt x="2296511" y="4593022"/>
                </a:cubicBezTo>
                <a:cubicBezTo>
                  <a:pt x="1028183" y="4593022"/>
                  <a:pt x="0" y="3564839"/>
                  <a:pt x="0" y="2296511"/>
                </a:cubicBezTo>
                <a:cubicBezTo>
                  <a:pt x="0" y="1028183"/>
                  <a:pt x="1028183" y="0"/>
                  <a:pt x="229651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0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34894A-20E1-DBAC-0BAC-E144E0026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34002" y="4142533"/>
            <a:ext cx="7109999" cy="409362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67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- 2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59CBF28-F005-000E-6A2A-C77DB6BA55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81941" y="3278124"/>
            <a:ext cx="3730752" cy="3730752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526162-F0F0-3985-8662-893EB2F12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473437" y="3280193"/>
            <a:ext cx="3730337" cy="3730337"/>
          </a:xfrm>
          <a:custGeom>
            <a:avLst/>
            <a:gdLst>
              <a:gd name="connsiteX0" fmla="*/ 2296511 w 4593022"/>
              <a:gd name="connsiteY0" fmla="*/ 0 h 4593022"/>
              <a:gd name="connsiteX1" fmla="*/ 4593022 w 4593022"/>
              <a:gd name="connsiteY1" fmla="*/ 2296511 h 4593022"/>
              <a:gd name="connsiteX2" fmla="*/ 2296511 w 4593022"/>
              <a:gd name="connsiteY2" fmla="*/ 4593022 h 4593022"/>
              <a:gd name="connsiteX3" fmla="*/ 0 w 4593022"/>
              <a:gd name="connsiteY3" fmla="*/ 2296511 h 4593022"/>
              <a:gd name="connsiteX4" fmla="*/ 2296511 w 4593022"/>
              <a:gd name="connsiteY4" fmla="*/ 0 h 459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3022" h="4593022">
                <a:moveTo>
                  <a:pt x="2296511" y="0"/>
                </a:moveTo>
                <a:cubicBezTo>
                  <a:pt x="3564839" y="0"/>
                  <a:pt x="4593022" y="1028183"/>
                  <a:pt x="4593022" y="2296511"/>
                </a:cubicBezTo>
                <a:cubicBezTo>
                  <a:pt x="4593022" y="3564839"/>
                  <a:pt x="3564839" y="4593022"/>
                  <a:pt x="2296511" y="4593022"/>
                </a:cubicBezTo>
                <a:cubicBezTo>
                  <a:pt x="1028183" y="4593022"/>
                  <a:pt x="0" y="3564839"/>
                  <a:pt x="0" y="2296511"/>
                </a:cubicBezTo>
                <a:cubicBezTo>
                  <a:pt x="0" y="1028183"/>
                  <a:pt x="1028183" y="0"/>
                  <a:pt x="229651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44D389-1EB5-DC00-128A-2CDA81A0B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8702" y="7273550"/>
            <a:ext cx="5043747" cy="19192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34894A-20E1-DBAC-0BAC-E144E0026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21440" y="3528752"/>
            <a:ext cx="5680710" cy="5242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B6E17A-AFA4-0634-36BB-47381D5D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847029"/>
            <a:ext cx="16173450" cy="13954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AA0004-3BC9-9A9F-AF76-431D4CF162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4298" y="7273550"/>
            <a:ext cx="5049983" cy="19192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B58C9-6C71-1843-99E4-87620A353B32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16211E2-C747-8119-FAB9-5DD99B0D30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1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7942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- 3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59CBF28-F005-000E-6A2A-C77DB6BA55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87371" y="3503485"/>
            <a:ext cx="3554238" cy="3554238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526162-F0F0-3985-8662-893EB2F12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7598" y="3503683"/>
            <a:ext cx="3553842" cy="3553842"/>
          </a:xfrm>
          <a:custGeom>
            <a:avLst/>
            <a:gdLst>
              <a:gd name="connsiteX0" fmla="*/ 2296511 w 4593022"/>
              <a:gd name="connsiteY0" fmla="*/ 0 h 4593022"/>
              <a:gd name="connsiteX1" fmla="*/ 4593022 w 4593022"/>
              <a:gd name="connsiteY1" fmla="*/ 2296511 h 4593022"/>
              <a:gd name="connsiteX2" fmla="*/ 2296511 w 4593022"/>
              <a:gd name="connsiteY2" fmla="*/ 4593022 h 4593022"/>
              <a:gd name="connsiteX3" fmla="*/ 0 w 4593022"/>
              <a:gd name="connsiteY3" fmla="*/ 2296511 h 4593022"/>
              <a:gd name="connsiteX4" fmla="*/ 2296511 w 4593022"/>
              <a:gd name="connsiteY4" fmla="*/ 0 h 459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3022" h="4593022">
                <a:moveTo>
                  <a:pt x="2296511" y="0"/>
                </a:moveTo>
                <a:cubicBezTo>
                  <a:pt x="3564839" y="0"/>
                  <a:pt x="4593022" y="1028183"/>
                  <a:pt x="4593022" y="2296511"/>
                </a:cubicBezTo>
                <a:cubicBezTo>
                  <a:pt x="4593022" y="3564839"/>
                  <a:pt x="3564839" y="4593022"/>
                  <a:pt x="2296511" y="4593022"/>
                </a:cubicBezTo>
                <a:cubicBezTo>
                  <a:pt x="1028183" y="4593022"/>
                  <a:pt x="0" y="3564839"/>
                  <a:pt x="0" y="2296511"/>
                </a:cubicBezTo>
                <a:cubicBezTo>
                  <a:pt x="0" y="1028183"/>
                  <a:pt x="1028183" y="0"/>
                  <a:pt x="229651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44D389-1EB5-DC00-128A-2CDA81A0B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8702" y="7273550"/>
            <a:ext cx="3755459" cy="1919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34894A-20E1-DBAC-0BAC-E144E0026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921241" y="3528752"/>
            <a:ext cx="4280909" cy="5242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B6E17A-AFA4-0634-36BB-47381D5D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847029"/>
            <a:ext cx="16173450" cy="13954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AA0004-3BC9-9A9F-AF76-431D4CF162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01204" y="7273550"/>
            <a:ext cx="3760101" cy="1919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B58C9-6C71-1843-99E4-87620A353B32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16211E2-C747-8119-FAB9-5DD99B0D30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0" y="314891"/>
            <a:ext cx="8058150" cy="844062"/>
          </a:xfrm>
        </p:spPr>
        <p:txBody>
          <a:bodyPr anchor="ctr">
            <a:noAutofit/>
          </a:bodyPr>
          <a:lstStyle>
            <a:lvl1pPr marL="0" indent="0" algn="r">
              <a:buNone/>
              <a:defRPr sz="2100" b="1" cap="all" baseline="0">
                <a:solidFill>
                  <a:schemeClr val="accent1"/>
                </a:solidFill>
              </a:defRPr>
            </a:lvl1pPr>
            <a:lvl2pPr marL="685800" indent="0" algn="r">
              <a:buNone/>
              <a:defRPr/>
            </a:lvl2pPr>
            <a:lvl3pPr marL="1371600" indent="0" algn="r">
              <a:buNone/>
              <a:defRPr/>
            </a:lvl3pPr>
            <a:lvl4pPr marL="2057400" indent="0" algn="r">
              <a:buNone/>
              <a:defRPr/>
            </a:lvl4pPr>
            <a:lvl5pPr marL="27432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57F7B4A8-D35B-25B2-3F26-B69A6CAC228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15810" y="3503485"/>
            <a:ext cx="3554238" cy="3554238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ABEBEFD-41CE-FD1E-9AD2-C022D91BE4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32954" y="7273550"/>
            <a:ext cx="3760101" cy="1919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50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74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Media Calend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172621-CA7D-D866-D4B1-E900942868F4}"/>
              </a:ext>
            </a:extLst>
          </p:cNvPr>
          <p:cNvSpPr/>
          <p:nvPr/>
        </p:nvSpPr>
        <p:spPr>
          <a:xfrm>
            <a:off x="14687550" y="2457450"/>
            <a:ext cx="2514600" cy="264795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D5B1E-953B-B2F0-6C58-4DD9CE60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50045"/>
            <a:ext cx="16173450" cy="820338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645396"/>
            <a:ext cx="13485696" cy="7098557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8C6334-E54E-E25C-26E5-AB67E416F8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47081" y="2485811"/>
            <a:ext cx="2395539" cy="519318"/>
          </a:xfrm>
        </p:spPr>
        <p:txBody>
          <a:bodyPr bIns="0" anchor="b">
            <a:noAutofit/>
          </a:bodyPr>
          <a:lstStyle>
            <a:lvl1pPr marL="0" indent="0">
              <a:buNone/>
              <a:defRPr sz="1650">
                <a:solidFill>
                  <a:schemeClr val="accent1"/>
                </a:solidFill>
              </a:defRPr>
            </a:lvl1pPr>
            <a:lvl2pPr marL="685800" indent="0">
              <a:buNone/>
              <a:defRPr sz="1500"/>
            </a:lvl2pPr>
            <a:lvl3pPr marL="1371600" indent="0">
              <a:buNone/>
              <a:defRPr sz="1350"/>
            </a:lvl3pPr>
            <a:lvl4pPr marL="2057400" indent="0">
              <a:buNone/>
              <a:defRPr sz="1200"/>
            </a:lvl4pPr>
            <a:lvl5pPr marL="27432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D68FA46-06BB-1D2C-3C77-C52B076BA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747083" y="3005138"/>
            <a:ext cx="2395538" cy="2021682"/>
          </a:xfrm>
        </p:spPr>
        <p:txBody>
          <a:bodyPr>
            <a:noAutofit/>
          </a:bodyPr>
          <a:lstStyle>
            <a:lvl1pPr marL="176213" indent="-176213">
              <a:tabLst/>
              <a:defRPr sz="12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46C472-7C19-78A4-4D39-DBC5852950BC}"/>
              </a:ext>
            </a:extLst>
          </p:cNvPr>
          <p:cNvSpPr/>
          <p:nvPr/>
        </p:nvSpPr>
        <p:spPr>
          <a:xfrm>
            <a:off x="14687550" y="5317236"/>
            <a:ext cx="2514600" cy="264795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D89500E-46A6-CF6A-EF0C-69C48F63B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747081" y="5345597"/>
            <a:ext cx="2395539" cy="519318"/>
          </a:xfrm>
        </p:spPr>
        <p:txBody>
          <a:bodyPr bIns="0" anchor="b">
            <a:noAutofit/>
          </a:bodyPr>
          <a:lstStyle>
            <a:lvl1pPr marL="0" indent="0">
              <a:buNone/>
              <a:defRPr sz="1650">
                <a:solidFill>
                  <a:schemeClr val="accent1"/>
                </a:solidFill>
              </a:defRPr>
            </a:lvl1pPr>
            <a:lvl2pPr marL="685800" indent="0">
              <a:buNone/>
              <a:defRPr sz="1500"/>
            </a:lvl2pPr>
            <a:lvl3pPr marL="1371600" indent="0">
              <a:buNone/>
              <a:defRPr sz="1350"/>
            </a:lvl3pPr>
            <a:lvl4pPr marL="2057400" indent="0">
              <a:buNone/>
              <a:defRPr sz="1200"/>
            </a:lvl4pPr>
            <a:lvl5pPr marL="27432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9FCE4CCD-3E15-C8CA-9BD1-70969A4842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747083" y="5864924"/>
            <a:ext cx="2395538" cy="2021682"/>
          </a:xfrm>
        </p:spPr>
        <p:txBody>
          <a:bodyPr>
            <a:noAutofit/>
          </a:bodyPr>
          <a:lstStyle>
            <a:lvl1pPr marL="176213" indent="-176213">
              <a:tabLst/>
              <a:defRPr sz="12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177C3-CAD7-1FB8-D0DC-AEF7291E443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EEC2C8-63BF-8BB3-BE09-AA6AE1BB614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0428E-64EE-6FA7-8828-246114C08E0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Media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7589331-6A63-6716-1763-B7BA4F05FEE6}"/>
              </a:ext>
            </a:extLst>
          </p:cNvPr>
          <p:cNvSpPr/>
          <p:nvPr/>
        </p:nvSpPr>
        <p:spPr>
          <a:xfrm>
            <a:off x="1028700" y="2469198"/>
            <a:ext cx="7943850" cy="628650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EDF900-A878-B4CF-91A2-40A8DD3AB63E}"/>
              </a:ext>
            </a:extLst>
          </p:cNvPr>
          <p:cNvSpPr/>
          <p:nvPr/>
        </p:nvSpPr>
        <p:spPr>
          <a:xfrm>
            <a:off x="9315453" y="2469198"/>
            <a:ext cx="7886697" cy="6281928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D5B1E-953B-B2F0-6C58-4DD9CE60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750045"/>
            <a:ext cx="13872773" cy="820338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3208151"/>
            <a:ext cx="7680960" cy="553580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05F715-AA50-FE13-A5EF-C8EF3A00E7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18323" y="3208148"/>
            <a:ext cx="7680960" cy="553580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26DC70-E447-4DA2-ACC4-C29A5E2CB0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701" y="1569244"/>
            <a:ext cx="13872773" cy="543776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b="1" i="0">
                <a:solidFill>
                  <a:schemeClr val="accent4"/>
                </a:solidFill>
                <a:latin typeface="Montserrat" pitchFamily="2" charset="0"/>
                <a:cs typeface="Montserra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04A25D6-3D08-5090-8F26-C572CCAAF9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8720" y="2703353"/>
            <a:ext cx="7680960" cy="368343"/>
          </a:xfrm>
        </p:spPr>
        <p:txBody>
          <a:bodyPr anchor="b">
            <a:noAutofit/>
          </a:bodyPr>
          <a:lstStyle>
            <a:lvl1pPr marL="0" indent="0">
              <a:spcBef>
                <a:spcPts val="75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685800" indent="0">
              <a:buNone/>
              <a:defRPr sz="1500"/>
            </a:lvl2pPr>
            <a:lvl3pPr marL="1371600" indent="0">
              <a:buNone/>
              <a:defRPr sz="1350"/>
            </a:lvl3pPr>
            <a:lvl4pPr marL="2057400" indent="0">
              <a:buNone/>
              <a:defRPr sz="1200"/>
            </a:lvl4pPr>
            <a:lvl5pPr marL="27432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7957CE4-6BBD-51D0-4BA2-597EB90112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18323" y="2703353"/>
            <a:ext cx="7680960" cy="368343"/>
          </a:xfrm>
        </p:spPr>
        <p:txBody>
          <a:bodyPr anchor="b">
            <a:noAutofit/>
          </a:bodyPr>
          <a:lstStyle>
            <a:lvl1pPr marL="0" indent="0">
              <a:spcBef>
                <a:spcPts val="75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685800" indent="0">
              <a:buNone/>
              <a:defRPr sz="1500"/>
            </a:lvl2pPr>
            <a:lvl3pPr marL="1371600" indent="0">
              <a:buNone/>
              <a:defRPr sz="1350"/>
            </a:lvl3pPr>
            <a:lvl4pPr marL="2057400" indent="0">
              <a:buNone/>
              <a:defRPr sz="1200"/>
            </a:lvl4pPr>
            <a:lvl5pPr marL="27432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860689-F8D4-62CD-093F-130CF008A79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4D168A2-BE89-7094-DD5F-7CD49FF8B0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9DD193-FEC1-BD0C-3A3D-EE411B44B0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313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Media 2-up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B1E-953B-B2F0-6C58-4DD9CE60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50045"/>
            <a:ext cx="16173450" cy="820338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F848-3B96-5233-AFEF-1621A62E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1" y="2457451"/>
            <a:ext cx="7875269" cy="6286502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05F715-AA50-FE13-A5EF-C8EF3A00E7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384035" y="2457448"/>
            <a:ext cx="7818120" cy="6286503"/>
          </a:xfrm>
        </p:spPr>
        <p:txBody>
          <a:bodyPr>
            <a:no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26DC70-E447-4DA2-ACC4-C29A5E2CB0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8700" y="1569244"/>
            <a:ext cx="16173450" cy="543776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304403-5808-6534-FE8C-8E93449534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0D25EC0-9BA6-5A5D-7DFD-FDBE23D99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0063210-C11B-11EE-9160-1FD71E9042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74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5E98-94DF-C8FE-8D17-488A1007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EDC09-E9CC-9272-1443-3E2B28DFB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5F6C9-13AB-4699-EEFB-53B9C2B5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5945B-CD9B-E29F-5767-FBA826BA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BAB42-D159-0635-251A-128E65DD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223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6DC1C-D6EA-827F-420B-20BAA25B4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F445F-BF7E-A0B0-0F1F-9795E25A3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13F55-72ED-808E-AE9B-88B9EBA3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5EE6-8382-6B46-AF27-839558101936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3A3EA-2023-23C2-2899-91145172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9C149-7FF1-1560-0D52-CD078946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1.sv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EAED5-AA6A-4DAD-88F4-6BF4DCE93AA0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B28FD-51AE-61D6-D02E-82ED623E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41477"/>
            <a:ext cx="16173450" cy="13954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AD2F7-BA26-DC08-BDFE-5DDED14D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457451"/>
            <a:ext cx="16173450" cy="6286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9B4C-77E5-FF14-D469-9C0789773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12019" y="9588431"/>
            <a:ext cx="1247576" cy="370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rgbClr val="D3D4D3"/>
                </a:solidFill>
                <a:latin typeface="+mj-lt"/>
              </a:defRPr>
            </a:lvl1pPr>
          </a:lstStyle>
          <a:p>
            <a:fld id="{3F9E5EE6-8382-6B46-AF27-839558101936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2DE61-B5C0-6EBB-2AEC-573960F1A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9594" y="9588431"/>
            <a:ext cx="13128107" cy="370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D3D4D3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246FA-1DB1-0971-0EDF-2253102EE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177" y="9601200"/>
            <a:ext cx="536249" cy="357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rgbClr val="D3D4D3"/>
                </a:solidFill>
                <a:latin typeface="+mj-lt"/>
              </a:defRPr>
            </a:lvl1pPr>
          </a:lstStyle>
          <a:p>
            <a:fld id="{B2715561-DA2C-214F-8CDA-36839AC5F0F8}" type="slidenum">
              <a:rPr lang="en-US" smtClean="0"/>
              <a:t>‹#›</a:t>
            </a:fld>
            <a:endParaRPr lang="en-US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A8498C0B-D4B1-FEA2-1FB2-EB6439066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6287750" y="9548447"/>
            <a:ext cx="914400" cy="281354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474A061E-2B88-A065-D479-D4EB381FA149}"/>
              </a:ext>
            </a:extLst>
          </p:cNvPr>
          <p:cNvSpPr/>
          <p:nvPr/>
        </p:nvSpPr>
        <p:spPr>
          <a:xfrm>
            <a:off x="1028700" y="9575738"/>
            <a:ext cx="400050" cy="400050"/>
          </a:xfrm>
          <a:prstGeom prst="ellipse">
            <a:avLst/>
          </a:prstGeom>
          <a:noFill/>
          <a:ln w="6350">
            <a:solidFill>
              <a:srgbClr val="D3D4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5946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3716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100000"/>
        <a:buFont typeface="Montserrat Bold" pitchFamily="2" charset="77"/>
        <a:buChar char="∙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3716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100000"/>
        <a:buFont typeface="Montserrat" pitchFamily="2" charset="0"/>
        <a:buChar char="›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88257" indent="-173832" algn="l" defTabSz="1371600" rtl="0" eaLnBrk="1" latinLnBrk="0" hangingPunct="1">
        <a:lnSpc>
          <a:spcPct val="90000"/>
        </a:lnSpc>
        <a:spcBef>
          <a:spcPts val="750"/>
        </a:spcBef>
        <a:buClr>
          <a:schemeClr val="accent2"/>
        </a:buClr>
        <a:buSzPct val="100000"/>
        <a:buFont typeface="Montserrat" pitchFamily="2" charset="0"/>
        <a:buChar char="‣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721645" indent="-259557" algn="l" defTabSz="1371600" rtl="0" eaLnBrk="1" latinLnBrk="0" hangingPunct="1">
        <a:lnSpc>
          <a:spcPct val="90000"/>
        </a:lnSpc>
        <a:spcBef>
          <a:spcPts val="750"/>
        </a:spcBef>
        <a:buClr>
          <a:schemeClr val="accent5"/>
        </a:buClr>
        <a:buFont typeface="Montserrat" pitchFamily="2" charset="0"/>
        <a:buChar char="→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507" indent="-257175" algn="l" defTabSz="1371600" rtl="0" eaLnBrk="1" latinLnBrk="0" hangingPunct="1">
        <a:lnSpc>
          <a:spcPct val="90000"/>
        </a:lnSpc>
        <a:spcBef>
          <a:spcPts val="750"/>
        </a:spcBef>
        <a:buClr>
          <a:schemeClr val="accent3"/>
        </a:buClr>
        <a:buFont typeface="Montserrat" pitchFamily="2" charset="0"/>
        <a:buChar char="‐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Montserrat" pitchFamily="2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Montserrat" pitchFamily="2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Montserrat" pitchFamily="2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Montserrat" pitchFamily="2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840">
          <p15:clr>
            <a:srgbClr val="F26B43"/>
          </p15:clr>
        </p15:guide>
        <p15:guide id="4" pos="432">
          <p15:clr>
            <a:srgbClr val="F26B43"/>
          </p15:clr>
        </p15:guide>
        <p15:guide id="5" pos="7224">
          <p15:clr>
            <a:srgbClr val="F26B43"/>
          </p15:clr>
        </p15:guide>
        <p15:guide id="7" orient="horz" pos="3672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1032">
          <p15:clr>
            <a:srgbClr val="F26B43"/>
          </p15:clr>
        </p15:guide>
        <p15:guide id="10" pos="840">
          <p15:clr>
            <a:srgbClr val="F26B43"/>
          </p15:clr>
        </p15:guide>
        <p15:guide id="11" pos="6840">
          <p15:clr>
            <a:srgbClr val="F26B43"/>
          </p15:clr>
        </p15:guide>
        <p15:guide id="12">
          <p15:clr>
            <a:srgbClr val="F26B43"/>
          </p15:clr>
        </p15:guide>
        <p15:guide id="13" orient="horz" pos="4128">
          <p15:clr>
            <a:srgbClr val="F26B43"/>
          </p15:clr>
        </p15:guide>
        <p15:guide id="14" pos="6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5.jpeg"/><Relationship Id="rId7" Type="http://schemas.openxmlformats.org/officeDocument/2006/relationships/image" Target="../media/image35.sv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9.svg"/><Relationship Id="rId5" Type="http://schemas.openxmlformats.org/officeDocument/2006/relationships/image" Target="../media/image7.jpeg"/><Relationship Id="rId10" Type="http://schemas.openxmlformats.org/officeDocument/2006/relationships/image" Target="../media/image38.svg"/><Relationship Id="rId4" Type="http://schemas.openxmlformats.org/officeDocument/2006/relationships/image" Target="../media/image6.jpeg"/><Relationship Id="rId9" Type="http://schemas.openxmlformats.org/officeDocument/2006/relationships/image" Target="../media/image3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microsoft.com/office/2018/10/relationships/comments" Target="../comments/modernComment_112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microsoft.com/office/2018/10/relationships/comments" Target="../comments/modernComment_117_901B424B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oeccc.net/region/south-central-coast/" TargetMode="External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4.png"/><Relationship Id="rId4" Type="http://schemas.openxmlformats.org/officeDocument/2006/relationships/image" Target="../media/image6.jpeg"/><Relationship Id="rId9" Type="http://schemas.openxmlformats.org/officeDocument/2006/relationships/hyperlink" Target="http://www.bwresearch.com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711474" cy="666087"/>
          </a:xfrm>
          <a:custGeom>
            <a:avLst/>
            <a:gdLst/>
            <a:ahLst/>
            <a:cxnLst/>
            <a:rect l="l" t="t" r="r" b="b"/>
            <a:pathLst>
              <a:path w="1711474" h="666087">
                <a:moveTo>
                  <a:pt x="0" y="0"/>
                </a:moveTo>
                <a:lnTo>
                  <a:pt x="1711474" y="0"/>
                </a:lnTo>
                <a:lnTo>
                  <a:pt x="1711474" y="666087"/>
                </a:lnTo>
                <a:lnTo>
                  <a:pt x="0" y="666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91547" y="-16052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3"/>
            <a:stretch>
              <a:fillRect l="-15096" r="-86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391547" y="3532914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4"/>
            <a:stretch>
              <a:fillRect l="-35641" r="-356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391547" y="7081880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5"/>
            <a:stretch>
              <a:fillRect l="-15324" r="-559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363244" y="-34921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0"/>
                </a:move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lnTo>
                  <a:pt x="0" y="0"/>
                </a:lnTo>
                <a:close/>
                <a:moveTo>
                  <a:pt x="2297430" y="2598420"/>
                </a:moveTo>
                <a:lnTo>
                  <a:pt x="24130" y="2598420"/>
                </a:lnTo>
                <a:lnTo>
                  <a:pt x="24130" y="24130"/>
                </a:lnTo>
                <a:lnTo>
                  <a:pt x="2297430" y="24130"/>
                </a:lnTo>
                <a:lnTo>
                  <a:pt x="2297430" y="259842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363244" y="3514045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2621280"/>
                </a:moveTo>
                <a:lnTo>
                  <a:pt x="2321560" y="2621280"/>
                </a:lnTo>
                <a:lnTo>
                  <a:pt x="2321560" y="0"/>
                </a:lnTo>
                <a:lnTo>
                  <a:pt x="0" y="0"/>
                </a:lnTo>
                <a:lnTo>
                  <a:pt x="0" y="2621280"/>
                </a:lnTo>
                <a:close/>
                <a:moveTo>
                  <a:pt x="24130" y="24130"/>
                </a:moveTo>
                <a:lnTo>
                  <a:pt x="2297430" y="24130"/>
                </a:lnTo>
                <a:lnTo>
                  <a:pt x="2297430" y="2598420"/>
                </a:lnTo>
                <a:lnTo>
                  <a:pt x="24130" y="2598420"/>
                </a:lnTo>
                <a:lnTo>
                  <a:pt x="24130" y="2413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363244" y="7063011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0" y="2620010"/>
                </a:moveTo>
                <a:lnTo>
                  <a:pt x="2321560" y="2620010"/>
                </a:lnTo>
                <a:lnTo>
                  <a:pt x="2321560" y="0"/>
                </a:lnTo>
                <a:lnTo>
                  <a:pt x="0" y="0"/>
                </a:lnTo>
                <a:lnTo>
                  <a:pt x="0" y="2620010"/>
                </a:lnTo>
                <a:close/>
                <a:moveTo>
                  <a:pt x="24130" y="22860"/>
                </a:moveTo>
                <a:lnTo>
                  <a:pt x="2297430" y="22860"/>
                </a:lnTo>
                <a:lnTo>
                  <a:pt x="2297430" y="2597150"/>
                </a:lnTo>
                <a:lnTo>
                  <a:pt x="24130" y="2597150"/>
                </a:lnTo>
                <a:lnTo>
                  <a:pt x="24130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363244" y="-34921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297430" y="24130"/>
                </a:moveTo>
                <a:lnTo>
                  <a:pt x="2297430" y="2598420"/>
                </a:lnTo>
                <a:lnTo>
                  <a:pt x="24130" y="2598420"/>
                </a:ln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363244" y="-34921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4130" y="24130"/>
                </a:moveTo>
                <a:lnTo>
                  <a:pt x="2297430" y="24130"/>
                </a:lnTo>
                <a:lnTo>
                  <a:pt x="2321560" y="0"/>
                </a:lnTo>
                <a:lnTo>
                  <a:pt x="0" y="0"/>
                </a:lnTo>
                <a:lnTo>
                  <a:pt x="0" y="2621280"/>
                </a:lnTo>
                <a:lnTo>
                  <a:pt x="24130" y="259842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363244" y="3514045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297430" y="2597150"/>
                </a:moveTo>
                <a:lnTo>
                  <a:pt x="24130" y="2597150"/>
                </a:ln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lnTo>
                  <a:pt x="2297430" y="2413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363244" y="3514045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2621280"/>
                </a:moveTo>
                <a:lnTo>
                  <a:pt x="24130" y="2597150"/>
                </a:lnTo>
                <a:lnTo>
                  <a:pt x="24130" y="24130"/>
                </a:lnTo>
                <a:lnTo>
                  <a:pt x="2297430" y="24130"/>
                </a:lnTo>
                <a:lnTo>
                  <a:pt x="232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363244" y="7063011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2297430" y="2597150"/>
                </a:moveTo>
                <a:lnTo>
                  <a:pt x="24130" y="2597150"/>
                </a:lnTo>
                <a:lnTo>
                  <a:pt x="0" y="2620010"/>
                </a:lnTo>
                <a:lnTo>
                  <a:pt x="2321560" y="2620010"/>
                </a:lnTo>
                <a:lnTo>
                  <a:pt x="2321560" y="0"/>
                </a:lnTo>
                <a:lnTo>
                  <a:pt x="2297430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363244" y="7063011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0" y="2620010"/>
                </a:moveTo>
                <a:lnTo>
                  <a:pt x="24130" y="2597150"/>
                </a:lnTo>
                <a:lnTo>
                  <a:pt x="24130" y="22860"/>
                </a:lnTo>
                <a:lnTo>
                  <a:pt x="2297430" y="22860"/>
                </a:lnTo>
                <a:lnTo>
                  <a:pt x="232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014165" y="-366703"/>
            <a:ext cx="3572552" cy="10673629"/>
          </a:xfrm>
          <a:custGeom>
            <a:avLst/>
            <a:gdLst/>
            <a:ahLst/>
            <a:cxnLst/>
            <a:rect l="l" t="t" r="r" b="b"/>
            <a:pathLst>
              <a:path w="2885440" h="8890000">
                <a:moveTo>
                  <a:pt x="2860040" y="24130"/>
                </a:moveTo>
                <a:lnTo>
                  <a:pt x="2860040" y="8865870"/>
                </a:lnTo>
                <a:lnTo>
                  <a:pt x="25400" y="8865870"/>
                </a:lnTo>
                <a:lnTo>
                  <a:pt x="0" y="8890000"/>
                </a:lnTo>
                <a:lnTo>
                  <a:pt x="2885440" y="8890000"/>
                </a:lnTo>
                <a:lnTo>
                  <a:pt x="2885440" y="0"/>
                </a:lnTo>
                <a:close/>
              </a:path>
            </a:pathLst>
          </a:custGeom>
          <a:solidFill>
            <a:srgbClr val="DEE1CD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014165" y="0"/>
            <a:ext cx="3572552" cy="10640280"/>
          </a:xfrm>
          <a:custGeom>
            <a:avLst/>
            <a:gdLst/>
            <a:ahLst/>
            <a:cxnLst/>
            <a:rect l="l" t="t" r="r" b="b"/>
            <a:pathLst>
              <a:path w="2885440" h="8890000">
                <a:moveTo>
                  <a:pt x="25400" y="24130"/>
                </a:moveTo>
                <a:lnTo>
                  <a:pt x="2860040" y="24130"/>
                </a:lnTo>
                <a:lnTo>
                  <a:pt x="2885440" y="0"/>
                </a:lnTo>
                <a:lnTo>
                  <a:pt x="0" y="0"/>
                </a:lnTo>
                <a:lnTo>
                  <a:pt x="0" y="8890000"/>
                </a:lnTo>
                <a:lnTo>
                  <a:pt x="25400" y="8865870"/>
                </a:lnTo>
                <a:close/>
              </a:path>
            </a:pathLst>
          </a:custGeom>
          <a:solidFill>
            <a:srgbClr val="DEE1CD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869000" y="8600030"/>
            <a:ext cx="2549069" cy="764721"/>
          </a:xfrm>
          <a:custGeom>
            <a:avLst/>
            <a:gdLst/>
            <a:ahLst/>
            <a:cxnLst/>
            <a:rect l="l" t="t" r="r" b="b"/>
            <a:pathLst>
              <a:path w="2549069" h="764721">
                <a:moveTo>
                  <a:pt x="0" y="0"/>
                </a:moveTo>
                <a:lnTo>
                  <a:pt x="2549068" y="0"/>
                </a:lnTo>
                <a:lnTo>
                  <a:pt x="2549068" y="764721"/>
                </a:lnTo>
                <a:lnTo>
                  <a:pt x="0" y="76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56424" y="8470193"/>
            <a:ext cx="1883750" cy="1024396"/>
          </a:xfrm>
          <a:custGeom>
            <a:avLst/>
            <a:gdLst/>
            <a:ahLst/>
            <a:cxnLst/>
            <a:rect l="l" t="t" r="r" b="b"/>
            <a:pathLst>
              <a:path w="1883750" h="1024396">
                <a:moveTo>
                  <a:pt x="0" y="0"/>
                </a:moveTo>
                <a:lnTo>
                  <a:pt x="1883750" y="0"/>
                </a:lnTo>
                <a:lnTo>
                  <a:pt x="1883750" y="1024396"/>
                </a:lnTo>
                <a:lnTo>
                  <a:pt x="0" y="1024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028700" y="6093272"/>
            <a:ext cx="9351749" cy="466506"/>
            <a:chOff x="0" y="0"/>
            <a:chExt cx="12468998" cy="62200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2468998" cy="622008"/>
              <a:chOff x="0" y="0"/>
              <a:chExt cx="2463012" cy="12286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463012" cy="122866"/>
              </a:xfrm>
              <a:custGeom>
                <a:avLst/>
                <a:gdLst/>
                <a:ahLst/>
                <a:cxnLst/>
                <a:rect l="l" t="t" r="r" b="b"/>
                <a:pathLst>
                  <a:path w="2463012" h="122866">
                    <a:moveTo>
                      <a:pt x="0" y="0"/>
                    </a:moveTo>
                    <a:lnTo>
                      <a:pt x="2463012" y="0"/>
                    </a:lnTo>
                    <a:lnTo>
                      <a:pt x="2463012" y="122866"/>
                    </a:lnTo>
                    <a:lnTo>
                      <a:pt x="0" y="122866"/>
                    </a:lnTo>
                    <a:close/>
                  </a:path>
                </a:pathLst>
              </a:custGeom>
              <a:solidFill>
                <a:srgbClr val="34485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2463012" cy="1895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20575" y="0"/>
              <a:ext cx="12027847" cy="581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300" spc="23" dirty="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Building Cross-Sectoral Skills across Emerging and Evolving Industries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63192" y="8711558"/>
            <a:ext cx="2518698" cy="270832"/>
            <a:chOff x="0" y="0"/>
            <a:chExt cx="663361" cy="713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3361" cy="71330"/>
            </a:xfrm>
            <a:custGeom>
              <a:avLst/>
              <a:gdLst/>
              <a:ahLst/>
              <a:cxnLst/>
              <a:rect l="l" t="t" r="r" b="b"/>
              <a:pathLst>
                <a:path w="663361" h="71330">
                  <a:moveTo>
                    <a:pt x="0" y="0"/>
                  </a:moveTo>
                  <a:lnTo>
                    <a:pt x="663361" y="0"/>
                  </a:lnTo>
                  <a:lnTo>
                    <a:pt x="663361" y="71330"/>
                  </a:lnTo>
                  <a:lnTo>
                    <a:pt x="0" y="71330"/>
                  </a:lnTo>
                  <a:close/>
                </a:path>
              </a:pathLst>
            </a:custGeom>
            <a:solidFill>
              <a:srgbClr val="4948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63361" cy="13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8700" y="3830128"/>
            <a:ext cx="1184910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WORKFORCE DEVELOPMENT IN PRIORITY SECTORS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72672" y="8711558"/>
            <a:ext cx="2099737" cy="57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spc="32" dirty="0">
                <a:solidFill>
                  <a:srgbClr val="DEE1CD"/>
                </a:solidFill>
                <a:latin typeface="Futura Bold"/>
                <a:ea typeface="Futura Bold"/>
                <a:cs typeface="Futura Bold"/>
                <a:sym typeface="Futura Bold"/>
              </a:rPr>
              <a:t>SEPTEMBER 10, 2026</a:t>
            </a:r>
          </a:p>
          <a:p>
            <a:pPr algn="ctr">
              <a:lnSpc>
                <a:spcPts val="2240"/>
              </a:lnSpc>
            </a:pPr>
            <a:r>
              <a:rPr lang="en-US" sz="1600" spc="32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9:45-10:45 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7A051-E516-82F8-1402-4600FC3B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767981-5872-2D17-1347-E46789652999}"/>
              </a:ext>
            </a:extLst>
          </p:cNvPr>
          <p:cNvSpPr/>
          <p:nvPr/>
        </p:nvSpPr>
        <p:spPr>
          <a:xfrm>
            <a:off x="0" y="0"/>
            <a:ext cx="18288000" cy="2019300"/>
          </a:xfrm>
          <a:prstGeom prst="rect">
            <a:avLst/>
          </a:prstGeom>
          <a:solidFill>
            <a:srgbClr val="DEE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895BC3F-B8F4-D9D7-DEAC-F5AFF4BF665C}"/>
              </a:ext>
            </a:extLst>
          </p:cNvPr>
          <p:cNvSpPr txBox="1"/>
          <p:nvPr/>
        </p:nvSpPr>
        <p:spPr>
          <a:xfrm>
            <a:off x="2127714" y="597293"/>
            <a:ext cx="13239160" cy="95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WHO’S IN THE ROOM?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B85203-3B4E-6600-FCE7-804ECD7CE045}"/>
              </a:ext>
            </a:extLst>
          </p:cNvPr>
          <p:cNvSpPr txBox="1"/>
          <p:nvPr/>
        </p:nvSpPr>
        <p:spPr>
          <a:xfrm>
            <a:off x="3103685" y="2935699"/>
            <a:ext cx="16230600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2899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Q1. </a:t>
            </a: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Which region do you represent?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4411F1-764B-63B9-3036-F90D6A407BFE}"/>
              </a:ext>
            </a:extLst>
          </p:cNvPr>
          <p:cNvSpPr txBox="1"/>
          <p:nvPr/>
        </p:nvSpPr>
        <p:spPr>
          <a:xfrm>
            <a:off x="1028700" y="922496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2C87-EBAC-44FA-7E5E-3A500838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7271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DF69F42-4D19-449B-5E0A-DB366E708E98}"/>
              </a:ext>
            </a:extLst>
          </p:cNvPr>
          <p:cNvSpPr txBox="1"/>
          <p:nvPr/>
        </p:nvSpPr>
        <p:spPr>
          <a:xfrm>
            <a:off x="3598985" y="3856457"/>
            <a:ext cx="14173200" cy="1828800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Northern California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Central California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Southern California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Statewide/Multi-Region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Other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6E6034E-B93D-8698-FC63-F88E94C3899E}"/>
              </a:ext>
            </a:extLst>
          </p:cNvPr>
          <p:cNvSpPr txBox="1"/>
          <p:nvPr/>
        </p:nvSpPr>
        <p:spPr>
          <a:xfrm>
            <a:off x="3103685" y="5960164"/>
            <a:ext cx="16230600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2899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Q2. </a:t>
            </a: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What type of organization do you represent?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617BCFE-78E3-82D0-FEFF-B168C2136043}"/>
              </a:ext>
            </a:extLst>
          </p:cNvPr>
          <p:cNvSpPr txBox="1"/>
          <p:nvPr/>
        </p:nvSpPr>
        <p:spPr>
          <a:xfrm>
            <a:off x="3581400" y="6845589"/>
            <a:ext cx="14173200" cy="1828800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Education and Training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Economic Development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Workforce Development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Government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Nonprofit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28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400651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72" y="0"/>
            <a:ext cx="8522278" cy="10287000"/>
            <a:chOff x="0" y="0"/>
            <a:chExt cx="224455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4551" cy="2709333"/>
            </a:xfrm>
            <a:custGeom>
              <a:avLst/>
              <a:gdLst/>
              <a:ahLst/>
              <a:cxnLst/>
              <a:rect l="l" t="t" r="r" b="b"/>
              <a:pathLst>
                <a:path w="2244551" h="2709333">
                  <a:moveTo>
                    <a:pt x="0" y="0"/>
                  </a:moveTo>
                  <a:lnTo>
                    <a:pt x="2244551" y="0"/>
                  </a:lnTo>
                  <a:lnTo>
                    <a:pt x="22445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4455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85718" y="1700547"/>
            <a:ext cx="6861112" cy="6655279"/>
          </a:xfrm>
          <a:custGeom>
            <a:avLst/>
            <a:gdLst/>
            <a:ahLst/>
            <a:cxnLst/>
            <a:rect l="l" t="t" r="r" b="b"/>
            <a:pathLst>
              <a:path w="6861112" h="6655279">
                <a:moveTo>
                  <a:pt x="0" y="0"/>
                </a:moveTo>
                <a:lnTo>
                  <a:pt x="6861112" y="0"/>
                </a:lnTo>
                <a:lnTo>
                  <a:pt x="6861112" y="6655279"/>
                </a:lnTo>
                <a:lnTo>
                  <a:pt x="0" y="6655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532550" y="2513697"/>
            <a:ext cx="9755450" cy="138240"/>
            <a:chOff x="0" y="0"/>
            <a:chExt cx="2569337" cy="36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69337" cy="36409"/>
            </a:xfrm>
            <a:custGeom>
              <a:avLst/>
              <a:gdLst/>
              <a:ahLst/>
              <a:cxnLst/>
              <a:rect l="l" t="t" r="r" b="b"/>
              <a:pathLst>
                <a:path w="2569337" h="36409">
                  <a:moveTo>
                    <a:pt x="0" y="0"/>
                  </a:moveTo>
                  <a:lnTo>
                    <a:pt x="2569337" y="0"/>
                  </a:lnTo>
                  <a:lnTo>
                    <a:pt x="2569337" y="36409"/>
                  </a:lnTo>
                  <a:lnTo>
                    <a:pt x="0" y="36409"/>
                  </a:lnTo>
                  <a:close/>
                </a:path>
              </a:pathLst>
            </a:custGeom>
            <a:solidFill>
              <a:srgbClr val="3448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569337" cy="103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9375273" y="4435829"/>
            <a:ext cx="7840153" cy="0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9375273" y="5740907"/>
            <a:ext cx="7840153" cy="0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9375273" y="7045985"/>
            <a:ext cx="7840153" cy="0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902909" y="3486745"/>
            <a:ext cx="5654342" cy="40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5273" y="3343235"/>
            <a:ext cx="1248216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344859"/>
                </a:solidFill>
                <a:latin typeface="Futura"/>
                <a:ea typeface="Futura"/>
                <a:cs typeface="Futura"/>
                <a:sym typeface="Futura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02909" y="4791823"/>
            <a:ext cx="500383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DATA &amp; KEY FINDINGS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5273" y="4648313"/>
            <a:ext cx="1248216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2E6878"/>
                </a:solidFill>
                <a:latin typeface="Futura"/>
                <a:ea typeface="Futura"/>
                <a:cs typeface="Futura"/>
                <a:sym typeface="Futura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2909" y="6096901"/>
            <a:ext cx="6312517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RESEARCH IMPLICATIONS &amp; NEXT STEPS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5273" y="5953391"/>
            <a:ext cx="1248216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5298A3"/>
                </a:solidFill>
                <a:latin typeface="Futura"/>
                <a:ea typeface="Futura"/>
                <a:cs typeface="Futura"/>
                <a:sym typeface="Futura"/>
              </a:rPr>
              <a:t>03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9375273" y="8351063"/>
            <a:ext cx="7884027" cy="0"/>
          </a:xfrm>
          <a:prstGeom prst="line">
            <a:avLst/>
          </a:prstGeom>
          <a:ln w="9525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02909" y="7401939"/>
            <a:ext cx="5654342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8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LIVE POLLING AND Q&amp;A SESSION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5273" y="7258469"/>
            <a:ext cx="1248216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04ADBF"/>
                </a:solidFill>
                <a:latin typeface="Futura"/>
                <a:ea typeface="Futura"/>
                <a:cs typeface="Futura"/>
                <a:sym typeface="Futura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94510" y="1071981"/>
            <a:ext cx="7764790" cy="1263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SESSION AGENDA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4444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0B845F-66B0-AD19-52B7-C91168A6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92400" y="922856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3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B5EA5-5D9A-B39E-6707-3F576523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87600" y="91490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A5EDD-1F3F-96A3-C04D-C34535CA0514}"/>
              </a:ext>
            </a:extLst>
          </p:cNvPr>
          <p:cNvSpPr txBox="1"/>
          <p:nvPr/>
        </p:nvSpPr>
        <p:spPr>
          <a:xfrm>
            <a:off x="4267200" y="4558724"/>
            <a:ext cx="10668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latin typeface="Futura Bold" panose="020B0604020202020204" charset="0"/>
              </a:rPr>
              <a:t>PART 1. INTRODUCTION</a:t>
            </a: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FEA51BC2-138C-8694-5D32-16F92823B3E7}"/>
              </a:ext>
            </a:extLst>
          </p:cNvPr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</p:spTree>
    <p:extLst>
      <p:ext uri="{BB962C8B-B14F-4D97-AF65-F5344CB8AC3E}">
        <p14:creationId xmlns:p14="http://schemas.microsoft.com/office/powerpoint/2010/main" val="372297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84671" y="2278548"/>
            <a:ext cx="14122605" cy="3264700"/>
            <a:chOff x="0" y="0"/>
            <a:chExt cx="3719534" cy="859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9534" cy="859839"/>
            </a:xfrm>
            <a:custGeom>
              <a:avLst/>
              <a:gdLst/>
              <a:ahLst/>
              <a:cxnLst/>
              <a:rect l="l" t="t" r="r" b="b"/>
              <a:pathLst>
                <a:path w="3719534" h="859839">
                  <a:moveTo>
                    <a:pt x="27958" y="0"/>
                  </a:moveTo>
                  <a:lnTo>
                    <a:pt x="3691576" y="0"/>
                  </a:lnTo>
                  <a:cubicBezTo>
                    <a:pt x="3698991" y="0"/>
                    <a:pt x="3706102" y="2946"/>
                    <a:pt x="3711345" y="8189"/>
                  </a:cubicBezTo>
                  <a:cubicBezTo>
                    <a:pt x="3716588" y="13432"/>
                    <a:pt x="3719534" y="20543"/>
                    <a:pt x="3719534" y="27958"/>
                  </a:cubicBezTo>
                  <a:lnTo>
                    <a:pt x="3719534" y="831881"/>
                  </a:lnTo>
                  <a:cubicBezTo>
                    <a:pt x="3719534" y="847322"/>
                    <a:pt x="3707017" y="859839"/>
                    <a:pt x="3691576" y="859839"/>
                  </a:cubicBezTo>
                  <a:lnTo>
                    <a:pt x="27958" y="859839"/>
                  </a:lnTo>
                  <a:cubicBezTo>
                    <a:pt x="12517" y="859839"/>
                    <a:pt x="0" y="847322"/>
                    <a:pt x="0" y="831881"/>
                  </a:cubicBezTo>
                  <a:lnTo>
                    <a:pt x="0" y="27958"/>
                  </a:lnTo>
                  <a:cubicBezTo>
                    <a:pt x="0" y="12517"/>
                    <a:pt x="12517" y="0"/>
                    <a:pt x="27958" y="0"/>
                  </a:cubicBezTo>
                  <a:close/>
                </a:path>
              </a:pathLst>
            </a:custGeom>
            <a:solidFill>
              <a:srgbClr val="368B84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719534" cy="926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88806" y="5771848"/>
            <a:ext cx="14018470" cy="3264700"/>
            <a:chOff x="0" y="0"/>
            <a:chExt cx="3692107" cy="8598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92107" cy="859839"/>
            </a:xfrm>
            <a:custGeom>
              <a:avLst/>
              <a:gdLst/>
              <a:ahLst/>
              <a:cxnLst/>
              <a:rect l="l" t="t" r="r" b="b"/>
              <a:pathLst>
                <a:path w="3692107" h="859839">
                  <a:moveTo>
                    <a:pt x="28166" y="0"/>
                  </a:moveTo>
                  <a:lnTo>
                    <a:pt x="3663941" y="0"/>
                  </a:lnTo>
                  <a:cubicBezTo>
                    <a:pt x="3671412" y="0"/>
                    <a:pt x="3678575" y="2967"/>
                    <a:pt x="3683858" y="8249"/>
                  </a:cubicBezTo>
                  <a:cubicBezTo>
                    <a:pt x="3689140" y="13532"/>
                    <a:pt x="3692107" y="20696"/>
                    <a:pt x="3692107" y="28166"/>
                  </a:cubicBezTo>
                  <a:lnTo>
                    <a:pt x="3692107" y="831673"/>
                  </a:lnTo>
                  <a:cubicBezTo>
                    <a:pt x="3692107" y="847229"/>
                    <a:pt x="3679497" y="859839"/>
                    <a:pt x="3663941" y="859839"/>
                  </a:cubicBezTo>
                  <a:lnTo>
                    <a:pt x="28166" y="859839"/>
                  </a:lnTo>
                  <a:cubicBezTo>
                    <a:pt x="20696" y="859839"/>
                    <a:pt x="13532" y="856871"/>
                    <a:pt x="8249" y="851589"/>
                  </a:cubicBezTo>
                  <a:cubicBezTo>
                    <a:pt x="2967" y="846307"/>
                    <a:pt x="0" y="839143"/>
                    <a:pt x="0" y="831673"/>
                  </a:cubicBezTo>
                  <a:lnTo>
                    <a:pt x="0" y="28166"/>
                  </a:lnTo>
                  <a:cubicBezTo>
                    <a:pt x="0" y="20696"/>
                    <a:pt x="2967" y="13532"/>
                    <a:pt x="8249" y="8249"/>
                  </a:cubicBezTo>
                  <a:cubicBezTo>
                    <a:pt x="13532" y="2967"/>
                    <a:pt x="20696" y="0"/>
                    <a:pt x="28166" y="0"/>
                  </a:cubicBezTo>
                  <a:close/>
                </a:path>
              </a:pathLst>
            </a:custGeom>
            <a:solidFill>
              <a:srgbClr val="368B84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692107" cy="926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0724" y="2278548"/>
            <a:ext cx="3264700" cy="3264700"/>
            <a:chOff x="0" y="0"/>
            <a:chExt cx="4352933" cy="435293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352933" cy="43529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6878"/>
              </a:solidFill>
              <a:ln w="857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89" y="189"/>
              <a:ext cx="4352555" cy="4352555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8318" t="-20342" r="-5326" b="-31183"/>
                </a:stretch>
              </a:blipFill>
              <a:ln w="857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380724" y="5771848"/>
            <a:ext cx="3264700" cy="3264700"/>
            <a:chOff x="0" y="0"/>
            <a:chExt cx="4352933" cy="435293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352933" cy="435293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6878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89" y="189"/>
              <a:ext cx="4352555" cy="435255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2368" r="-26975" b="-40586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12101007" y="796211"/>
            <a:ext cx="4494542" cy="135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9"/>
              </a:lnSpc>
            </a:pPr>
            <a:r>
              <a:rPr lang="en-US" sz="7499" b="1" spc="74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SPEAKERS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29592" y="2518290"/>
            <a:ext cx="492531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599" b="1" spc="7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JACOB POORE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29592" y="3301246"/>
            <a:ext cx="11665957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DIRECTOR, SOUTH CENTRAL COAST CENTER OF EXCELLENCE FOR LABOR MARKET RESEARCH (COE)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29592" y="6117204"/>
            <a:ext cx="430047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599" b="1" spc="7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JOSH WILLIAMS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29592" y="6784967"/>
            <a:ext cx="10575844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2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FOUNDER AND CHIEF RESEARCH OFFICER, BW RESEARCH PARTNERSHIP INC. (BW)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29592" y="3874770"/>
            <a:ext cx="11665957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Leads the COE’s research team, producing labor market analyses that inform community college program development, expansion, and alignment with regional workforce needs.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29592" y="7388853"/>
            <a:ext cx="11555522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Leads BW’s West Coast practice, integrating economic modeling, survey research, and empirical data to analyze how technological change, industry transitions, and innovation shape regional economies and opportunity.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9300844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D595A93-D831-E120-8709-CB5DF972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935200" y="922496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5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ED62-5206-32ED-0196-1A370D0B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209A-64B7-3B91-6FB5-C182C2D0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003" y="647700"/>
            <a:ext cx="4287768" cy="7936706"/>
          </a:xfrm>
        </p:spPr>
        <p:txBody>
          <a:bodyPr/>
          <a:lstStyle/>
          <a:p>
            <a:r>
              <a:rPr lang="en-US" altLang="ja-JP" sz="4800" dirty="0">
                <a:solidFill>
                  <a:schemeClr val="accent1"/>
                </a:solidFill>
                <a:latin typeface="Futura" panose="020B0604020202020204" charset="0"/>
              </a:rPr>
              <a:t>We aspire to </a:t>
            </a:r>
            <a:br>
              <a:rPr lang="en-US" altLang="ja-JP" sz="4800" dirty="0">
                <a:solidFill>
                  <a:schemeClr val="accent1"/>
                </a:solidFill>
                <a:latin typeface="Futura" panose="020B0604020202020204" charset="0"/>
              </a:rPr>
            </a:br>
            <a:r>
              <a:rPr lang="en-US" altLang="ja-JP" sz="4800" dirty="0">
                <a:solidFill>
                  <a:schemeClr val="accent1"/>
                </a:solidFill>
                <a:latin typeface="Futura" panose="020B0604020202020204" charset="0"/>
              </a:rPr>
              <a:t>be the leading source of workforce information</a:t>
            </a:r>
            <a:br>
              <a:rPr lang="en-US" altLang="ja-JP" sz="4800" dirty="0">
                <a:solidFill>
                  <a:schemeClr val="accent1"/>
                </a:solidFill>
                <a:latin typeface="Futura" panose="020B0604020202020204" charset="0"/>
              </a:rPr>
            </a:br>
            <a:r>
              <a:rPr lang="en-US" altLang="ja-JP" sz="4800" dirty="0">
                <a:solidFill>
                  <a:schemeClr val="accent1"/>
                </a:solidFill>
                <a:latin typeface="Futura" panose="020B0604020202020204" charset="0"/>
              </a:rPr>
              <a:t>and insight for California’s community colleges.</a:t>
            </a:r>
            <a:endParaRPr lang="en-US" sz="4800" dirty="0">
              <a:solidFill>
                <a:schemeClr val="accent1"/>
              </a:solidFill>
              <a:latin typeface="Futura" panose="020B060402020202020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F03D8A-F14E-83C7-C5EF-A61EB6EE1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57279" y="2841315"/>
            <a:ext cx="9630471" cy="970032"/>
          </a:xfrm>
        </p:spPr>
        <p:txBody>
          <a:bodyPr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1C1C1C"/>
                </a:solidFill>
                <a:latin typeface="Futura" panose="020B0604020202020204" charset="0"/>
                <a:ea typeface="Montserrat" pitchFamily="2" charset="0"/>
                <a:cs typeface="Montserrat" pitchFamily="2" charset="0"/>
              </a:rPr>
              <a:t>The COE provide </a:t>
            </a:r>
            <a:r>
              <a:rPr lang="en-US" altLang="ja-JP" dirty="0">
                <a:solidFill>
                  <a:srgbClr val="1C1C1C"/>
                </a:solidFill>
                <a:latin typeface="Futura Bold" panose="020B0604020202020204" charset="0"/>
                <a:ea typeface="Montserrat" pitchFamily="2" charset="0"/>
                <a:cs typeface="Montserrat" pitchFamily="2" charset="0"/>
              </a:rPr>
              <a:t>quality labor market data and information</a:t>
            </a:r>
            <a:r>
              <a:rPr lang="en-US" dirty="0">
                <a:solidFill>
                  <a:srgbClr val="1C1C1C"/>
                </a:solidFill>
                <a:latin typeface="Futura" panose="020B0604020202020204" charset="0"/>
                <a:ea typeface="Montserrat" pitchFamily="2" charset="0"/>
              </a:rPr>
              <a:t> to help colleges with: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2E748E-AEE9-8FEF-B5D8-10A684E9A615}"/>
              </a:ext>
            </a:extLst>
          </p:cNvPr>
          <p:cNvSpPr/>
          <p:nvPr/>
        </p:nvSpPr>
        <p:spPr>
          <a:xfrm>
            <a:off x="8352136" y="4785748"/>
            <a:ext cx="3312533" cy="8309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defTabSz="1371600"/>
            <a: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  <a:t>Assessing labor</a:t>
            </a:r>
            <a:b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</a:br>
            <a: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  <a:t>market needs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5379EB4-D9EA-CC56-0789-89321A5E61E8}"/>
              </a:ext>
            </a:extLst>
          </p:cNvPr>
          <p:cNvSpPr/>
          <p:nvPr/>
        </p:nvSpPr>
        <p:spPr>
          <a:xfrm>
            <a:off x="8352136" y="6838828"/>
            <a:ext cx="3458864" cy="8309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defTabSz="1371600"/>
            <a: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  <a:t>Investing in new career education programs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7DECCD7-1D1B-75A4-6104-35C3E7443AEE}"/>
              </a:ext>
            </a:extLst>
          </p:cNvPr>
          <p:cNvSpPr/>
          <p:nvPr/>
        </p:nvSpPr>
        <p:spPr>
          <a:xfrm>
            <a:off x="13534765" y="4785748"/>
            <a:ext cx="3000635" cy="8309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defTabSz="1371600"/>
            <a: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  <a:t>Reviewing career education programs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EBAE689-28B9-41FA-6F14-DF390797F498}"/>
              </a:ext>
            </a:extLst>
          </p:cNvPr>
          <p:cNvSpPr/>
          <p:nvPr/>
        </p:nvSpPr>
        <p:spPr>
          <a:xfrm>
            <a:off x="13534765" y="6838828"/>
            <a:ext cx="3786239" cy="8309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defTabSz="1371600"/>
            <a:r>
              <a:rPr lang="en-US" sz="2700" dirty="0">
                <a:solidFill>
                  <a:srgbClr val="000000"/>
                </a:solidFill>
                <a:latin typeface="Futura" panose="020B0604020202020204" charset="0"/>
              </a:rPr>
              <a:t>Grant program planning and investment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4BDA0D6E-6AAC-7DF4-BFEA-F105F8377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6135" y="1568983"/>
            <a:ext cx="5253228" cy="748235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F4420D71-659F-D12B-1E93-5A2081036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5455" y="4765127"/>
            <a:ext cx="993383" cy="872238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820BF978-7F76-74C9-AC8E-1C8EE8FD6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0377" y="4767564"/>
            <a:ext cx="1000805" cy="86736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809C1EFA-8C39-4546-860C-7685DDC52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1037" y="6783218"/>
            <a:ext cx="942216" cy="942216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CF6B7CC1-6033-AF99-5AC1-D1119A4EA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74146" y="6818241"/>
            <a:ext cx="693264" cy="872171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D5BCEB-8583-D79F-4315-B664B55E67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defTabSz="1371600"/>
            <a:fld id="{67F6696A-110D-164F-83CF-5D5ECB6AC8A0}" type="slidenum">
              <a:rPr lang="en-US">
                <a:latin typeface="Crimson Text"/>
              </a:rPr>
              <a:pPr defTabSz="1371600"/>
              <a:t>6</a:t>
            </a:fld>
            <a:endParaRPr lang="en-US" dirty="0">
              <a:latin typeface="Crimson Tex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296404-0B2C-171A-BD34-C9A7DED4B929}"/>
              </a:ext>
            </a:extLst>
          </p:cNvPr>
          <p:cNvCxnSpPr>
            <a:cxnSpLocks/>
          </p:cNvCxnSpPr>
          <p:nvPr/>
        </p:nvCxnSpPr>
        <p:spPr>
          <a:xfrm>
            <a:off x="1069554" y="7962900"/>
            <a:ext cx="63014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52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3289A-B5E6-5618-E72B-417214EB5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67788" y="933430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9F9001E-338F-2E9B-66BC-75B09505AA68}"/>
              </a:ext>
            </a:extLst>
          </p:cNvPr>
          <p:cNvSpPr/>
          <p:nvPr/>
        </p:nvSpPr>
        <p:spPr>
          <a:xfrm rot="10800000">
            <a:off x="12041498" y="0"/>
            <a:ext cx="6246502" cy="10287000"/>
          </a:xfrm>
          <a:custGeom>
            <a:avLst/>
            <a:gdLst>
              <a:gd name="csX0" fmla="*/ 0 w 6246502"/>
              <a:gd name="csY0" fmla="*/ 0 h 10287000"/>
              <a:gd name="csX1" fmla="*/ 3566862 w 6246502"/>
              <a:gd name="csY1" fmla="*/ 0 h 10287000"/>
              <a:gd name="csX2" fmla="*/ 3724376 w 6246502"/>
              <a:gd name="csY2" fmla="*/ 112010 h 10287000"/>
              <a:gd name="csX3" fmla="*/ 6246502 w 6246502"/>
              <a:gd name="csY3" fmla="*/ 5143500 h 10287000"/>
              <a:gd name="csX4" fmla="*/ 3724376 w 6246502"/>
              <a:gd name="csY4" fmla="*/ 10174990 h 10287000"/>
              <a:gd name="csX5" fmla="*/ 3566863 w 6246502"/>
              <a:gd name="csY5" fmla="*/ 10287000 h 10287000"/>
              <a:gd name="csX6" fmla="*/ 0 w 6246502"/>
              <a:gd name="csY6" fmla="*/ 10287000 h 10287000"/>
              <a:gd name="csX7" fmla="*/ 0 w 6246502"/>
              <a:gd name="csY7" fmla="*/ 0 h 10287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246502" h="10287000">
                <a:moveTo>
                  <a:pt x="0" y="0"/>
                </a:moveTo>
                <a:lnTo>
                  <a:pt x="3566862" y="0"/>
                </a:lnTo>
                <a:lnTo>
                  <a:pt x="3724376" y="112010"/>
                </a:lnTo>
                <a:cubicBezTo>
                  <a:pt x="5255462" y="1257041"/>
                  <a:pt x="6246502" y="3084536"/>
                  <a:pt x="6246502" y="5143500"/>
                </a:cubicBezTo>
                <a:cubicBezTo>
                  <a:pt x="6246502" y="7202464"/>
                  <a:pt x="5255462" y="9029960"/>
                  <a:pt x="3724376" y="10174990"/>
                </a:cubicBezTo>
                <a:lnTo>
                  <a:pt x="35668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E6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11E8558-FCA9-5974-8497-2F8D3ED8F31B}"/>
              </a:ext>
            </a:extLst>
          </p:cNvPr>
          <p:cNvSpPr txBox="1">
            <a:spLocks/>
          </p:cNvSpPr>
          <p:nvPr/>
        </p:nvSpPr>
        <p:spPr>
          <a:xfrm>
            <a:off x="12613636" y="1175147"/>
            <a:ext cx="4907880" cy="7936706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ja-JP" sz="4800" dirty="0">
                <a:solidFill>
                  <a:schemeClr val="bg1"/>
                </a:solidFill>
              </a:rPr>
              <a:t>BW delivers </a:t>
            </a:r>
          </a:p>
          <a:p>
            <a:pPr algn="r"/>
            <a:r>
              <a:rPr lang="en-US" altLang="ja-JP" sz="4800" dirty="0">
                <a:solidFill>
                  <a:srgbClr val="BFD730"/>
                </a:solidFill>
              </a:rPr>
              <a:t>research </a:t>
            </a:r>
            <a:r>
              <a:rPr lang="en-US" altLang="ja-JP" sz="4800" dirty="0">
                <a:solidFill>
                  <a:schemeClr val="bg1"/>
                </a:solidFill>
              </a:rPr>
              <a:t>that empowers regions and workforce systems to make </a:t>
            </a:r>
            <a:r>
              <a:rPr lang="en-US" altLang="ja-JP" sz="4800" dirty="0">
                <a:solidFill>
                  <a:srgbClr val="BFD730"/>
                </a:solidFill>
              </a:rPr>
              <a:t>informed decisions </a:t>
            </a:r>
            <a:r>
              <a:rPr lang="en-US" altLang="ja-JP" sz="4800" dirty="0">
                <a:solidFill>
                  <a:schemeClr val="bg1"/>
                </a:solidFill>
              </a:rPr>
              <a:t>and advance </a:t>
            </a:r>
            <a:r>
              <a:rPr lang="en-US" altLang="ja-JP" sz="4800" dirty="0">
                <a:solidFill>
                  <a:srgbClr val="BFD730"/>
                </a:solidFill>
              </a:rPr>
              <a:t>meaningful outcomes.</a:t>
            </a:r>
            <a:endParaRPr lang="en-US" sz="4800" dirty="0">
              <a:solidFill>
                <a:srgbClr val="BFD73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7D3A50-ECE5-7E02-F628-5B1FF5F1AB42}"/>
              </a:ext>
            </a:extLst>
          </p:cNvPr>
          <p:cNvCxnSpPr>
            <a:cxnSpLocks/>
          </p:cNvCxnSpPr>
          <p:nvPr/>
        </p:nvCxnSpPr>
        <p:spPr>
          <a:xfrm>
            <a:off x="16535400" y="8877300"/>
            <a:ext cx="63014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96D1601-7D0A-28A0-E3F1-D6323B90B38F}"/>
              </a:ext>
            </a:extLst>
          </p:cNvPr>
          <p:cNvGrpSpPr/>
          <p:nvPr/>
        </p:nvGrpSpPr>
        <p:grpSpPr>
          <a:xfrm>
            <a:off x="1381703" y="1485900"/>
            <a:ext cx="9893311" cy="6963888"/>
            <a:chOff x="1700082" y="1442622"/>
            <a:chExt cx="9893311" cy="6963888"/>
          </a:xfrm>
        </p:grpSpPr>
        <p:sp>
          <p:nvSpPr>
            <p:cNvPr id="5" name="Content Placeholder 8">
              <a:extLst>
                <a:ext uri="{FF2B5EF4-FFF2-40B4-BE49-F238E27FC236}">
                  <a16:creationId xmlns:a16="http://schemas.microsoft.com/office/drawing/2014/main" id="{9CBD1A29-296C-3364-C2A8-F99137A6C9D9}"/>
                </a:ext>
              </a:extLst>
            </p:cNvPr>
            <p:cNvSpPr txBox="1">
              <a:spLocks/>
            </p:cNvSpPr>
            <p:nvPr/>
          </p:nvSpPr>
          <p:spPr>
            <a:xfrm>
              <a:off x="1810522" y="3467235"/>
              <a:ext cx="9782871" cy="970032"/>
            </a:xfrm>
            <a:prstGeom prst="rect">
              <a:avLst/>
            </a:prstGeom>
          </p:spPr>
          <p:txBody>
            <a:bodyPr anchor="t"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4400"/>
                </a:lnSpc>
                <a:spcBef>
                  <a:spcPts val="0"/>
                </a:spcBef>
                <a:buFont typeface="Arial" pitchFamily="34" charset="0"/>
                <a:buNone/>
              </a:pPr>
              <a:r>
                <a:rPr lang="en-US" altLang="ja-JP" sz="3400" dirty="0">
                  <a:solidFill>
                    <a:srgbClr val="1C1C1C"/>
                  </a:solidFill>
                  <a:latin typeface="Futura" panose="020B0604020202020204" charset="0"/>
                  <a:ea typeface="Montserrat" pitchFamily="2" charset="0"/>
                  <a:cs typeface="Montserrat" pitchFamily="2" charset="0"/>
                </a:rPr>
                <a:t>BW Research supports </a:t>
              </a:r>
              <a:r>
                <a:rPr lang="en-US" altLang="ja-JP" sz="3400" dirty="0">
                  <a:solidFill>
                    <a:srgbClr val="1C1C1C"/>
                  </a:solidFill>
                  <a:latin typeface="Futura Bold" panose="020B0604020202020204" charset="0"/>
                  <a:ea typeface="Montserrat" pitchFamily="2" charset="0"/>
                  <a:cs typeface="Montserrat" pitchFamily="2" charset="0"/>
                </a:rPr>
                <a:t>workforce and economic development </a:t>
              </a:r>
              <a:r>
                <a:rPr lang="en-US" altLang="ja-JP" sz="3400" dirty="0">
                  <a:solidFill>
                    <a:srgbClr val="1C1C1C"/>
                  </a:solidFill>
                  <a:latin typeface="Futura" panose="020B0604020202020204" charset="0"/>
                  <a:ea typeface="Montserrat" pitchFamily="2" charset="0"/>
                  <a:cs typeface="Montserrat" pitchFamily="2" charset="0"/>
                </a:rPr>
                <a:t>across the Central Coast.</a:t>
              </a:r>
              <a:endParaRPr lang="en-US" sz="3400" dirty="0">
                <a:solidFill>
                  <a:srgbClr val="1C1C1C"/>
                </a:solidFill>
                <a:latin typeface="Futura" panose="020B0604020202020204" charset="0"/>
                <a:ea typeface="Montserrat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688081-93CE-4052-900A-1F00D9FFA093}"/>
                </a:ext>
              </a:extLst>
            </p:cNvPr>
            <p:cNvSpPr/>
            <p:nvPr/>
          </p:nvSpPr>
          <p:spPr>
            <a:xfrm>
              <a:off x="8547322" y="5550225"/>
              <a:ext cx="3046071" cy="86850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defTabSz="1371600">
                <a:lnSpc>
                  <a:spcPts val="350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Futura" panose="020B0604020202020204" charset="0"/>
                </a:rPr>
                <a:t>Regional Workforce &amp; Economic Profiles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80A42E-3E49-0D0F-F202-EC23D843A238}"/>
                </a:ext>
              </a:extLst>
            </p:cNvPr>
            <p:cNvSpPr/>
            <p:nvPr/>
          </p:nvSpPr>
          <p:spPr>
            <a:xfrm>
              <a:off x="3404887" y="7351381"/>
              <a:ext cx="3458864" cy="86850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defTabSz="1371600">
                <a:lnSpc>
                  <a:spcPts val="350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Futura" panose="020B0604020202020204" charset="0"/>
                </a:rPr>
                <a:t>Career Pathways Analysis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7814AE-4A40-0B28-AD36-3F49D8141855}"/>
                </a:ext>
              </a:extLst>
            </p:cNvPr>
            <p:cNvSpPr/>
            <p:nvPr/>
          </p:nvSpPr>
          <p:spPr>
            <a:xfrm>
              <a:off x="8550632" y="7362602"/>
              <a:ext cx="3000635" cy="846065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defTabSz="1371600">
                <a:lnSpc>
                  <a:spcPts val="350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Futura" panose="020B0604020202020204" charset="0"/>
                </a:rPr>
                <a:t>Strategic Workforce &amp; Sector Planning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0714AF-E0CF-2F84-299B-1CBA54EAD705}"/>
                </a:ext>
              </a:extLst>
            </p:cNvPr>
            <p:cNvSpPr/>
            <p:nvPr/>
          </p:nvSpPr>
          <p:spPr>
            <a:xfrm>
              <a:off x="3401577" y="5550225"/>
              <a:ext cx="3770290" cy="86850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defTabSz="1371600">
                <a:lnSpc>
                  <a:spcPts val="350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Futura" panose="020B0604020202020204" charset="0"/>
                </a:rPr>
                <a:t>Regional Workforce Ecosystem Mapping</a:t>
              </a:r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A80A1D3B-0843-8BA7-8E23-ABED3B3FBC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0082" y="1442622"/>
              <a:ext cx="5486399" cy="1645920"/>
            </a:xfrm>
            <a:custGeom>
              <a:avLst/>
              <a:gdLst/>
              <a:ahLst/>
              <a:cxnLst/>
              <a:rect l="l" t="t" r="r" b="b"/>
              <a:pathLst>
                <a:path w="2549069" h="764721">
                  <a:moveTo>
                    <a:pt x="0" y="0"/>
                  </a:moveTo>
                  <a:lnTo>
                    <a:pt x="2549068" y="0"/>
                  </a:lnTo>
                  <a:lnTo>
                    <a:pt x="2549068" y="764721"/>
                  </a:lnTo>
                  <a:lnTo>
                    <a:pt x="0" y="76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51453FA-EEA2-A481-D24C-6A8262AE78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72603" y="5435838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2930861" h="2930861">
                  <a:moveTo>
                    <a:pt x="0" y="0"/>
                  </a:moveTo>
                  <a:lnTo>
                    <a:pt x="2930862" y="0"/>
                  </a:lnTo>
                  <a:lnTo>
                    <a:pt x="2930862" y="2930862"/>
                  </a:lnTo>
                  <a:lnTo>
                    <a:pt x="0" y="293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0AD471C8-2884-CDF0-46C5-D303ECA718FA}"/>
                </a:ext>
              </a:extLst>
            </p:cNvPr>
            <p:cNvSpPr/>
            <p:nvPr/>
          </p:nvSpPr>
          <p:spPr>
            <a:xfrm>
              <a:off x="2072603" y="7126350"/>
              <a:ext cx="1000805" cy="1280160"/>
            </a:xfrm>
            <a:custGeom>
              <a:avLst/>
              <a:gdLst/>
              <a:ahLst/>
              <a:cxnLst/>
              <a:rect l="l" t="t" r="r" b="b"/>
              <a:pathLst>
                <a:path w="2755010" h="2930861">
                  <a:moveTo>
                    <a:pt x="0" y="0"/>
                  </a:moveTo>
                  <a:lnTo>
                    <a:pt x="2755010" y="0"/>
                  </a:lnTo>
                  <a:lnTo>
                    <a:pt x="2755010" y="2930862"/>
                  </a:lnTo>
                  <a:lnTo>
                    <a:pt x="0" y="293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4BDD4D0-CDCF-F943-FA8D-4EFA8CC363CA}"/>
                </a:ext>
              </a:extLst>
            </p:cNvPr>
            <p:cNvGrpSpPr/>
            <p:nvPr/>
          </p:nvGrpSpPr>
          <p:grpSpPr>
            <a:xfrm>
              <a:off x="7016589" y="5369916"/>
              <a:ext cx="1188720" cy="1183404"/>
              <a:chOff x="7016589" y="5369916"/>
              <a:chExt cx="1188720" cy="1183404"/>
            </a:xfrm>
          </p:grpSpPr>
          <p:sp>
            <p:nvSpPr>
              <p:cNvPr id="22" name="Freeform 9">
                <a:extLst>
                  <a:ext uri="{FF2B5EF4-FFF2-40B4-BE49-F238E27FC236}">
                    <a16:creationId xmlns:a16="http://schemas.microsoft.com/office/drawing/2014/main" id="{1DC07135-E254-5439-080B-B03C3E08366F}"/>
                  </a:ext>
                </a:extLst>
              </p:cNvPr>
              <p:cNvSpPr/>
              <p:nvPr/>
            </p:nvSpPr>
            <p:spPr>
              <a:xfrm>
                <a:off x="7016589" y="5638920"/>
                <a:ext cx="118872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4561616" h="3421212">
                    <a:moveTo>
                      <a:pt x="0" y="0"/>
                    </a:moveTo>
                    <a:lnTo>
                      <a:pt x="4561616" y="0"/>
                    </a:lnTo>
                    <a:lnTo>
                      <a:pt x="4561616" y="3421213"/>
                    </a:lnTo>
                    <a:lnTo>
                      <a:pt x="0" y="342121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" name="Group 10">
                <a:extLst>
                  <a:ext uri="{FF2B5EF4-FFF2-40B4-BE49-F238E27FC236}">
                    <a16:creationId xmlns:a16="http://schemas.microsoft.com/office/drawing/2014/main" id="{85237B33-CC8B-4DC4-F1BC-57836D1F99A0}"/>
                  </a:ext>
                </a:extLst>
              </p:cNvPr>
              <p:cNvGrpSpPr/>
              <p:nvPr/>
            </p:nvGrpSpPr>
            <p:grpSpPr>
              <a:xfrm>
                <a:off x="7719366" y="5541597"/>
                <a:ext cx="346092" cy="150895"/>
                <a:chOff x="0" y="0"/>
                <a:chExt cx="243602" cy="106209"/>
              </a:xfrm>
            </p:grpSpPr>
            <p:sp>
              <p:nvSpPr>
                <p:cNvPr id="25" name="Freeform 11">
                  <a:extLst>
                    <a:ext uri="{FF2B5EF4-FFF2-40B4-BE49-F238E27FC236}">
                      <a16:creationId xmlns:a16="http://schemas.microsoft.com/office/drawing/2014/main" id="{9D24B1FD-66B5-F7E5-07C0-10E577DF4DB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43602" cy="106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602" h="106209">
                      <a:moveTo>
                        <a:pt x="0" y="0"/>
                      </a:moveTo>
                      <a:lnTo>
                        <a:pt x="243602" y="0"/>
                      </a:lnTo>
                      <a:lnTo>
                        <a:pt x="243602" y="106209"/>
                      </a:lnTo>
                      <a:lnTo>
                        <a:pt x="0" y="10620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Box 12">
                  <a:extLst>
                    <a:ext uri="{FF2B5EF4-FFF2-40B4-BE49-F238E27FC236}">
                      <a16:creationId xmlns:a16="http://schemas.microsoft.com/office/drawing/2014/main" id="{3F07AB48-86D4-E946-A9FB-C7260048D10E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243602" cy="15383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79"/>
                    </a:lnSpc>
                  </a:pPr>
                  <a:endParaRPr/>
                </a:p>
              </p:txBody>
            </p:sp>
          </p:grpSp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2055612D-A9DB-4306-E5A6-5028BEE957EE}"/>
                  </a:ext>
                </a:extLst>
              </p:cNvPr>
              <p:cNvSpPr/>
              <p:nvPr/>
            </p:nvSpPr>
            <p:spPr>
              <a:xfrm>
                <a:off x="7701092" y="5369916"/>
                <a:ext cx="398126" cy="538008"/>
              </a:xfrm>
              <a:custGeom>
                <a:avLst/>
                <a:gdLst/>
                <a:ahLst/>
                <a:cxnLst/>
                <a:rect l="l" t="t" r="r" b="b"/>
                <a:pathLst>
                  <a:path w="1418648" h="1917092">
                    <a:moveTo>
                      <a:pt x="0" y="0"/>
                    </a:moveTo>
                    <a:lnTo>
                      <a:pt x="1418648" y="0"/>
                    </a:lnTo>
                    <a:lnTo>
                      <a:pt x="1418648" y="1917092"/>
                    </a:lnTo>
                    <a:lnTo>
                      <a:pt x="0" y="19170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39181D62-3124-258E-6243-69E26CD8D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78263" y="7240143"/>
              <a:ext cx="1131221" cy="1097280"/>
            </a:xfrm>
            <a:custGeom>
              <a:avLst/>
              <a:gdLst/>
              <a:ahLst/>
              <a:cxnLst/>
              <a:rect l="l" t="t" r="r" b="b"/>
              <a:pathLst>
                <a:path w="3021507" h="2930861">
                  <a:moveTo>
                    <a:pt x="0" y="0"/>
                  </a:moveTo>
                  <a:lnTo>
                    <a:pt x="3021506" y="0"/>
                  </a:lnTo>
                  <a:lnTo>
                    <a:pt x="3021506" y="2930862"/>
                  </a:lnTo>
                  <a:lnTo>
                    <a:pt x="0" y="293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62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07068" y="1028700"/>
            <a:ext cx="6152232" cy="8229600"/>
          </a:xfrm>
          <a:custGeom>
            <a:avLst/>
            <a:gdLst/>
            <a:ahLst/>
            <a:cxnLst/>
            <a:rect l="l" t="t" r="r" b="b"/>
            <a:pathLst>
              <a:path w="6152232" h="8229600">
                <a:moveTo>
                  <a:pt x="0" y="0"/>
                </a:moveTo>
                <a:lnTo>
                  <a:pt x="6152232" y="0"/>
                </a:lnTo>
                <a:lnTo>
                  <a:pt x="6152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418" r="-317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10794604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4999" b="1" spc="4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WHY THE COE ENGAGED BW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2598868"/>
            <a:ext cx="9698578" cy="632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>
              <a:lnSpc>
                <a:spcPts val="3700"/>
              </a:lnSpc>
              <a:spcAft>
                <a:spcPts val="3000"/>
              </a:spcAft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Innovation outpaces existing classification systems</a:t>
            </a: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, creating ambiguity in sector definitions.</a:t>
            </a:r>
          </a:p>
          <a:p>
            <a:pPr marL="647695" lvl="1" indent="-323848" algn="l">
              <a:lnSpc>
                <a:spcPts val="3700"/>
              </a:lnSpc>
              <a:spcAft>
                <a:spcPts val="3000"/>
              </a:spcAft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Emerging industries and emerging R&amp;D in traditional industries span multiple outdated NAICS codes, making traditional sector definitions unreliable.</a:t>
            </a:r>
          </a:p>
          <a:p>
            <a:pPr marL="647695" lvl="1" indent="-323848" algn="l">
              <a:lnSpc>
                <a:spcPts val="3700"/>
              </a:lnSpc>
              <a:spcAft>
                <a:spcPts val="3000"/>
              </a:spcAft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BW’s comprehensive approach enables</a:t>
            </a: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2999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more accurate sector definitions</a:t>
            </a: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across NAICS industries and prevents double-counting between sectors.</a:t>
            </a:r>
          </a:p>
          <a:p>
            <a:pPr marL="647695" lvl="1" indent="-323848" algn="l">
              <a:lnSpc>
                <a:spcPts val="3700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BW’s occupational analyses support career pathways and examine </a:t>
            </a:r>
            <a:r>
              <a:rPr lang="en-US" sz="2999" dirty="0">
                <a:solidFill>
                  <a:srgbClr val="000000"/>
                </a:solidFill>
                <a:latin typeface="Futura" panose="020B0604020202020204" charset="0"/>
                <a:ea typeface="Futura"/>
                <a:cs typeface="Futura"/>
                <a:sym typeface="Futura"/>
              </a:rPr>
              <a:t>job quality, advancement, and automation impacts</a:t>
            </a:r>
            <a:r>
              <a:rPr lang="en-US" sz="29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, both now and in the future.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953501"/>
            <a:ext cx="871604" cy="137254"/>
            <a:chOff x="0" y="0"/>
            <a:chExt cx="229558" cy="361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9" name="TextBox 22">
            <a:extLst>
              <a:ext uri="{FF2B5EF4-FFF2-40B4-BE49-F238E27FC236}">
                <a16:creationId xmlns:a16="http://schemas.microsoft.com/office/drawing/2014/main" id="{E8B7240C-72E1-7E3F-0443-F8E80F872EF9}"/>
              </a:ext>
            </a:extLst>
          </p:cNvPr>
          <p:cNvSpPr txBox="1"/>
          <p:nvPr/>
        </p:nvSpPr>
        <p:spPr>
          <a:xfrm>
            <a:off x="1028700" y="9361568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67F42F-1F0A-5429-1BEE-6188E959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5700" y="928568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8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79132" y="779135"/>
            <a:ext cx="12729737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1" spc="5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 CENTRAL COAST REGION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A82567-BB98-EEE9-4DC1-F5DB01AE2C75}"/>
              </a:ext>
            </a:extLst>
          </p:cNvPr>
          <p:cNvGrpSpPr/>
          <p:nvPr/>
        </p:nvGrpSpPr>
        <p:grpSpPr>
          <a:xfrm>
            <a:off x="1387016" y="1756728"/>
            <a:ext cx="15513969" cy="7035354"/>
            <a:chOff x="1387015" y="2060370"/>
            <a:chExt cx="15513969" cy="7035354"/>
          </a:xfrm>
        </p:grpSpPr>
        <p:sp>
          <p:nvSpPr>
            <p:cNvPr id="2" name="Freeform 2"/>
            <p:cNvSpPr/>
            <p:nvPr/>
          </p:nvSpPr>
          <p:spPr>
            <a:xfrm>
              <a:off x="1387015" y="2060370"/>
              <a:ext cx="12742919" cy="7030592"/>
            </a:xfrm>
            <a:custGeom>
              <a:avLst/>
              <a:gdLst/>
              <a:ahLst/>
              <a:cxnLst/>
              <a:rect l="l" t="t" r="r" b="b"/>
              <a:pathLst>
                <a:path w="12742919" h="7030592">
                  <a:moveTo>
                    <a:pt x="0" y="0"/>
                  </a:moveTo>
                  <a:lnTo>
                    <a:pt x="12742919" y="0"/>
                  </a:lnTo>
                  <a:lnTo>
                    <a:pt x="12742919" y="7030591"/>
                  </a:lnTo>
                  <a:lnTo>
                    <a:pt x="0" y="703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54" r="-12002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4129934" y="2060370"/>
              <a:ext cx="2771050" cy="1661706"/>
              <a:chOff x="0" y="0"/>
              <a:chExt cx="812800" cy="48740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8740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87409">
                    <a:moveTo>
                      <a:pt x="812800" y="0"/>
                    </a:moveTo>
                    <a:lnTo>
                      <a:pt x="812800" y="487409"/>
                    </a:lnTo>
                    <a:lnTo>
                      <a:pt x="0" y="4874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485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812800" cy="544559"/>
              </a:xfrm>
              <a:prstGeom prst="rect">
                <a:avLst/>
              </a:prstGeom>
            </p:spPr>
            <p:txBody>
              <a:bodyPr lIns="45614" tIns="45614" rIns="45614" bIns="4561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4863656" y="2377283"/>
              <a:ext cx="1303607" cy="999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13"/>
                </a:lnSpc>
              </a:pPr>
              <a:r>
                <a:rPr lang="en-US" sz="448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4 </a:t>
              </a:r>
            </a:p>
            <a:p>
              <a:pPr algn="ctr">
                <a:lnSpc>
                  <a:spcPts val="2545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Counties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4129934" y="7406627"/>
              <a:ext cx="2771050" cy="1689097"/>
              <a:chOff x="0" y="0"/>
              <a:chExt cx="812800" cy="4954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4954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95443">
                    <a:moveTo>
                      <a:pt x="812800" y="0"/>
                    </a:moveTo>
                    <a:lnTo>
                      <a:pt x="812800" y="495443"/>
                    </a:lnTo>
                    <a:lnTo>
                      <a:pt x="0" y="4954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A6B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812800" cy="552593"/>
              </a:xfrm>
              <a:prstGeom prst="rect">
                <a:avLst/>
              </a:prstGeom>
            </p:spPr>
            <p:txBody>
              <a:bodyPr lIns="45614" tIns="45614" rIns="45614" bIns="4561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613556" y="8213075"/>
              <a:ext cx="1803807" cy="758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88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CTE Students </a:t>
              </a:r>
            </a:p>
            <a:p>
              <a:pPr algn="ctr">
                <a:lnSpc>
                  <a:spcPts val="2788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(2023-2024)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01734" y="7655291"/>
              <a:ext cx="2227451" cy="554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2"/>
                </a:lnSpc>
                <a:spcBef>
                  <a:spcPct val="0"/>
                </a:spcBef>
              </a:pPr>
              <a:r>
                <a:rPr lang="en-US" sz="448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79,000+ 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4129934" y="3821686"/>
              <a:ext cx="2771050" cy="1689097"/>
              <a:chOff x="0" y="0"/>
              <a:chExt cx="812800" cy="49544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4954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95443">
                    <a:moveTo>
                      <a:pt x="812800" y="0"/>
                    </a:moveTo>
                    <a:lnTo>
                      <a:pt x="812800" y="495443"/>
                    </a:lnTo>
                    <a:lnTo>
                      <a:pt x="0" y="4954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687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812800" cy="552593"/>
              </a:xfrm>
              <a:prstGeom prst="rect">
                <a:avLst/>
              </a:prstGeom>
            </p:spPr>
            <p:txBody>
              <a:bodyPr lIns="45614" tIns="45614" rIns="45614" bIns="4561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5370934" y="4083416"/>
              <a:ext cx="289052" cy="554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2"/>
                </a:lnSpc>
                <a:spcBef>
                  <a:spcPct val="0"/>
                </a:spcBef>
              </a:pPr>
              <a:r>
                <a:rPr lang="en-US" sz="448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53073" y="4569915"/>
              <a:ext cx="1524773" cy="7261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6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Community </a:t>
              </a:r>
            </a:p>
            <a:p>
              <a:pPr algn="ctr">
                <a:lnSpc>
                  <a:spcPts val="2666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Colleges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4129934" y="5614898"/>
              <a:ext cx="2771050" cy="1689097"/>
              <a:chOff x="0" y="0"/>
              <a:chExt cx="812800" cy="49544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4954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95443">
                    <a:moveTo>
                      <a:pt x="812800" y="0"/>
                    </a:moveTo>
                    <a:lnTo>
                      <a:pt x="812800" y="495443"/>
                    </a:lnTo>
                    <a:lnTo>
                      <a:pt x="0" y="4954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98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812800" cy="552593"/>
              </a:xfrm>
              <a:prstGeom prst="rect">
                <a:avLst/>
              </a:prstGeom>
            </p:spPr>
            <p:txBody>
              <a:bodyPr lIns="45614" tIns="45614" rIns="45614" bIns="4561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4662733" y="5950316"/>
              <a:ext cx="1705452" cy="6375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0"/>
                </a:lnSpc>
              </a:pPr>
              <a:r>
                <a:rPr lang="en-US" sz="448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2.2M+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999298" y="6617066"/>
              <a:ext cx="1032323" cy="347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1"/>
                </a:lnSpc>
              </a:pPr>
              <a:r>
                <a:rPr lang="en-US" sz="2424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People</a:t>
              </a:r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B9330EF-FCDF-801D-BF98-3B48C856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00462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9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9F49-6921-DF91-7694-AB9DEEF6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7397E0A-2975-2DE5-66CD-903AD08C6E60}"/>
              </a:ext>
            </a:extLst>
          </p:cNvPr>
          <p:cNvSpPr/>
          <p:nvPr/>
        </p:nvSpPr>
        <p:spPr>
          <a:xfrm>
            <a:off x="3520440" y="2449166"/>
            <a:ext cx="13395960" cy="600374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5">
            <a:extLst>
              <a:ext uri="{FF2B5EF4-FFF2-40B4-BE49-F238E27FC236}">
                <a16:creationId xmlns:a16="http://schemas.microsoft.com/office/drawing/2014/main" id="{7BA6126A-8FB0-B686-512C-A20722392F1B}"/>
              </a:ext>
            </a:extLst>
          </p:cNvPr>
          <p:cNvSpPr txBox="1"/>
          <p:nvPr/>
        </p:nvSpPr>
        <p:spPr>
          <a:xfrm>
            <a:off x="1390849" y="3875905"/>
            <a:ext cx="1855833" cy="1329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Regional Planning Unit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1FBC5A4-2D29-B4C0-6AC2-AF73B33C5C5C}"/>
              </a:ext>
            </a:extLst>
          </p:cNvPr>
          <p:cNvSpPr txBox="1"/>
          <p:nvPr/>
        </p:nvSpPr>
        <p:spPr>
          <a:xfrm>
            <a:off x="1447801" y="877329"/>
            <a:ext cx="15392400" cy="737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1" spc="5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STRUCTURAL CHALLENGES: SOUTH CENTRAL COAST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F46696B-E4F8-E48A-9CD3-61EF5612E326}"/>
              </a:ext>
            </a:extLst>
          </p:cNvPr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31CE22E-157D-2A84-27D8-E61A017F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00462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10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29" name="TextBox 35">
            <a:extLst>
              <a:ext uri="{FF2B5EF4-FFF2-40B4-BE49-F238E27FC236}">
                <a16:creationId xmlns:a16="http://schemas.microsoft.com/office/drawing/2014/main" id="{D0966591-AD37-D1A7-F379-946120CA2392}"/>
              </a:ext>
            </a:extLst>
          </p:cNvPr>
          <p:cNvSpPr txBox="1"/>
          <p:nvPr/>
        </p:nvSpPr>
        <p:spPr>
          <a:xfrm>
            <a:off x="1317534" y="2563098"/>
            <a:ext cx="1870380" cy="88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CCCCO Region</a:t>
            </a:r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14CA78BA-75BA-0621-D469-48A07CEA2684}"/>
              </a:ext>
            </a:extLst>
          </p:cNvPr>
          <p:cNvSpPr txBox="1"/>
          <p:nvPr/>
        </p:nvSpPr>
        <p:spPr>
          <a:xfrm>
            <a:off x="1317534" y="7477075"/>
            <a:ext cx="187038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320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County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EFD3B5C-8AFC-B284-504B-08EE7B3D1D68}"/>
              </a:ext>
            </a:extLst>
          </p:cNvPr>
          <p:cNvSpPr txBox="1"/>
          <p:nvPr/>
        </p:nvSpPr>
        <p:spPr>
          <a:xfrm>
            <a:off x="1219199" y="5679694"/>
            <a:ext cx="2067047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Jobs First Region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69F698-D143-A372-5974-DB025A0E0FBA}"/>
              </a:ext>
            </a:extLst>
          </p:cNvPr>
          <p:cNvSpPr/>
          <p:nvPr/>
        </p:nvSpPr>
        <p:spPr>
          <a:xfrm>
            <a:off x="3595291" y="2476500"/>
            <a:ext cx="13229023" cy="1143000"/>
          </a:xfrm>
          <a:prstGeom prst="roundRect">
            <a:avLst/>
          </a:prstGeom>
          <a:solidFill>
            <a:srgbClr val="0046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Futura" panose="020B0604020202020204" charset="0"/>
              </a:rPr>
              <a:t>South Central Coast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8050AA-DB8E-7040-ADD7-D402E1968A37}"/>
              </a:ext>
            </a:extLst>
          </p:cNvPr>
          <p:cNvGrpSpPr/>
          <p:nvPr/>
        </p:nvGrpSpPr>
        <p:grpSpPr>
          <a:xfrm>
            <a:off x="3595292" y="6972300"/>
            <a:ext cx="3198049" cy="1418206"/>
            <a:chOff x="2198" y="1594438"/>
            <a:chExt cx="3198049" cy="141820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E4F296D-05B2-3F7F-7A23-8EE3387AA3D2}"/>
                </a:ext>
              </a:extLst>
            </p:cNvPr>
            <p:cNvSpPr/>
            <p:nvPr/>
          </p:nvSpPr>
          <p:spPr>
            <a:xfrm>
              <a:off x="2198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A8225C53-F1FE-5B56-469A-086BF815CC49}"/>
                </a:ext>
              </a:extLst>
            </p:cNvPr>
            <p:cNvSpPr txBox="1"/>
            <p:nvPr/>
          </p:nvSpPr>
          <p:spPr>
            <a:xfrm>
              <a:off x="43736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Northern Los Angeles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B8CBEB-C75C-6704-0BC8-CD85BDB528EC}"/>
              </a:ext>
            </a:extLst>
          </p:cNvPr>
          <p:cNvGrpSpPr/>
          <p:nvPr/>
        </p:nvGrpSpPr>
        <p:grpSpPr>
          <a:xfrm>
            <a:off x="3595292" y="5338877"/>
            <a:ext cx="3198049" cy="1418206"/>
            <a:chOff x="2198" y="1594438"/>
            <a:chExt cx="3198049" cy="141820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2F045F2-245C-08A5-6AE0-C43C77304C98}"/>
                </a:ext>
              </a:extLst>
            </p:cNvPr>
            <p:cNvSpPr/>
            <p:nvPr/>
          </p:nvSpPr>
          <p:spPr>
            <a:xfrm>
              <a:off x="2198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7397097B-B72E-780B-D9E3-6FE283F0F287}"/>
                </a:ext>
              </a:extLst>
            </p:cNvPr>
            <p:cNvSpPr txBox="1"/>
            <p:nvPr/>
          </p:nvSpPr>
          <p:spPr>
            <a:xfrm>
              <a:off x="43736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LA County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1407A7-ECEF-6EF8-A495-1B5CA017F76F}"/>
              </a:ext>
            </a:extLst>
          </p:cNvPr>
          <p:cNvGrpSpPr/>
          <p:nvPr/>
        </p:nvGrpSpPr>
        <p:grpSpPr>
          <a:xfrm>
            <a:off x="3636830" y="3743070"/>
            <a:ext cx="3198049" cy="1418206"/>
            <a:chOff x="2198" y="1594438"/>
            <a:chExt cx="3198049" cy="141820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0AA8F27-499B-2690-24DB-F266CA0E09E5}"/>
                </a:ext>
              </a:extLst>
            </p:cNvPr>
            <p:cNvSpPr/>
            <p:nvPr/>
          </p:nvSpPr>
          <p:spPr>
            <a:xfrm>
              <a:off x="2198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647C102C-7119-57B7-9646-3F243FE05249}"/>
                </a:ext>
              </a:extLst>
            </p:cNvPr>
            <p:cNvSpPr txBox="1"/>
            <p:nvPr/>
          </p:nvSpPr>
          <p:spPr>
            <a:xfrm>
              <a:off x="43736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Los Angeles Basin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328797-946F-ADEA-49AD-034B39869351}"/>
              </a:ext>
            </a:extLst>
          </p:cNvPr>
          <p:cNvGrpSpPr/>
          <p:nvPr/>
        </p:nvGrpSpPr>
        <p:grpSpPr>
          <a:xfrm>
            <a:off x="6952795" y="5338877"/>
            <a:ext cx="9913057" cy="1418206"/>
            <a:chOff x="3468884" y="3186901"/>
            <a:chExt cx="3198049" cy="141820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666A49-552D-3706-5FAD-45E8EF2ADD89}"/>
                </a:ext>
              </a:extLst>
            </p:cNvPr>
            <p:cNvSpPr/>
            <p:nvPr/>
          </p:nvSpPr>
          <p:spPr>
            <a:xfrm>
              <a:off x="3468884" y="3186901"/>
              <a:ext cx="3198049" cy="141820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7CE99030-EEBC-9E21-C57F-F5F5AB55CBE5}"/>
                </a:ext>
              </a:extLst>
            </p:cNvPr>
            <p:cNvSpPr txBox="1"/>
            <p:nvPr/>
          </p:nvSpPr>
          <p:spPr>
            <a:xfrm>
              <a:off x="3510422" y="3228439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Central Coast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683DD3-E571-E69F-36ED-887E3507FB7B}"/>
              </a:ext>
            </a:extLst>
          </p:cNvPr>
          <p:cNvGrpSpPr/>
          <p:nvPr/>
        </p:nvGrpSpPr>
        <p:grpSpPr>
          <a:xfrm>
            <a:off x="10310300" y="6967907"/>
            <a:ext cx="3198049" cy="1418206"/>
            <a:chOff x="6935570" y="1594438"/>
            <a:chExt cx="3198049" cy="141820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5BC1EB7-ED1A-2A1B-9195-2F7A5503982C}"/>
                </a:ext>
              </a:extLst>
            </p:cNvPr>
            <p:cNvSpPr/>
            <p:nvPr/>
          </p:nvSpPr>
          <p:spPr>
            <a:xfrm>
              <a:off x="6935570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rgbClr val="5298A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2E0FE0C2-9BD2-54BD-40E9-E1E012CCFE9F}"/>
                </a:ext>
              </a:extLst>
            </p:cNvPr>
            <p:cNvSpPr txBox="1"/>
            <p:nvPr/>
          </p:nvSpPr>
          <p:spPr>
            <a:xfrm>
              <a:off x="6977108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Santa Barbara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3843BA-8E73-DC80-6875-3B746460CB47}"/>
              </a:ext>
            </a:extLst>
          </p:cNvPr>
          <p:cNvGrpSpPr/>
          <p:nvPr/>
        </p:nvGrpSpPr>
        <p:grpSpPr>
          <a:xfrm>
            <a:off x="6952796" y="6967907"/>
            <a:ext cx="3198049" cy="1418206"/>
            <a:chOff x="3468884" y="1594438"/>
            <a:chExt cx="3198049" cy="1418206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37E307E-2DAA-5F14-580A-347FA3E4C66C}"/>
                </a:ext>
              </a:extLst>
            </p:cNvPr>
            <p:cNvSpPr/>
            <p:nvPr/>
          </p:nvSpPr>
          <p:spPr>
            <a:xfrm>
              <a:off x="3468884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rgbClr val="2E687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985CFED2-E903-BE19-F9FA-CFF559DCC6D3}"/>
                </a:ext>
              </a:extLst>
            </p:cNvPr>
            <p:cNvSpPr txBox="1"/>
            <p:nvPr/>
          </p:nvSpPr>
          <p:spPr>
            <a:xfrm>
              <a:off x="3510422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San Luis Obispo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78DF26-A157-E900-90B5-1B093AA4A9C8}"/>
              </a:ext>
            </a:extLst>
          </p:cNvPr>
          <p:cNvGrpSpPr/>
          <p:nvPr/>
        </p:nvGrpSpPr>
        <p:grpSpPr>
          <a:xfrm>
            <a:off x="13667803" y="6965198"/>
            <a:ext cx="3198049" cy="1418206"/>
            <a:chOff x="10402256" y="1594438"/>
            <a:chExt cx="3198049" cy="141820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3706BDC-5751-B672-8ED2-27DF2B97580D}"/>
                </a:ext>
              </a:extLst>
            </p:cNvPr>
            <p:cNvSpPr/>
            <p:nvPr/>
          </p:nvSpPr>
          <p:spPr>
            <a:xfrm>
              <a:off x="10402256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rgbClr val="6CC9D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D9A8097B-32FD-413E-6A49-0B7F5B3203AE}"/>
                </a:ext>
              </a:extLst>
            </p:cNvPr>
            <p:cNvSpPr txBox="1"/>
            <p:nvPr/>
          </p:nvSpPr>
          <p:spPr>
            <a:xfrm>
              <a:off x="10443794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Ventura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1CE3B8-938A-7329-85FD-B9546D0642E5}"/>
              </a:ext>
            </a:extLst>
          </p:cNvPr>
          <p:cNvGrpSpPr/>
          <p:nvPr/>
        </p:nvGrpSpPr>
        <p:grpSpPr>
          <a:xfrm>
            <a:off x="6994334" y="3787294"/>
            <a:ext cx="6514015" cy="1418206"/>
            <a:chOff x="3468884" y="3186901"/>
            <a:chExt cx="3198049" cy="1418206"/>
          </a:xfrm>
          <a:solidFill>
            <a:schemeClr val="accent3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E58163E-C82A-FB71-514F-050947C9C9CC}"/>
                </a:ext>
              </a:extLst>
            </p:cNvPr>
            <p:cNvSpPr/>
            <p:nvPr/>
          </p:nvSpPr>
          <p:spPr>
            <a:xfrm>
              <a:off x="3468884" y="3186901"/>
              <a:ext cx="3198049" cy="141820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D7CAAEC3-6249-18B5-1A58-1A21F739212D}"/>
                </a:ext>
              </a:extLst>
            </p:cNvPr>
            <p:cNvSpPr txBox="1"/>
            <p:nvPr/>
          </p:nvSpPr>
          <p:spPr>
            <a:xfrm>
              <a:off x="3510422" y="3228439"/>
              <a:ext cx="3114973" cy="13351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South Central Coast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8490B5-96A8-9064-71B4-FA88D7123955}"/>
              </a:ext>
            </a:extLst>
          </p:cNvPr>
          <p:cNvGrpSpPr/>
          <p:nvPr/>
        </p:nvGrpSpPr>
        <p:grpSpPr>
          <a:xfrm>
            <a:off x="13667803" y="3752877"/>
            <a:ext cx="3198049" cy="1418206"/>
            <a:chOff x="10402256" y="1594438"/>
            <a:chExt cx="3198049" cy="141820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F49D9D-267F-CB6D-06FF-A415D06205B6}"/>
                </a:ext>
              </a:extLst>
            </p:cNvPr>
            <p:cNvSpPr/>
            <p:nvPr/>
          </p:nvSpPr>
          <p:spPr>
            <a:xfrm>
              <a:off x="10402256" y="1594438"/>
              <a:ext cx="3198049" cy="1418206"/>
            </a:xfrm>
            <a:prstGeom prst="roundRect">
              <a:avLst>
                <a:gd name="adj" fmla="val 10000"/>
              </a:avLst>
            </a:prstGeom>
            <a:solidFill>
              <a:srgbClr val="6CC9D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B443170E-4532-347A-7436-6670CF626732}"/>
                </a:ext>
              </a:extLst>
            </p:cNvPr>
            <p:cNvSpPr txBox="1"/>
            <p:nvPr/>
          </p:nvSpPr>
          <p:spPr>
            <a:xfrm>
              <a:off x="10443794" y="1635976"/>
              <a:ext cx="3114973" cy="13351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>
                  <a:latin typeface="Futura" panose="020B0604020202020204" charset="0"/>
                </a:rPr>
                <a:t>Ventura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335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B5EA5-5D9A-B39E-6707-3F576523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87600" y="91490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A5EDD-1F3F-96A3-C04D-C34535CA0514}"/>
              </a:ext>
            </a:extLst>
          </p:cNvPr>
          <p:cNvSpPr txBox="1"/>
          <p:nvPr/>
        </p:nvSpPr>
        <p:spPr>
          <a:xfrm>
            <a:off x="1943100" y="4558724"/>
            <a:ext cx="14401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latin typeface="Futura Bold" panose="020B0604020202020204" charset="0"/>
              </a:rPr>
              <a:t>PART 2. DATA AND KEY FINDINGS</a:t>
            </a: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DF55C81F-AA5E-0D70-E34A-4316A34A03AE}"/>
              </a:ext>
            </a:extLst>
          </p:cNvPr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</p:spTree>
    <p:extLst>
      <p:ext uri="{BB962C8B-B14F-4D97-AF65-F5344CB8AC3E}">
        <p14:creationId xmlns:p14="http://schemas.microsoft.com/office/powerpoint/2010/main" val="45350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75681"/>
            <a:ext cx="2809875" cy="3120008"/>
            <a:chOff x="0" y="0"/>
            <a:chExt cx="694291" cy="770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4291" cy="770922"/>
            </a:xfrm>
            <a:custGeom>
              <a:avLst/>
              <a:gdLst/>
              <a:ahLst/>
              <a:cxnLst/>
              <a:rect l="l" t="t" r="r" b="b"/>
              <a:pathLst>
                <a:path w="694291" h="770922">
                  <a:moveTo>
                    <a:pt x="85413" y="0"/>
                  </a:moveTo>
                  <a:lnTo>
                    <a:pt x="608878" y="0"/>
                  </a:lnTo>
                  <a:cubicBezTo>
                    <a:pt x="656051" y="0"/>
                    <a:pt x="694291" y="38241"/>
                    <a:pt x="694291" y="85413"/>
                  </a:cubicBezTo>
                  <a:lnTo>
                    <a:pt x="694291" y="685509"/>
                  </a:lnTo>
                  <a:cubicBezTo>
                    <a:pt x="694291" y="732681"/>
                    <a:pt x="656051" y="770922"/>
                    <a:pt x="608878" y="770922"/>
                  </a:cubicBezTo>
                  <a:lnTo>
                    <a:pt x="85413" y="770922"/>
                  </a:lnTo>
                  <a:cubicBezTo>
                    <a:pt x="62760" y="770922"/>
                    <a:pt x="41035" y="761923"/>
                    <a:pt x="25017" y="745905"/>
                  </a:cubicBezTo>
                  <a:cubicBezTo>
                    <a:pt x="8999" y="729887"/>
                    <a:pt x="0" y="708162"/>
                    <a:pt x="0" y="685509"/>
                  </a:cubicBezTo>
                  <a:lnTo>
                    <a:pt x="0" y="85413"/>
                  </a:lnTo>
                  <a:cubicBezTo>
                    <a:pt x="0" y="38241"/>
                    <a:pt x="38241" y="0"/>
                    <a:pt x="85413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28575" cap="rnd">
              <a:solidFill>
                <a:srgbClr val="000000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94291" cy="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733550" y="2470666"/>
            <a:ext cx="1156695" cy="983191"/>
          </a:xfrm>
          <a:custGeom>
            <a:avLst/>
            <a:gdLst/>
            <a:ahLst/>
            <a:cxnLst/>
            <a:rect l="l" t="t" r="r" b="b"/>
            <a:pathLst>
              <a:path w="1156695" h="983191">
                <a:moveTo>
                  <a:pt x="1156695" y="0"/>
                </a:moveTo>
                <a:lnTo>
                  <a:pt x="0" y="0"/>
                </a:lnTo>
                <a:lnTo>
                  <a:pt x="0" y="983191"/>
                </a:lnTo>
                <a:lnTo>
                  <a:pt x="1156695" y="983191"/>
                </a:lnTo>
                <a:lnTo>
                  <a:pt x="11566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336983" y="2556391"/>
            <a:ext cx="2809875" cy="3120008"/>
            <a:chOff x="0" y="0"/>
            <a:chExt cx="694291" cy="7709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4291" cy="770922"/>
            </a:xfrm>
            <a:custGeom>
              <a:avLst/>
              <a:gdLst/>
              <a:ahLst/>
              <a:cxnLst/>
              <a:rect l="l" t="t" r="r" b="b"/>
              <a:pathLst>
                <a:path w="694291" h="770922">
                  <a:moveTo>
                    <a:pt x="85413" y="0"/>
                  </a:moveTo>
                  <a:lnTo>
                    <a:pt x="608878" y="0"/>
                  </a:lnTo>
                  <a:cubicBezTo>
                    <a:pt x="656051" y="0"/>
                    <a:pt x="694291" y="38241"/>
                    <a:pt x="694291" y="85413"/>
                  </a:cubicBezTo>
                  <a:lnTo>
                    <a:pt x="694291" y="685509"/>
                  </a:lnTo>
                  <a:cubicBezTo>
                    <a:pt x="694291" y="732681"/>
                    <a:pt x="656051" y="770922"/>
                    <a:pt x="608878" y="770922"/>
                  </a:cubicBezTo>
                  <a:lnTo>
                    <a:pt x="85413" y="770922"/>
                  </a:lnTo>
                  <a:cubicBezTo>
                    <a:pt x="62760" y="770922"/>
                    <a:pt x="41035" y="761923"/>
                    <a:pt x="25017" y="745905"/>
                  </a:cubicBezTo>
                  <a:cubicBezTo>
                    <a:pt x="8999" y="729887"/>
                    <a:pt x="0" y="708162"/>
                    <a:pt x="0" y="685509"/>
                  </a:cubicBezTo>
                  <a:lnTo>
                    <a:pt x="0" y="85413"/>
                  </a:lnTo>
                  <a:cubicBezTo>
                    <a:pt x="0" y="38241"/>
                    <a:pt x="38241" y="0"/>
                    <a:pt x="85413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28575" cap="rnd">
              <a:solidFill>
                <a:srgbClr val="000000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694291" cy="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5048250" y="2470666"/>
            <a:ext cx="1156695" cy="983191"/>
          </a:xfrm>
          <a:custGeom>
            <a:avLst/>
            <a:gdLst/>
            <a:ahLst/>
            <a:cxnLst/>
            <a:rect l="l" t="t" r="r" b="b"/>
            <a:pathLst>
              <a:path w="1156695" h="983191">
                <a:moveTo>
                  <a:pt x="1156695" y="0"/>
                </a:moveTo>
                <a:lnTo>
                  <a:pt x="0" y="0"/>
                </a:lnTo>
                <a:lnTo>
                  <a:pt x="0" y="983191"/>
                </a:lnTo>
                <a:lnTo>
                  <a:pt x="1156695" y="983191"/>
                </a:lnTo>
                <a:lnTo>
                  <a:pt x="11566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707797" y="2556391"/>
            <a:ext cx="2809875" cy="3120008"/>
            <a:chOff x="0" y="0"/>
            <a:chExt cx="694291" cy="7709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4291" cy="770922"/>
            </a:xfrm>
            <a:custGeom>
              <a:avLst/>
              <a:gdLst/>
              <a:ahLst/>
              <a:cxnLst/>
              <a:rect l="l" t="t" r="r" b="b"/>
              <a:pathLst>
                <a:path w="694291" h="770922">
                  <a:moveTo>
                    <a:pt x="85413" y="0"/>
                  </a:moveTo>
                  <a:lnTo>
                    <a:pt x="608878" y="0"/>
                  </a:lnTo>
                  <a:cubicBezTo>
                    <a:pt x="656051" y="0"/>
                    <a:pt x="694291" y="38241"/>
                    <a:pt x="694291" y="85413"/>
                  </a:cubicBezTo>
                  <a:lnTo>
                    <a:pt x="694291" y="685509"/>
                  </a:lnTo>
                  <a:cubicBezTo>
                    <a:pt x="694291" y="732681"/>
                    <a:pt x="656051" y="770922"/>
                    <a:pt x="608878" y="770922"/>
                  </a:cubicBezTo>
                  <a:lnTo>
                    <a:pt x="85413" y="770922"/>
                  </a:lnTo>
                  <a:cubicBezTo>
                    <a:pt x="62760" y="770922"/>
                    <a:pt x="41035" y="761923"/>
                    <a:pt x="25017" y="745905"/>
                  </a:cubicBezTo>
                  <a:cubicBezTo>
                    <a:pt x="8999" y="729887"/>
                    <a:pt x="0" y="708162"/>
                    <a:pt x="0" y="685509"/>
                  </a:cubicBezTo>
                  <a:lnTo>
                    <a:pt x="0" y="85413"/>
                  </a:lnTo>
                  <a:cubicBezTo>
                    <a:pt x="0" y="38241"/>
                    <a:pt x="38241" y="0"/>
                    <a:pt x="85413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19050" cap="rnd">
              <a:solidFill>
                <a:srgbClr val="A6A6A6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694291" cy="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8429625" y="2470666"/>
            <a:ext cx="1156695" cy="983191"/>
          </a:xfrm>
          <a:custGeom>
            <a:avLst/>
            <a:gdLst/>
            <a:ahLst/>
            <a:cxnLst/>
            <a:rect l="l" t="t" r="r" b="b"/>
            <a:pathLst>
              <a:path w="1156695" h="983191">
                <a:moveTo>
                  <a:pt x="1156695" y="0"/>
                </a:moveTo>
                <a:lnTo>
                  <a:pt x="0" y="0"/>
                </a:lnTo>
                <a:lnTo>
                  <a:pt x="0" y="983191"/>
                </a:lnTo>
                <a:lnTo>
                  <a:pt x="1156695" y="983191"/>
                </a:lnTo>
                <a:lnTo>
                  <a:pt x="11566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078611" y="2556391"/>
            <a:ext cx="2809875" cy="3120008"/>
            <a:chOff x="0" y="0"/>
            <a:chExt cx="694291" cy="7709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4291" cy="770922"/>
            </a:xfrm>
            <a:custGeom>
              <a:avLst/>
              <a:gdLst/>
              <a:ahLst/>
              <a:cxnLst/>
              <a:rect l="l" t="t" r="r" b="b"/>
              <a:pathLst>
                <a:path w="694291" h="770922">
                  <a:moveTo>
                    <a:pt x="85413" y="0"/>
                  </a:moveTo>
                  <a:lnTo>
                    <a:pt x="608878" y="0"/>
                  </a:lnTo>
                  <a:cubicBezTo>
                    <a:pt x="656051" y="0"/>
                    <a:pt x="694291" y="38241"/>
                    <a:pt x="694291" y="85413"/>
                  </a:cubicBezTo>
                  <a:lnTo>
                    <a:pt x="694291" y="685509"/>
                  </a:lnTo>
                  <a:cubicBezTo>
                    <a:pt x="694291" y="732681"/>
                    <a:pt x="656051" y="770922"/>
                    <a:pt x="608878" y="770922"/>
                  </a:cubicBezTo>
                  <a:lnTo>
                    <a:pt x="85413" y="770922"/>
                  </a:lnTo>
                  <a:cubicBezTo>
                    <a:pt x="62760" y="770922"/>
                    <a:pt x="41035" y="761923"/>
                    <a:pt x="25017" y="745905"/>
                  </a:cubicBezTo>
                  <a:cubicBezTo>
                    <a:pt x="8999" y="729887"/>
                    <a:pt x="0" y="708162"/>
                    <a:pt x="0" y="685509"/>
                  </a:cubicBezTo>
                  <a:lnTo>
                    <a:pt x="0" y="85413"/>
                  </a:lnTo>
                  <a:cubicBezTo>
                    <a:pt x="0" y="38241"/>
                    <a:pt x="38241" y="0"/>
                    <a:pt x="85413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19050" cap="rnd">
              <a:solidFill>
                <a:srgbClr val="B4B4B4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694291" cy="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1791950" y="2470666"/>
            <a:ext cx="1156695" cy="983191"/>
          </a:xfrm>
          <a:custGeom>
            <a:avLst/>
            <a:gdLst/>
            <a:ahLst/>
            <a:cxnLst/>
            <a:rect l="l" t="t" r="r" b="b"/>
            <a:pathLst>
              <a:path w="1156695" h="983191">
                <a:moveTo>
                  <a:pt x="1156695" y="0"/>
                </a:moveTo>
                <a:lnTo>
                  <a:pt x="0" y="0"/>
                </a:lnTo>
                <a:lnTo>
                  <a:pt x="0" y="983191"/>
                </a:lnTo>
                <a:lnTo>
                  <a:pt x="1156695" y="983191"/>
                </a:lnTo>
                <a:lnTo>
                  <a:pt x="11566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449425" y="2556391"/>
            <a:ext cx="2809875" cy="3120008"/>
            <a:chOff x="0" y="0"/>
            <a:chExt cx="694291" cy="7709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4291" cy="770922"/>
            </a:xfrm>
            <a:custGeom>
              <a:avLst/>
              <a:gdLst/>
              <a:ahLst/>
              <a:cxnLst/>
              <a:rect l="l" t="t" r="r" b="b"/>
              <a:pathLst>
                <a:path w="694291" h="770922">
                  <a:moveTo>
                    <a:pt x="85413" y="0"/>
                  </a:moveTo>
                  <a:lnTo>
                    <a:pt x="608878" y="0"/>
                  </a:lnTo>
                  <a:cubicBezTo>
                    <a:pt x="656051" y="0"/>
                    <a:pt x="694291" y="38241"/>
                    <a:pt x="694291" y="85413"/>
                  </a:cubicBezTo>
                  <a:lnTo>
                    <a:pt x="694291" y="685509"/>
                  </a:lnTo>
                  <a:cubicBezTo>
                    <a:pt x="694291" y="732681"/>
                    <a:pt x="656051" y="770922"/>
                    <a:pt x="608878" y="770922"/>
                  </a:cubicBezTo>
                  <a:lnTo>
                    <a:pt x="85413" y="770922"/>
                  </a:lnTo>
                  <a:cubicBezTo>
                    <a:pt x="62760" y="770922"/>
                    <a:pt x="41035" y="761923"/>
                    <a:pt x="25017" y="745905"/>
                  </a:cubicBezTo>
                  <a:cubicBezTo>
                    <a:pt x="8999" y="729887"/>
                    <a:pt x="0" y="708162"/>
                    <a:pt x="0" y="685509"/>
                  </a:cubicBezTo>
                  <a:lnTo>
                    <a:pt x="0" y="85413"/>
                  </a:lnTo>
                  <a:cubicBezTo>
                    <a:pt x="0" y="38241"/>
                    <a:pt x="38241" y="0"/>
                    <a:pt x="85413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19050" cap="rnd">
              <a:solidFill>
                <a:srgbClr val="B4B4B4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694291" cy="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15144750" y="2470666"/>
            <a:ext cx="1156695" cy="983191"/>
          </a:xfrm>
          <a:custGeom>
            <a:avLst/>
            <a:gdLst/>
            <a:ahLst/>
            <a:cxnLst/>
            <a:rect l="l" t="t" r="r" b="b"/>
            <a:pathLst>
              <a:path w="1156695" h="983191">
                <a:moveTo>
                  <a:pt x="1156695" y="0"/>
                </a:moveTo>
                <a:lnTo>
                  <a:pt x="0" y="0"/>
                </a:lnTo>
                <a:lnTo>
                  <a:pt x="0" y="983191"/>
                </a:lnTo>
                <a:lnTo>
                  <a:pt x="1156695" y="983191"/>
                </a:lnTo>
                <a:lnTo>
                  <a:pt x="11566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028700" y="7311253"/>
            <a:ext cx="16230600" cy="1547867"/>
            <a:chOff x="0" y="0"/>
            <a:chExt cx="4274726" cy="407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74726" cy="407669"/>
            </a:xfrm>
            <a:custGeom>
              <a:avLst/>
              <a:gdLst/>
              <a:ahLst/>
              <a:cxnLst/>
              <a:rect l="l" t="t" r="r" b="b"/>
              <a:pathLst>
                <a:path w="4274726" h="407669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395267"/>
                  </a:lnTo>
                  <a:cubicBezTo>
                    <a:pt x="4274726" y="398556"/>
                    <a:pt x="4273419" y="401710"/>
                    <a:pt x="4271094" y="404036"/>
                  </a:cubicBezTo>
                  <a:cubicBezTo>
                    <a:pt x="4268768" y="406362"/>
                    <a:pt x="4265613" y="407669"/>
                    <a:pt x="4262324" y="407669"/>
                  </a:cubicBezTo>
                  <a:lnTo>
                    <a:pt x="12402" y="407669"/>
                  </a:lnTo>
                  <a:cubicBezTo>
                    <a:pt x="9113" y="407669"/>
                    <a:pt x="5958" y="406362"/>
                    <a:pt x="3632" y="404036"/>
                  </a:cubicBezTo>
                  <a:cubicBezTo>
                    <a:pt x="1307" y="401710"/>
                    <a:pt x="0" y="398556"/>
                    <a:pt x="0" y="395267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  <a:ln w="19050" cap="rnd">
              <a:solidFill>
                <a:srgbClr val="B4B4B4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4274726" cy="474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5159582" y="7586496"/>
            <a:ext cx="610698" cy="541231"/>
          </a:xfrm>
          <a:custGeom>
            <a:avLst/>
            <a:gdLst/>
            <a:ahLst/>
            <a:cxnLst/>
            <a:rect l="l" t="t" r="r" b="b"/>
            <a:pathLst>
              <a:path w="610698" h="541231">
                <a:moveTo>
                  <a:pt x="0" y="0"/>
                </a:moveTo>
                <a:lnTo>
                  <a:pt x="610697" y="0"/>
                </a:lnTo>
                <a:lnTo>
                  <a:pt x="610697" y="541231"/>
                </a:lnTo>
                <a:lnTo>
                  <a:pt x="0" y="541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5842310" y="7586496"/>
            <a:ext cx="610698" cy="541231"/>
          </a:xfrm>
          <a:custGeom>
            <a:avLst/>
            <a:gdLst/>
            <a:ahLst/>
            <a:cxnLst/>
            <a:rect l="l" t="t" r="r" b="b"/>
            <a:pathLst>
              <a:path w="610698" h="541231">
                <a:moveTo>
                  <a:pt x="0" y="0"/>
                </a:moveTo>
                <a:lnTo>
                  <a:pt x="610698" y="0"/>
                </a:lnTo>
                <a:lnTo>
                  <a:pt x="610698" y="541231"/>
                </a:lnTo>
                <a:lnTo>
                  <a:pt x="0" y="541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7894639" y="7586496"/>
            <a:ext cx="610698" cy="541231"/>
          </a:xfrm>
          <a:custGeom>
            <a:avLst/>
            <a:gdLst/>
            <a:ahLst/>
            <a:cxnLst/>
            <a:rect l="l" t="t" r="r" b="b"/>
            <a:pathLst>
              <a:path w="610698" h="541231">
                <a:moveTo>
                  <a:pt x="0" y="0"/>
                </a:moveTo>
                <a:lnTo>
                  <a:pt x="610698" y="0"/>
                </a:lnTo>
                <a:lnTo>
                  <a:pt x="610698" y="541231"/>
                </a:lnTo>
                <a:lnTo>
                  <a:pt x="0" y="541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520067" y="7586496"/>
            <a:ext cx="610698" cy="541231"/>
          </a:xfrm>
          <a:custGeom>
            <a:avLst/>
            <a:gdLst/>
            <a:ahLst/>
            <a:cxnLst/>
            <a:rect l="l" t="t" r="r" b="b"/>
            <a:pathLst>
              <a:path w="610698" h="541231">
                <a:moveTo>
                  <a:pt x="0" y="0"/>
                </a:moveTo>
                <a:lnTo>
                  <a:pt x="610698" y="0"/>
                </a:lnTo>
                <a:lnTo>
                  <a:pt x="610698" y="541231"/>
                </a:lnTo>
                <a:lnTo>
                  <a:pt x="0" y="541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7207353" y="7586496"/>
            <a:ext cx="610698" cy="541231"/>
          </a:xfrm>
          <a:custGeom>
            <a:avLst/>
            <a:gdLst/>
            <a:ahLst/>
            <a:cxnLst/>
            <a:rect l="l" t="t" r="r" b="b"/>
            <a:pathLst>
              <a:path w="610698" h="541231">
                <a:moveTo>
                  <a:pt x="0" y="0"/>
                </a:moveTo>
                <a:lnTo>
                  <a:pt x="610698" y="0"/>
                </a:lnTo>
                <a:lnTo>
                  <a:pt x="610698" y="541231"/>
                </a:lnTo>
                <a:lnTo>
                  <a:pt x="0" y="541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2446009" y="7542186"/>
            <a:ext cx="554083" cy="554083"/>
          </a:xfrm>
          <a:custGeom>
            <a:avLst/>
            <a:gdLst/>
            <a:ahLst/>
            <a:cxnLst/>
            <a:rect l="l" t="t" r="r" b="b"/>
            <a:pathLst>
              <a:path w="554083" h="554083">
                <a:moveTo>
                  <a:pt x="0" y="0"/>
                </a:moveTo>
                <a:lnTo>
                  <a:pt x="554083" y="0"/>
                </a:lnTo>
                <a:lnTo>
                  <a:pt x="554083" y="554082"/>
                </a:lnTo>
                <a:lnTo>
                  <a:pt x="0" y="554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065445" y="7542186"/>
            <a:ext cx="554083" cy="554083"/>
          </a:xfrm>
          <a:custGeom>
            <a:avLst/>
            <a:gdLst/>
            <a:ahLst/>
            <a:cxnLst/>
            <a:rect l="l" t="t" r="r" b="b"/>
            <a:pathLst>
              <a:path w="554083" h="554083">
                <a:moveTo>
                  <a:pt x="0" y="0"/>
                </a:moveTo>
                <a:lnTo>
                  <a:pt x="554082" y="0"/>
                </a:lnTo>
                <a:lnTo>
                  <a:pt x="554082" y="554082"/>
                </a:lnTo>
                <a:lnTo>
                  <a:pt x="0" y="554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3680370" y="7542186"/>
            <a:ext cx="554083" cy="554083"/>
          </a:xfrm>
          <a:custGeom>
            <a:avLst/>
            <a:gdLst/>
            <a:ahLst/>
            <a:cxnLst/>
            <a:rect l="l" t="t" r="r" b="b"/>
            <a:pathLst>
              <a:path w="554083" h="554083">
                <a:moveTo>
                  <a:pt x="0" y="0"/>
                </a:moveTo>
                <a:lnTo>
                  <a:pt x="554083" y="0"/>
                </a:lnTo>
                <a:lnTo>
                  <a:pt x="554083" y="554082"/>
                </a:lnTo>
                <a:lnTo>
                  <a:pt x="0" y="554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4310653" y="7540007"/>
            <a:ext cx="554083" cy="554083"/>
          </a:xfrm>
          <a:custGeom>
            <a:avLst/>
            <a:gdLst/>
            <a:ahLst/>
            <a:cxnLst/>
            <a:rect l="l" t="t" r="r" b="b"/>
            <a:pathLst>
              <a:path w="554083" h="554083">
                <a:moveTo>
                  <a:pt x="0" y="0"/>
                </a:moveTo>
                <a:lnTo>
                  <a:pt x="554083" y="0"/>
                </a:lnTo>
                <a:lnTo>
                  <a:pt x="554083" y="554082"/>
                </a:lnTo>
                <a:lnTo>
                  <a:pt x="0" y="554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583614" y="962025"/>
            <a:ext cx="15120773" cy="85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5"/>
              </a:lnSpc>
            </a:pPr>
            <a:r>
              <a:rPr lang="en-US" sz="5199" b="1" spc="5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 CENTRAL COAST PRIORITY SECTORS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4913" y="3478459"/>
            <a:ext cx="2137450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AEROSPACE &amp; DEFENSE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61216" y="4333614"/>
            <a:ext cx="248495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aircraft, space, &amp; defense systems manufacturing and services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73195" y="3478459"/>
            <a:ext cx="2137450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CLEAN ECONOMY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05781" y="4333614"/>
            <a:ext cx="261239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renewable energy generation, energy efficiency, grid modernization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44009" y="3673721"/>
            <a:ext cx="2137450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HIGH-TECH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40313" y="4333614"/>
            <a:ext cx="248495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software, hardware, IT services, AI/ML, quantum, robotics, advanced comput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32274" y="3673721"/>
            <a:ext cx="2702548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LIFE SCIENCES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2316" y="4333614"/>
            <a:ext cx="262257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R&amp;D in biotech, diagnostics, medtech, therapeutics, genomics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503088" y="3478459"/>
            <a:ext cx="2702548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WORKING LANDS &amp; WATER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522052" y="4333614"/>
            <a:ext cx="26047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agriculture, AgTech, BlueTech, land management, natural resources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1632" y="6052047"/>
            <a:ext cx="15962316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3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Under California Jobs First, these five sectors represent strategic priorities for the South Central Coast due to their </a:t>
            </a:r>
            <a:r>
              <a:rPr lang="en-US" sz="23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projected growth</a:t>
            </a:r>
            <a:r>
              <a:rPr lang="en-US" sz="23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and importance to the </a:t>
            </a:r>
            <a:r>
              <a:rPr lang="en-US" sz="23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regional innovation ecosystem</a:t>
            </a:r>
            <a:r>
              <a:rPr lang="en-US" sz="23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 Collectively, the five Jobs First sectors represent: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08640" y="7530165"/>
            <a:ext cx="1274666" cy="753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4678" b="1">
                <a:solidFill>
                  <a:srgbClr val="344859"/>
                </a:solidFill>
                <a:latin typeface="Futura Bold"/>
                <a:ea typeface="Futura Bold"/>
                <a:cs typeface="Futura Bold"/>
                <a:sym typeface="Futura Bold"/>
              </a:rPr>
              <a:t>18%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30923" y="8253194"/>
            <a:ext cx="4973357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share of regional economic output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53285" y="8273832"/>
            <a:ext cx="567877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share of jobs in the South Central Coast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30923" y="7492382"/>
            <a:ext cx="2432113" cy="770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4792" b="1">
                <a:solidFill>
                  <a:srgbClr val="344859"/>
                </a:solidFill>
                <a:latin typeface="Futura Bold"/>
                <a:ea typeface="Futura Bold"/>
                <a:cs typeface="Futura Bold"/>
                <a:sym typeface="Futura Bold"/>
              </a:rPr>
              <a:t>26%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984551" y="1751203"/>
            <a:ext cx="6318899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Session Focus: </a:t>
            </a:r>
            <a:r>
              <a:rPr lang="en-US" sz="17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Clean Economy and Aerospace &amp; Defense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6D0C099-FC08-295B-E9F6-8A1ED87D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44750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12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28554"/>
            <a:ext cx="5176683" cy="3925557"/>
            <a:chOff x="0" y="0"/>
            <a:chExt cx="1363406" cy="10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406" cy="1033892"/>
            </a:xfrm>
            <a:custGeom>
              <a:avLst/>
              <a:gdLst/>
              <a:ahLst/>
              <a:cxnLst/>
              <a:rect l="l" t="t" r="r" b="b"/>
              <a:pathLst>
                <a:path w="1363406" h="1033892">
                  <a:moveTo>
                    <a:pt x="76272" y="0"/>
                  </a:moveTo>
                  <a:lnTo>
                    <a:pt x="1287134" y="0"/>
                  </a:lnTo>
                  <a:cubicBezTo>
                    <a:pt x="1307363" y="0"/>
                    <a:pt x="1326763" y="8036"/>
                    <a:pt x="1341067" y="22340"/>
                  </a:cubicBezTo>
                  <a:cubicBezTo>
                    <a:pt x="1355370" y="36644"/>
                    <a:pt x="1363406" y="56044"/>
                    <a:pt x="1363406" y="76272"/>
                  </a:cubicBezTo>
                  <a:lnTo>
                    <a:pt x="1363406" y="957619"/>
                  </a:lnTo>
                  <a:cubicBezTo>
                    <a:pt x="1363406" y="977848"/>
                    <a:pt x="1355370" y="997248"/>
                    <a:pt x="1341067" y="1011552"/>
                  </a:cubicBezTo>
                  <a:cubicBezTo>
                    <a:pt x="1326763" y="1025856"/>
                    <a:pt x="1307363" y="1033892"/>
                    <a:pt x="1287134" y="1033892"/>
                  </a:cubicBezTo>
                  <a:lnTo>
                    <a:pt x="76272" y="1033892"/>
                  </a:lnTo>
                  <a:cubicBezTo>
                    <a:pt x="56044" y="1033892"/>
                    <a:pt x="36644" y="1025856"/>
                    <a:pt x="22340" y="1011552"/>
                  </a:cubicBezTo>
                  <a:cubicBezTo>
                    <a:pt x="8036" y="997248"/>
                    <a:pt x="0" y="977848"/>
                    <a:pt x="0" y="957619"/>
                  </a:cubicBezTo>
                  <a:lnTo>
                    <a:pt x="0" y="76272"/>
                  </a:lnTo>
                  <a:cubicBezTo>
                    <a:pt x="0" y="56044"/>
                    <a:pt x="8036" y="36644"/>
                    <a:pt x="22340" y="22340"/>
                  </a:cubicBezTo>
                  <a:cubicBezTo>
                    <a:pt x="36644" y="8036"/>
                    <a:pt x="56044" y="0"/>
                    <a:pt x="76272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63406" cy="1100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57250"/>
            <a:ext cx="12420211" cy="107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999" b="1" spc="5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SHARED WORKFORCE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31675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1210" y="4426545"/>
            <a:ext cx="4118301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+37%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1738" y="5760512"/>
            <a:ext cx="4326966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spc="23" dirty="0">
                <a:solidFill>
                  <a:srgbClr val="000000"/>
                </a:solidFill>
                <a:latin typeface="Futura Light"/>
                <a:ea typeface="Futura Light"/>
                <a:cs typeface="Futura Light"/>
                <a:sym typeface="Futura Light"/>
              </a:rPr>
              <a:t>Gap between the Living Wage and the Average Wage in the South Central Coast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55658" y="3328554"/>
            <a:ext cx="5176683" cy="3925557"/>
            <a:chOff x="0" y="0"/>
            <a:chExt cx="1363406" cy="10338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406" cy="1033892"/>
            </a:xfrm>
            <a:custGeom>
              <a:avLst/>
              <a:gdLst/>
              <a:ahLst/>
              <a:cxnLst/>
              <a:rect l="l" t="t" r="r" b="b"/>
              <a:pathLst>
                <a:path w="1363406" h="1033892">
                  <a:moveTo>
                    <a:pt x="76272" y="0"/>
                  </a:moveTo>
                  <a:lnTo>
                    <a:pt x="1287134" y="0"/>
                  </a:lnTo>
                  <a:cubicBezTo>
                    <a:pt x="1307363" y="0"/>
                    <a:pt x="1326763" y="8036"/>
                    <a:pt x="1341067" y="22340"/>
                  </a:cubicBezTo>
                  <a:cubicBezTo>
                    <a:pt x="1355370" y="36644"/>
                    <a:pt x="1363406" y="56044"/>
                    <a:pt x="1363406" y="76272"/>
                  </a:cubicBezTo>
                  <a:lnTo>
                    <a:pt x="1363406" y="957619"/>
                  </a:lnTo>
                  <a:cubicBezTo>
                    <a:pt x="1363406" y="977848"/>
                    <a:pt x="1355370" y="997248"/>
                    <a:pt x="1341067" y="1011552"/>
                  </a:cubicBezTo>
                  <a:cubicBezTo>
                    <a:pt x="1326763" y="1025856"/>
                    <a:pt x="1307363" y="1033892"/>
                    <a:pt x="1287134" y="1033892"/>
                  </a:cubicBezTo>
                  <a:lnTo>
                    <a:pt x="76272" y="1033892"/>
                  </a:lnTo>
                  <a:cubicBezTo>
                    <a:pt x="56044" y="1033892"/>
                    <a:pt x="36644" y="1025856"/>
                    <a:pt x="22340" y="1011552"/>
                  </a:cubicBezTo>
                  <a:cubicBezTo>
                    <a:pt x="8036" y="997248"/>
                    <a:pt x="0" y="977848"/>
                    <a:pt x="0" y="957619"/>
                  </a:cubicBezTo>
                  <a:lnTo>
                    <a:pt x="0" y="76272"/>
                  </a:lnTo>
                  <a:cubicBezTo>
                    <a:pt x="0" y="56044"/>
                    <a:pt x="8036" y="36644"/>
                    <a:pt x="22340" y="22340"/>
                  </a:cubicBezTo>
                  <a:cubicBezTo>
                    <a:pt x="36644" y="8036"/>
                    <a:pt x="56044" y="0"/>
                    <a:pt x="76272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363406" cy="1100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84849" y="4426545"/>
            <a:ext cx="4118301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38%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98136" y="5760512"/>
            <a:ext cx="4081448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Futura Light"/>
                <a:ea typeface="Futura Light"/>
                <a:cs typeface="Futura Light"/>
                <a:sym typeface="Futura Light"/>
              </a:rPr>
              <a:t>Share of South Central Coast employers citing hiring and retention as a top challenge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84767" y="3328554"/>
            <a:ext cx="5176683" cy="3925557"/>
            <a:chOff x="0" y="0"/>
            <a:chExt cx="1363406" cy="10338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3406" cy="1033892"/>
            </a:xfrm>
            <a:custGeom>
              <a:avLst/>
              <a:gdLst/>
              <a:ahLst/>
              <a:cxnLst/>
              <a:rect l="l" t="t" r="r" b="b"/>
              <a:pathLst>
                <a:path w="1363406" h="1033892">
                  <a:moveTo>
                    <a:pt x="76272" y="0"/>
                  </a:moveTo>
                  <a:lnTo>
                    <a:pt x="1287134" y="0"/>
                  </a:lnTo>
                  <a:cubicBezTo>
                    <a:pt x="1307363" y="0"/>
                    <a:pt x="1326763" y="8036"/>
                    <a:pt x="1341067" y="22340"/>
                  </a:cubicBezTo>
                  <a:cubicBezTo>
                    <a:pt x="1355370" y="36644"/>
                    <a:pt x="1363406" y="56044"/>
                    <a:pt x="1363406" y="76272"/>
                  </a:cubicBezTo>
                  <a:lnTo>
                    <a:pt x="1363406" y="957619"/>
                  </a:lnTo>
                  <a:cubicBezTo>
                    <a:pt x="1363406" y="977848"/>
                    <a:pt x="1355370" y="997248"/>
                    <a:pt x="1341067" y="1011552"/>
                  </a:cubicBezTo>
                  <a:cubicBezTo>
                    <a:pt x="1326763" y="1025856"/>
                    <a:pt x="1307363" y="1033892"/>
                    <a:pt x="1287134" y="1033892"/>
                  </a:cubicBezTo>
                  <a:lnTo>
                    <a:pt x="76272" y="1033892"/>
                  </a:lnTo>
                  <a:cubicBezTo>
                    <a:pt x="56044" y="1033892"/>
                    <a:pt x="36644" y="1025856"/>
                    <a:pt x="22340" y="1011552"/>
                  </a:cubicBezTo>
                  <a:cubicBezTo>
                    <a:pt x="8036" y="997248"/>
                    <a:pt x="0" y="977848"/>
                    <a:pt x="0" y="957619"/>
                  </a:cubicBezTo>
                  <a:lnTo>
                    <a:pt x="0" y="76272"/>
                  </a:lnTo>
                  <a:cubicBezTo>
                    <a:pt x="0" y="56044"/>
                    <a:pt x="8036" y="36644"/>
                    <a:pt x="22340" y="22340"/>
                  </a:cubicBezTo>
                  <a:cubicBezTo>
                    <a:pt x="36644" y="8036"/>
                    <a:pt x="56044" y="0"/>
                    <a:pt x="76272" y="0"/>
                  </a:cubicBezTo>
                  <a:close/>
                </a:path>
              </a:pathLst>
            </a:custGeom>
            <a:solidFill>
              <a:srgbClr val="DEE1CD">
                <a:alpha val="64706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363406" cy="1100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658487" y="4426545"/>
            <a:ext cx="4118301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-24%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0600" y="5760512"/>
            <a:ext cx="4583798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Futura Light"/>
                <a:ea typeface="Futura Light"/>
                <a:cs typeface="Futura Light"/>
                <a:sym typeface="Futura Light"/>
              </a:rPr>
              <a:t>Gap between the South Central Coast average wage and the statewide average wage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4711" y="3440560"/>
            <a:ext cx="4051301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HIGH COST OF LIVING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02339" y="3440560"/>
            <a:ext cx="4939928" cy="82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HIRING &amp; RETENTION CHALLENGES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91988" y="3440560"/>
            <a:ext cx="4051301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BELOW-AVERAGE WAGES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881363"/>
            <a:ext cx="8043603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Cross-Sector Challenges Shaping Workforce Pipelines Across the South Central Coast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8700" y="2384019"/>
            <a:ext cx="871604" cy="137254"/>
            <a:chOff x="0" y="0"/>
            <a:chExt cx="229558" cy="361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CE84FB0-F0E2-DF52-47EC-C2843A5B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5700" y="92408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13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45342" y="4710471"/>
            <a:ext cx="1201734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245342" y="6161505"/>
            <a:ext cx="1201734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245342" y="7612540"/>
            <a:ext cx="1201734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245342" y="9063574"/>
            <a:ext cx="1201734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3581183"/>
            <a:ext cx="2629936" cy="867351"/>
            <a:chOff x="0" y="0"/>
            <a:chExt cx="1270773" cy="419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0773" cy="419100"/>
            </a:xfrm>
            <a:custGeom>
              <a:avLst/>
              <a:gdLst/>
              <a:ahLst/>
              <a:cxnLst/>
              <a:rect l="l" t="t" r="r" b="b"/>
              <a:pathLst>
                <a:path w="1270773" h="419100">
                  <a:moveTo>
                    <a:pt x="0" y="0"/>
                  </a:moveTo>
                  <a:lnTo>
                    <a:pt x="1043405" y="0"/>
                  </a:lnTo>
                  <a:cubicBezTo>
                    <a:pt x="1175842" y="0"/>
                    <a:pt x="1270773" y="93819"/>
                    <a:pt x="1270773" y="209550"/>
                  </a:cubicBezTo>
                  <a:cubicBezTo>
                    <a:pt x="1270773" y="325281"/>
                    <a:pt x="1175842" y="419100"/>
                    <a:pt x="1043405" y="419100"/>
                  </a:cubicBez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48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400" y="-66675"/>
              <a:ext cx="1042173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058133"/>
            <a:ext cx="2629936" cy="867351"/>
            <a:chOff x="0" y="0"/>
            <a:chExt cx="1270773" cy="419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0773" cy="419100"/>
            </a:xfrm>
            <a:custGeom>
              <a:avLst/>
              <a:gdLst/>
              <a:ahLst/>
              <a:cxnLst/>
              <a:rect l="l" t="t" r="r" b="b"/>
              <a:pathLst>
                <a:path w="1270773" h="419100">
                  <a:moveTo>
                    <a:pt x="0" y="0"/>
                  </a:moveTo>
                  <a:lnTo>
                    <a:pt x="1043405" y="0"/>
                  </a:lnTo>
                  <a:cubicBezTo>
                    <a:pt x="1175842" y="0"/>
                    <a:pt x="1270773" y="93819"/>
                    <a:pt x="1270773" y="209550"/>
                  </a:cubicBezTo>
                  <a:cubicBezTo>
                    <a:pt x="1270773" y="325281"/>
                    <a:pt x="1175842" y="419100"/>
                    <a:pt x="1043405" y="419100"/>
                  </a:cubicBez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68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00" y="-66675"/>
              <a:ext cx="1042173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535084"/>
            <a:ext cx="2629936" cy="867351"/>
            <a:chOff x="0" y="0"/>
            <a:chExt cx="1270773" cy="419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0773" cy="419100"/>
            </a:xfrm>
            <a:custGeom>
              <a:avLst/>
              <a:gdLst/>
              <a:ahLst/>
              <a:cxnLst/>
              <a:rect l="l" t="t" r="r" b="b"/>
              <a:pathLst>
                <a:path w="1270773" h="419100">
                  <a:moveTo>
                    <a:pt x="0" y="0"/>
                  </a:moveTo>
                  <a:lnTo>
                    <a:pt x="1043405" y="0"/>
                  </a:lnTo>
                  <a:cubicBezTo>
                    <a:pt x="1175842" y="0"/>
                    <a:pt x="1270773" y="93819"/>
                    <a:pt x="1270773" y="209550"/>
                  </a:cubicBezTo>
                  <a:cubicBezTo>
                    <a:pt x="1270773" y="325281"/>
                    <a:pt x="1175842" y="419100"/>
                    <a:pt x="1043405" y="419100"/>
                  </a:cubicBez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8A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400" y="-66675"/>
              <a:ext cx="1042173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8012035"/>
            <a:ext cx="2629936" cy="867351"/>
            <a:chOff x="0" y="0"/>
            <a:chExt cx="1270773" cy="419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0773" cy="419100"/>
            </a:xfrm>
            <a:custGeom>
              <a:avLst/>
              <a:gdLst/>
              <a:ahLst/>
              <a:cxnLst/>
              <a:rect l="l" t="t" r="r" b="b"/>
              <a:pathLst>
                <a:path w="1270773" h="419100">
                  <a:moveTo>
                    <a:pt x="0" y="0"/>
                  </a:moveTo>
                  <a:lnTo>
                    <a:pt x="1043405" y="0"/>
                  </a:lnTo>
                  <a:cubicBezTo>
                    <a:pt x="1175842" y="0"/>
                    <a:pt x="1270773" y="93819"/>
                    <a:pt x="1270773" y="209550"/>
                  </a:cubicBezTo>
                  <a:cubicBezTo>
                    <a:pt x="1270773" y="325281"/>
                    <a:pt x="1175842" y="419100"/>
                    <a:pt x="1043405" y="419100"/>
                  </a:cubicBez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C9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00" y="-66675"/>
              <a:ext cx="1042173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894446"/>
            <a:ext cx="1623060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4999" b="1" spc="4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WHY</a:t>
            </a:r>
            <a:r>
              <a:rPr lang="en-US" sz="4999" b="1" spc="49">
                <a:solidFill>
                  <a:srgbClr val="5298A3"/>
                </a:solidFill>
                <a:latin typeface="Futura Bold"/>
                <a:ea typeface="Futura Bold"/>
                <a:cs typeface="Futura Bold"/>
                <a:sym typeface="Futura Bold"/>
              </a:rPr>
              <a:t> </a:t>
            </a:r>
            <a:r>
              <a:rPr lang="en-US" sz="4999" b="1" spc="4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FOCUS ON THESE SECTORS?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6038" y="6688251"/>
            <a:ext cx="1005505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800" b="1" dirty="0">
                <a:solidFill>
                  <a:srgbClr val="2E6878"/>
                </a:solidFill>
                <a:latin typeface="Futura Bold"/>
                <a:ea typeface="Futura Bold"/>
                <a:cs typeface="Futura Bold"/>
                <a:sym typeface="Futura Bold"/>
              </a:rPr>
              <a:t>Have strong overlaps</a:t>
            </a:r>
            <a:r>
              <a:rPr lang="en-US" sz="2800" dirty="0">
                <a:solidFill>
                  <a:srgbClr val="2E6878"/>
                </a:solidFill>
                <a:latin typeface="Futura"/>
                <a:ea typeface="Futura"/>
                <a:cs typeface="Futura"/>
                <a:sym typeface="Futura"/>
              </a:rPr>
              <a:t> in occupational and skills needs.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70218" y="3551882"/>
            <a:ext cx="792472" cy="82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08"/>
              </a:lnSpc>
            </a:pPr>
            <a:r>
              <a:rPr lang="en-US" sz="4544" dirty="0">
                <a:solidFill>
                  <a:srgbClr val="344859"/>
                </a:solidFill>
                <a:latin typeface="Futura"/>
                <a:ea typeface="Futura"/>
                <a:cs typeface="Futura"/>
                <a:sym typeface="Futura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45342" y="5217772"/>
            <a:ext cx="115280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800" b="1" dirty="0">
                <a:solidFill>
                  <a:srgbClr val="004669"/>
                </a:solidFill>
                <a:latin typeface="Futura Bold"/>
                <a:ea typeface="Futura Bold"/>
                <a:cs typeface="Futura Bold"/>
                <a:sym typeface="Futura Bold"/>
              </a:rPr>
              <a:t>Predict near-term growth </a:t>
            </a:r>
            <a:r>
              <a:rPr lang="en-US" sz="2800" dirty="0">
                <a:solidFill>
                  <a:srgbClr val="004669"/>
                </a:solidFill>
                <a:latin typeface="Futura"/>
                <a:ea typeface="Futura"/>
                <a:cs typeface="Futura"/>
                <a:sym typeface="Futura"/>
              </a:rPr>
              <a:t>but face considerable hiring challenges.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70218" y="5014644"/>
            <a:ext cx="792472" cy="82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08"/>
              </a:lnSpc>
            </a:pPr>
            <a:r>
              <a:rPr lang="en-US" sz="4544" dirty="0">
                <a:solidFill>
                  <a:srgbClr val="004669"/>
                </a:solidFill>
                <a:latin typeface="Futura"/>
                <a:ea typeface="Futura"/>
                <a:cs typeface="Futura"/>
                <a:sym typeface="Futura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57397" y="8139285"/>
            <a:ext cx="1080434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800" b="1" dirty="0">
                <a:solidFill>
                  <a:srgbClr val="04ADBF"/>
                </a:solidFill>
                <a:latin typeface="Futura Bold"/>
                <a:ea typeface="Futura Bold"/>
                <a:cs typeface="Futura Bold"/>
                <a:sym typeface="Futura Bold"/>
              </a:rPr>
              <a:t>Offer strong opportunities </a:t>
            </a:r>
            <a:r>
              <a:rPr lang="en-US" sz="2800" dirty="0">
                <a:solidFill>
                  <a:srgbClr val="04ADBF"/>
                </a:solidFill>
                <a:latin typeface="Futura"/>
                <a:ea typeface="Futura"/>
                <a:cs typeface="Futura"/>
                <a:sym typeface="Futura"/>
              </a:rPr>
              <a:t>to expand employer-educator partnerships.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70218" y="6472216"/>
            <a:ext cx="792472" cy="82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08"/>
              </a:lnSpc>
            </a:pPr>
            <a:r>
              <a:rPr lang="en-US" sz="4544" dirty="0">
                <a:solidFill>
                  <a:srgbClr val="5298A3"/>
                </a:solidFill>
                <a:latin typeface="Futura"/>
                <a:ea typeface="Futura"/>
                <a:cs typeface="Futura"/>
                <a:sym typeface="Futura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57397" y="3766738"/>
            <a:ext cx="1051676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800" b="1" dirty="0">
                <a:solidFill>
                  <a:srgbClr val="344859"/>
                </a:solidFill>
                <a:latin typeface="Futura Bold"/>
                <a:ea typeface="Futura Bold"/>
                <a:cs typeface="Futura Bold"/>
                <a:sym typeface="Futura Bold"/>
              </a:rPr>
              <a:t>Are anchored by major regional assets </a:t>
            </a:r>
            <a:r>
              <a:rPr lang="en-US" sz="2800" dirty="0">
                <a:solidFill>
                  <a:srgbClr val="344859"/>
                </a:solidFill>
                <a:latin typeface="Futura"/>
                <a:ea typeface="Futura"/>
                <a:cs typeface="Futura"/>
                <a:sym typeface="Futura"/>
              </a:rPr>
              <a:t>driving workforce demand.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470218" y="7924429"/>
            <a:ext cx="792472" cy="82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08"/>
              </a:lnSpc>
            </a:pPr>
            <a:r>
              <a:rPr lang="en-US" sz="4544" dirty="0">
                <a:solidFill>
                  <a:srgbClr val="6CC9D8"/>
                </a:solidFill>
                <a:latin typeface="Futura"/>
                <a:ea typeface="Futura"/>
                <a:cs typeface="Futura"/>
                <a:sym typeface="Futura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9268783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28700" y="2330198"/>
            <a:ext cx="871604" cy="137254"/>
            <a:chOff x="0" y="0"/>
            <a:chExt cx="229558" cy="361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28700" y="2596873"/>
            <a:ext cx="262993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Both sectors...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1796283"/>
            <a:ext cx="6318899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Session Focus: </a:t>
            </a:r>
            <a:r>
              <a:rPr lang="en-US" sz="1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Clean Economy and Aerospace &amp; Defense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AAFE59D8-727E-7C1D-E387-220C096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17844" y="919290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14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3016" y="1026046"/>
            <a:ext cx="11061969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9"/>
              </a:lnSpc>
            </a:pPr>
            <a:r>
              <a:rPr lang="en-US" sz="54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JOB LENSES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4904224" y="4481441"/>
            <a:ext cx="0" cy="1084858"/>
          </a:xfrm>
          <a:prstGeom prst="line">
            <a:avLst/>
          </a:prstGeom>
          <a:ln w="38100" cap="rnd">
            <a:solidFill>
              <a:srgbClr val="00466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9195719" y="5440046"/>
            <a:ext cx="0" cy="1084858"/>
          </a:xfrm>
          <a:prstGeom prst="line">
            <a:avLst/>
          </a:prstGeom>
          <a:ln w="38100" cap="rnd">
            <a:solidFill>
              <a:srgbClr val="5298A3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3258800" y="4621387"/>
            <a:ext cx="0" cy="1084858"/>
          </a:xfrm>
          <a:prstGeom prst="line">
            <a:avLst/>
          </a:prstGeom>
          <a:ln w="38100" cap="rnd">
            <a:solidFill>
              <a:srgbClr val="6CC9D8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477661" y="2677176"/>
            <a:ext cx="2853127" cy="2063385"/>
            <a:chOff x="0" y="0"/>
            <a:chExt cx="698500" cy="505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505156"/>
            </a:xfrm>
            <a:custGeom>
              <a:avLst/>
              <a:gdLst/>
              <a:ahLst/>
              <a:cxnLst/>
              <a:rect l="l" t="t" r="r" b="b"/>
              <a:pathLst>
                <a:path w="698500" h="505156">
                  <a:moveTo>
                    <a:pt x="349250" y="0"/>
                  </a:moveTo>
                  <a:lnTo>
                    <a:pt x="698500" y="203200"/>
                  </a:lnTo>
                  <a:lnTo>
                    <a:pt x="698500" y="301956"/>
                  </a:lnTo>
                  <a:lnTo>
                    <a:pt x="349250" y="505156"/>
                  </a:lnTo>
                  <a:lnTo>
                    <a:pt x="0" y="301956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448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2550"/>
              <a:ext cx="698500" cy="282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77661" y="2677176"/>
            <a:ext cx="2853127" cy="1642864"/>
            <a:chOff x="0" y="0"/>
            <a:chExt cx="708332" cy="4078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8332" cy="407866"/>
            </a:xfrm>
            <a:custGeom>
              <a:avLst/>
              <a:gdLst/>
              <a:ahLst/>
              <a:cxnLst/>
              <a:rect l="l" t="t" r="r" b="b"/>
              <a:pathLst>
                <a:path w="708332" h="407866">
                  <a:moveTo>
                    <a:pt x="354166" y="0"/>
                  </a:moveTo>
                  <a:lnTo>
                    <a:pt x="708332" y="203933"/>
                  </a:lnTo>
                  <a:lnTo>
                    <a:pt x="354166" y="407866"/>
                  </a:lnTo>
                  <a:lnTo>
                    <a:pt x="0" y="203933"/>
                  </a:lnTo>
                  <a:lnTo>
                    <a:pt x="354166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4485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744" y="12952"/>
              <a:ext cx="464843" cy="324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69091" y="5875540"/>
            <a:ext cx="327026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3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JOB QUALITY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69091" y="6667470"/>
            <a:ext cx="3202567" cy="10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199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Assesses the extent to which jobs in a region offer livable, sustainable wages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15764" y="3029782"/>
            <a:ext cx="776921" cy="80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2"/>
              </a:lnSpc>
            </a:pPr>
            <a:r>
              <a:rPr lang="en-US" sz="4455">
                <a:solidFill>
                  <a:srgbClr val="344859"/>
                </a:solidFill>
                <a:latin typeface="Futura"/>
                <a:ea typeface="Futura"/>
                <a:cs typeface="Futura"/>
                <a:sym typeface="Futura"/>
              </a:rPr>
              <a:t>01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769155" y="3635781"/>
            <a:ext cx="2853127" cy="2063385"/>
            <a:chOff x="0" y="0"/>
            <a:chExt cx="698500" cy="505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505156"/>
            </a:xfrm>
            <a:custGeom>
              <a:avLst/>
              <a:gdLst/>
              <a:ahLst/>
              <a:cxnLst/>
              <a:rect l="l" t="t" r="r" b="b"/>
              <a:pathLst>
                <a:path w="698500" h="505156">
                  <a:moveTo>
                    <a:pt x="349250" y="0"/>
                  </a:moveTo>
                  <a:lnTo>
                    <a:pt x="698500" y="203200"/>
                  </a:lnTo>
                  <a:lnTo>
                    <a:pt x="698500" y="301956"/>
                  </a:lnTo>
                  <a:lnTo>
                    <a:pt x="349250" y="505156"/>
                  </a:lnTo>
                  <a:lnTo>
                    <a:pt x="0" y="301956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5298A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282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69155" y="3635781"/>
            <a:ext cx="2853127" cy="1642864"/>
            <a:chOff x="0" y="0"/>
            <a:chExt cx="708332" cy="4078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8332" cy="407866"/>
            </a:xfrm>
            <a:custGeom>
              <a:avLst/>
              <a:gdLst/>
              <a:ahLst/>
              <a:cxnLst/>
              <a:rect l="l" t="t" r="r" b="b"/>
              <a:pathLst>
                <a:path w="708332" h="407866">
                  <a:moveTo>
                    <a:pt x="354166" y="0"/>
                  </a:moveTo>
                  <a:lnTo>
                    <a:pt x="708332" y="203933"/>
                  </a:lnTo>
                  <a:lnTo>
                    <a:pt x="354166" y="407866"/>
                  </a:lnTo>
                  <a:lnTo>
                    <a:pt x="0" y="203933"/>
                  </a:lnTo>
                  <a:lnTo>
                    <a:pt x="354166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298A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744" y="12952"/>
              <a:ext cx="464843" cy="324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823390" y="6702462"/>
            <a:ext cx="274465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3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JOB ADVANCEMENT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43474" y="7835937"/>
            <a:ext cx="3904489" cy="10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199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Measures workers’ potential to advance to higher-paying job opportunities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7258" y="3988388"/>
            <a:ext cx="776921" cy="80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2"/>
              </a:lnSpc>
            </a:pPr>
            <a:r>
              <a:rPr lang="en-US" sz="4455">
                <a:solidFill>
                  <a:srgbClr val="5298A3"/>
                </a:solidFill>
                <a:latin typeface="Futura"/>
                <a:ea typeface="Futura"/>
                <a:cs typeface="Futura"/>
                <a:sym typeface="Futura"/>
              </a:rPr>
              <a:t>02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821858" y="2558002"/>
            <a:ext cx="2853127" cy="2063385"/>
            <a:chOff x="0" y="0"/>
            <a:chExt cx="698500" cy="5051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00" cy="505156"/>
            </a:xfrm>
            <a:custGeom>
              <a:avLst/>
              <a:gdLst/>
              <a:ahLst/>
              <a:cxnLst/>
              <a:rect l="l" t="t" r="r" b="b"/>
              <a:pathLst>
                <a:path w="698500" h="505156">
                  <a:moveTo>
                    <a:pt x="349250" y="0"/>
                  </a:moveTo>
                  <a:lnTo>
                    <a:pt x="698500" y="203200"/>
                  </a:lnTo>
                  <a:lnTo>
                    <a:pt x="698500" y="301956"/>
                  </a:lnTo>
                  <a:lnTo>
                    <a:pt x="349250" y="505156"/>
                  </a:lnTo>
                  <a:lnTo>
                    <a:pt x="0" y="301956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CC9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82550"/>
              <a:ext cx="698500" cy="282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21858" y="2558002"/>
            <a:ext cx="2853127" cy="1642864"/>
            <a:chOff x="0" y="0"/>
            <a:chExt cx="708332" cy="4078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8332" cy="407866"/>
            </a:xfrm>
            <a:custGeom>
              <a:avLst/>
              <a:gdLst/>
              <a:ahLst/>
              <a:cxnLst/>
              <a:rect l="l" t="t" r="r" b="b"/>
              <a:pathLst>
                <a:path w="708332" h="407866">
                  <a:moveTo>
                    <a:pt x="354166" y="0"/>
                  </a:moveTo>
                  <a:lnTo>
                    <a:pt x="708332" y="203933"/>
                  </a:lnTo>
                  <a:lnTo>
                    <a:pt x="354166" y="407866"/>
                  </a:lnTo>
                  <a:lnTo>
                    <a:pt x="0" y="203933"/>
                  </a:lnTo>
                  <a:lnTo>
                    <a:pt x="354166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CC9D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744" y="12952"/>
              <a:ext cx="464843" cy="324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030154" y="5982475"/>
            <a:ext cx="263619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30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JOB AUTOMATION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33663" y="7118353"/>
            <a:ext cx="3429172" cy="143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1997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Measures the proportion of skills and tasks that can be automated within a particular occupation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59961" y="3131460"/>
            <a:ext cx="776921" cy="80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2"/>
              </a:lnSpc>
            </a:pPr>
            <a:r>
              <a:rPr lang="en-US" sz="4455" dirty="0">
                <a:solidFill>
                  <a:srgbClr val="6CC9D8"/>
                </a:solidFill>
                <a:latin typeface="Futura"/>
                <a:ea typeface="Futura"/>
                <a:cs typeface="Futura"/>
                <a:sym typeface="Futura"/>
              </a:rPr>
              <a:t>03</a:t>
            </a:r>
          </a:p>
        </p:txBody>
      </p:sp>
      <p:sp>
        <p:nvSpPr>
          <p:cNvPr id="33" name="AutoShape 33"/>
          <p:cNvSpPr/>
          <p:nvPr/>
        </p:nvSpPr>
        <p:spPr>
          <a:xfrm flipH="1" flipV="1">
            <a:off x="6330788" y="3708869"/>
            <a:ext cx="1376108" cy="682384"/>
          </a:xfrm>
          <a:prstGeom prst="line">
            <a:avLst/>
          </a:prstGeom>
          <a:ln w="38100" cap="rnd">
            <a:solidFill>
              <a:srgbClr val="00466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 flipH="1">
            <a:off x="10631970" y="3708869"/>
            <a:ext cx="1137321" cy="728306"/>
          </a:xfrm>
          <a:prstGeom prst="line">
            <a:avLst/>
          </a:prstGeom>
          <a:ln w="38100" cap="rnd">
            <a:solidFill>
              <a:srgbClr val="00466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6185707" y="2014022"/>
            <a:ext cx="6318899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 Framework for Analyzing Priority Occupations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FB5514EA-A251-D37D-7927-8D3A6D4E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62835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15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1028700" y="2312374"/>
            <a:ext cx="871604" cy="137254"/>
            <a:chOff x="0" y="0"/>
            <a:chExt cx="229558" cy="361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894446"/>
            <a:ext cx="16230600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5500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OCCUPATIONAL PRIORITIZATION PROCESS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656D01-8238-F2CE-3753-FA7D3F3B4894}"/>
              </a:ext>
            </a:extLst>
          </p:cNvPr>
          <p:cNvGrpSpPr/>
          <p:nvPr/>
        </p:nvGrpSpPr>
        <p:grpSpPr>
          <a:xfrm>
            <a:off x="1028700" y="3068858"/>
            <a:ext cx="15267769" cy="5503167"/>
            <a:chOff x="1028700" y="3560407"/>
            <a:chExt cx="15267769" cy="5503167"/>
          </a:xfrm>
        </p:grpSpPr>
        <p:sp>
          <p:nvSpPr>
            <p:cNvPr id="2" name="AutoShape 2"/>
            <p:cNvSpPr/>
            <p:nvPr/>
          </p:nvSpPr>
          <p:spPr>
            <a:xfrm>
              <a:off x="4245342" y="4710471"/>
              <a:ext cx="12017349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AutoShape 3"/>
            <p:cNvSpPr/>
            <p:nvPr/>
          </p:nvSpPr>
          <p:spPr>
            <a:xfrm>
              <a:off x="4245342" y="6161505"/>
              <a:ext cx="12017349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245342" y="7612540"/>
              <a:ext cx="12017349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4245342" y="9063574"/>
              <a:ext cx="12017349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8700" y="3581183"/>
              <a:ext cx="2629936" cy="867351"/>
              <a:chOff x="0" y="0"/>
              <a:chExt cx="1270773" cy="4191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70773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270773" h="419100">
                    <a:moveTo>
                      <a:pt x="0" y="0"/>
                    </a:moveTo>
                    <a:lnTo>
                      <a:pt x="1043405" y="0"/>
                    </a:lnTo>
                    <a:cubicBezTo>
                      <a:pt x="1175842" y="0"/>
                      <a:pt x="1270773" y="93819"/>
                      <a:pt x="1270773" y="209550"/>
                    </a:cubicBezTo>
                    <a:cubicBezTo>
                      <a:pt x="1270773" y="325281"/>
                      <a:pt x="1175842" y="419100"/>
                      <a:pt x="1043405" y="419100"/>
                    </a:cubicBez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485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5400" y="-66675"/>
                <a:ext cx="1042173" cy="485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28700" y="5058133"/>
              <a:ext cx="2629936" cy="867351"/>
              <a:chOff x="0" y="0"/>
              <a:chExt cx="1270773" cy="4191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70773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270773" h="419100">
                    <a:moveTo>
                      <a:pt x="0" y="0"/>
                    </a:moveTo>
                    <a:lnTo>
                      <a:pt x="1043405" y="0"/>
                    </a:lnTo>
                    <a:cubicBezTo>
                      <a:pt x="1175842" y="0"/>
                      <a:pt x="1270773" y="93819"/>
                      <a:pt x="1270773" y="209550"/>
                    </a:cubicBezTo>
                    <a:cubicBezTo>
                      <a:pt x="1270773" y="325281"/>
                      <a:pt x="1175842" y="419100"/>
                      <a:pt x="1043405" y="419100"/>
                    </a:cubicBez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687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5400" y="-66675"/>
                <a:ext cx="1042173" cy="485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028700" y="6535084"/>
              <a:ext cx="2629936" cy="867351"/>
              <a:chOff x="0" y="0"/>
              <a:chExt cx="1270773" cy="419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70773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270773" h="419100">
                    <a:moveTo>
                      <a:pt x="0" y="0"/>
                    </a:moveTo>
                    <a:lnTo>
                      <a:pt x="1043405" y="0"/>
                    </a:lnTo>
                    <a:cubicBezTo>
                      <a:pt x="1175842" y="0"/>
                      <a:pt x="1270773" y="93819"/>
                      <a:pt x="1270773" y="209550"/>
                    </a:cubicBezTo>
                    <a:cubicBezTo>
                      <a:pt x="1270773" y="325281"/>
                      <a:pt x="1175842" y="419100"/>
                      <a:pt x="1043405" y="419100"/>
                    </a:cubicBez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98A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400" y="-66675"/>
                <a:ext cx="1042173" cy="485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28700" y="8012035"/>
              <a:ext cx="2629936" cy="867351"/>
              <a:chOff x="0" y="0"/>
              <a:chExt cx="1270773" cy="4191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70773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270773" h="419100">
                    <a:moveTo>
                      <a:pt x="0" y="0"/>
                    </a:moveTo>
                    <a:lnTo>
                      <a:pt x="1043405" y="0"/>
                    </a:lnTo>
                    <a:cubicBezTo>
                      <a:pt x="1175842" y="0"/>
                      <a:pt x="1270773" y="93819"/>
                      <a:pt x="1270773" y="209550"/>
                    </a:cubicBezTo>
                    <a:cubicBezTo>
                      <a:pt x="1270773" y="325281"/>
                      <a:pt x="1175842" y="419100"/>
                      <a:pt x="1043405" y="419100"/>
                    </a:cubicBezTo>
                    <a:lnTo>
                      <a:pt x="0" y="419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CC9D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5400" y="-66675"/>
                <a:ext cx="1042173" cy="485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245342" y="6481460"/>
              <a:ext cx="10251096" cy="749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399" b="1" dirty="0">
                  <a:solidFill>
                    <a:srgbClr val="2E6878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Reviewed automation exposure</a:t>
              </a:r>
              <a:r>
                <a:rPr lang="en-US" sz="2399" dirty="0">
                  <a:solidFill>
                    <a:srgbClr val="2E6878"/>
                  </a:solidFill>
                  <a:latin typeface="Futura"/>
                  <a:ea typeface="Futura"/>
                  <a:cs typeface="Futura"/>
                  <a:sym typeface="Futura"/>
                </a:rPr>
                <a:t> to better understand the potential change in needed skills and training curricula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503997" y="3571326"/>
              <a:ext cx="792472" cy="827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908"/>
                </a:lnSpc>
              </a:pPr>
              <a:r>
                <a:rPr lang="en-US" sz="4544" dirty="0">
                  <a:solidFill>
                    <a:srgbClr val="344859"/>
                  </a:solidFill>
                  <a:latin typeface="Futura"/>
                  <a:ea typeface="Futura"/>
                  <a:cs typeface="Futura"/>
                  <a:sym typeface="Futura"/>
                </a:rPr>
                <a:t>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45342" y="5074949"/>
              <a:ext cx="10251096" cy="749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399" b="1" dirty="0">
                  <a:solidFill>
                    <a:srgbClr val="004669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Assessed overall employment, job quality, advancement potential, and skills requirements </a:t>
              </a:r>
              <a:r>
                <a:rPr lang="en-US" sz="2399" dirty="0">
                  <a:solidFill>
                    <a:srgbClr val="004669"/>
                  </a:solidFill>
                  <a:latin typeface="Futura"/>
                  <a:ea typeface="Futura"/>
                  <a:cs typeface="Futura"/>
                  <a:sym typeface="Futura"/>
                </a:rPr>
                <a:t>to identify the highest-priority occupations.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470218" y="5023692"/>
              <a:ext cx="792472" cy="827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908"/>
                </a:lnSpc>
              </a:pPr>
              <a:r>
                <a:rPr lang="en-US" sz="4544" dirty="0">
                  <a:solidFill>
                    <a:srgbClr val="004669"/>
                  </a:solidFill>
                  <a:latin typeface="Futura"/>
                  <a:ea typeface="Futura"/>
                  <a:cs typeface="Futura"/>
                  <a:sym typeface="Futura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45342" y="7935835"/>
              <a:ext cx="10354917" cy="749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399" b="1" dirty="0">
                  <a:solidFill>
                    <a:srgbClr val="04ADB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Integrated employer survey and stakeholder interview insights </a:t>
              </a:r>
              <a:r>
                <a:rPr lang="en-US" sz="2399" dirty="0">
                  <a:solidFill>
                    <a:srgbClr val="04ADBF"/>
                  </a:solidFill>
                  <a:latin typeface="Futura"/>
                  <a:ea typeface="Futura"/>
                  <a:cs typeface="Futura"/>
                  <a:sym typeface="Futura"/>
                </a:rPr>
                <a:t>to identify emerging occupational and evolving skills needs.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70218" y="6486444"/>
              <a:ext cx="792472" cy="827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908"/>
                </a:lnSpc>
              </a:pPr>
              <a:r>
                <a:rPr lang="en-US" sz="4544" dirty="0">
                  <a:solidFill>
                    <a:srgbClr val="5298A3"/>
                  </a:solidFill>
                  <a:latin typeface="Futura"/>
                  <a:ea typeface="Futura"/>
                  <a:cs typeface="Futura"/>
                  <a:sym typeface="Futura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45342" y="3560407"/>
              <a:ext cx="10686812" cy="826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2399" b="1" dirty="0">
                  <a:solidFill>
                    <a:srgbClr val="344859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Identified ~20 priority occupations per sector </a:t>
              </a:r>
              <a:r>
                <a:rPr lang="en-US" sz="2399" dirty="0">
                  <a:solidFill>
                    <a:srgbClr val="344859"/>
                  </a:solidFill>
                  <a:latin typeface="Futura"/>
                  <a:ea typeface="Futura"/>
                  <a:cs typeface="Futura"/>
                  <a:sym typeface="Futura"/>
                </a:rPr>
                <a:t>based on secondary data and proprietary staffing patterns.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470218" y="7924429"/>
              <a:ext cx="792472" cy="827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5908"/>
                </a:lnSpc>
              </a:pPr>
              <a:r>
                <a:rPr lang="en-US" sz="4544" dirty="0">
                  <a:solidFill>
                    <a:srgbClr val="6CC9D8"/>
                  </a:solidFill>
                  <a:latin typeface="Futura"/>
                  <a:ea typeface="Futura"/>
                  <a:cs typeface="Futura"/>
                  <a:sym typeface="Futura"/>
                </a:rPr>
                <a:t>04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28700" y="9149079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841772"/>
            <a:ext cx="8018028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 Framework-Informed Process of Prioritizing Regional Investments by Occupation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62A5B40-CFB1-5704-4E76-C796F8F6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11400" y="907319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16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866775"/>
            <a:ext cx="13239160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499" b="1" spc="5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SECTOR-SPECIFIC HIRING CHALLENGES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44000" y="2855878"/>
            <a:ext cx="4991247" cy="475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spc="64" dirty="0">
                <a:solidFill>
                  <a:srgbClr val="000000"/>
                </a:solidFill>
                <a:latin typeface="Futura" panose="020B0604020202020204" charset="0"/>
                <a:ea typeface="Futura Bold"/>
                <a:cs typeface="Futura Bold"/>
                <a:sym typeface="Futura Bold"/>
              </a:rPr>
              <a:t>AEROSPACE &amp; DEFENSE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90748" y="2855878"/>
            <a:ext cx="4000500" cy="475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spc="64" dirty="0">
                <a:solidFill>
                  <a:srgbClr val="000000"/>
                </a:solidFill>
                <a:latin typeface="Futura" panose="020B0604020202020204" charset="0"/>
                <a:ea typeface="Futura Bold"/>
                <a:cs typeface="Futura Bold"/>
                <a:sym typeface="Futura Bold"/>
              </a:rPr>
              <a:t>CLEAN ECONOMY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35770" y="2285317"/>
            <a:ext cx="871604" cy="137254"/>
            <a:chOff x="0" y="0"/>
            <a:chExt cx="229558" cy="3614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B0C835D-804D-E44E-D654-CA29F644E2D9}"/>
              </a:ext>
            </a:extLst>
          </p:cNvPr>
          <p:cNvGrpSpPr/>
          <p:nvPr/>
        </p:nvGrpSpPr>
        <p:grpSpPr>
          <a:xfrm>
            <a:off x="990748" y="3570074"/>
            <a:ext cx="15894021" cy="5380391"/>
            <a:chOff x="1028699" y="3647996"/>
            <a:chExt cx="15894021" cy="5380391"/>
          </a:xfrm>
        </p:grpSpPr>
        <p:sp>
          <p:nvSpPr>
            <p:cNvPr id="2" name="AutoShape 2"/>
            <p:cNvSpPr/>
            <p:nvPr/>
          </p:nvSpPr>
          <p:spPr>
            <a:xfrm>
              <a:off x="9181953" y="4808161"/>
              <a:ext cx="774076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AutoShape 3"/>
            <p:cNvSpPr/>
            <p:nvPr/>
          </p:nvSpPr>
          <p:spPr>
            <a:xfrm>
              <a:off x="9179090" y="6189766"/>
              <a:ext cx="774076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9193560" y="7537539"/>
              <a:ext cx="76478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71894" y="3855661"/>
              <a:ext cx="3930303" cy="346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DEMOGRAPHIC SHIFTS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71894" y="4379935"/>
              <a:ext cx="6053017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Aging workforce drives growing talent shortages.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193560" y="3846490"/>
              <a:ext cx="986036" cy="986036"/>
              <a:chOff x="0" y="0"/>
              <a:chExt cx="1314715" cy="1314715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0" y="0"/>
                <a:ext cx="1314715" cy="1314715"/>
                <a:chOff x="0" y="0"/>
                <a:chExt cx="259697" cy="259697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5298A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69124" y="212968"/>
                <a:ext cx="976467" cy="9671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01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0469740" y="5212156"/>
              <a:ext cx="6053017" cy="346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SPECIALIZED SKILLS AND REQUIREMENTS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69740" y="5716785"/>
              <a:ext cx="6322079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Stringent requirements constrain workforce pipelines.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181952" y="4986739"/>
              <a:ext cx="986036" cy="1203027"/>
              <a:chOff x="0" y="-289322"/>
              <a:chExt cx="1314715" cy="1604036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0" y="-289322"/>
                <a:ext cx="1314715" cy="1604036"/>
                <a:chOff x="0" y="-57150"/>
                <a:chExt cx="259697" cy="316847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5298A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9124" y="202049"/>
                <a:ext cx="976467" cy="9671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02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475822" y="6569165"/>
              <a:ext cx="5163246" cy="346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FEDERAL CONTRACTING CYCLES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1894" y="7106042"/>
              <a:ext cx="6050863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Shifting budgets and timelines create uncertainty.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193560" y="6551503"/>
              <a:ext cx="986036" cy="986036"/>
              <a:chOff x="0" y="0"/>
              <a:chExt cx="1314715" cy="1314715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0" y="0"/>
                <a:ext cx="1314715" cy="1314715"/>
                <a:chOff x="0" y="0"/>
                <a:chExt cx="259697" cy="259697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5298A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69124" y="183183"/>
                <a:ext cx="976467" cy="9671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03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066653" y="4846261"/>
              <a:ext cx="74030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28699" y="6194222"/>
              <a:ext cx="74030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028699" y="7580331"/>
              <a:ext cx="74030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68554" y="3843285"/>
              <a:ext cx="4712215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RAPID TECHNOLOGICAL CHANGE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8554" y="4367559"/>
              <a:ext cx="5942915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Emerging technologies drive evolving skills needs.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028700" y="3647996"/>
              <a:ext cx="986036" cy="1203027"/>
              <a:chOff x="0" y="-289322"/>
              <a:chExt cx="1314715" cy="1604037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0" y="-289322"/>
                <a:ext cx="1314715" cy="1604037"/>
                <a:chOff x="0" y="-57150"/>
                <a:chExt cx="259697" cy="316847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344859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219241" y="210913"/>
                <a:ext cx="976467" cy="9671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01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268554" y="5199780"/>
              <a:ext cx="4712214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INFRASTRUCTURE CONSTRAINTS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64246" y="5704409"/>
              <a:ext cx="5942915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Grid infrastructure and storage needs affect deployment.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028700" y="5229641"/>
              <a:ext cx="986036" cy="986036"/>
              <a:chOff x="0" y="0"/>
              <a:chExt cx="1314715" cy="1314715"/>
            </a:xfrm>
          </p:grpSpPr>
          <p:grpSp>
            <p:nvGrpSpPr>
              <p:cNvPr id="40" name="Group 40"/>
              <p:cNvGrpSpPr/>
              <p:nvPr/>
            </p:nvGrpSpPr>
            <p:grpSpPr>
              <a:xfrm>
                <a:off x="0" y="0"/>
                <a:ext cx="1314715" cy="1314715"/>
                <a:chOff x="0" y="0"/>
                <a:chExt cx="259697" cy="25969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344859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69124" y="198212"/>
                <a:ext cx="976467" cy="9671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02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2268554" y="6556789"/>
              <a:ext cx="5735989" cy="346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EMERGING ROLES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68554" y="7093666"/>
              <a:ext cx="5942915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Offshore wind and nuclear face uncertain timelines.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028700" y="6594295"/>
              <a:ext cx="986036" cy="986036"/>
              <a:chOff x="0" y="0"/>
              <a:chExt cx="1314715" cy="1314715"/>
            </a:xfrm>
          </p:grpSpPr>
          <p:grpSp>
            <p:nvGrpSpPr>
              <p:cNvPr id="47" name="Group 47"/>
              <p:cNvGrpSpPr/>
              <p:nvPr/>
            </p:nvGrpSpPr>
            <p:grpSpPr>
              <a:xfrm>
                <a:off x="0" y="0"/>
                <a:ext cx="1314715" cy="1314715"/>
                <a:chOff x="0" y="0"/>
                <a:chExt cx="259697" cy="259697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344859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185672" y="199083"/>
                <a:ext cx="976467" cy="9671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03</a:t>
                </a:r>
              </a:p>
            </p:txBody>
          </p:sp>
        </p:grpSp>
        <p:sp>
          <p:nvSpPr>
            <p:cNvPr id="56" name="AutoShape 56"/>
            <p:cNvSpPr/>
            <p:nvPr/>
          </p:nvSpPr>
          <p:spPr>
            <a:xfrm>
              <a:off x="9193560" y="9015174"/>
              <a:ext cx="76478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69740" y="8029137"/>
              <a:ext cx="5163246" cy="346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REGIONAL EMPLOYMENT CLUSTERS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69740" y="8560403"/>
              <a:ext cx="6322079" cy="282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Talent clusters follow statewide investment activity patterns.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9193560" y="7812146"/>
              <a:ext cx="986036" cy="1203028"/>
              <a:chOff x="0" y="-289322"/>
              <a:chExt cx="1314715" cy="1604037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0" y="-289322"/>
                <a:ext cx="1314715" cy="1604037"/>
                <a:chOff x="0" y="-57150"/>
                <a:chExt cx="259697" cy="316847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5298A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69124" y="186249"/>
                <a:ext cx="976467" cy="9671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04</a:t>
                </a:r>
              </a:p>
            </p:txBody>
          </p:sp>
        </p:grpSp>
        <p:sp>
          <p:nvSpPr>
            <p:cNvPr id="64" name="AutoShape 64"/>
            <p:cNvSpPr/>
            <p:nvPr/>
          </p:nvSpPr>
          <p:spPr>
            <a:xfrm>
              <a:off x="1044425" y="9028387"/>
              <a:ext cx="7403047" cy="0"/>
            </a:xfrm>
            <a:prstGeom prst="line">
              <a:avLst/>
            </a:prstGeom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268554" y="8016761"/>
              <a:ext cx="6178918" cy="346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400" b="1" spc="2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PERMITTING AND REGULATORY CHALLENGES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264246" y="8548027"/>
              <a:ext cx="6031805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Regulatory hurdles affect project development and hiring.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1028700" y="7816909"/>
              <a:ext cx="986036" cy="1203027"/>
              <a:chOff x="0" y="-289322"/>
              <a:chExt cx="1314715" cy="1604037"/>
            </a:xfrm>
          </p:grpSpPr>
          <p:grpSp>
            <p:nvGrpSpPr>
              <p:cNvPr id="68" name="Group 68"/>
              <p:cNvGrpSpPr/>
              <p:nvPr/>
            </p:nvGrpSpPr>
            <p:grpSpPr>
              <a:xfrm>
                <a:off x="0" y="-289322"/>
                <a:ext cx="1314715" cy="1604037"/>
                <a:chOff x="0" y="-57150"/>
                <a:chExt cx="259697" cy="316847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0" y="0"/>
                  <a:ext cx="259697" cy="25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697" h="259697">
                      <a:moveTo>
                        <a:pt x="0" y="0"/>
                      </a:moveTo>
                      <a:lnTo>
                        <a:pt x="259697" y="0"/>
                      </a:lnTo>
                      <a:lnTo>
                        <a:pt x="259697" y="259697"/>
                      </a:lnTo>
                      <a:lnTo>
                        <a:pt x="0" y="259697"/>
                      </a:lnTo>
                      <a:close/>
                    </a:path>
                  </a:pathLst>
                </a:custGeom>
                <a:solidFill>
                  <a:srgbClr val="344859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0" y="-57150"/>
                  <a:ext cx="259697" cy="31684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40"/>
                    </a:lnSpc>
                  </a:pPr>
                  <a:endParaRPr/>
                </a:p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169124" y="185809"/>
                <a:ext cx="976467" cy="9671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60"/>
                  </a:lnSpc>
                </a:pPr>
                <a:r>
                  <a:rPr lang="en-US" sz="4200" dirty="0">
                    <a:solidFill>
                      <a:srgbClr val="FFFFFF"/>
                    </a:solidFill>
                    <a:latin typeface="Futura"/>
                    <a:ea typeface="Futura"/>
                    <a:cs typeface="Futura"/>
                    <a:sym typeface="Futura"/>
                  </a:rPr>
                  <a:t>04</a:t>
                </a:r>
              </a:p>
            </p:txBody>
          </p:sp>
        </p:grpSp>
      </p:grpSp>
      <p:sp>
        <p:nvSpPr>
          <p:cNvPr id="72" name="TextBox 72"/>
          <p:cNvSpPr txBox="1"/>
          <p:nvPr/>
        </p:nvSpPr>
        <p:spPr>
          <a:xfrm>
            <a:off x="1028700" y="9228349"/>
            <a:ext cx="6286500" cy="180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28700" y="1820949"/>
            <a:ext cx="8280096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Insights from Employer Surveys, Stakeholder Interviews, and Secondary Data Analysis</a:t>
            </a:r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94AAB43A-5F71-8069-E6FA-D2FBEB07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11400" y="9136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17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50"/>
          <p:cNvSpPr/>
          <p:nvPr/>
        </p:nvSpPr>
        <p:spPr>
          <a:xfrm>
            <a:off x="15092830" y="-9340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3"/>
            <a:stretch>
              <a:fillRect l="-15096" r="-86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5092830" y="3539626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4"/>
            <a:stretch>
              <a:fillRect l="-35641" r="-356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15092830" y="7088592"/>
            <a:ext cx="2816215" cy="3207749"/>
          </a:xfrm>
          <a:custGeom>
            <a:avLst/>
            <a:gdLst/>
            <a:ahLst/>
            <a:cxnLst/>
            <a:rect l="l" t="t" r="r" b="b"/>
            <a:pathLst>
              <a:path w="2274570" h="2590800">
                <a:moveTo>
                  <a:pt x="0" y="0"/>
                </a:moveTo>
                <a:lnTo>
                  <a:pt x="2274570" y="0"/>
                </a:lnTo>
                <a:lnTo>
                  <a:pt x="2274570" y="2590800"/>
                </a:lnTo>
                <a:lnTo>
                  <a:pt x="0" y="2590800"/>
                </a:lnTo>
                <a:close/>
              </a:path>
            </a:pathLst>
          </a:custGeom>
          <a:blipFill>
            <a:blip r:embed="rId5"/>
            <a:stretch>
              <a:fillRect l="-15324" r="-559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15064527" y="-28209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0"/>
                </a:move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lnTo>
                  <a:pt x="0" y="0"/>
                </a:lnTo>
                <a:close/>
                <a:moveTo>
                  <a:pt x="2297430" y="2598420"/>
                </a:moveTo>
                <a:lnTo>
                  <a:pt x="24130" y="2598420"/>
                </a:lnTo>
                <a:lnTo>
                  <a:pt x="24130" y="24130"/>
                </a:lnTo>
                <a:lnTo>
                  <a:pt x="2297430" y="24130"/>
                </a:lnTo>
                <a:lnTo>
                  <a:pt x="2297430" y="259842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15064527" y="3520757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2621280"/>
                </a:moveTo>
                <a:lnTo>
                  <a:pt x="2321560" y="2621280"/>
                </a:lnTo>
                <a:lnTo>
                  <a:pt x="2321560" y="0"/>
                </a:lnTo>
                <a:lnTo>
                  <a:pt x="0" y="0"/>
                </a:lnTo>
                <a:lnTo>
                  <a:pt x="0" y="2621280"/>
                </a:lnTo>
                <a:close/>
                <a:moveTo>
                  <a:pt x="24130" y="24130"/>
                </a:moveTo>
                <a:lnTo>
                  <a:pt x="2297430" y="24130"/>
                </a:lnTo>
                <a:lnTo>
                  <a:pt x="2297430" y="2598420"/>
                </a:lnTo>
                <a:lnTo>
                  <a:pt x="24130" y="2598420"/>
                </a:lnTo>
                <a:lnTo>
                  <a:pt x="24130" y="2413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15064527" y="7069723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0" y="2620010"/>
                </a:moveTo>
                <a:lnTo>
                  <a:pt x="2321560" y="2620010"/>
                </a:lnTo>
                <a:lnTo>
                  <a:pt x="2321560" y="0"/>
                </a:lnTo>
                <a:lnTo>
                  <a:pt x="0" y="0"/>
                </a:lnTo>
                <a:lnTo>
                  <a:pt x="0" y="2620010"/>
                </a:lnTo>
                <a:close/>
                <a:moveTo>
                  <a:pt x="24130" y="22860"/>
                </a:moveTo>
                <a:lnTo>
                  <a:pt x="2297430" y="22860"/>
                </a:lnTo>
                <a:lnTo>
                  <a:pt x="2297430" y="2597150"/>
                </a:lnTo>
                <a:lnTo>
                  <a:pt x="24130" y="2597150"/>
                </a:lnTo>
                <a:lnTo>
                  <a:pt x="24130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15064527" y="-28209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297430" y="24130"/>
                </a:moveTo>
                <a:lnTo>
                  <a:pt x="2297430" y="2598420"/>
                </a:lnTo>
                <a:lnTo>
                  <a:pt x="24130" y="2598420"/>
                </a:ln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15064527" y="-28209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4130" y="24130"/>
                </a:moveTo>
                <a:lnTo>
                  <a:pt x="2297430" y="24130"/>
                </a:lnTo>
                <a:lnTo>
                  <a:pt x="2321560" y="0"/>
                </a:lnTo>
                <a:lnTo>
                  <a:pt x="0" y="0"/>
                </a:lnTo>
                <a:lnTo>
                  <a:pt x="0" y="2621280"/>
                </a:lnTo>
                <a:lnTo>
                  <a:pt x="24130" y="259842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15064527" y="3520757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2297430" y="2597150"/>
                </a:moveTo>
                <a:lnTo>
                  <a:pt x="24130" y="2597150"/>
                </a:lnTo>
                <a:lnTo>
                  <a:pt x="0" y="2621280"/>
                </a:lnTo>
                <a:lnTo>
                  <a:pt x="2321560" y="2621280"/>
                </a:lnTo>
                <a:lnTo>
                  <a:pt x="2321560" y="0"/>
                </a:lnTo>
                <a:lnTo>
                  <a:pt x="2297430" y="2413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5064527" y="3520757"/>
            <a:ext cx="2874395" cy="3245488"/>
          </a:xfrm>
          <a:custGeom>
            <a:avLst/>
            <a:gdLst/>
            <a:ahLst/>
            <a:cxnLst/>
            <a:rect l="l" t="t" r="r" b="b"/>
            <a:pathLst>
              <a:path w="2321560" h="2621280">
                <a:moveTo>
                  <a:pt x="0" y="2621280"/>
                </a:moveTo>
                <a:lnTo>
                  <a:pt x="24130" y="2597150"/>
                </a:lnTo>
                <a:lnTo>
                  <a:pt x="24130" y="24130"/>
                </a:lnTo>
                <a:lnTo>
                  <a:pt x="2297430" y="24130"/>
                </a:lnTo>
                <a:lnTo>
                  <a:pt x="232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5064527" y="7069723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2297430" y="2597150"/>
                </a:moveTo>
                <a:lnTo>
                  <a:pt x="24130" y="2597150"/>
                </a:lnTo>
                <a:lnTo>
                  <a:pt x="0" y="2620010"/>
                </a:lnTo>
                <a:lnTo>
                  <a:pt x="2321560" y="2620010"/>
                </a:lnTo>
                <a:lnTo>
                  <a:pt x="2321560" y="0"/>
                </a:lnTo>
                <a:lnTo>
                  <a:pt x="2297430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5064527" y="7069723"/>
            <a:ext cx="2874395" cy="3243915"/>
          </a:xfrm>
          <a:custGeom>
            <a:avLst/>
            <a:gdLst/>
            <a:ahLst/>
            <a:cxnLst/>
            <a:rect l="l" t="t" r="r" b="b"/>
            <a:pathLst>
              <a:path w="2321560" h="2620010">
                <a:moveTo>
                  <a:pt x="0" y="2620010"/>
                </a:moveTo>
                <a:lnTo>
                  <a:pt x="24130" y="2597150"/>
                </a:lnTo>
                <a:lnTo>
                  <a:pt x="24130" y="22860"/>
                </a:lnTo>
                <a:lnTo>
                  <a:pt x="2297430" y="22860"/>
                </a:lnTo>
                <a:lnTo>
                  <a:pt x="232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14715448" y="-9340"/>
            <a:ext cx="3572552" cy="10303905"/>
          </a:xfrm>
          <a:custGeom>
            <a:avLst/>
            <a:gdLst/>
            <a:ahLst/>
            <a:cxnLst/>
            <a:rect l="l" t="t" r="r" b="b"/>
            <a:pathLst>
              <a:path w="2885440" h="8890000">
                <a:moveTo>
                  <a:pt x="2860040" y="24130"/>
                </a:moveTo>
                <a:lnTo>
                  <a:pt x="2860040" y="8865870"/>
                </a:lnTo>
                <a:lnTo>
                  <a:pt x="25400" y="8865870"/>
                </a:lnTo>
                <a:lnTo>
                  <a:pt x="0" y="8890000"/>
                </a:lnTo>
                <a:lnTo>
                  <a:pt x="2885440" y="8890000"/>
                </a:lnTo>
                <a:lnTo>
                  <a:pt x="2885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14715448" y="-28209"/>
            <a:ext cx="3572552" cy="10322979"/>
          </a:xfrm>
          <a:custGeom>
            <a:avLst/>
            <a:gdLst/>
            <a:ahLst/>
            <a:cxnLst/>
            <a:rect l="l" t="t" r="r" b="b"/>
            <a:pathLst>
              <a:path w="2885440" h="8890000">
                <a:moveTo>
                  <a:pt x="25400" y="24130"/>
                </a:moveTo>
                <a:lnTo>
                  <a:pt x="2860040" y="24130"/>
                </a:lnTo>
                <a:lnTo>
                  <a:pt x="2885440" y="0"/>
                </a:lnTo>
                <a:lnTo>
                  <a:pt x="0" y="0"/>
                </a:lnTo>
                <a:lnTo>
                  <a:pt x="0" y="8890000"/>
                </a:lnTo>
                <a:lnTo>
                  <a:pt x="25400" y="886587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1844781" y="866775"/>
            <a:ext cx="11679316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9"/>
              </a:lnSpc>
            </a:pPr>
            <a:r>
              <a:rPr lang="en-US" sz="5499" b="1" spc="10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SHARED OCCUPATIONAL NEEDS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819D36FB-1D62-8F46-CDEF-1287E8293C3E}"/>
              </a:ext>
            </a:extLst>
          </p:cNvPr>
          <p:cNvSpPr txBox="1"/>
          <p:nvPr/>
        </p:nvSpPr>
        <p:spPr>
          <a:xfrm>
            <a:off x="2670196" y="2033441"/>
            <a:ext cx="10025590" cy="704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399" dirty="0">
                <a:latin typeface="Futura" panose="020B0604020202020204" charset="0"/>
                <a:ea typeface="Futura Bold"/>
                <a:cs typeface="Futura Bold"/>
                <a:sym typeface="Futura Bold"/>
              </a:rPr>
              <a:t>These occupations emerged as shared regional priorities based on regional employment footprint, skills requirements, and advancement potential.</a:t>
            </a:r>
            <a:endParaRPr lang="en-US" sz="2399" dirty="0">
              <a:latin typeface="Futura" panose="020B0604020202020204" charset="0"/>
              <a:ea typeface="Futura"/>
              <a:cs typeface="Futura"/>
              <a:sym typeface="Futura"/>
            </a:endParaRPr>
          </a:p>
        </p:txBody>
      </p:sp>
      <p:sp>
        <p:nvSpPr>
          <p:cNvPr id="68" name="Slide Number Placeholder 73">
            <a:extLst>
              <a:ext uri="{FF2B5EF4-FFF2-40B4-BE49-F238E27FC236}">
                <a16:creationId xmlns:a16="http://schemas.microsoft.com/office/drawing/2014/main" id="{2AD1EBAC-80E9-27C8-7CA3-971B5AC6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7981" y="9469518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latin typeface="Futura" panose="020B0604020202020204" charset="0"/>
              </a:rPr>
              <a:pPr algn="l"/>
              <a:t>18</a:t>
            </a:fld>
            <a:endParaRPr lang="en-US" dirty="0">
              <a:latin typeface="Futura" panose="020B0604020202020204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180BB83-DF79-029D-4C9A-D85813BC9447}"/>
              </a:ext>
            </a:extLst>
          </p:cNvPr>
          <p:cNvGrpSpPr/>
          <p:nvPr/>
        </p:nvGrpSpPr>
        <p:grpSpPr>
          <a:xfrm>
            <a:off x="2348991" y="2866153"/>
            <a:ext cx="10669448" cy="6410682"/>
            <a:chOff x="2436952" y="2857500"/>
            <a:chExt cx="10669448" cy="6410682"/>
          </a:xfrm>
        </p:grpSpPr>
        <p:grpSp>
          <p:nvGrpSpPr>
            <p:cNvPr id="2" name="Group 2"/>
            <p:cNvGrpSpPr/>
            <p:nvPr/>
          </p:nvGrpSpPr>
          <p:grpSpPr>
            <a:xfrm>
              <a:off x="2438400" y="3279082"/>
              <a:ext cx="10668000" cy="2661690"/>
              <a:chOff x="0" y="0"/>
              <a:chExt cx="3157435" cy="769366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3157435" cy="769366"/>
              </a:xfrm>
              <a:custGeom>
                <a:avLst/>
                <a:gdLst/>
                <a:ahLst/>
                <a:cxnLst/>
                <a:rect l="l" t="t" r="r" b="b"/>
                <a:pathLst>
                  <a:path w="3157435" h="769366">
                    <a:moveTo>
                      <a:pt x="3157435" y="0"/>
                    </a:moveTo>
                    <a:lnTo>
                      <a:pt x="3157435" y="769366"/>
                    </a:lnTo>
                    <a:lnTo>
                      <a:pt x="0" y="7693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>
                  <a:alpha val="2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0" y="-66675"/>
                <a:ext cx="3157435" cy="836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sp>
          <p:nvSpPr>
            <p:cNvPr id="5" name="AutoShape 5"/>
            <p:cNvSpPr/>
            <p:nvPr/>
          </p:nvSpPr>
          <p:spPr>
            <a:xfrm>
              <a:off x="2438400" y="3286249"/>
              <a:ext cx="1066800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15258" y="5085108"/>
              <a:ext cx="1337038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Welders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2713649" y="3618141"/>
              <a:ext cx="1337038" cy="1368840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445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78678" tIns="78678" rIns="78678" bIns="78678" rtlCol="0" anchor="ctr"/>
              <a:lstStyle/>
              <a:p>
                <a:pPr algn="ctr">
                  <a:lnSpc>
                    <a:spcPts val="1182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794087" y="3700493"/>
              <a:ext cx="1176161" cy="120413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4453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78678" tIns="78678" rIns="78678" bIns="78678" rtlCol="0" anchor="ctr"/>
              <a:lstStyle/>
              <a:p>
                <a:pPr algn="ctr">
                  <a:lnSpc>
                    <a:spcPts val="1182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060208" y="4011986"/>
              <a:ext cx="643920" cy="664218"/>
            </a:xfrm>
            <a:custGeom>
              <a:avLst/>
              <a:gdLst/>
              <a:ahLst/>
              <a:cxnLst/>
              <a:rect l="l" t="t" r="r" b="b"/>
              <a:pathLst>
                <a:path w="723634" h="729102">
                  <a:moveTo>
                    <a:pt x="0" y="0"/>
                  </a:moveTo>
                  <a:lnTo>
                    <a:pt x="723634" y="0"/>
                  </a:lnTo>
                  <a:lnTo>
                    <a:pt x="723634" y="729101"/>
                  </a:lnTo>
                  <a:lnTo>
                    <a:pt x="0" y="72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546102" y="3939734"/>
              <a:ext cx="216802" cy="414876"/>
            </a:xfrm>
            <a:custGeom>
              <a:avLst/>
              <a:gdLst/>
              <a:ahLst/>
              <a:cxnLst/>
              <a:rect l="l" t="t" r="r" b="b"/>
              <a:pathLst>
                <a:path w="243641" h="455403">
                  <a:moveTo>
                    <a:pt x="0" y="0"/>
                  </a:moveTo>
                  <a:lnTo>
                    <a:pt x="243641" y="0"/>
                  </a:lnTo>
                  <a:lnTo>
                    <a:pt x="243641" y="455403"/>
                  </a:lnTo>
                  <a:lnTo>
                    <a:pt x="0" y="455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5660" y="5090159"/>
              <a:ext cx="2699724" cy="666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Industrial Machinery Mechanics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767004" y="3604011"/>
              <a:ext cx="1337038" cy="1368840"/>
              <a:chOff x="0" y="0"/>
              <a:chExt cx="2003407" cy="2003407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0" y="0"/>
                <a:ext cx="2003407" cy="2003407"/>
                <a:chOff x="0" y="0"/>
                <a:chExt cx="812800" cy="812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2445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120528" y="120528"/>
                <a:ext cx="1762351" cy="1762351"/>
                <a:chOff x="0" y="0"/>
                <a:chExt cx="812800" cy="8128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24453"/>
                </a:solidFill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sp>
            <p:nvSpPr>
              <p:cNvPr id="23" name="Freeform 23"/>
              <p:cNvSpPr/>
              <p:nvPr/>
            </p:nvSpPr>
            <p:spPr>
              <a:xfrm rot="2700000">
                <a:off x="509862" y="733497"/>
                <a:ext cx="983683" cy="983683"/>
              </a:xfrm>
              <a:custGeom>
                <a:avLst/>
                <a:gdLst/>
                <a:ahLst/>
                <a:cxnLst/>
                <a:rect l="l" t="t" r="r" b="b"/>
                <a:pathLst>
                  <a:path w="983683" h="983683">
                    <a:moveTo>
                      <a:pt x="0" y="0"/>
                    </a:moveTo>
                    <a:lnTo>
                      <a:pt x="983683" y="0"/>
                    </a:lnTo>
                    <a:lnTo>
                      <a:pt x="983683" y="983683"/>
                    </a:lnTo>
                    <a:lnTo>
                      <a:pt x="0" y="9836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631445" y="432409"/>
                <a:ext cx="740518" cy="514660"/>
              </a:xfrm>
              <a:custGeom>
                <a:avLst/>
                <a:gdLst/>
                <a:ahLst/>
                <a:cxnLst/>
                <a:rect l="l" t="t" r="r" b="b"/>
                <a:pathLst>
                  <a:path w="740518" h="514660">
                    <a:moveTo>
                      <a:pt x="0" y="0"/>
                    </a:moveTo>
                    <a:lnTo>
                      <a:pt x="740518" y="0"/>
                    </a:lnTo>
                    <a:lnTo>
                      <a:pt x="740518" y="514660"/>
                    </a:lnTo>
                    <a:lnTo>
                      <a:pt x="0" y="5146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384257" y="8094119"/>
              <a:ext cx="1920444" cy="666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>
                      <a:alpha val="60000"/>
                    </a:srgbClr>
                  </a:solidFill>
                  <a:latin typeface="Futura"/>
                  <a:ea typeface="Futura"/>
                  <a:cs typeface="Futura"/>
                  <a:sym typeface="Futura"/>
                </a:rPr>
                <a:t>Electrical Technicians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704908" y="6637869"/>
              <a:ext cx="1337038" cy="1368840"/>
              <a:chOff x="161889" y="-163351"/>
              <a:chExt cx="2003407" cy="2003407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161889" y="-163351"/>
                <a:ext cx="2003407" cy="2003407"/>
                <a:chOff x="65680" y="-66273"/>
                <a:chExt cx="812800" cy="8128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5680" y="-66273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3847">
                    <a:alpha val="60000"/>
                  </a:srgbClr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282418" y="-42821"/>
                <a:ext cx="1762351" cy="1762351"/>
                <a:chOff x="74664" y="-75337"/>
                <a:chExt cx="812800" cy="8128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4664" y="-75337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3847">
                    <a:alpha val="60000"/>
                  </a:srgbClr>
                </a:solidFill>
                <a:ln w="19050" cap="sq">
                  <a:solidFill>
                    <a:srgbClr val="FFFFFF">
                      <a:alpha val="6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sp>
            <p:nvSpPr>
              <p:cNvPr id="33" name="Freeform 33"/>
              <p:cNvSpPr/>
              <p:nvPr/>
            </p:nvSpPr>
            <p:spPr>
              <a:xfrm>
                <a:off x="632532" y="337880"/>
                <a:ext cx="956415" cy="993679"/>
              </a:xfrm>
              <a:custGeom>
                <a:avLst/>
                <a:gdLst/>
                <a:ahLst/>
                <a:cxnLst/>
                <a:rect l="l" t="t" r="r" b="b"/>
                <a:pathLst>
                  <a:path w="956415" h="993678">
                    <a:moveTo>
                      <a:pt x="0" y="0"/>
                    </a:moveTo>
                    <a:lnTo>
                      <a:pt x="956414" y="0"/>
                    </a:lnTo>
                    <a:lnTo>
                      <a:pt x="956414" y="993677"/>
                    </a:lnTo>
                    <a:lnTo>
                      <a:pt x="0" y="99367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60000"/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404462" y="227977"/>
                <a:ext cx="324854" cy="607204"/>
              </a:xfrm>
              <a:custGeom>
                <a:avLst/>
                <a:gdLst/>
                <a:ahLst/>
                <a:cxnLst/>
                <a:rect l="l" t="t" r="r" b="b"/>
                <a:pathLst>
                  <a:path w="324854" h="607204">
                    <a:moveTo>
                      <a:pt x="0" y="0"/>
                    </a:moveTo>
                    <a:lnTo>
                      <a:pt x="324854" y="0"/>
                    </a:lnTo>
                    <a:lnTo>
                      <a:pt x="324854" y="607204"/>
                    </a:lnTo>
                    <a:lnTo>
                      <a:pt x="0" y="60720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60000"/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0058702" y="5090158"/>
              <a:ext cx="2860350" cy="666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Electrical and Electronic Assemblers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0820359" y="3604011"/>
              <a:ext cx="1337038" cy="1368840"/>
              <a:chOff x="0" y="0"/>
              <a:chExt cx="2003407" cy="2003407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0" y="0"/>
                <a:ext cx="2003407" cy="2003407"/>
                <a:chOff x="0" y="0"/>
                <a:chExt cx="812800" cy="8128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24453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120528" y="120528"/>
                <a:ext cx="1762351" cy="1762351"/>
                <a:chOff x="0" y="0"/>
                <a:chExt cx="812800" cy="8128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24453"/>
                </a:solidFill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sp>
            <p:nvSpPr>
              <p:cNvPr id="43" name="Freeform 43"/>
              <p:cNvSpPr/>
              <p:nvPr/>
            </p:nvSpPr>
            <p:spPr>
              <a:xfrm>
                <a:off x="428373" y="446122"/>
                <a:ext cx="1146661" cy="1001895"/>
              </a:xfrm>
              <a:custGeom>
                <a:avLst/>
                <a:gdLst/>
                <a:ahLst/>
                <a:cxnLst/>
                <a:rect l="l" t="t" r="r" b="b"/>
                <a:pathLst>
                  <a:path w="1146661" h="1001895">
                    <a:moveTo>
                      <a:pt x="0" y="0"/>
                    </a:moveTo>
                    <a:lnTo>
                      <a:pt x="1146661" y="0"/>
                    </a:lnTo>
                    <a:lnTo>
                      <a:pt x="1146661" y="1001895"/>
                    </a:lnTo>
                    <a:lnTo>
                      <a:pt x="0" y="100189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045445" y="2857500"/>
              <a:ext cx="2828693" cy="597561"/>
              <a:chOff x="-23806" y="-66675"/>
              <a:chExt cx="837233" cy="17275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-23806" y="2542"/>
                <a:ext cx="837233" cy="103540"/>
              </a:xfrm>
              <a:custGeom>
                <a:avLst/>
                <a:gdLst/>
                <a:ahLst/>
                <a:cxnLst/>
                <a:rect l="l" t="t" r="r" b="b"/>
                <a:pathLst>
                  <a:path w="775255" h="98971">
                    <a:moveTo>
                      <a:pt x="0" y="0"/>
                    </a:moveTo>
                    <a:lnTo>
                      <a:pt x="775255" y="0"/>
                    </a:lnTo>
                    <a:lnTo>
                      <a:pt x="775255" y="98971"/>
                    </a:lnTo>
                    <a:lnTo>
                      <a:pt x="0" y="9897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66675"/>
                <a:ext cx="775255" cy="1656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3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988654" y="6122935"/>
              <a:ext cx="3023128" cy="352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399" b="1" dirty="0">
                  <a:solidFill>
                    <a:srgbClr val="6C6D75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EMERGING PRIORITIES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72426" y="3069936"/>
              <a:ext cx="2774730" cy="34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399" b="1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CURRENT PRIORITIES</a:t>
              </a:r>
            </a:p>
          </p:txBody>
        </p:sp>
        <p:sp>
          <p:nvSpPr>
            <p:cNvPr id="67" name="AutoShape 67"/>
            <p:cNvSpPr/>
            <p:nvPr/>
          </p:nvSpPr>
          <p:spPr>
            <a:xfrm flipV="1">
              <a:off x="2438400" y="5940567"/>
              <a:ext cx="10668000" cy="205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AutoShape 67">
              <a:extLst>
                <a:ext uri="{FF2B5EF4-FFF2-40B4-BE49-F238E27FC236}">
                  <a16:creationId xmlns:a16="http://schemas.microsoft.com/office/drawing/2014/main" id="{B0BE5226-F808-2884-F405-D1D321179DE2}"/>
                </a:ext>
              </a:extLst>
            </p:cNvPr>
            <p:cNvSpPr/>
            <p:nvPr/>
          </p:nvSpPr>
          <p:spPr>
            <a:xfrm flipV="1">
              <a:off x="2436952" y="8935788"/>
              <a:ext cx="10668000" cy="205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26">
              <a:extLst>
                <a:ext uri="{FF2B5EF4-FFF2-40B4-BE49-F238E27FC236}">
                  <a16:creationId xmlns:a16="http://schemas.microsoft.com/office/drawing/2014/main" id="{113D8591-0524-853C-FF67-E3994AED55D9}"/>
                </a:ext>
              </a:extLst>
            </p:cNvPr>
            <p:cNvGrpSpPr/>
            <p:nvPr/>
          </p:nvGrpSpPr>
          <p:grpSpPr>
            <a:xfrm>
              <a:off x="9041659" y="6637869"/>
              <a:ext cx="1337038" cy="1368840"/>
              <a:chOff x="161889" y="-163351"/>
              <a:chExt cx="2003407" cy="2003407"/>
            </a:xfrm>
          </p:grpSpPr>
          <p:grpSp>
            <p:nvGrpSpPr>
              <p:cNvPr id="53" name="Group 27">
                <a:extLst>
                  <a:ext uri="{FF2B5EF4-FFF2-40B4-BE49-F238E27FC236}">
                    <a16:creationId xmlns:a16="http://schemas.microsoft.com/office/drawing/2014/main" id="{45EF08CD-5822-CBDC-E937-1C7F13BF15E6}"/>
                  </a:ext>
                </a:extLst>
              </p:cNvPr>
              <p:cNvGrpSpPr/>
              <p:nvPr/>
            </p:nvGrpSpPr>
            <p:grpSpPr>
              <a:xfrm>
                <a:off x="161889" y="-163351"/>
                <a:ext cx="2003407" cy="2003407"/>
                <a:chOff x="65680" y="-66273"/>
                <a:chExt cx="812800" cy="812800"/>
              </a:xfrm>
            </p:grpSpPr>
            <p:sp>
              <p:nvSpPr>
                <p:cNvPr id="75" name="Freeform 28">
                  <a:extLst>
                    <a:ext uri="{FF2B5EF4-FFF2-40B4-BE49-F238E27FC236}">
                      <a16:creationId xmlns:a16="http://schemas.microsoft.com/office/drawing/2014/main" id="{009B4F60-93C1-A38F-29AE-D217237EC77F}"/>
                    </a:ext>
                  </a:extLst>
                </p:cNvPr>
                <p:cNvSpPr/>
                <p:nvPr/>
              </p:nvSpPr>
              <p:spPr>
                <a:xfrm>
                  <a:off x="65680" y="-66273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3847">
                    <a:alpha val="60000"/>
                  </a:srgbClr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TextBox 29">
                  <a:extLst>
                    <a:ext uri="{FF2B5EF4-FFF2-40B4-BE49-F238E27FC236}">
                      <a16:creationId xmlns:a16="http://schemas.microsoft.com/office/drawing/2014/main" id="{4EC5432D-8DDA-236B-F092-7FAC86298D6D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grpSp>
            <p:nvGrpSpPr>
              <p:cNvPr id="66" name="Group 30">
                <a:extLst>
                  <a:ext uri="{FF2B5EF4-FFF2-40B4-BE49-F238E27FC236}">
                    <a16:creationId xmlns:a16="http://schemas.microsoft.com/office/drawing/2014/main" id="{685304FE-2EA1-E713-AF6C-43B1D56893A9}"/>
                  </a:ext>
                </a:extLst>
              </p:cNvPr>
              <p:cNvGrpSpPr/>
              <p:nvPr/>
            </p:nvGrpSpPr>
            <p:grpSpPr>
              <a:xfrm>
                <a:off x="282418" y="-42821"/>
                <a:ext cx="1762351" cy="1762351"/>
                <a:chOff x="74664" y="-75337"/>
                <a:chExt cx="812800" cy="812800"/>
              </a:xfrm>
            </p:grpSpPr>
            <p:sp>
              <p:nvSpPr>
                <p:cNvPr id="73" name="Freeform 31">
                  <a:extLst>
                    <a:ext uri="{FF2B5EF4-FFF2-40B4-BE49-F238E27FC236}">
                      <a16:creationId xmlns:a16="http://schemas.microsoft.com/office/drawing/2014/main" id="{A8EF54EA-5602-D9B7-DB85-5FF2603F9A62}"/>
                    </a:ext>
                  </a:extLst>
                </p:cNvPr>
                <p:cNvSpPr/>
                <p:nvPr/>
              </p:nvSpPr>
              <p:spPr>
                <a:xfrm>
                  <a:off x="74664" y="-75337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3847">
                    <a:alpha val="60000"/>
                  </a:srgbClr>
                </a:solidFill>
                <a:ln w="19050" cap="sq">
                  <a:solidFill>
                    <a:srgbClr val="FFFFFF">
                      <a:alpha val="6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4" name="TextBox 32">
                  <a:extLst>
                    <a:ext uri="{FF2B5EF4-FFF2-40B4-BE49-F238E27FC236}">
                      <a16:creationId xmlns:a16="http://schemas.microsoft.com/office/drawing/2014/main" id="{1D99F915-6C71-994A-9F71-CB750AEE6888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78678" tIns="78678" rIns="78678" bIns="78678" rtlCol="0" anchor="ctr"/>
                <a:lstStyle/>
                <a:p>
                  <a:pPr algn="ctr">
                    <a:lnSpc>
                      <a:spcPts val="1182"/>
                    </a:lnSpc>
                  </a:pPr>
                  <a:endParaRPr/>
                </a:p>
              </p:txBody>
            </p:sp>
          </p:grpSp>
          <p:sp>
            <p:nvSpPr>
              <p:cNvPr id="69" name="Freeform 33">
                <a:extLst>
                  <a:ext uri="{FF2B5EF4-FFF2-40B4-BE49-F238E27FC236}">
                    <a16:creationId xmlns:a16="http://schemas.microsoft.com/office/drawing/2014/main" id="{A2940F14-AFF0-5C45-581D-B62447D03112}"/>
                  </a:ext>
                </a:extLst>
              </p:cNvPr>
              <p:cNvSpPr/>
              <p:nvPr/>
            </p:nvSpPr>
            <p:spPr>
              <a:xfrm>
                <a:off x="632532" y="337880"/>
                <a:ext cx="956415" cy="993679"/>
              </a:xfrm>
              <a:custGeom>
                <a:avLst/>
                <a:gdLst/>
                <a:ahLst/>
                <a:cxnLst/>
                <a:rect l="l" t="t" r="r" b="b"/>
                <a:pathLst>
                  <a:path w="956415" h="993678">
                    <a:moveTo>
                      <a:pt x="0" y="0"/>
                    </a:moveTo>
                    <a:lnTo>
                      <a:pt x="956414" y="0"/>
                    </a:lnTo>
                    <a:lnTo>
                      <a:pt x="956414" y="993677"/>
                    </a:lnTo>
                    <a:lnTo>
                      <a:pt x="0" y="99367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60000"/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76B9E079-28A3-FEA3-F158-6CD3F23DFAE9}"/>
                  </a:ext>
                </a:extLst>
              </p:cNvPr>
              <p:cNvSpPr/>
              <p:nvPr/>
            </p:nvSpPr>
            <p:spPr>
              <a:xfrm>
                <a:off x="1404462" y="227977"/>
                <a:ext cx="324854" cy="607204"/>
              </a:xfrm>
              <a:custGeom>
                <a:avLst/>
                <a:gdLst/>
                <a:ahLst/>
                <a:cxnLst/>
                <a:rect l="l" t="t" r="r" b="b"/>
                <a:pathLst>
                  <a:path w="324854" h="607204">
                    <a:moveTo>
                      <a:pt x="0" y="0"/>
                    </a:moveTo>
                    <a:lnTo>
                      <a:pt x="324854" y="0"/>
                    </a:lnTo>
                    <a:lnTo>
                      <a:pt x="324854" y="607204"/>
                    </a:lnTo>
                    <a:lnTo>
                      <a:pt x="0" y="60720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60000"/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" name="TextBox 25">
              <a:extLst>
                <a:ext uri="{FF2B5EF4-FFF2-40B4-BE49-F238E27FC236}">
                  <a16:creationId xmlns:a16="http://schemas.microsoft.com/office/drawing/2014/main" id="{BBF9209E-D0B4-DFD9-4FDA-AD6A92A8B82A}"/>
                </a:ext>
              </a:extLst>
            </p:cNvPr>
            <p:cNvSpPr txBox="1"/>
            <p:nvPr/>
          </p:nvSpPr>
          <p:spPr>
            <a:xfrm>
              <a:off x="8369743" y="8116172"/>
              <a:ext cx="2610324" cy="666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>
                      <a:alpha val="60000"/>
                    </a:srgbClr>
                  </a:solidFill>
                  <a:latin typeface="Futura"/>
                  <a:ea typeface="Futura"/>
                  <a:cs typeface="Futura"/>
                  <a:sym typeface="Futura"/>
                </a:rPr>
                <a:t>Data Scientists and</a:t>
              </a:r>
            </a:p>
            <a:p>
              <a:pPr algn="ctr">
                <a:lnSpc>
                  <a:spcPts val="2600"/>
                </a:lnSpc>
              </a:pPr>
              <a:r>
                <a:rPr lang="en-US" sz="2200" dirty="0">
                  <a:solidFill>
                    <a:srgbClr val="000000">
                      <a:alpha val="60000"/>
                    </a:srgbClr>
                  </a:solidFill>
                  <a:latin typeface="Futura"/>
                  <a:ea typeface="Futura"/>
                  <a:cs typeface="Futura"/>
                  <a:sym typeface="Futura"/>
                </a:rPr>
                <a:t>Data Analysts*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C2CC32E-F3A6-5E62-886B-2416F249ED9B}"/>
                </a:ext>
              </a:extLst>
            </p:cNvPr>
            <p:cNvSpPr/>
            <p:nvPr/>
          </p:nvSpPr>
          <p:spPr>
            <a:xfrm>
              <a:off x="9164722" y="6775887"/>
              <a:ext cx="1097280" cy="1097280"/>
            </a:xfrm>
            <a:prstGeom prst="ellipse">
              <a:avLst/>
            </a:prstGeom>
            <a:solidFill>
              <a:srgbClr val="2959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Graphic 78" descr="Statistics with solid fill">
              <a:extLst>
                <a:ext uri="{FF2B5EF4-FFF2-40B4-BE49-F238E27FC236}">
                  <a16:creationId xmlns:a16="http://schemas.microsoft.com/office/drawing/2014/main" id="{EE0E0592-C6C0-D48D-3CC3-BF95B87014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56162" y="6868889"/>
              <a:ext cx="914400" cy="914400"/>
            </a:xfrm>
            <a:prstGeom prst="rect">
              <a:avLst/>
            </a:prstGeom>
          </p:spPr>
        </p:pic>
        <p:sp>
          <p:nvSpPr>
            <p:cNvPr id="81" name="TextBox 28">
              <a:extLst>
                <a:ext uri="{FF2B5EF4-FFF2-40B4-BE49-F238E27FC236}">
                  <a16:creationId xmlns:a16="http://schemas.microsoft.com/office/drawing/2014/main" id="{E2A5A0CA-97A2-66E5-D1E5-3DA9AED0FA54}"/>
                </a:ext>
              </a:extLst>
            </p:cNvPr>
            <p:cNvSpPr txBox="1"/>
            <p:nvPr/>
          </p:nvSpPr>
          <p:spPr>
            <a:xfrm>
              <a:off x="2590800" y="8957841"/>
              <a:ext cx="10025590" cy="3103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00"/>
                </a:lnSpc>
              </a:pPr>
              <a:r>
                <a:rPr lang="en-US" sz="1400" dirty="0">
                  <a:latin typeface="Futura Light" panose="020B0604020202020204" charset="0"/>
                  <a:ea typeface="Futura Bold"/>
                  <a:cs typeface="Futura Bold"/>
                  <a:sym typeface="Futura Bold"/>
                </a:rPr>
                <a:t>* These occupations generally require a four-year degree at entry.</a:t>
              </a:r>
              <a:endParaRPr lang="en-US" sz="1400" dirty="0">
                <a:latin typeface="Futura Light" panose="020B0604020202020204" charset="0"/>
                <a:ea typeface="Futura"/>
                <a:cs typeface="Futura"/>
                <a:sym typeface="Futur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27674" y="789719"/>
            <a:ext cx="9632652" cy="99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9"/>
              </a:lnSpc>
            </a:pPr>
            <a:r>
              <a:rPr lang="en-US" sz="5499" b="1" spc="82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SHARED SKILLS NEEDS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9C39B1-8FE0-721C-D0D3-B159D7C86E82}"/>
              </a:ext>
            </a:extLst>
          </p:cNvPr>
          <p:cNvGrpSpPr/>
          <p:nvPr/>
        </p:nvGrpSpPr>
        <p:grpSpPr>
          <a:xfrm>
            <a:off x="2362200" y="2600428"/>
            <a:ext cx="13943918" cy="6119309"/>
            <a:chOff x="1928946" y="2875778"/>
            <a:chExt cx="13562236" cy="5898624"/>
          </a:xfrm>
        </p:grpSpPr>
        <p:sp>
          <p:nvSpPr>
            <p:cNvPr id="2" name="Freeform 2"/>
            <p:cNvSpPr/>
            <p:nvPr/>
          </p:nvSpPr>
          <p:spPr>
            <a:xfrm>
              <a:off x="6248400" y="2875778"/>
              <a:ext cx="4247009" cy="5898624"/>
            </a:xfrm>
            <a:custGeom>
              <a:avLst/>
              <a:gdLst/>
              <a:ahLst/>
              <a:cxnLst/>
              <a:rect l="l" t="t" r="r" b="b"/>
              <a:pathLst>
                <a:path w="4247009" h="5898624">
                  <a:moveTo>
                    <a:pt x="0" y="0"/>
                  </a:moveTo>
                  <a:lnTo>
                    <a:pt x="4247010" y="0"/>
                  </a:lnTo>
                  <a:lnTo>
                    <a:pt x="4247010" y="5898624"/>
                  </a:lnTo>
                  <a:lnTo>
                    <a:pt x="0" y="5898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28946" y="3875696"/>
              <a:ext cx="3942959" cy="365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</a:pPr>
              <a:r>
                <a:rPr lang="en-US" sz="2105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Data Analysis &amp; Problem-Solving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72352" y="3117082"/>
              <a:ext cx="3628596" cy="399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3"/>
                </a:lnSpc>
              </a:pPr>
              <a:r>
                <a:rPr lang="en-US" sz="2109" dirty="0">
                  <a:solidFill>
                    <a:srgbClr val="161613"/>
                  </a:solidFill>
                  <a:latin typeface="Futura"/>
                  <a:ea typeface="Futura"/>
                  <a:cs typeface="Futura"/>
                  <a:sym typeface="Futura"/>
                </a:rPr>
                <a:t>Troubleshooting &amp; Diagnostics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504352" y="5254517"/>
              <a:ext cx="3367553" cy="365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</a:pPr>
              <a:r>
                <a:rPr lang="en-US" sz="2105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Hands-On Mechanical Skills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69813" y="6632025"/>
              <a:ext cx="3702091" cy="365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</a:pPr>
              <a:r>
                <a:rPr lang="en-US" sz="2105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Safety &amp; Compliance Protocols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48112" y="7972812"/>
              <a:ext cx="2323793" cy="365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6"/>
                </a:lnSpc>
              </a:pPr>
              <a:r>
                <a:rPr lang="en-US" sz="2105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Precision Assembly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72352" y="4400100"/>
              <a:ext cx="4618830" cy="399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3"/>
                </a:lnSpc>
              </a:pPr>
              <a:r>
                <a:rPr lang="en-US" sz="2109">
                  <a:solidFill>
                    <a:srgbClr val="161613"/>
                  </a:solidFill>
                  <a:latin typeface="Futura"/>
                  <a:ea typeface="Futura"/>
                  <a:cs typeface="Futura"/>
                  <a:sym typeface="Futura"/>
                </a:rPr>
                <a:t>Hands-On Electrical &amp; Electronics Skills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72352" y="5776790"/>
              <a:ext cx="2678507" cy="399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3"/>
                </a:lnSpc>
              </a:pPr>
              <a:r>
                <a:rPr lang="en-US" sz="2109">
                  <a:solidFill>
                    <a:srgbClr val="161613"/>
                  </a:solidFill>
                  <a:latin typeface="Futura"/>
                  <a:ea typeface="Futura"/>
                  <a:cs typeface="Futura"/>
                  <a:sym typeface="Futura"/>
                </a:rPr>
                <a:t>Communications Skills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72352" y="7175604"/>
              <a:ext cx="3053190" cy="399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3"/>
                </a:lnSpc>
              </a:pPr>
              <a:r>
                <a:rPr lang="en-US" sz="2109">
                  <a:solidFill>
                    <a:srgbClr val="161613"/>
                  </a:solidFill>
                  <a:latin typeface="Futura"/>
                  <a:ea typeface="Futura"/>
                  <a:cs typeface="Futura"/>
                  <a:sym typeface="Futura"/>
                </a:rPr>
                <a:t>AI Literacy &amp; Digital Skills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1014" y="3172488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7076" y="3896760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7076" y="5248929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9018" y="4551633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307" y="5939812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05928" y="6673244"/>
              <a:ext cx="642507" cy="505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5928" y="8018922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5876" y="7346564"/>
              <a:ext cx="642507" cy="50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</a:pPr>
              <a:r>
                <a:rPr lang="en-US" sz="2807" dirty="0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07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13872" y="1776435"/>
            <a:ext cx="10060256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Shared Skills Underpinning Priority Occupations in the Clean Economy and Aerospace &amp; Defense Sectors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118ED31-8F5F-632D-4602-E5F0C24D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5700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19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40A40C6-866A-DECE-B44C-4D80810E4704}"/>
              </a:ext>
            </a:extLst>
          </p:cNvPr>
          <p:cNvSpPr/>
          <p:nvPr/>
        </p:nvSpPr>
        <p:spPr>
          <a:xfrm>
            <a:off x="11548764" y="5513702"/>
            <a:ext cx="5265056" cy="698775"/>
          </a:xfrm>
          <a:prstGeom prst="rect">
            <a:avLst/>
          </a:prstGeom>
          <a:solidFill>
            <a:srgbClr val="2E68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6F06D1-2D85-E63A-75A7-6AE4A31B1948}"/>
              </a:ext>
            </a:extLst>
          </p:cNvPr>
          <p:cNvSpPr/>
          <p:nvPr/>
        </p:nvSpPr>
        <p:spPr>
          <a:xfrm>
            <a:off x="6306015" y="5513702"/>
            <a:ext cx="5082645" cy="698775"/>
          </a:xfrm>
          <a:prstGeom prst="rect">
            <a:avLst/>
          </a:prstGeom>
          <a:solidFill>
            <a:srgbClr val="2E68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0F905F-3ABA-E607-5DEE-EBDAA04486BA}"/>
              </a:ext>
            </a:extLst>
          </p:cNvPr>
          <p:cNvSpPr/>
          <p:nvPr/>
        </p:nvSpPr>
        <p:spPr>
          <a:xfrm>
            <a:off x="1181288" y="5513702"/>
            <a:ext cx="4990636" cy="698775"/>
          </a:xfrm>
          <a:prstGeom prst="rect">
            <a:avLst/>
          </a:prstGeom>
          <a:solidFill>
            <a:srgbClr val="2E68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0D2954-5F36-1B0B-690C-C4CDB427DD82}"/>
              </a:ext>
            </a:extLst>
          </p:cNvPr>
          <p:cNvSpPr/>
          <p:nvPr/>
        </p:nvSpPr>
        <p:spPr>
          <a:xfrm>
            <a:off x="11548763" y="6207591"/>
            <a:ext cx="5265057" cy="2745907"/>
          </a:xfrm>
          <a:prstGeom prst="rect">
            <a:avLst/>
          </a:prstGeom>
          <a:solidFill>
            <a:srgbClr val="C8D1D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925DA8-597E-31F3-AA82-8D648E4B16DA}"/>
              </a:ext>
            </a:extLst>
          </p:cNvPr>
          <p:cNvSpPr/>
          <p:nvPr/>
        </p:nvSpPr>
        <p:spPr>
          <a:xfrm>
            <a:off x="1181288" y="6207591"/>
            <a:ext cx="4990636" cy="2741023"/>
          </a:xfrm>
          <a:prstGeom prst="rect">
            <a:avLst/>
          </a:prstGeom>
          <a:solidFill>
            <a:srgbClr val="C8D1D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AC3194-99D8-57C2-9BF9-EB5683DE5D3E}"/>
              </a:ext>
            </a:extLst>
          </p:cNvPr>
          <p:cNvSpPr/>
          <p:nvPr/>
        </p:nvSpPr>
        <p:spPr>
          <a:xfrm>
            <a:off x="6316894" y="6207591"/>
            <a:ext cx="5071766" cy="2741023"/>
          </a:xfrm>
          <a:prstGeom prst="rect">
            <a:avLst/>
          </a:prstGeom>
          <a:solidFill>
            <a:srgbClr val="C8D1D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69134" y="917064"/>
            <a:ext cx="1584468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500" b="1" spc="109" dirty="0">
                <a:latin typeface="Futura Bold"/>
                <a:ea typeface="Futura Bold"/>
                <a:cs typeface="Futura Bold"/>
                <a:sym typeface="Futura Bold"/>
              </a:rPr>
              <a:t>CLEAN ECONOMY</a:t>
            </a:r>
            <a:r>
              <a:rPr lang="en-US" sz="5500" b="1" spc="10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SECTOR-SPECIFIC NEEDS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48763" y="6415558"/>
            <a:ext cx="5992466" cy="226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Building electrification installation 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Fleet electrification (data analytics)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Hands-on electrical troubleshooting 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Solar panel recycling &amp; maintenance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Climate-smart agriculture planning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200" dirty="0">
                <a:solidFill>
                  <a:srgbClr val="161613"/>
                </a:solidFill>
                <a:latin typeface="Futura"/>
                <a:ea typeface="Futura"/>
                <a:cs typeface="Futura"/>
                <a:sym typeface="Futura"/>
              </a:rPr>
              <a:t>Home energy advising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90593" y="5691562"/>
            <a:ext cx="3581399" cy="380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00" b="1" spc="51" dirty="0">
                <a:solidFill>
                  <a:schemeClr val="bg1"/>
                </a:solidFill>
                <a:latin typeface="Futura Bold"/>
                <a:ea typeface="Futura Bold"/>
                <a:cs typeface="Futura Bold"/>
                <a:sym typeface="Futura Bold"/>
              </a:rPr>
              <a:t>EMERGING SKILLS NEEDS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84049" y="6415558"/>
            <a:ext cx="5023978" cy="211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Electrical Technicians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Energy Auditors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Environmental Remediation Technicians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Solar Panel Recycling and Maintenance Technicians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79703" y="5691561"/>
            <a:ext cx="3735268" cy="38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00" b="1" spc="51" dirty="0">
                <a:solidFill>
                  <a:schemeClr val="bg1"/>
                </a:solidFill>
                <a:latin typeface="Futura Bold"/>
                <a:ea typeface="Futura Bold"/>
                <a:cs typeface="Futura Bold"/>
                <a:sym typeface="Futura Bold"/>
              </a:rPr>
              <a:t>EMERGING OCCUPATIONS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83053BC9-D433-805C-BB85-2268724B7D0D}"/>
              </a:ext>
            </a:extLst>
          </p:cNvPr>
          <p:cNvSpPr txBox="1"/>
          <p:nvPr/>
        </p:nvSpPr>
        <p:spPr>
          <a:xfrm>
            <a:off x="1472915" y="5689316"/>
            <a:ext cx="4407382" cy="38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Aft>
                <a:spcPts val="600"/>
              </a:spcAft>
            </a:pPr>
            <a:r>
              <a:rPr lang="en-US" sz="2400" b="1" spc="51" dirty="0">
                <a:solidFill>
                  <a:schemeClr val="bg1"/>
                </a:solidFill>
                <a:latin typeface="Futura Bold"/>
                <a:ea typeface="Futura Bold"/>
                <a:cs typeface="Futura Bold"/>
                <a:sym typeface="Futura Bold"/>
              </a:rPr>
              <a:t>HIGH-PRIORITY OCCUPATIONS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6767B4EF-25DD-AE51-2CD9-899FFF91D1E0}"/>
              </a:ext>
            </a:extLst>
          </p:cNvPr>
          <p:cNvSpPr txBox="1"/>
          <p:nvPr/>
        </p:nvSpPr>
        <p:spPr>
          <a:xfrm>
            <a:off x="1349458" y="6415558"/>
            <a:ext cx="4591240" cy="1754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Carpenters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Electricians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HVAC Technicians</a:t>
            </a:r>
          </a:p>
          <a:p>
            <a:pPr marL="518158" lvl="1" indent="-259079" algn="l">
              <a:lnSpc>
                <a:spcPts val="2800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Plumbers, Pipefitters, and Steamfitters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4140C7-7C78-9AB8-8391-03201FC2E8C2}"/>
              </a:ext>
            </a:extLst>
          </p:cNvPr>
          <p:cNvGrpSpPr/>
          <p:nvPr/>
        </p:nvGrpSpPr>
        <p:grpSpPr>
          <a:xfrm>
            <a:off x="1181288" y="1995558"/>
            <a:ext cx="15632532" cy="3374448"/>
            <a:chOff x="1062525" y="2265799"/>
            <a:chExt cx="15632532" cy="3374448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>
            <a:xfrm>
              <a:off x="11430000" y="2265799"/>
              <a:ext cx="5265057" cy="3374448"/>
            </a:xfrm>
            <a:custGeom>
              <a:avLst/>
              <a:gdLst/>
              <a:ahLst/>
              <a:cxnLst/>
              <a:rect l="l" t="t" r="r" b="b"/>
              <a:pathLst>
                <a:path w="6303419" h="3876603">
                  <a:moveTo>
                    <a:pt x="0" y="0"/>
                  </a:moveTo>
                  <a:lnTo>
                    <a:pt x="6303419" y="0"/>
                  </a:lnTo>
                  <a:lnTo>
                    <a:pt x="6303419" y="3876603"/>
                  </a:lnTo>
                  <a:lnTo>
                    <a:pt x="0" y="38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98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>
            <a:xfrm>
              <a:off x="1062525" y="2265799"/>
              <a:ext cx="4991596" cy="3374448"/>
            </a:xfrm>
            <a:custGeom>
              <a:avLst/>
              <a:gdLst/>
              <a:ahLst/>
              <a:cxnLst/>
              <a:rect l="l" t="t" r="r" b="b"/>
              <a:pathLst>
                <a:path w="6303419" h="4191774">
                  <a:moveTo>
                    <a:pt x="0" y="0"/>
                  </a:moveTo>
                  <a:lnTo>
                    <a:pt x="6303419" y="0"/>
                  </a:lnTo>
                  <a:lnTo>
                    <a:pt x="6303419" y="4191774"/>
                  </a:lnTo>
                  <a:lnTo>
                    <a:pt x="0" y="4191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22" name="Picture 21" descr="Man smoothing out wood">
              <a:extLst>
                <a:ext uri="{FF2B5EF4-FFF2-40B4-BE49-F238E27FC236}">
                  <a16:creationId xmlns:a16="http://schemas.microsoft.com/office/drawing/2014/main" id="{14339A5A-D5BE-58A0-FBEC-5BB0E22D9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3743" y="2265799"/>
              <a:ext cx="5056635" cy="3374448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D1A087-B394-7A5C-04F4-4659B722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778665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20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24365"/>
            <a:ext cx="871604" cy="137254"/>
            <a:chOff x="0" y="0"/>
            <a:chExt cx="229558" cy="36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521" y="0"/>
            <a:ext cx="6324600" cy="10287000"/>
          </a:xfrm>
          <a:custGeom>
            <a:avLst/>
            <a:gdLst/>
            <a:ahLst/>
            <a:cxnLst/>
            <a:rect l="l" t="t" r="r" b="b"/>
            <a:pathLst>
              <a:path w="7193239" h="10287000">
                <a:moveTo>
                  <a:pt x="0" y="0"/>
                </a:moveTo>
                <a:lnTo>
                  <a:pt x="7193239" y="0"/>
                </a:lnTo>
                <a:lnTo>
                  <a:pt x="71932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28" t="-5151" r="-6506" b="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736971" y="877261"/>
            <a:ext cx="9061466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6000" b="1" spc="109" dirty="0">
                <a:latin typeface="Futura Bold"/>
                <a:ea typeface="Futura Bold"/>
                <a:cs typeface="Futura Bold"/>
                <a:sym typeface="Futura Bold"/>
              </a:rPr>
              <a:t>AEROSPACE &amp; DEFENSE </a:t>
            </a:r>
          </a:p>
          <a:p>
            <a:pPr algn="ctr">
              <a:lnSpc>
                <a:spcPts val="6200"/>
              </a:lnSpc>
            </a:pPr>
            <a:r>
              <a:rPr lang="en-US" sz="6000" b="1" spc="109" dirty="0">
                <a:latin typeface="Futura Bold"/>
                <a:ea typeface="Futura Bold"/>
                <a:cs typeface="Futura Bold"/>
                <a:sym typeface="Futura Bold"/>
              </a:rPr>
              <a:t>SECTOR-SPECIFIC NEEDS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76B865-5346-6A59-A356-E453746533C4}"/>
              </a:ext>
            </a:extLst>
          </p:cNvPr>
          <p:cNvGrpSpPr/>
          <p:nvPr/>
        </p:nvGrpSpPr>
        <p:grpSpPr>
          <a:xfrm>
            <a:off x="7208203" y="2961619"/>
            <a:ext cx="10119002" cy="5722227"/>
            <a:chOff x="7208203" y="3221770"/>
            <a:chExt cx="10119002" cy="572222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4581103-CE50-BE57-C957-5B6FB82AA3B5}"/>
                </a:ext>
              </a:extLst>
            </p:cNvPr>
            <p:cNvGrpSpPr/>
            <p:nvPr/>
          </p:nvGrpSpPr>
          <p:grpSpPr>
            <a:xfrm>
              <a:off x="7208203" y="6496316"/>
              <a:ext cx="10119002" cy="2447681"/>
              <a:chOff x="7208203" y="6543586"/>
              <a:chExt cx="10119002" cy="2447681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FC23210-6CDA-0C39-3377-AAD0DB09127A}"/>
                  </a:ext>
                </a:extLst>
              </p:cNvPr>
              <p:cNvSpPr/>
              <p:nvPr/>
            </p:nvSpPr>
            <p:spPr>
              <a:xfrm>
                <a:off x="7208203" y="6543586"/>
                <a:ext cx="10119002" cy="698775"/>
              </a:xfrm>
              <a:prstGeom prst="rect">
                <a:avLst/>
              </a:prstGeom>
              <a:solidFill>
                <a:srgbClr val="2E68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F655801-19AE-F1F1-EC6A-DA1F6E6E710C}"/>
                  </a:ext>
                </a:extLst>
              </p:cNvPr>
              <p:cNvSpPr/>
              <p:nvPr/>
            </p:nvSpPr>
            <p:spPr>
              <a:xfrm>
                <a:off x="7208203" y="7242360"/>
                <a:ext cx="10119002" cy="1748907"/>
              </a:xfrm>
              <a:prstGeom prst="rect">
                <a:avLst/>
              </a:prstGeom>
              <a:solidFill>
                <a:srgbClr val="C8D1D9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347834" y="7522453"/>
                <a:ext cx="9839741" cy="1188720"/>
              </a:xfrm>
              <a:prstGeom prst="rect">
                <a:avLst/>
              </a:prstGeom>
            </p:spPr>
            <p:txBody>
              <a:bodyPr wrap="square" lIns="0" tIns="0" rIns="0" bIns="0" numCol="2" rtlCol="0" anchor="t">
                <a:spAutoFit/>
              </a:bodyPr>
              <a:lstStyle/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Data analysis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AI literacy and digital skills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Blueprint reading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Precision assembly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Precision measurement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Troubleshooting and diagnostics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46632" y="6700292"/>
                <a:ext cx="4042145" cy="38536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79"/>
                  </a:lnSpc>
                </a:pPr>
                <a:r>
                  <a:rPr lang="en-US" sz="2599" b="1" dirty="0">
                    <a:solidFill>
                      <a:schemeClr val="bg1"/>
                    </a:solidFill>
                    <a:latin typeface="Futura Bold"/>
                    <a:ea typeface="Futura Bold"/>
                    <a:cs typeface="Futura Bold"/>
                    <a:sym typeface="Futura Bold"/>
                  </a:rPr>
                  <a:t>EMERGING SKILLS NEEDS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6AE879C-B581-DEAB-AA28-2FDB095BB379}"/>
                </a:ext>
              </a:extLst>
            </p:cNvPr>
            <p:cNvGrpSpPr/>
            <p:nvPr/>
          </p:nvGrpSpPr>
          <p:grpSpPr>
            <a:xfrm>
              <a:off x="7208203" y="3221770"/>
              <a:ext cx="10119002" cy="3134569"/>
              <a:chOff x="7208203" y="3221770"/>
              <a:chExt cx="10119002" cy="313456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83900E4-712F-9071-4F50-A6774952315F}"/>
                  </a:ext>
                </a:extLst>
              </p:cNvPr>
              <p:cNvSpPr/>
              <p:nvPr/>
            </p:nvSpPr>
            <p:spPr>
              <a:xfrm>
                <a:off x="12336569" y="3221770"/>
                <a:ext cx="4990636" cy="698775"/>
              </a:xfrm>
              <a:prstGeom prst="rect">
                <a:avLst/>
              </a:prstGeom>
              <a:solidFill>
                <a:srgbClr val="2E68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7081DF-8AED-CB69-9E6B-622D998B3D4A}"/>
                  </a:ext>
                </a:extLst>
              </p:cNvPr>
              <p:cNvSpPr/>
              <p:nvPr/>
            </p:nvSpPr>
            <p:spPr>
              <a:xfrm>
                <a:off x="7209975" y="3221770"/>
                <a:ext cx="4990636" cy="698775"/>
              </a:xfrm>
              <a:prstGeom prst="rect">
                <a:avLst/>
              </a:prstGeom>
              <a:solidFill>
                <a:srgbClr val="2E68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E1797DE-7385-6F47-8461-8FC4629D07AD}"/>
                  </a:ext>
                </a:extLst>
              </p:cNvPr>
              <p:cNvSpPr/>
              <p:nvPr/>
            </p:nvSpPr>
            <p:spPr>
              <a:xfrm>
                <a:off x="12335609" y="3903815"/>
                <a:ext cx="4991596" cy="2452524"/>
              </a:xfrm>
              <a:prstGeom prst="rect">
                <a:avLst/>
              </a:prstGeom>
              <a:solidFill>
                <a:srgbClr val="C8D1D9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420600" y="4148115"/>
                <a:ext cx="4644490" cy="19421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Airframe and Powerplant Technicians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Aviation Maintenance Technicians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Avionics Technicians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835818" y="3378476"/>
                <a:ext cx="3992138" cy="3853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379"/>
                  </a:lnSpc>
                </a:pPr>
                <a:r>
                  <a:rPr lang="en-US" sz="2599" b="1" dirty="0">
                    <a:solidFill>
                      <a:schemeClr val="bg1"/>
                    </a:solidFill>
                    <a:latin typeface="Futura Bold"/>
                    <a:ea typeface="Futura Bold"/>
                    <a:cs typeface="Futura Bold"/>
                    <a:sym typeface="Futura Bold"/>
                  </a:rPr>
                  <a:t>EMERGING OCCUPATIONS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9E27AC-C62E-B608-1487-B11D978D64DF}"/>
                  </a:ext>
                </a:extLst>
              </p:cNvPr>
              <p:cNvSpPr/>
              <p:nvPr/>
            </p:nvSpPr>
            <p:spPr>
              <a:xfrm>
                <a:off x="7208203" y="3903815"/>
                <a:ext cx="4991596" cy="2452524"/>
              </a:xfrm>
              <a:prstGeom prst="rect">
                <a:avLst/>
              </a:prstGeom>
              <a:solidFill>
                <a:srgbClr val="C8D1D9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7B586A4F-125E-6CAC-7417-0997B449C6A6}"/>
                  </a:ext>
                </a:extLst>
              </p:cNvPr>
              <p:cNvSpPr txBox="1"/>
              <p:nvPr/>
            </p:nvSpPr>
            <p:spPr>
              <a:xfrm>
                <a:off x="7416572" y="3395206"/>
                <a:ext cx="4577443" cy="3853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379"/>
                  </a:lnSpc>
                </a:pPr>
                <a:r>
                  <a:rPr lang="en-US" sz="2599" b="1" dirty="0">
                    <a:solidFill>
                      <a:schemeClr val="bg1"/>
                    </a:solidFill>
                    <a:latin typeface="Futura Bold"/>
                    <a:ea typeface="Futura Bold"/>
                    <a:cs typeface="Futura Bold"/>
                    <a:sym typeface="Futura Bold"/>
                  </a:rPr>
                  <a:t>HIGH-PRIORITY OCCUPATIONS</a:t>
                </a:r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DA4D9EF7-1E8D-6172-386F-E60B9E9D64C8}"/>
                  </a:ext>
                </a:extLst>
              </p:cNvPr>
              <p:cNvSpPr txBox="1"/>
              <p:nvPr/>
            </p:nvSpPr>
            <p:spPr>
              <a:xfrm>
                <a:off x="7220608" y="4148115"/>
                <a:ext cx="4801331" cy="15446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Aircraft Mechanics and Service Technicians</a:t>
                </a:r>
              </a:p>
              <a:p>
                <a:pPr marL="518158" lvl="1" indent="-259079" algn="l">
                  <a:lnSpc>
                    <a:spcPts val="3119"/>
                  </a:lnSpc>
                  <a:buFont typeface="Arial"/>
                  <a:buChar char="•"/>
                </a:pPr>
                <a:r>
                  <a:rPr lang="en-US" sz="2399" dirty="0">
                    <a:solidFill>
                      <a:srgbClr val="000000"/>
                    </a:solidFill>
                    <a:latin typeface="Futura"/>
                    <a:ea typeface="Futura"/>
                    <a:cs typeface="Futura"/>
                    <a:sym typeface="Futura"/>
                  </a:rPr>
                  <a:t>CNC Tool Programmers and Operators</a:t>
                </a:r>
              </a:p>
            </p:txBody>
          </p:sp>
        </p:grp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AB5C8E-96F4-7CBE-C0B8-0B4971CD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93605" y="93345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21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323916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200" b="1" spc="5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PARTNERSHIP OPPORTUNITIES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298900"/>
            <a:ext cx="871604" cy="137254"/>
            <a:chOff x="0" y="0"/>
            <a:chExt cx="229558" cy="36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6928" y="3610948"/>
            <a:ext cx="9410700" cy="727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Nearly 60% of employers across Aerospace &amp; Defense and Clean Economy predict 12-month headcount growth.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1357" y="1807512"/>
            <a:ext cx="10060256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Employer Demand Signals, Workforce Constraints, and Partnership Interest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901828"/>
            <a:ext cx="4923245" cy="43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600" b="1" spc="5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RISING DEMAND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4737481"/>
            <a:ext cx="4923245" cy="43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600" b="1" spc="5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TALENT SHORTAGES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699" y="5441158"/>
            <a:ext cx="9639300" cy="727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Talent shortages are top-of-mind for 26% of Aerospace &amp; Defense employers and 19% of Clean Economy employers.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7311687"/>
            <a:ext cx="9639300" cy="149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While 93% of employers in both sectors express strong interest in expanding job readiness and work-based learning, less than half partner with community colleges or workforce development boards to recruit, hire, or train workers.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1357" y="6607645"/>
            <a:ext cx="5564145" cy="43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600" b="1" spc="5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PARTNERSHIP OPPORTUNITIES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319453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pic>
        <p:nvPicPr>
          <p:cNvPr id="17" name="Picture 16" descr="Sea of hands in the middle">
            <a:extLst>
              <a:ext uri="{FF2B5EF4-FFF2-40B4-BE49-F238E27FC236}">
                <a16:creationId xmlns:a16="http://schemas.microsoft.com/office/drawing/2014/main" id="{1361385A-8E62-0DA4-2719-F92EB993E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1" r="15706"/>
          <a:stretch>
            <a:fillRect/>
          </a:stretch>
        </p:blipFill>
        <p:spPr>
          <a:xfrm>
            <a:off x="11058343" y="995362"/>
            <a:ext cx="7229657" cy="822960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BDE85A0-03BD-E31F-8E7C-B897EC5A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0" y="924357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22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A051-E516-82F8-1402-4600FC3B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767981-5872-2D17-1347-E46789652999}"/>
              </a:ext>
            </a:extLst>
          </p:cNvPr>
          <p:cNvSpPr/>
          <p:nvPr/>
        </p:nvSpPr>
        <p:spPr>
          <a:xfrm>
            <a:off x="0" y="0"/>
            <a:ext cx="18288000" cy="2019300"/>
          </a:xfrm>
          <a:prstGeom prst="rect">
            <a:avLst/>
          </a:prstGeom>
          <a:solidFill>
            <a:srgbClr val="DEE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895BC3F-B8F4-D9D7-DEAC-F5AFF4BF665C}"/>
              </a:ext>
            </a:extLst>
          </p:cNvPr>
          <p:cNvSpPr txBox="1"/>
          <p:nvPr/>
        </p:nvSpPr>
        <p:spPr>
          <a:xfrm>
            <a:off x="2127714" y="609547"/>
            <a:ext cx="13239160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LIVE POLLING AND Q&amp;A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B85203-3B4E-6600-FCE7-804ECD7CE045}"/>
              </a:ext>
            </a:extLst>
          </p:cNvPr>
          <p:cNvSpPr txBox="1"/>
          <p:nvPr/>
        </p:nvSpPr>
        <p:spPr>
          <a:xfrm>
            <a:off x="1028700" y="2848029"/>
            <a:ext cx="16230600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Q3. </a:t>
            </a:r>
            <a:r>
              <a:rPr lang="en-US" sz="3000" dirty="0">
                <a:solidFill>
                  <a:srgbClr val="000000"/>
                </a:solidFill>
                <a:latin typeface="Futura" panose="020B0604020202020204" charset="0"/>
                <a:ea typeface="Futura"/>
                <a:cs typeface="Futura"/>
                <a:sym typeface="Futura"/>
              </a:rPr>
              <a:t>Which of the priorities highlighted in today’s session is </a:t>
            </a: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most pressing</a:t>
            </a:r>
            <a:r>
              <a:rPr lang="en-US" sz="3000" dirty="0">
                <a:solidFill>
                  <a:srgbClr val="000000"/>
                </a:solidFill>
                <a:latin typeface="Futura" panose="020B0604020202020204" charset="0"/>
                <a:ea typeface="Futura"/>
                <a:cs typeface="Futura"/>
                <a:sym typeface="Futura"/>
              </a:rPr>
              <a:t> for your region now?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4411F1-764B-63B9-3036-F90D6A407BFE}"/>
              </a:ext>
            </a:extLst>
          </p:cNvPr>
          <p:cNvSpPr txBox="1"/>
          <p:nvPr/>
        </p:nvSpPr>
        <p:spPr>
          <a:xfrm>
            <a:off x="1028700" y="922496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2C87-EBAC-44FA-7E5E-3A500838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7271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23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DF69F42-4D19-449B-5E0A-DB366E708E98}"/>
              </a:ext>
            </a:extLst>
          </p:cNvPr>
          <p:cNvSpPr txBox="1"/>
          <p:nvPr/>
        </p:nvSpPr>
        <p:spPr>
          <a:xfrm>
            <a:off x="1828800" y="3738307"/>
            <a:ext cx="14173200" cy="2869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A.	Strengthen </a:t>
            </a:r>
            <a:r>
              <a:rPr lang="en-US" sz="3000" b="1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career pathways and job quality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key sectors</a:t>
            </a:r>
          </a:p>
          <a:p>
            <a:pPr>
              <a:lnSpc>
                <a:spcPts val="3769"/>
              </a:lnSpc>
            </a:pPr>
            <a:endParaRPr lang="en-US" sz="3000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B.	</a:t>
            </a:r>
            <a:r>
              <a:rPr lang="en-US" sz="3000" b="1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Expand access to training and employment opportunities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that leads to higher-	paying jobs</a:t>
            </a:r>
          </a:p>
          <a:p>
            <a:pPr>
              <a:lnSpc>
                <a:spcPts val="3769"/>
              </a:lnSpc>
            </a:pPr>
            <a:endParaRPr lang="en-US" sz="3000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C.	</a:t>
            </a:r>
            <a:r>
              <a:rPr lang="en-US" sz="3000" b="1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Align programs to current and expected employer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3477687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B5EA5-5D9A-B39E-6707-3F576523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87600" y="915314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A5EDD-1F3F-96A3-C04D-C34535CA0514}"/>
              </a:ext>
            </a:extLst>
          </p:cNvPr>
          <p:cNvSpPr txBox="1"/>
          <p:nvPr/>
        </p:nvSpPr>
        <p:spPr>
          <a:xfrm>
            <a:off x="1181100" y="3543300"/>
            <a:ext cx="1592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dirty="0">
                <a:latin typeface="Futura Bold" panose="020B0604020202020204" charset="0"/>
              </a:rPr>
              <a:t>PART 3. </a:t>
            </a:r>
          </a:p>
          <a:p>
            <a:pPr algn="ctr"/>
            <a:r>
              <a:rPr lang="en-US" sz="7000" dirty="0">
                <a:latin typeface="Futura Bold" panose="020B0604020202020204" charset="0"/>
              </a:rPr>
              <a:t>RESEARCH IMPLICATIONS &amp; NEXT STEPS</a:t>
            </a: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953696A6-FEB4-03A5-D6E3-0E81205982E6}"/>
              </a:ext>
            </a:extLst>
          </p:cNvPr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</p:spTree>
    <p:extLst>
      <p:ext uri="{BB962C8B-B14F-4D97-AF65-F5344CB8AC3E}">
        <p14:creationId xmlns:p14="http://schemas.microsoft.com/office/powerpoint/2010/main" val="1784600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33930" y="907176"/>
            <a:ext cx="88773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IMPLICATIONS FOR COLLEGES &amp; WORKFORCE PARTNERS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459330" y="3178614"/>
            <a:ext cx="871604" cy="137254"/>
            <a:chOff x="0" y="0"/>
            <a:chExt cx="229558" cy="36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62800" y="4029280"/>
            <a:ext cx="10210800" cy="4862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500"/>
              </a:lnSpc>
              <a:spcAft>
                <a:spcPts val="34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Stronger regional coordination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is needed to reduce overlaps in program design, build shared talent pipelines, and ensure curriculum relevance amidst rapid technological change.</a:t>
            </a:r>
          </a:p>
          <a:p>
            <a:pPr marL="561337" lvl="1" indent="-280669" algn="l">
              <a:lnSpc>
                <a:spcPts val="3500"/>
              </a:lnSpc>
              <a:spcAft>
                <a:spcPts val="34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Shrinking K–12 enrollments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increase the need to serve adult learners, incumbent workers, and re‑entry populations, who constitute a growing share of the regional talent pipeline.</a:t>
            </a:r>
          </a:p>
          <a:p>
            <a:pPr marL="561337" lvl="1" indent="-280669" algn="l">
              <a:lnSpc>
                <a:spcPts val="3500"/>
              </a:lnSpc>
              <a:spcAft>
                <a:spcPts val="36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Cross-regional pathways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with Silicon Valley, Monterey Bay, and Los Angeles R&amp;D hubs are essential to support shared work-based learning programs and training facilities.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133680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25A1D3-058C-7074-39A8-BBCC92B1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859000" y="905779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25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980AB8C0-B1BB-8989-DA80-B9192C825A9D}"/>
              </a:ext>
            </a:extLst>
          </p:cNvPr>
          <p:cNvSpPr txBox="1"/>
          <p:nvPr/>
        </p:nvSpPr>
        <p:spPr>
          <a:xfrm>
            <a:off x="7459330" y="2665241"/>
            <a:ext cx="10060256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Regional Alignment and Talent Pipeline Shifts</a:t>
            </a:r>
          </a:p>
        </p:txBody>
      </p:sp>
      <p:pic>
        <p:nvPicPr>
          <p:cNvPr id="14" name="Picture 13" descr="Top view of people discussing and shaking hands">
            <a:extLst>
              <a:ext uri="{FF2B5EF4-FFF2-40B4-BE49-F238E27FC236}">
                <a16:creationId xmlns:a16="http://schemas.microsoft.com/office/drawing/2014/main" id="{E567FADD-2610-A1A1-0C79-A1188F03C2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-645" r="53497" b="7819"/>
          <a:stretch>
            <a:fillRect/>
          </a:stretch>
        </p:blipFill>
        <p:spPr>
          <a:xfrm>
            <a:off x="995030" y="907176"/>
            <a:ext cx="5716299" cy="78939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7400-68DD-0338-6C4B-E7AFA578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2373C5-6777-335F-13C8-57EF34836766}"/>
              </a:ext>
            </a:extLst>
          </p:cNvPr>
          <p:cNvSpPr txBox="1"/>
          <p:nvPr/>
        </p:nvSpPr>
        <p:spPr>
          <a:xfrm>
            <a:off x="1041400" y="760885"/>
            <a:ext cx="91059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IMPLICATIONS FOR COLLEGES &amp; WORKFORCE PARTNERS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2389528-39BD-76F6-C42F-3DDAE549239E}"/>
              </a:ext>
            </a:extLst>
          </p:cNvPr>
          <p:cNvGrpSpPr/>
          <p:nvPr/>
        </p:nvGrpSpPr>
        <p:grpSpPr>
          <a:xfrm>
            <a:off x="1054100" y="2963672"/>
            <a:ext cx="871604" cy="137254"/>
            <a:chOff x="0" y="0"/>
            <a:chExt cx="229558" cy="3614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6A6ABB-513B-263A-EFFA-5AA3333B9E78}"/>
                </a:ext>
              </a:extLst>
            </p:cNvPr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22F71EB-F54F-29A9-8C40-2C72B051DE50}"/>
                </a:ext>
              </a:extLst>
            </p:cNvPr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DBBEAFF-2582-1714-2D4C-3D4D5F8DCC5E}"/>
              </a:ext>
            </a:extLst>
          </p:cNvPr>
          <p:cNvSpPr txBox="1"/>
          <p:nvPr/>
        </p:nvSpPr>
        <p:spPr>
          <a:xfrm>
            <a:off x="803275" y="3662327"/>
            <a:ext cx="9559925" cy="502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500"/>
              </a:lnSpc>
              <a:spcAft>
                <a:spcPts val="36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Training programs should incorporate cross-cutting skills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and emerging technologies to maximize investment impact and build regional capacity across priority sectors.</a:t>
            </a:r>
          </a:p>
          <a:p>
            <a:pPr marL="561337" lvl="1" indent="-280669" algn="l">
              <a:lnSpc>
                <a:spcPts val="3500"/>
              </a:lnSpc>
              <a:spcAft>
                <a:spcPts val="36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Programs should incorporate targeted supports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for underserved populations to ensure equitable access to higher-wage career pathways.</a:t>
            </a:r>
          </a:p>
          <a:p>
            <a:pPr marL="561337" lvl="1" indent="-280669" algn="l">
              <a:lnSpc>
                <a:spcPts val="3500"/>
              </a:lnSpc>
              <a:spcAft>
                <a:spcPts val="3600"/>
              </a:spcAft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Continuous, up-to-date regional workforce intelligence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is needed to maintain alignment of education programs with evolving employer skills needs.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DBCEE7-4088-92F2-E539-37BC1111E93C}"/>
              </a:ext>
            </a:extLst>
          </p:cNvPr>
          <p:cNvSpPr txBox="1"/>
          <p:nvPr/>
        </p:nvSpPr>
        <p:spPr>
          <a:xfrm>
            <a:off x="1028700" y="9133680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1E072E-23F8-E297-34B5-A861CA35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859000" y="905779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26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BCDEB48-D575-7AC1-A847-6E93000E8DAC}"/>
              </a:ext>
            </a:extLst>
          </p:cNvPr>
          <p:cNvSpPr txBox="1"/>
          <p:nvPr/>
        </p:nvSpPr>
        <p:spPr>
          <a:xfrm>
            <a:off x="1054100" y="2468428"/>
            <a:ext cx="10060256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Program Design Considerations</a:t>
            </a: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E0EA85CD-6A1C-9032-2F41-F09235753B1A}"/>
              </a:ext>
            </a:extLst>
          </p:cNvPr>
          <p:cNvSpPr>
            <a:spLocks noChangeAspect="1"/>
          </p:cNvSpPr>
          <p:nvPr/>
        </p:nvSpPr>
        <p:spPr>
          <a:xfrm>
            <a:off x="10795000" y="864077"/>
            <a:ext cx="7493000" cy="7863840"/>
          </a:xfrm>
          <a:custGeom>
            <a:avLst/>
            <a:gdLst/>
            <a:ahLst/>
            <a:cxnLst/>
            <a:rect l="l" t="t" r="r" b="b"/>
            <a:pathLst>
              <a:path w="12375338" h="8229600">
                <a:moveTo>
                  <a:pt x="0" y="0"/>
                </a:moveTo>
                <a:lnTo>
                  <a:pt x="12375338" y="0"/>
                </a:lnTo>
                <a:lnTo>
                  <a:pt x="123753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127" r="-2346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86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Graduate in cap and gown">
            <a:extLst>
              <a:ext uri="{FF2B5EF4-FFF2-40B4-BE49-F238E27FC236}">
                <a16:creationId xmlns:a16="http://schemas.microsoft.com/office/drawing/2014/main" id="{C41F3B70-07C6-4D48-71B2-3176FB921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8" r="40307"/>
          <a:stretch>
            <a:fillRect/>
          </a:stretch>
        </p:blipFill>
        <p:spPr>
          <a:xfrm>
            <a:off x="0" y="807434"/>
            <a:ext cx="6400800" cy="859536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7219140" y="807434"/>
            <a:ext cx="10060256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5000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RECOMMENDATIONS FOR COLLEGES &amp; WORKFORCE BOARDS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79940" y="2536225"/>
            <a:ext cx="871604" cy="137254"/>
            <a:chOff x="0" y="0"/>
            <a:chExt cx="229558" cy="36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39331" y="961305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A81A6D-C601-4FA6-A836-B694F65BD0F4}"/>
              </a:ext>
            </a:extLst>
          </p:cNvPr>
          <p:cNvGrpSpPr/>
          <p:nvPr/>
        </p:nvGrpSpPr>
        <p:grpSpPr>
          <a:xfrm>
            <a:off x="7279940" y="3310272"/>
            <a:ext cx="10248900" cy="5957374"/>
            <a:chOff x="7282543" y="2963758"/>
            <a:chExt cx="10248900" cy="5957374"/>
          </a:xfrm>
        </p:grpSpPr>
        <p:sp>
          <p:nvSpPr>
            <p:cNvPr id="6" name="TextBox 6"/>
            <p:cNvSpPr txBox="1"/>
            <p:nvPr/>
          </p:nvSpPr>
          <p:spPr>
            <a:xfrm>
              <a:off x="7282543" y="2963758"/>
              <a:ext cx="10060256" cy="437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600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STRENGTHEN CAREER PATHWAYS AND JOB QUALITY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82543" y="3574401"/>
              <a:ext cx="10248900" cy="12849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Strengthen programs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 supporting pathways with clear career progression.</a:t>
              </a:r>
            </a:p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Scale high-value trades and technical programs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"/>
                </a:rPr>
                <a:t>.</a:t>
              </a:r>
              <a:endParaRPr lang="en-US" sz="2400" dirty="0">
                <a:solidFill>
                  <a:srgbClr val="000000"/>
                </a:solidFill>
                <a:latin typeface="Futura" panose="020B0604020202020204" charset="0"/>
                <a:ea typeface="Futura"/>
                <a:cs typeface="Futura"/>
                <a:sym typeface="Futura"/>
              </a:endParaRPr>
            </a:p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Support job quality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 through intentional program design.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82543" y="5473885"/>
              <a:ext cx="10060256" cy="437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600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EXPAND ACCESS TO OPPORTUNITY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82543" y="6084528"/>
              <a:ext cx="10248900" cy="3616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61337" lvl="1" indent="-280669" algn="l">
                <a:lnSpc>
                  <a:spcPts val="3200"/>
                </a:lnSpc>
                <a:spcAft>
                  <a:spcPts val="6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Incorporate wraparound supports and flexible training delivery models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82543" y="7025522"/>
              <a:ext cx="10060256" cy="437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600" dirty="0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FUTURE-PROOF AND ALIGN PROGRAMS TO EMPLOYER NEEDS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82543" y="7636165"/>
              <a:ext cx="9938657" cy="12849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Incorporate AI literacy and cross-cutting foundational skills 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modules.</a:t>
              </a:r>
            </a:p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 Bold"/>
                  <a:cs typeface="Futura Bold"/>
                  <a:sym typeface="Futura Bold"/>
                </a:rPr>
                <a:t>Offer job readiness courses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 as a prerequisite for work-based learning.</a:t>
              </a:r>
            </a:p>
            <a:p>
              <a:pPr marL="561337" lvl="1" indent="-280669" algn="l">
                <a:lnSpc>
                  <a:spcPts val="3200"/>
                </a:lnSpc>
                <a:spcAft>
                  <a:spcPts val="300"/>
                </a:spcAft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 Bold"/>
                </a:rPr>
                <a:t>S</a:t>
              </a:r>
              <a:r>
                <a:rPr lang="en-US" sz="2400" dirty="0">
                  <a:solidFill>
                    <a:srgbClr val="000000"/>
                  </a:solidFill>
                  <a:latin typeface="Futura" panose="020B0604020202020204" charset="0"/>
                  <a:ea typeface="Futura"/>
                  <a:cs typeface="Futura"/>
                  <a:sym typeface="Futura"/>
                </a:rPr>
                <a:t>treamline and unify employer outreach and engagement.</a:t>
              </a: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9EB92D4-7092-1165-9756-036CFB81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84997" y="95371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27</a:t>
            </a:fld>
            <a:endParaRPr lang="en-US" dirty="0"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3239160" cy="73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4999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NEXT STEPS 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881570"/>
            <a:ext cx="871604" cy="137254"/>
            <a:chOff x="0" y="0"/>
            <a:chExt cx="229558" cy="36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CD61E3-728D-B473-A0B1-E8A2E608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5700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28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31F7B28-EB47-2CAA-E424-AA7A4DD274E8}"/>
              </a:ext>
            </a:extLst>
          </p:cNvPr>
          <p:cNvSpPr txBox="1"/>
          <p:nvPr/>
        </p:nvSpPr>
        <p:spPr>
          <a:xfrm>
            <a:off x="762000" y="2247900"/>
            <a:ext cx="16497300" cy="482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 algn="l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Assess advisory board structures </a:t>
            </a:r>
            <a:r>
              <a:rPr lang="en-US" sz="2400" dirty="0">
                <a:solidFill>
                  <a:srgbClr val="000000"/>
                </a:solidFill>
                <a:latin typeface="Futura" panose="020B0604020202020204" charset="0"/>
                <a:ea typeface="Futura Bold"/>
                <a:cs typeface="Futura Bold"/>
                <a:sym typeface="Futura Bold"/>
              </a:rPr>
              <a:t>to reduce duplication across programs and subregions while adhering to statutory requirements (e.g., California Education Code, Perkins V)</a:t>
            </a:r>
          </a:p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Re-evaluate employer engagement metrics and outcomes </a:t>
            </a:r>
            <a:r>
              <a:rPr lang="en-US" sz="2400" dirty="0">
                <a:solidFill>
                  <a:srgbClr val="000000"/>
                </a:solidFill>
                <a:latin typeface="Futura" panose="020B0604020202020204" charset="0"/>
                <a:ea typeface="Futura Bold"/>
                <a:cs typeface="Futura Bold"/>
                <a:sym typeface="Futura Bold"/>
              </a:rPr>
              <a:t>to ensure alignment with regional and statewide goals to increase the number of: WBL participants, students in apprenticeship programs, number of WDBs or EDOs in an active partnership, and number of employers engaged through employer engagement liaisons </a:t>
            </a:r>
            <a:endParaRPr lang="en-US" sz="2400" b="1" dirty="0">
              <a:solidFill>
                <a:srgbClr val="000000"/>
              </a:solidFill>
              <a:latin typeface="Futura" panose="020B0604020202020204" charset="0"/>
              <a:ea typeface="Futura Bold"/>
              <a:cs typeface="Futura Bold"/>
              <a:sym typeface="Futura Bold"/>
            </a:endParaRPr>
          </a:p>
          <a:p>
            <a:pPr marL="561337" lvl="1" indent="-280669" algn="l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Convene regional community college leaders </a:t>
            </a: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 create a more unified strategic plan to address current and emerging workforce needs across sectors, but particularly within Aerospace &amp; Defense and Clean Economy, as they have the largest workforce opportunity and impact all counties in the region</a:t>
            </a:r>
          </a:p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Align efforts across other regional community college initiatives </a:t>
            </a: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related to apprenticeship development in Advanced Manufacturing/Aerospace Manufacturing, as well creating K-12 pipelines and stronger awareness of priority sectors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21A0E6-37D9-2265-C944-91769F6CB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74" y="7541887"/>
            <a:ext cx="2955098" cy="14516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2FEF89-3F60-0857-F326-50845AED6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326" y="7429500"/>
            <a:ext cx="1676400" cy="167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3D7867-EB7D-39C8-3423-3A661F407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480" y="7618237"/>
            <a:ext cx="4040625" cy="11156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B1282E-725B-DBF4-BB5C-732B22365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7126" y="7647829"/>
            <a:ext cx="2286874" cy="105650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5C76-CC19-02FF-BF0D-9E1F7FF8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DF2583-ACD8-A997-3F35-B3EF034CFA51}"/>
              </a:ext>
            </a:extLst>
          </p:cNvPr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4" r="23344"/>
          <a:stretch/>
        </p:blipFill>
        <p:spPr>
          <a:xfrm>
            <a:off x="10287000" y="266739"/>
            <a:ext cx="8004412" cy="10020261"/>
          </a:xfrm>
          <a:custGeom>
            <a:avLst/>
            <a:gdLst>
              <a:gd name="connsiteX0" fmla="*/ 3512852 w 5263928"/>
              <a:gd name="connsiteY0" fmla="*/ 0 h 6419088"/>
              <a:gd name="connsiteX1" fmla="*/ 5187286 w 5263928"/>
              <a:gd name="connsiteY1" fmla="*/ 423982 h 6419088"/>
              <a:gd name="connsiteX2" fmla="*/ 5263928 w 5263928"/>
              <a:gd name="connsiteY2" fmla="*/ 470543 h 6419088"/>
              <a:gd name="connsiteX3" fmla="*/ 5263928 w 5263928"/>
              <a:gd name="connsiteY3" fmla="*/ 6419088 h 6419088"/>
              <a:gd name="connsiteX4" fmla="*/ 1539855 w 5263928"/>
              <a:gd name="connsiteY4" fmla="*/ 6419088 h 6419088"/>
              <a:gd name="connsiteX5" fmla="*/ 1278352 w 5263928"/>
              <a:gd name="connsiteY5" fmla="*/ 6223540 h 6419088"/>
              <a:gd name="connsiteX6" fmla="*/ 0 w 5263928"/>
              <a:gd name="connsiteY6" fmla="*/ 3512852 h 6419088"/>
              <a:gd name="connsiteX7" fmla="*/ 3512852 w 5263928"/>
              <a:gd name="connsiteY7" fmla="*/ 0 h 64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63928" h="6419088">
                <a:moveTo>
                  <a:pt x="3512852" y="0"/>
                </a:moveTo>
                <a:cubicBezTo>
                  <a:pt x="4119132" y="0"/>
                  <a:pt x="4689539" y="153590"/>
                  <a:pt x="5187286" y="423982"/>
                </a:cubicBezTo>
                <a:lnTo>
                  <a:pt x="5263928" y="470543"/>
                </a:lnTo>
                <a:lnTo>
                  <a:pt x="5263928" y="6419088"/>
                </a:lnTo>
                <a:lnTo>
                  <a:pt x="1539855" y="6419088"/>
                </a:lnTo>
                <a:lnTo>
                  <a:pt x="1278352" y="6223540"/>
                </a:lnTo>
                <a:cubicBezTo>
                  <a:pt x="497630" y="5579231"/>
                  <a:pt x="0" y="4604156"/>
                  <a:pt x="0" y="3512852"/>
                </a:cubicBezTo>
                <a:cubicBezTo>
                  <a:pt x="0" y="1572757"/>
                  <a:pt x="1572757" y="0"/>
                  <a:pt x="3512852" y="0"/>
                </a:cubicBezTo>
                <a:close/>
              </a:path>
            </a:pathLst>
          </a:custGeom>
          <a:solidFill>
            <a:schemeClr val="bg2"/>
          </a:solidFill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89A41B3E-71D3-C4FE-C12C-3D16E8F34111}"/>
              </a:ext>
            </a:extLst>
          </p:cNvPr>
          <p:cNvSpPr txBox="1"/>
          <p:nvPr/>
        </p:nvSpPr>
        <p:spPr>
          <a:xfrm>
            <a:off x="1028700" y="885825"/>
            <a:ext cx="13239160" cy="73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4999" b="1" spc="49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NEXT STEPS II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A9E031-C2C2-628B-18D2-DD8061051A0A}"/>
              </a:ext>
            </a:extLst>
          </p:cNvPr>
          <p:cNvGrpSpPr/>
          <p:nvPr/>
        </p:nvGrpSpPr>
        <p:grpSpPr>
          <a:xfrm>
            <a:off x="1028700" y="1881570"/>
            <a:ext cx="871604" cy="137254"/>
            <a:chOff x="0" y="0"/>
            <a:chExt cx="229558" cy="3614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468B5F-8193-E6EE-9170-BB05F1118A4A}"/>
                </a:ext>
              </a:extLst>
            </p:cNvPr>
            <p:cNvSpPr/>
            <p:nvPr/>
          </p:nvSpPr>
          <p:spPr>
            <a:xfrm>
              <a:off x="0" y="0"/>
              <a:ext cx="229558" cy="36149"/>
            </a:xfrm>
            <a:custGeom>
              <a:avLst/>
              <a:gdLst/>
              <a:ahLst/>
              <a:cxnLst/>
              <a:rect l="l" t="t" r="r" b="b"/>
              <a:pathLst>
                <a:path w="229558" h="36149">
                  <a:moveTo>
                    <a:pt x="0" y="0"/>
                  </a:moveTo>
                  <a:lnTo>
                    <a:pt x="229558" y="0"/>
                  </a:lnTo>
                  <a:lnTo>
                    <a:pt x="229558" y="36149"/>
                  </a:lnTo>
                  <a:lnTo>
                    <a:pt x="0" y="36149"/>
                  </a:lnTo>
                  <a:close/>
                </a:path>
              </a:pathLst>
            </a:custGeom>
            <a:solidFill>
              <a:srgbClr val="B9D3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44FA9C6-A6A4-A1E1-AE99-4AADAE8CA931}"/>
                </a:ext>
              </a:extLst>
            </p:cNvPr>
            <p:cNvSpPr txBox="1"/>
            <p:nvPr/>
          </p:nvSpPr>
          <p:spPr>
            <a:xfrm>
              <a:off x="0" y="-66675"/>
              <a:ext cx="229558" cy="10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DBE3690-AAC4-7076-DAE5-A0109631336B}"/>
              </a:ext>
            </a:extLst>
          </p:cNvPr>
          <p:cNvSpPr txBox="1"/>
          <p:nvPr/>
        </p:nvSpPr>
        <p:spPr>
          <a:xfrm>
            <a:off x="1028700" y="922496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6CEF01-DB65-96FD-41C6-A411EFE8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5700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29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6A3DDD2-00A3-0FD2-5B8A-071364E8ADAB}"/>
              </a:ext>
            </a:extLst>
          </p:cNvPr>
          <p:cNvSpPr txBox="1"/>
          <p:nvPr/>
        </p:nvSpPr>
        <p:spPr>
          <a:xfrm>
            <a:off x="762000" y="2247900"/>
            <a:ext cx="9220200" cy="5234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Futura Bold"/>
                <a:ea typeface="Futura"/>
                <a:cs typeface="Futura"/>
                <a:sym typeface="Futura Bold"/>
              </a:rPr>
              <a:t>Provide additional analysis of skills requirements </a:t>
            </a: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 colleges to use in curriculum planning, when engaging employers, during advisory committees, and long-term planning</a:t>
            </a:r>
          </a:p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Futura Bold"/>
                <a:ea typeface="Futura"/>
                <a:cs typeface="Futura"/>
                <a:sym typeface="Futura Bold"/>
              </a:rPr>
              <a:t>Expand audience for COE data </a:t>
            </a: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 more intentionally include WDBs, chambers of commerce, EDCs, and other industry organizations to create common language around labor market insights and aligning program development with data</a:t>
            </a:r>
          </a:p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Incorporate data and findings into other reports and products</a:t>
            </a:r>
            <a:r>
              <a:rPr lang="en-US" sz="2400" b="1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 ensure continuous alignment across sectors with different definitions and sources</a:t>
            </a:r>
          </a:p>
          <a:p>
            <a:pPr marL="561337" lvl="1" indent="-280669">
              <a:lnSpc>
                <a:spcPts val="3200"/>
              </a:lnSpc>
              <a:spcAft>
                <a:spcPts val="2000"/>
              </a:spcAft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2417705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B5EA5-5D9A-B39E-6707-3F576523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87600" y="915314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A5EDD-1F3F-96A3-C04D-C34535CA0514}"/>
              </a:ext>
            </a:extLst>
          </p:cNvPr>
          <p:cNvSpPr txBox="1"/>
          <p:nvPr/>
        </p:nvSpPr>
        <p:spPr>
          <a:xfrm>
            <a:off x="2514600" y="4558725"/>
            <a:ext cx="13258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latin typeface="Futura Bold" panose="020B0604020202020204" charset="0"/>
              </a:rPr>
              <a:t>PART 4. LIVE POLLING AND Q&amp;A</a:t>
            </a: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2F298EF6-A741-E245-026D-721768DDA374}"/>
              </a:ext>
            </a:extLst>
          </p:cNvPr>
          <p:cNvSpPr txBox="1"/>
          <p:nvPr/>
        </p:nvSpPr>
        <p:spPr>
          <a:xfrm>
            <a:off x="1028700" y="9224961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</p:spTree>
    <p:extLst>
      <p:ext uri="{BB962C8B-B14F-4D97-AF65-F5344CB8AC3E}">
        <p14:creationId xmlns:p14="http://schemas.microsoft.com/office/powerpoint/2010/main" val="3494456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7A051-E516-82F8-1402-4600FC3B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767981-5872-2D17-1347-E46789652999}"/>
              </a:ext>
            </a:extLst>
          </p:cNvPr>
          <p:cNvSpPr/>
          <p:nvPr/>
        </p:nvSpPr>
        <p:spPr>
          <a:xfrm>
            <a:off x="0" y="0"/>
            <a:ext cx="18288000" cy="2019300"/>
          </a:xfrm>
          <a:prstGeom prst="rect">
            <a:avLst/>
          </a:prstGeom>
          <a:solidFill>
            <a:srgbClr val="DEE1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895BC3F-B8F4-D9D7-DEAC-F5AFF4BF665C}"/>
              </a:ext>
            </a:extLst>
          </p:cNvPr>
          <p:cNvSpPr txBox="1"/>
          <p:nvPr/>
        </p:nvSpPr>
        <p:spPr>
          <a:xfrm>
            <a:off x="2127714" y="592368"/>
            <a:ext cx="13239160" cy="117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6499" b="1" spc="6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LIVE POLLING AND Q&amp;A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B85203-3B4E-6600-FCE7-804ECD7CE045}"/>
              </a:ext>
            </a:extLst>
          </p:cNvPr>
          <p:cNvSpPr txBox="1"/>
          <p:nvPr/>
        </p:nvSpPr>
        <p:spPr>
          <a:xfrm>
            <a:off x="1196806" y="6223774"/>
            <a:ext cx="16230600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Q5.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What is the </a:t>
            </a: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most significant challenge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 implementing these strategies in your region?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4411F1-764B-63B9-3036-F90D6A407BFE}"/>
              </a:ext>
            </a:extLst>
          </p:cNvPr>
          <p:cNvSpPr txBox="1"/>
          <p:nvPr/>
        </p:nvSpPr>
        <p:spPr>
          <a:xfrm>
            <a:off x="1028700" y="922496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2C87-EBAC-44FA-7E5E-3A500838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27271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Futura" panose="020B0604020202020204" charset="0"/>
              </a:rPr>
              <a:pPr/>
              <a:t>31</a:t>
            </a:fld>
            <a:endParaRPr lang="en-US" dirty="0">
              <a:latin typeface="Futura" panose="020B060402020202020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DF69F42-4D19-449B-5E0A-DB366E708E98}"/>
              </a:ext>
            </a:extLst>
          </p:cNvPr>
          <p:cNvSpPr txBox="1"/>
          <p:nvPr/>
        </p:nvSpPr>
        <p:spPr>
          <a:xfrm>
            <a:off x="2008466" y="7085679"/>
            <a:ext cx="18717934" cy="1461939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Student and jobseeker access and awareness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Foundational job readiness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Employer engagement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Curriculum alignment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Rapid skills change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Other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0E476F2-44CB-9811-896D-2136D2E2C761}"/>
              </a:ext>
            </a:extLst>
          </p:cNvPr>
          <p:cNvSpPr txBox="1"/>
          <p:nvPr/>
        </p:nvSpPr>
        <p:spPr>
          <a:xfrm>
            <a:off x="1196806" y="2710576"/>
            <a:ext cx="16230600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9"/>
              </a:lnSpc>
            </a:pP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Q4.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Which strategy do you think could have biggest</a:t>
            </a:r>
            <a:r>
              <a:rPr lang="en-US" sz="3000" dirty="0">
                <a:solidFill>
                  <a:srgbClr val="000000"/>
                </a:solidFill>
                <a:latin typeface="Futura Bold" panose="020B0604020202020204" charset="0"/>
                <a:ea typeface="Futura"/>
                <a:cs typeface="Futura"/>
                <a:sym typeface="Futura"/>
              </a:rPr>
              <a:t> potential impact 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your region?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28D4F15-610F-D415-7A9C-6E521CBE44B4}"/>
              </a:ext>
            </a:extLst>
          </p:cNvPr>
          <p:cNvSpPr txBox="1"/>
          <p:nvPr/>
        </p:nvSpPr>
        <p:spPr>
          <a:xfrm>
            <a:off x="2020871" y="3572481"/>
            <a:ext cx="14173200" cy="1892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Strengthen programs supporting pathways with clear career progression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Expand access to flexible, accessible training and workforce supports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Embed AI literacy and foundational job readiness skills into training programs</a:t>
            </a:r>
          </a:p>
          <a:p>
            <a:pPr marL="514350" indent="-514350">
              <a:lnSpc>
                <a:spcPts val="3769"/>
              </a:lnSpc>
              <a:buFont typeface="+mj-lt"/>
              <a:buAutoNum type="alphaUcPeriod"/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Strengthen employer advisory structures</a:t>
            </a:r>
          </a:p>
        </p:txBody>
      </p:sp>
    </p:spTree>
    <p:extLst>
      <p:ext uri="{BB962C8B-B14F-4D97-AF65-F5344CB8AC3E}">
        <p14:creationId xmlns:p14="http://schemas.microsoft.com/office/powerpoint/2010/main" val="1945918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1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4014165" y="-366703"/>
            <a:ext cx="3572552" cy="11006983"/>
            <a:chOff x="0" y="0"/>
            <a:chExt cx="2885440" cy="8890000"/>
          </a:xfrm>
        </p:grpSpPr>
        <p:sp>
          <p:nvSpPr>
            <p:cNvPr id="3" name="Freeform 3"/>
            <p:cNvSpPr/>
            <p:nvPr/>
          </p:nvSpPr>
          <p:spPr>
            <a:xfrm>
              <a:off x="304800" y="283210"/>
              <a:ext cx="2274570" cy="2590800"/>
            </a:xfrm>
            <a:custGeom>
              <a:avLst/>
              <a:gdLst/>
              <a:ahLst/>
              <a:cxnLst/>
              <a:rect l="l" t="t" r="r" b="b"/>
              <a:pathLst>
                <a:path w="2274570" h="2590800">
                  <a:moveTo>
                    <a:pt x="0" y="0"/>
                  </a:moveTo>
                  <a:lnTo>
                    <a:pt x="2274570" y="0"/>
                  </a:lnTo>
                  <a:lnTo>
                    <a:pt x="2274570" y="2590800"/>
                  </a:lnTo>
                  <a:lnTo>
                    <a:pt x="0" y="2590800"/>
                  </a:lnTo>
                  <a:close/>
                </a:path>
              </a:pathLst>
            </a:custGeom>
            <a:blipFill>
              <a:blip r:embed="rId3"/>
              <a:stretch>
                <a:fillRect l="-15096" r="-86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04800" y="3149600"/>
              <a:ext cx="2274570" cy="2590800"/>
            </a:xfrm>
            <a:custGeom>
              <a:avLst/>
              <a:gdLst/>
              <a:ahLst/>
              <a:cxnLst/>
              <a:rect l="l" t="t" r="r" b="b"/>
              <a:pathLst>
                <a:path w="2274570" h="2590800">
                  <a:moveTo>
                    <a:pt x="0" y="0"/>
                  </a:moveTo>
                  <a:lnTo>
                    <a:pt x="2274570" y="0"/>
                  </a:lnTo>
                  <a:lnTo>
                    <a:pt x="2274570" y="2590800"/>
                  </a:lnTo>
                  <a:lnTo>
                    <a:pt x="0" y="2590800"/>
                  </a:lnTo>
                  <a:close/>
                </a:path>
              </a:pathLst>
            </a:custGeom>
            <a:blipFill>
              <a:blip r:embed="rId4"/>
              <a:stretch>
                <a:fillRect l="-35641" r="-356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304800" y="6015990"/>
              <a:ext cx="2274570" cy="2590800"/>
            </a:xfrm>
            <a:custGeom>
              <a:avLst/>
              <a:gdLst/>
              <a:ahLst/>
              <a:cxnLst/>
              <a:rect l="l" t="t" r="r" b="b"/>
              <a:pathLst>
                <a:path w="2274570" h="2590800">
                  <a:moveTo>
                    <a:pt x="0" y="0"/>
                  </a:moveTo>
                  <a:lnTo>
                    <a:pt x="2274570" y="0"/>
                  </a:lnTo>
                  <a:lnTo>
                    <a:pt x="2274570" y="2590800"/>
                  </a:lnTo>
                  <a:lnTo>
                    <a:pt x="0" y="2590800"/>
                  </a:lnTo>
                  <a:close/>
                </a:path>
              </a:pathLst>
            </a:custGeom>
            <a:blipFill>
              <a:blip r:embed="rId5"/>
              <a:stretch>
                <a:fillRect l="-15324" r="-55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700" y="11430"/>
              <a:ext cx="2860040" cy="8865870"/>
            </a:xfrm>
            <a:custGeom>
              <a:avLst/>
              <a:gdLst/>
              <a:ahLst/>
              <a:cxnLst/>
              <a:rect l="l" t="t" r="r" b="b"/>
              <a:pathLst>
                <a:path w="2860040" h="8865870">
                  <a:moveTo>
                    <a:pt x="0" y="0"/>
                  </a:moveTo>
                  <a:lnTo>
                    <a:pt x="0" y="8865870"/>
                  </a:lnTo>
                  <a:lnTo>
                    <a:pt x="2860040" y="8865870"/>
                  </a:lnTo>
                  <a:lnTo>
                    <a:pt x="2860040" y="0"/>
                  </a:lnTo>
                  <a:lnTo>
                    <a:pt x="0" y="0"/>
                  </a:lnTo>
                  <a:close/>
                  <a:moveTo>
                    <a:pt x="2578100" y="8597900"/>
                  </a:moveTo>
                  <a:lnTo>
                    <a:pt x="280670" y="8597900"/>
                  </a:lnTo>
                  <a:lnTo>
                    <a:pt x="280670" y="6000750"/>
                  </a:lnTo>
                  <a:lnTo>
                    <a:pt x="2578100" y="6000750"/>
                  </a:lnTo>
                  <a:lnTo>
                    <a:pt x="2578100" y="8597900"/>
                  </a:lnTo>
                  <a:close/>
                  <a:moveTo>
                    <a:pt x="2578100" y="5732780"/>
                  </a:moveTo>
                  <a:lnTo>
                    <a:pt x="280670" y="5732780"/>
                  </a:lnTo>
                  <a:lnTo>
                    <a:pt x="280670" y="3134360"/>
                  </a:lnTo>
                  <a:lnTo>
                    <a:pt x="2578100" y="3134360"/>
                  </a:lnTo>
                  <a:lnTo>
                    <a:pt x="2578100" y="5732780"/>
                  </a:lnTo>
                  <a:close/>
                  <a:moveTo>
                    <a:pt x="280670" y="2866390"/>
                  </a:moveTo>
                  <a:lnTo>
                    <a:pt x="280670" y="269240"/>
                  </a:lnTo>
                  <a:lnTo>
                    <a:pt x="2578100" y="269240"/>
                  </a:lnTo>
                  <a:lnTo>
                    <a:pt x="2578100" y="2866390"/>
                  </a:lnTo>
                  <a:lnTo>
                    <a:pt x="280670" y="2866390"/>
                  </a:lnTo>
                  <a:close/>
                </a:path>
              </a:pathLst>
            </a:custGeom>
            <a:solidFill>
              <a:srgbClr val="DEE1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81940" y="26797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0" y="0"/>
                  </a:moveTo>
                  <a:lnTo>
                    <a:pt x="0" y="2621280"/>
                  </a:lnTo>
                  <a:lnTo>
                    <a:pt x="2321560" y="2621280"/>
                  </a:lnTo>
                  <a:lnTo>
                    <a:pt x="2321560" y="0"/>
                  </a:lnTo>
                  <a:lnTo>
                    <a:pt x="0" y="0"/>
                  </a:lnTo>
                  <a:close/>
                  <a:moveTo>
                    <a:pt x="2297430" y="2598420"/>
                  </a:moveTo>
                  <a:lnTo>
                    <a:pt x="24130" y="2598420"/>
                  </a:lnTo>
                  <a:lnTo>
                    <a:pt x="24130" y="24130"/>
                  </a:lnTo>
                  <a:lnTo>
                    <a:pt x="2297430" y="24130"/>
                  </a:lnTo>
                  <a:lnTo>
                    <a:pt x="2297430" y="2598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81940" y="313436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0" y="2621280"/>
                  </a:moveTo>
                  <a:lnTo>
                    <a:pt x="2321560" y="2621280"/>
                  </a:lnTo>
                  <a:lnTo>
                    <a:pt x="2321560" y="0"/>
                  </a:lnTo>
                  <a:lnTo>
                    <a:pt x="0" y="0"/>
                  </a:lnTo>
                  <a:lnTo>
                    <a:pt x="0" y="2621280"/>
                  </a:lnTo>
                  <a:close/>
                  <a:moveTo>
                    <a:pt x="24130" y="24130"/>
                  </a:moveTo>
                  <a:lnTo>
                    <a:pt x="2297430" y="24130"/>
                  </a:lnTo>
                  <a:lnTo>
                    <a:pt x="2297430" y="2598420"/>
                  </a:lnTo>
                  <a:lnTo>
                    <a:pt x="24130" y="2598420"/>
                  </a:lnTo>
                  <a:lnTo>
                    <a:pt x="24130" y="24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81940" y="6000750"/>
              <a:ext cx="2321560" cy="2620010"/>
            </a:xfrm>
            <a:custGeom>
              <a:avLst/>
              <a:gdLst/>
              <a:ahLst/>
              <a:cxnLst/>
              <a:rect l="l" t="t" r="r" b="b"/>
              <a:pathLst>
                <a:path w="2321560" h="2620010">
                  <a:moveTo>
                    <a:pt x="0" y="2620010"/>
                  </a:moveTo>
                  <a:lnTo>
                    <a:pt x="2321560" y="2620010"/>
                  </a:lnTo>
                  <a:lnTo>
                    <a:pt x="2321560" y="0"/>
                  </a:lnTo>
                  <a:lnTo>
                    <a:pt x="0" y="0"/>
                  </a:lnTo>
                  <a:lnTo>
                    <a:pt x="0" y="2620010"/>
                  </a:lnTo>
                  <a:close/>
                  <a:moveTo>
                    <a:pt x="24130" y="22860"/>
                  </a:moveTo>
                  <a:lnTo>
                    <a:pt x="2297430" y="22860"/>
                  </a:lnTo>
                  <a:lnTo>
                    <a:pt x="2297430" y="2597150"/>
                  </a:lnTo>
                  <a:lnTo>
                    <a:pt x="24130" y="2597150"/>
                  </a:lnTo>
                  <a:lnTo>
                    <a:pt x="24130" y="22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81940" y="26797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2297430" y="24130"/>
                  </a:moveTo>
                  <a:lnTo>
                    <a:pt x="2297430" y="2598420"/>
                  </a:lnTo>
                  <a:lnTo>
                    <a:pt x="24130" y="2598420"/>
                  </a:lnTo>
                  <a:lnTo>
                    <a:pt x="0" y="2621280"/>
                  </a:lnTo>
                  <a:lnTo>
                    <a:pt x="2321560" y="2621280"/>
                  </a:lnTo>
                  <a:lnTo>
                    <a:pt x="2321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81940" y="26797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24130" y="24130"/>
                  </a:moveTo>
                  <a:lnTo>
                    <a:pt x="2297430" y="24130"/>
                  </a:lnTo>
                  <a:lnTo>
                    <a:pt x="2321560" y="0"/>
                  </a:lnTo>
                  <a:lnTo>
                    <a:pt x="0" y="0"/>
                  </a:lnTo>
                  <a:lnTo>
                    <a:pt x="0" y="2621280"/>
                  </a:lnTo>
                  <a:lnTo>
                    <a:pt x="24130" y="2598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81940" y="313436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2297430" y="2597150"/>
                  </a:moveTo>
                  <a:lnTo>
                    <a:pt x="24130" y="2597150"/>
                  </a:lnTo>
                  <a:lnTo>
                    <a:pt x="0" y="2621280"/>
                  </a:lnTo>
                  <a:lnTo>
                    <a:pt x="2321560" y="2621280"/>
                  </a:lnTo>
                  <a:lnTo>
                    <a:pt x="2321560" y="0"/>
                  </a:lnTo>
                  <a:lnTo>
                    <a:pt x="2297430" y="24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1940" y="3134360"/>
              <a:ext cx="2321560" cy="2621280"/>
            </a:xfrm>
            <a:custGeom>
              <a:avLst/>
              <a:gdLst/>
              <a:ahLst/>
              <a:cxnLst/>
              <a:rect l="l" t="t" r="r" b="b"/>
              <a:pathLst>
                <a:path w="2321560" h="2621280">
                  <a:moveTo>
                    <a:pt x="0" y="2621280"/>
                  </a:moveTo>
                  <a:lnTo>
                    <a:pt x="24130" y="2597150"/>
                  </a:lnTo>
                  <a:lnTo>
                    <a:pt x="24130" y="24130"/>
                  </a:lnTo>
                  <a:lnTo>
                    <a:pt x="2297430" y="24130"/>
                  </a:lnTo>
                  <a:lnTo>
                    <a:pt x="23215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81940" y="6000750"/>
              <a:ext cx="2321560" cy="2620010"/>
            </a:xfrm>
            <a:custGeom>
              <a:avLst/>
              <a:gdLst/>
              <a:ahLst/>
              <a:cxnLst/>
              <a:rect l="l" t="t" r="r" b="b"/>
              <a:pathLst>
                <a:path w="2321560" h="2620010">
                  <a:moveTo>
                    <a:pt x="2297430" y="2597150"/>
                  </a:moveTo>
                  <a:lnTo>
                    <a:pt x="24130" y="2597150"/>
                  </a:lnTo>
                  <a:lnTo>
                    <a:pt x="0" y="2620010"/>
                  </a:lnTo>
                  <a:lnTo>
                    <a:pt x="2321560" y="2620010"/>
                  </a:lnTo>
                  <a:lnTo>
                    <a:pt x="2321560" y="0"/>
                  </a:lnTo>
                  <a:lnTo>
                    <a:pt x="2297430" y="22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81940" y="6000750"/>
              <a:ext cx="2321560" cy="2620010"/>
            </a:xfrm>
            <a:custGeom>
              <a:avLst/>
              <a:gdLst/>
              <a:ahLst/>
              <a:cxnLst/>
              <a:rect l="l" t="t" r="r" b="b"/>
              <a:pathLst>
                <a:path w="2321560" h="2620010">
                  <a:moveTo>
                    <a:pt x="0" y="2620010"/>
                  </a:moveTo>
                  <a:lnTo>
                    <a:pt x="24130" y="2597150"/>
                  </a:lnTo>
                  <a:lnTo>
                    <a:pt x="24130" y="22860"/>
                  </a:lnTo>
                  <a:lnTo>
                    <a:pt x="2297430" y="22860"/>
                  </a:lnTo>
                  <a:lnTo>
                    <a:pt x="23215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2885440" cy="8890000"/>
            </a:xfrm>
            <a:custGeom>
              <a:avLst/>
              <a:gdLst/>
              <a:ahLst/>
              <a:cxnLst/>
              <a:rect l="l" t="t" r="r" b="b"/>
              <a:pathLst>
                <a:path w="2885440" h="8890000">
                  <a:moveTo>
                    <a:pt x="2860040" y="24130"/>
                  </a:moveTo>
                  <a:lnTo>
                    <a:pt x="2860040" y="8865870"/>
                  </a:lnTo>
                  <a:lnTo>
                    <a:pt x="25400" y="8865870"/>
                  </a:lnTo>
                  <a:lnTo>
                    <a:pt x="0" y="8890000"/>
                  </a:lnTo>
                  <a:lnTo>
                    <a:pt x="2885440" y="8890000"/>
                  </a:lnTo>
                  <a:lnTo>
                    <a:pt x="2885440" y="0"/>
                  </a:lnTo>
                  <a:close/>
                </a:path>
              </a:pathLst>
            </a:custGeom>
            <a:solidFill>
              <a:srgbClr val="DEE1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2885440" cy="8890000"/>
            </a:xfrm>
            <a:custGeom>
              <a:avLst/>
              <a:gdLst/>
              <a:ahLst/>
              <a:cxnLst/>
              <a:rect l="l" t="t" r="r" b="b"/>
              <a:pathLst>
                <a:path w="2885440" h="8890000">
                  <a:moveTo>
                    <a:pt x="25400" y="24130"/>
                  </a:moveTo>
                  <a:lnTo>
                    <a:pt x="2860040" y="24130"/>
                  </a:lnTo>
                  <a:lnTo>
                    <a:pt x="2885440" y="0"/>
                  </a:lnTo>
                  <a:lnTo>
                    <a:pt x="0" y="0"/>
                  </a:lnTo>
                  <a:lnTo>
                    <a:pt x="0" y="8890000"/>
                  </a:lnTo>
                  <a:lnTo>
                    <a:pt x="25400" y="8865870"/>
                  </a:lnTo>
                  <a:close/>
                </a:path>
              </a:pathLst>
            </a:custGeom>
            <a:solidFill>
              <a:srgbClr val="DEE1C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01981" y="8576218"/>
            <a:ext cx="2549069" cy="764721"/>
          </a:xfrm>
          <a:custGeom>
            <a:avLst/>
            <a:gdLst/>
            <a:ahLst/>
            <a:cxnLst/>
            <a:rect l="l" t="t" r="r" b="b"/>
            <a:pathLst>
              <a:path w="2549069" h="764721">
                <a:moveTo>
                  <a:pt x="0" y="0"/>
                </a:moveTo>
                <a:lnTo>
                  <a:pt x="2549068" y="0"/>
                </a:lnTo>
                <a:lnTo>
                  <a:pt x="2549068" y="764721"/>
                </a:lnTo>
                <a:lnTo>
                  <a:pt x="0" y="764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56424" y="8446380"/>
            <a:ext cx="1883750" cy="1024396"/>
          </a:xfrm>
          <a:custGeom>
            <a:avLst/>
            <a:gdLst/>
            <a:ahLst/>
            <a:cxnLst/>
            <a:rect l="l" t="t" r="r" b="b"/>
            <a:pathLst>
              <a:path w="1883750" h="1024396">
                <a:moveTo>
                  <a:pt x="0" y="0"/>
                </a:moveTo>
                <a:lnTo>
                  <a:pt x="1883750" y="0"/>
                </a:lnTo>
                <a:lnTo>
                  <a:pt x="1883750" y="1024396"/>
                </a:lnTo>
                <a:lnTo>
                  <a:pt x="0" y="1024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4226532"/>
            <a:ext cx="10518193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9"/>
              </a:lnSpc>
            </a:pPr>
            <a:r>
              <a:rPr lang="en-US" sz="89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THANK YOU.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60550" y="8549492"/>
            <a:ext cx="4150962" cy="81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lang="en-US" sz="15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Contact Jacob Poore:</a:t>
            </a:r>
          </a:p>
          <a:p>
            <a:pPr algn="l">
              <a:lnSpc>
                <a:spcPts val="2000"/>
              </a:lnSpc>
            </a:pPr>
            <a:r>
              <a:rPr lang="en-US" sz="15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jacob.poore@canyons.edu</a:t>
            </a:r>
          </a:p>
          <a:p>
            <a:pPr algn="l">
              <a:lnSpc>
                <a:spcPts val="2000"/>
              </a:lnSpc>
            </a:pPr>
            <a:r>
              <a:rPr lang="en-US" sz="15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  <a:hlinkClick r:id="rId8"/>
              </a:rPr>
              <a:t>www.coeccc.net/region/south-central-coast/</a:t>
            </a:r>
            <a:endParaRPr lang="en-US" sz="15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139132" y="8549492"/>
            <a:ext cx="2500667" cy="818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  <a:spcAft>
                <a:spcPts val="600"/>
              </a:spcAft>
            </a:pPr>
            <a:r>
              <a:rPr lang="en-US" sz="1599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Contact Josh Williams:</a:t>
            </a:r>
          </a:p>
          <a:p>
            <a:pPr algn="l">
              <a:lnSpc>
                <a:spcPts val="2000"/>
              </a:lnSpc>
            </a:pPr>
            <a:r>
              <a:rPr lang="en-US" sz="15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jwilliams@bwresearch.com</a:t>
            </a:r>
          </a:p>
          <a:p>
            <a:pPr algn="l">
              <a:lnSpc>
                <a:spcPts val="2000"/>
              </a:lnSpc>
            </a:pPr>
            <a:r>
              <a:rPr lang="en-US" sz="15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  <a:hlinkClick r:id="rId9"/>
              </a:rPr>
              <a:t>www.bwresearch.com</a:t>
            </a:r>
            <a:endParaRPr lang="en-US" sz="15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028700" y="1028700"/>
            <a:ext cx="1711474" cy="666087"/>
          </a:xfrm>
          <a:custGeom>
            <a:avLst/>
            <a:gdLst/>
            <a:ahLst/>
            <a:cxnLst/>
            <a:rect l="l" t="t" r="r" b="b"/>
            <a:pathLst>
              <a:path w="1711474" h="666087">
                <a:moveTo>
                  <a:pt x="0" y="0"/>
                </a:moveTo>
                <a:lnTo>
                  <a:pt x="1711474" y="0"/>
                </a:lnTo>
                <a:lnTo>
                  <a:pt x="1711474" y="666087"/>
                </a:lnTo>
                <a:lnTo>
                  <a:pt x="0" y="6660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895746044"/>
              </p:ext>
            </p:extLst>
          </p:nvPr>
        </p:nvGraphicFramePr>
        <p:xfrm>
          <a:off x="1100306" y="2117944"/>
          <a:ext cx="15293975" cy="668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366780" imgH="5752923" progId="Excel.Sheet.12">
                  <p:embed/>
                </p:oleObj>
              </mc:Choice>
              <mc:Fallback>
                <p:oleObj name="Worksheet" r:id="rId2" imgW="13366780" imgH="5752923" progId="Excel.Sheet.12">
                  <p:embed/>
                  <p:pic>
                    <p:nvPicPr>
                      <p:cNvPr id="5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0306" y="2117944"/>
                        <a:ext cx="15293975" cy="6681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100306" y="782208"/>
            <a:ext cx="14668500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6000" b="1" spc="54" dirty="0">
                <a:solidFill>
                  <a:srgbClr val="2E6878"/>
                </a:solidFill>
                <a:latin typeface="Futura Bold"/>
                <a:ea typeface="Futura Bold"/>
                <a:cs typeface="Futura Bold"/>
                <a:sym typeface="Futura Bold"/>
              </a:rPr>
              <a:t>APPENDIX: </a:t>
            </a:r>
            <a:r>
              <a:rPr lang="en-US" sz="6000" b="1" spc="54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PRIORITY SECTOR SNAPSHOT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224962"/>
            <a:ext cx="7718594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Cross-Sectoral Skills across Emerging and Evolving Industries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6918BE-FF96-8252-C182-544F4DAA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859000" y="91490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4.7921"/>
  <p:tag name="SLIDO_PRESENTATION_ID" val="c4ddc77f-6a75-43f0-9095-db695f81805e"/>
  <p:tag name="SLIDO_EVENT_UUID" val="6d8a17f3-16b4-4dc2-befb-e9d3e3a4a9b5"/>
  <p:tag name="SLIDO_EVENT_SECTION_UUID" val="9be32e24-1219-45cd-aaba-99ee63215cc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C-COE-2">
  <a:themeElements>
    <a:clrScheme name="SCC Colors">
      <a:dk1>
        <a:srgbClr val="000000"/>
      </a:dk1>
      <a:lt1>
        <a:srgbClr val="FFFFFF"/>
      </a:lt1>
      <a:dk2>
        <a:srgbClr val="2E4858"/>
      </a:dk2>
      <a:lt2>
        <a:srgbClr val="EBEBEB"/>
      </a:lt2>
      <a:accent1>
        <a:srgbClr val="BED62F"/>
      </a:accent1>
      <a:accent2>
        <a:srgbClr val="008A85"/>
      </a:accent2>
      <a:accent3>
        <a:srgbClr val="F79315"/>
      </a:accent3>
      <a:accent4>
        <a:srgbClr val="126877"/>
      </a:accent4>
      <a:accent5>
        <a:srgbClr val="F1614E"/>
      </a:accent5>
      <a:accent6>
        <a:srgbClr val="2FAA7D"/>
      </a:accent6>
      <a:hlink>
        <a:srgbClr val="008A85"/>
      </a:hlink>
      <a:folHlink>
        <a:srgbClr val="2FAA7D"/>
      </a:folHlink>
    </a:clrScheme>
    <a:fontScheme name="SCC Fonts">
      <a:majorFont>
        <a:latin typeface="Crimson Tex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rtlCol="0">
        <a:spAutoFit/>
      </a:bodyPr>
      <a:lstStyle>
        <a:defPPr marL="171450" indent="-171450" algn="l">
          <a:lnSpc>
            <a:spcPct val="90000"/>
          </a:lnSpc>
          <a:spcBef>
            <a:spcPts val="600"/>
          </a:spcBef>
          <a:buClr>
            <a:schemeClr val="tx2"/>
          </a:buClr>
          <a:buFont typeface="Montserrat" pitchFamily="2" charset="0"/>
          <a:buChar char="∙"/>
          <a:defRPr dirty="0" smtClean="0"/>
        </a:defPPr>
      </a:lstStyle>
    </a:txDef>
  </a:objectDefaults>
  <a:extraClrSchemeLst/>
  <a:custClrLst>
    <a:custClr name="Adv Trans Log">
      <a:srgbClr val="FCB324"/>
    </a:custClr>
    <a:custClr name="Ag Wet">
      <a:srgbClr val="81C465"/>
    </a:custClr>
    <a:custClr name="ECU">
      <a:srgbClr val="FFED52"/>
    </a:custClr>
    <a:custClr name="Edu HD">
      <a:srgbClr val="8A8CA2"/>
    </a:custClr>
    <a:custClr name="Health">
      <a:srgbClr val="8250A0"/>
    </a:custClr>
    <a:custClr name="ICT">
      <a:srgbClr val="AED8E3"/>
    </a:custClr>
    <a:custClr name="Public Safety">
      <a:srgbClr val="8B284B"/>
    </a:custClr>
    <a:custClr name="RHT">
      <a:srgbClr val="CA75AF"/>
    </a:custClr>
    <a:custClr name="Lt Med Gray">
      <a:srgbClr val="D3D4D3"/>
    </a:custClr>
    <a:custClr name="Darker Lime">
      <a:srgbClr val="A3BA29"/>
    </a:custClr>
    <a:custClr name="Ocean Blue">
      <a:srgbClr val="0095A9"/>
    </a:custClr>
    <a:custClr name="Pastel Lime">
      <a:srgbClr val="FBFCF0"/>
    </a:custClr>
    <a:custClr name="Pastel Blue">
      <a:srgbClr val="F1F9FE"/>
    </a:custClr>
    <a:custClr name="COE Charcoal">
      <a:srgbClr val="48484B"/>
    </a:custClr>
    <a:custClr name="Lt Med Gray">
      <a:srgbClr val="6F7070"/>
    </a:custClr>
  </a:custClrLst>
  <a:extLst>
    <a:ext uri="{05A4C25C-085E-4340-85A3-A5531E510DB2}">
      <thm15:themeFamily xmlns:thm15="http://schemas.microsoft.com/office/thememl/2012/main" name="SCC-COE-Template-09-11" id="{A86F0329-9B9E-4220-B7FA-697A821F45CC}" vid="{9D06BAC8-2335-4E6C-8676-8BA2E3EA99B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2205</Words>
  <Application>Microsoft Office PowerPoint</Application>
  <PresentationFormat>Custom</PresentationFormat>
  <Paragraphs>367</Paragraphs>
  <Slides>33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Futura Light</vt:lpstr>
      <vt:lpstr>Montserrat</vt:lpstr>
      <vt:lpstr>Futura Bold</vt:lpstr>
      <vt:lpstr>Montserrat Bold</vt:lpstr>
      <vt:lpstr>Calibri</vt:lpstr>
      <vt:lpstr>Crimson Text</vt:lpstr>
      <vt:lpstr>Arial</vt:lpstr>
      <vt:lpstr>Futura</vt:lpstr>
      <vt:lpstr>Aptos</vt:lpstr>
      <vt:lpstr>Office Theme</vt:lpstr>
      <vt:lpstr>SCC-COE-2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aspire to  be the leading source of workforce information and insight for California’s community colleges.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Development in Priority Sectors</dc:title>
  <dc:creator>Poore, Jacob</dc:creator>
  <cp:lastModifiedBy>Lori Baca</cp:lastModifiedBy>
  <cp:revision>28</cp:revision>
  <dcterms:created xsi:type="dcterms:W3CDTF">2006-08-16T00:00:00Z</dcterms:created>
  <dcterms:modified xsi:type="dcterms:W3CDTF">2026-09-03T18:56:09Z</dcterms:modified>
  <dc:identifier>DAHTKnHrWOo</dc:identifier>
</cp:coreProperties>
</file>