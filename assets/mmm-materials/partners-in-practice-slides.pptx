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2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5BEBAK1QWIm54JNlwyxACBhD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9C24C0-8368-457E-8275-846C7CFA8D08}">
  <a:tblStyle styleId="{819C24C0-8368-457E-8275-846C7CFA8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4" name="Google Shape;714;p3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121B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C0D13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7C0D13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 descr="/home/claude/work/assets/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640080" y="171907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MEETING OF THE MINDS CONFERENCE  ·  SEPTEMBER 10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2377440"/>
            <a:ext cx="108813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Partners in Practice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Education and Employer Pipelines That Actually Work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475488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493776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Belin Khamerku &amp; Ren Floyd-Rodriguez  ·  OEWD Workforce Development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Betty Espinoza &amp; Lilli Milton  ·  Homeless Prenatal Program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Dorit Leavitt  ·  JVS Bay Area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SESSION ROADMAP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What Makes a Partnership Durable?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2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80160" y="167335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OEWD &amp; the Healthcare Academy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2226564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22265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280160" y="2208276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 Framework for Partnership: 8 Dimensions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761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280160" y="2743200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3296412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2964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280160" y="2759315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Case Study: Homeless Prenatal Program × City College of San Francisco (CCSF)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3831336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3831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80160" y="3294239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Case Study: JVS × University of California, San Francisco (UCSF)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4366260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43662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80160" y="3829163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Cross-Case Comparison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4901184"/>
            <a:ext cx="384048" cy="38404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80160" y="4364087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Panel Discussion &amp; Open Q&amp;A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" y="54361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80160" y="4899011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Interactive Activity: Map Your Own Partnerships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2960" y="1600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9000"/>
              <a:buFont typeface="Arial"/>
              <a:buNone/>
            </a:pPr>
            <a:r>
              <a:rPr lang="en-US" sz="90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2296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Convener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2960" y="4434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5F2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OEWD's role as investor, convener, and accountability partner across San Francisco's workforce sector networks.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THE CONVENER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OEWD: Investor, Convener,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and Accountability Partner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4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The City and County of San Francisco's Office of Economic and Workforce Development (OEWD) administers the city's Local Workforce Development Board under WIOA.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OEWD funds and coordinates sector-based training networks, including the Healthcare Academy, that connect residents to career pathways.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Across these portfolios, OEWD plays three roles at once: it invests public dollars, convenes providers and employers around shared goals, and holds grantees accountable for performance.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THE CONVENER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Three Roles, One Portfolio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5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640080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41248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Investor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41248" y="2880360"/>
            <a:ext cx="3051962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Funds grantee Occupational Skills Training (OST) contracts.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368698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69866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Convener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69866" y="2880360"/>
            <a:ext cx="3051962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Builds sector networks &amp; referrals across providers and employers.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097317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097317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98485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Accountability Partner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98485" y="2880360"/>
            <a:ext cx="3051962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Tracks performance and sets benchmarks for every funded grantee.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THE NETWORK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The Healthcare Academy: A Portfolio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of Grantees, One Sector Strategy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6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OEWD's Healthcare Academy funds Occupational Skills Training (OST) providers preparing San Franciscans for entry- and mid-skill healthcare careers.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JVS has served as the Healthcare Academy's Subject Matter Expert (SME) since 2010, aligning employer demand across the provider network.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Providers in this session's case studies, HPP and JVS, are both funded through the Healthcare Academy. </a:t>
            </a: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THE NETWORK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Healthcare Academy, By the Numbers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7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640080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77240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5,700+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68680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participants enrolled in Healthcare Academy programs since 2010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281928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19088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~90%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510528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overall placement rate across the Healthcare Academy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0080" y="43891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4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OEWD budgets approximately $2 million per year for the Healthcare Academy.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" y="1600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9000"/>
              <a:buFont typeface="Arial"/>
              <a:buNone/>
            </a:pPr>
            <a:r>
              <a:rPr lang="en-US" sz="90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2296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Lens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22960" y="4434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5F2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Eight dimensions that separate a true pipeline from a referral list.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OUR LENS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Eight Dimensions of Partnership Depth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(1 of 2)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9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/>
          <p:nvPr/>
        </p:nvSpPr>
        <p:spPr>
          <a:xfrm>
            <a:off x="640080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40080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41248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Cost-sharing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41248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Partner contributes nothing  →  Partner covers tuition / major costs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436544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436544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37712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637712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637712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Curriculum control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637712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 partner input  →  Partner delivers training directly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33008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233008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34176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34176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434176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Staffing / instruction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34176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 shared staff  →  Partner staff are core instructors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9029471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9029471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9230639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230639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230639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Hiring commitment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9230639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 connection to hiring  →  Guaranteed placement / internship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OUR LENS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Eight Dimensions of Partnership Depth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(2 of 2)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0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640080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0080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41248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Data-sharing &amp; outcomes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41248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 data shared  →  Joint dashboard, shared accountability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436544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436544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637712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637712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637712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Duration / sustainability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637712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Single cohort, no renewal  →  Standing relationship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233008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233008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434176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434176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434176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Governance structure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34176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Informal, relationship-dependent  →  Formal MOU / advisory body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029471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029471" y="1828800"/>
            <a:ext cx="2522144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9230639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230639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230639" y="2505456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Wraparound support &amp; access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230639" y="3374136"/>
            <a:ext cx="2119808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 support beyond curriculum  →  Full support removing barriers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6BA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5A4577">
              <a:alpha val="6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5A4577">
              <a:alpha val="6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22960" y="137160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22960" y="137160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HPP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22960" y="3108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22960" y="34747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Homeless Prenatal Program (HPP)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Community Health Worker Apprenticeship × City College of San Francisco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1" title="HPP-Logo_Symbol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75" y="0"/>
            <a:ext cx="2538477" cy="251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Community Health Worker (CHW)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Apprenticeship Program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2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2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Founded 1989; serves 3,500+ low-income and homeless SF families annually across housing, health, and economic-stability programs.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CHW training </a:t>
            </a:r>
            <a:r>
              <a:rPr lang="en-US" sz="1800">
                <a:solidFill>
                  <a:srgbClr val="2E2925"/>
                </a:solidFill>
              </a:rPr>
              <a:t>began in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 1995; formally registered as a State &amp; Federal Apprenticeship in 2019.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Two connected pathways: a 250-hour Pre-Apprenticeship, and a 16-month, 2,200-hour paid Apprenticeship with progressive wage increases.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More than half of HPP's 125+ staff </a:t>
            </a:r>
            <a:r>
              <a:rPr lang="en-US" sz="1800">
                <a:solidFill>
                  <a:srgbClr val="2E2925"/>
                </a:solidFill>
              </a:rPr>
              <a:t>have community lived experience 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or are CHW program graduates; 29 are currently on staff, 9 in leadership.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CHW Apprenticeship, By the Numbers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3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/>
          <p:nvPr/>
        </p:nvSpPr>
        <p:spPr>
          <a:xfrm>
            <a:off x="640080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777240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221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868680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participants since program launch (1995)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281928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419088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510528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of graduates employed within 30 days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40080" y="43891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6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81% graduation rate · starting wage $30.33/hr with 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Two Pathways, One Ladder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4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/>
          <p:nvPr/>
        </p:nvSpPr>
        <p:spPr>
          <a:xfrm>
            <a:off x="640080" y="1828800"/>
            <a:ext cx="5318608" cy="4498848"/>
          </a:xfrm>
          <a:prstGeom prst="roundRect">
            <a:avLst>
              <a:gd name="adj" fmla="val 813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640080" y="1828800"/>
            <a:ext cx="5318608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841248" y="2011680"/>
            <a:ext cx="49162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Pre-Apprenticeship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841248" y="2880360"/>
            <a:ext cx="4916272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250 hours · CCSF HLTH 5900 (Prep for CHW Field) · job readiness, digital literacy, career planning · delivered in English &amp; Spanish.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233008" y="1828800"/>
            <a:ext cx="5318608" cy="4498848"/>
          </a:xfrm>
          <a:prstGeom prst="roundRect">
            <a:avLst>
              <a:gd name="adj" fmla="val 813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233008" y="1828800"/>
            <a:ext cx="5318608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434176" y="2011680"/>
            <a:ext cx="49162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Apprenticeship (16 months)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434176" y="2880360"/>
            <a:ext cx="4916272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2,200 hours, 4 phases · CCSF CHW Certificate coursework · paid employment with HPP &amp; partner sites · wages rise each phase.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Wage Progression Across the Apprenticeship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5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/>
          <p:nvPr/>
        </p:nvSpPr>
        <p:spPr>
          <a:xfrm>
            <a:off x="640080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841248" y="2011680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$2</a:t>
            </a:r>
            <a:r>
              <a:rPr lang="en-US" sz="2400" b="1">
                <a:solidFill>
                  <a:srgbClr val="2E2925"/>
                </a:solidFill>
              </a:rPr>
              <a:t>4.15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841248" y="2880360"/>
            <a:ext cx="2119808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Pre-Apprentice</a:t>
            </a:r>
            <a:endParaRPr sz="15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</a:rPr>
              <a:t>On-Boarding</a:t>
            </a:r>
            <a:endParaRPr sz="16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</a:rPr>
              <a:t>1st month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Onboarding; Basic Job Readiness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Professionalism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Time Management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Email and Google Calendar </a:t>
            </a:r>
            <a:endParaRPr sz="1500">
              <a:solidFill>
                <a:srgbClr val="2E2925"/>
              </a:solidFill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3436544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436544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637712" y="2011680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2400" b="1">
                <a:solidFill>
                  <a:srgbClr val="2E2925"/>
                </a:solidFill>
              </a:rPr>
              <a:t>24.63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637699" y="2880350"/>
            <a:ext cx="2290500" cy="3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 I</a:t>
            </a:r>
            <a:endParaRPr sz="15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</a:rPr>
              <a:t>Basic Skills </a:t>
            </a:r>
            <a:endParaRPr sz="16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</a:rPr>
              <a:t>February-June</a:t>
            </a:r>
            <a:endParaRPr sz="1500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Basic training </a:t>
            </a:r>
            <a:endParaRPr sz="1500">
              <a:solidFill>
                <a:srgbClr val="2E2925"/>
              </a:solidFill>
            </a:endParaRPr>
          </a:p>
          <a:p>
            <a:pPr marL="914400" lvl="1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○"/>
            </a:pPr>
            <a:r>
              <a:rPr lang="en-US" sz="1500">
                <a:solidFill>
                  <a:srgbClr val="2E2925"/>
                </a:solidFill>
              </a:rPr>
              <a:t>Professional Development</a:t>
            </a:r>
            <a:endParaRPr sz="1500">
              <a:solidFill>
                <a:srgbClr val="2E2925"/>
              </a:solidFill>
            </a:endParaRPr>
          </a:p>
          <a:p>
            <a:pPr marL="914400" lvl="1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○"/>
            </a:pPr>
            <a:r>
              <a:rPr lang="en-US" sz="1500">
                <a:solidFill>
                  <a:srgbClr val="2E2925"/>
                </a:solidFill>
              </a:rPr>
              <a:t>Database Navigation</a:t>
            </a:r>
            <a:endParaRPr sz="1500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2925"/>
                </a:solidFill>
              </a:rPr>
              <a:t>		</a:t>
            </a:r>
            <a:endParaRPr sz="1500">
              <a:solidFill>
                <a:srgbClr val="2E2925"/>
              </a:solidFill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233008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6233008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6434176" y="2011680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$2</a:t>
            </a:r>
            <a:r>
              <a:rPr lang="en-US" sz="2400" b="1">
                <a:solidFill>
                  <a:srgbClr val="2E2925"/>
                </a:solidFill>
              </a:rPr>
              <a:t>5.50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434175" y="2880350"/>
            <a:ext cx="2321100" cy="3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 II</a:t>
            </a:r>
            <a:endParaRPr sz="15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700" b="1">
                <a:solidFill>
                  <a:srgbClr val="2E2925"/>
                </a:solidFill>
              </a:rPr>
              <a:t>Advance skills</a:t>
            </a:r>
            <a:endParaRPr sz="17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</a:rPr>
              <a:t>June-October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 i="1">
                <a:solidFill>
                  <a:srgbClr val="2E2925"/>
                </a:solidFill>
              </a:rPr>
              <a:t>Advance Training</a:t>
            </a:r>
            <a:endParaRPr sz="1500" i="1">
              <a:solidFill>
                <a:srgbClr val="2E2925"/>
              </a:solidFill>
            </a:endParaRPr>
          </a:p>
          <a:p>
            <a:pPr marL="914400" marR="0" lvl="1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○"/>
            </a:pPr>
            <a:r>
              <a:rPr lang="en-US" sz="1500">
                <a:solidFill>
                  <a:srgbClr val="2E2925"/>
                </a:solidFill>
              </a:rPr>
              <a:t>Harm reduction</a:t>
            </a:r>
            <a:endParaRPr sz="1500">
              <a:solidFill>
                <a:srgbClr val="2E2925"/>
              </a:solidFill>
            </a:endParaRPr>
          </a:p>
          <a:p>
            <a:pPr marL="914400" marR="0" lvl="1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○"/>
            </a:pPr>
            <a:r>
              <a:rPr lang="en-US" sz="1500">
                <a:solidFill>
                  <a:srgbClr val="2E2925"/>
                </a:solidFill>
              </a:rPr>
              <a:t>De-escalation skills</a:t>
            </a:r>
            <a:endParaRPr sz="1500">
              <a:solidFill>
                <a:srgbClr val="2E2925"/>
              </a:solidFill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029471" y="1828800"/>
            <a:ext cx="2522144" cy="4498848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9029471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9230639" y="2011680"/>
            <a:ext cx="211980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$2</a:t>
            </a:r>
            <a:r>
              <a:rPr lang="en-US" sz="2400" b="1">
                <a:solidFill>
                  <a:srgbClr val="2E2925"/>
                </a:solidFill>
              </a:rPr>
              <a:t>9.00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9230639" y="2880360"/>
            <a:ext cx="2119808" cy="328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 III </a:t>
            </a:r>
            <a:endParaRPr sz="15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700" b="1">
                <a:solidFill>
                  <a:srgbClr val="2E2925"/>
                </a:solidFill>
              </a:rPr>
              <a:t>Mastery skills</a:t>
            </a:r>
            <a:endParaRPr sz="17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E2925"/>
                </a:solidFill>
              </a:rPr>
              <a:t>November-May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Case management 101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r>
              <a:rPr lang="en-US" sz="1500">
                <a:solidFill>
                  <a:srgbClr val="2E2925"/>
                </a:solidFill>
              </a:rPr>
              <a:t>Motivational Interviewing</a:t>
            </a:r>
            <a:endParaRPr sz="1500">
              <a:solidFill>
                <a:srgbClr val="2E2925"/>
              </a:solidFill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Char char="●"/>
            </a:pPr>
            <a:endParaRPr sz="1500">
              <a:solidFill>
                <a:srgbClr val="2E2925"/>
              </a:solidFill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Framework Check-In: Eight Dimensions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6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/>
          <p:nvPr/>
        </p:nvSpPr>
        <p:spPr>
          <a:xfrm>
            <a:off x="640080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40080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41248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Cost-sharing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41248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41248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HPP (OEWD grant) pays CCSF ~$60K/yr for instruction, plus all apprentice wages. CCSF also contributes staff time.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3436544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3436544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3637712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Curriculum control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637712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3637712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Co-structured: CCSF CHW Certificate coursework paired with HPP's OJT standards. Coursework onsite at HPP.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6233008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233008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434176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Staffing / instruction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6434176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434176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CCSF faculty teach coursework; Betty (HPP) liaises and co-supervises apprentices.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9029471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9029471" y="1828800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9230639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Hiring commitment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9230639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230639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Apprentices are HPP employees from day one: a paid position, not an external hire negotiation.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640080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640080" y="4178808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841248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Data-sharing &amp; outcomes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841248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841248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Regular HPP × CCSF alignment meetings; outcomes reported to OEWD</a:t>
            </a:r>
            <a:r>
              <a:rPr lang="en-US" sz="1250">
                <a:solidFill>
                  <a:srgbClr val="2E2925"/>
                </a:solidFill>
              </a:rPr>
              <a:t> and DAS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3436544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436544" y="4178808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3637712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Duration / sustainability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3637712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3637712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CHW training since 1995; formal State/Federal Apprenticeship since 2019.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233008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233008" y="4178808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6434176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Governance structure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434176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</a:rPr>
              <a:t>4</a:t>
            </a: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6434176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Defined roles: </a:t>
            </a:r>
            <a:r>
              <a:rPr lang="en-US" sz="1250">
                <a:solidFill>
                  <a:srgbClr val="2E2925"/>
                </a:solidFill>
              </a:rPr>
              <a:t>Quarterly Continuous Quality Improvement Meetings with DAS, CCSF and HPP.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9029471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9029471" y="4178808"/>
            <a:ext cx="2522144" cy="73152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9230639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Wraparound support &amp; access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9230639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457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5A4577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9230639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Wages, </a:t>
            </a:r>
            <a:r>
              <a:rPr lang="en-US" sz="1250">
                <a:solidFill>
                  <a:srgbClr val="2E2925"/>
                </a:solidFill>
              </a:rPr>
              <a:t>barrier removal and concrete support</a:t>
            </a: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, case management, and tutoring through</a:t>
            </a:r>
            <a:r>
              <a:rPr lang="en-US" sz="1250">
                <a:solidFill>
                  <a:srgbClr val="2E2925"/>
                </a:solidFill>
              </a:rPr>
              <a:t>out apprenticeship</a:t>
            </a: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HOMELESS PRENATAL PROGRAM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How the Partnership Was Established,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Negotiated &amp; Maintained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7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7"/>
          <p:cNvSpPr/>
          <p:nvPr/>
        </p:nvSpPr>
        <p:spPr>
          <a:xfrm>
            <a:off x="640080" y="1691640"/>
            <a:ext cx="10911535" cy="128016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40080" y="1691640"/>
            <a:ext cx="91440" cy="1280160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960120" y="169164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Established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154680" y="1691640"/>
            <a:ext cx="807415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HPP's CHW training dates to 1995; the program was formally registered as a State &amp; Federal Apprenticeship in 2019, which is when the structured CCSF certificate partnership took its current shape.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640080" y="3081528"/>
            <a:ext cx="10911535" cy="100881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40080" y="3081528"/>
            <a:ext cx="91440" cy="914400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960120" y="3081528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Negotiated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3154680" y="3145326"/>
            <a:ext cx="80741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HPP worked with CCSF to establish a training calendar and contract for the dedicated coursework. HPP negotiated a contract for the coursework paid directly to CCSF and now funded through OEWD. </a:t>
            </a:r>
            <a:endParaRPr sz="18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40080" y="4217503"/>
            <a:ext cx="10911535" cy="219393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640080" y="4233252"/>
            <a:ext cx="91440" cy="1965960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960120" y="4105656"/>
            <a:ext cx="21031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76BAA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876BAA"/>
                </a:solidFill>
                <a:latin typeface="Arial"/>
                <a:ea typeface="Arial"/>
                <a:cs typeface="Arial"/>
                <a:sym typeface="Arial"/>
              </a:rPr>
              <a:t>Maintained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3154680" y="4328949"/>
            <a:ext cx="807415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 dirty="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CCSF faculty teach dedicated CHW Certificate coursework (LERN 50, HLTH 201–203W).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 dirty="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Betty (HPP) is the direct liaison to CCSF faculty and holds regular alignment meetings.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 dirty="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Graduates earn a dual credential: CCSF CHW Certificate plus State/Federal Apprenticeship recognition.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9E95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36864">
              <a:alpha val="6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336864">
              <a:alpha val="6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822960" y="137160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822960" y="137160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>
              <a:solidFill>
                <a:srgbClr val="336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822960" y="3108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822960" y="34747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822960" y="4456457"/>
            <a:ext cx="9601200" cy="79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Excellence through Community Engagement and Learning (EXCEL) Program × University of California, San Francisco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8" descr="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500" y="1694391"/>
            <a:ext cx="1460501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Healthcare Academy OST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Training Provider Program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19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9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1097280" y="19583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Founded in 1973; has helped more than 100,000 Californians access quality careers. Serves more than 700 jobseekers/year across Pathways, Advancement, Bridge, and Job Search models.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Healthcare Academy Subject Matter Expert and Occupational Skills Training provider since 2010, currently training Medical Administrative Assistants, Medical Assistants, and Dental Assistants.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Flagship partnership program, EXCEL (Excellence through Community Engagement and Learning), is a 6-month training: 11 weeks of classroom instruction followed by a 13-week paid internship (32 hrs/week) at UCSF.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Dual-customer model: curriculum is co-developed with employers so training reflects real hiring needs, not just occupational theory.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EXCEL Program, By the Numbers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20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0"/>
          <p:cNvSpPr/>
          <p:nvPr/>
        </p:nvSpPr>
        <p:spPr>
          <a:xfrm>
            <a:off x="640080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777240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280+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868680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EXCEL participants placed into jobs since 2010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6281928" y="1874520"/>
            <a:ext cx="5276088" cy="2331720"/>
          </a:xfrm>
          <a:prstGeom prst="roundRect">
            <a:avLst>
              <a:gd name="adj" fmla="val 1961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6419088" y="2167128"/>
            <a:ext cx="500176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3.3%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510528" y="3246120"/>
            <a:ext cx="481888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EXCEL graduate turnover (vs. UCSF's 10.7% average, 2022)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640080" y="43891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4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Across all healthcare programs: 82% completion rate (FY25)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EXCEL: Classroom to UCSF Employment, By Design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21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640080" y="2087180"/>
            <a:ext cx="384048" cy="384048"/>
          </a:xfrm>
          <a:prstGeom prst="ellipse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640080" y="20871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1280160" y="2050604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Outreach &amp; Enrollment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709160" y="2050604"/>
            <a:ext cx="683971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CBO referrals, alumni ambassadors, digital &amp; in-person outreach.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640080" y="2663252"/>
            <a:ext cx="384048" cy="384048"/>
          </a:xfrm>
          <a:prstGeom prst="ellipse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640080" y="26632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1280160" y="2626676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11 Weeks Classroom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4709160" y="2626676"/>
            <a:ext cx="683971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Job readiness, soft skills, computer skills, admin training.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640080" y="3239324"/>
            <a:ext cx="384048" cy="384048"/>
          </a:xfrm>
          <a:prstGeom prst="ellipse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640080" y="32393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1280160" y="3202748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13-Week Paid Internship at UCSF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4709160" y="3202748"/>
            <a:ext cx="683971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32 hrs/week; UCSF hosts, supervises, and evaluates.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640080" y="3815396"/>
            <a:ext cx="384048" cy="384048"/>
          </a:xfrm>
          <a:prstGeom prst="ellipse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640080" y="38153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1280160" y="37788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Direct Hire Pathway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4709160" y="3778820"/>
            <a:ext cx="683971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UCSF commits to hiring successful graduates directly.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640080" y="4684935"/>
            <a:ext cx="10911535" cy="1216152"/>
          </a:xfrm>
          <a:prstGeom prst="roundRect">
            <a:avLst>
              <a:gd name="adj" fmla="val 3008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914400" y="4758087"/>
            <a:ext cx="1036015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Since 1998, UCSF has hosted EXCEL cohorts continuously, one of JVS's longest-running employer partnerships. JVS also runs a separate 5-month Medical Assistant Certification track with UCSF and SFSU's College of Professional &amp; Global Education (CPaGE).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Wage Progression Across the EXCEL Program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5" descr="/home/claude/work/assets/logo_dark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/>
          <p:nvPr/>
        </p:nvSpPr>
        <p:spPr>
          <a:xfrm>
            <a:off x="640080" y="1828800"/>
            <a:ext cx="3454298" cy="2423160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841248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$25.54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841248" y="2880360"/>
            <a:ext cx="3051962" cy="11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Pre-Apprenticeship</a:t>
            </a:r>
            <a:endParaRPr sz="16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4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Starting wage</a:t>
            </a:r>
            <a:endParaRPr sz="1400" i="1">
              <a:solidFill>
                <a:srgbClr val="756E68"/>
              </a:solidFill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368698" y="1828800"/>
            <a:ext cx="3454298" cy="2423160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569866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$27.13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569866" y="2880350"/>
            <a:ext cx="3051962" cy="11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Schedule 1</a:t>
            </a:r>
            <a:endParaRPr sz="16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4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Wage schedule</a:t>
            </a:r>
            <a:endParaRPr sz="1400" i="1">
              <a:solidFill>
                <a:srgbClr val="756E68"/>
              </a:solidFill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8097316" y="1828800"/>
            <a:ext cx="3454298" cy="2423160"/>
          </a:xfrm>
          <a:prstGeom prst="roundRect">
            <a:avLst>
              <a:gd name="adj" fmla="val 145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8097316" y="1828800"/>
            <a:ext cx="3454298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8298484" y="2011680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$31.92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8298484" y="2880350"/>
            <a:ext cx="3051962" cy="11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Schedule 2</a:t>
            </a:r>
            <a:endParaRPr sz="1600" b="1">
              <a:solidFill>
                <a:srgbClr val="2E2925"/>
              </a:solidFill>
            </a:endParaRPr>
          </a:p>
          <a:p>
            <a:pPr marL="0" marR="0" lvl="0" indent="0" algn="l" rtl="0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756E68"/>
              </a:buClr>
              <a:buSzPts val="1400"/>
              <a:buFont typeface="Arial"/>
              <a:buNone/>
            </a:pPr>
            <a:r>
              <a:rPr lang="en-US" sz="1400" i="1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Wage schedule</a:t>
            </a:r>
            <a:endParaRPr sz="1400" i="1">
              <a:solidFill>
                <a:srgbClr val="756E68"/>
              </a:solidFill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Framework Check-In: Eight Dimensions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p22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2"/>
          <p:cNvSpPr/>
          <p:nvPr/>
        </p:nvSpPr>
        <p:spPr>
          <a:xfrm>
            <a:off x="640080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40080" y="1828800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841248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Cost-sharing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841248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841248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JVS funds training &amp; coaching; UCSF pays intern wages and supervisor time.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3436544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3436544" y="1828800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3637712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Curriculum control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3637712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3637712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Co-designed by JVS and UCSF, validated against UCSF's own hiring standards.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6233008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6233008" y="1828800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6434176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Staffing / instruction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6434176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6434176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UCSF hosts, supervises, and evaluates every EXCEL intern on-site for 13 weeks.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9029471" y="1828800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9029471" y="1828800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9230639" y="2011680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Hiring commitment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9230639" y="2578608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9230639" y="2852928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UCSF commits to directly hiring successful graduates.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640080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640080" y="4178808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841248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Data-sharing &amp; outcomes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841248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841248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JVS shares EXCEL data with UCSF for joint tracking.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3436544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3436544" y="4178808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3637712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Duration / sustainability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3637712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3637712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Continuous partnership since 1998, JVS's longest-running healthcare employer relationship.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6233008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6233008" y="4178808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6434176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Governance structure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6434176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6434176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Formal training/internship agreement plus a current signed Letter of Support.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9029471" y="4178808"/>
            <a:ext cx="2522144" cy="2148840"/>
          </a:xfrm>
          <a:prstGeom prst="roundRect">
            <a:avLst>
              <a:gd name="adj" fmla="val 1702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9029471" y="4178808"/>
            <a:ext cx="2522144" cy="73152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9230639" y="4361688"/>
            <a:ext cx="211980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Wraparound support &amp; access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9230639" y="4928616"/>
            <a:ext cx="21198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686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336864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9230639" y="5202936"/>
            <a:ext cx="211980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JVS provides financial assistance, tech access, and childcare/transport support and referrals.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How the Partnership Was Established,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Negotiated &amp; Maintained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23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3"/>
          <p:cNvSpPr/>
          <p:nvPr/>
        </p:nvSpPr>
        <p:spPr>
          <a:xfrm>
            <a:off x="640080" y="1691640"/>
            <a:ext cx="10911535" cy="105156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640080" y="1691640"/>
            <a:ext cx="91440" cy="1051560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960120" y="1691640"/>
            <a:ext cx="21031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Established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/>
          <p:nvPr/>
        </p:nvSpPr>
        <p:spPr>
          <a:xfrm>
            <a:off x="3154680" y="1691640"/>
            <a:ext cx="807415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The JVS × UCSF relationship dates to 1998, making it JVS's longest-standing healthcare employer partnership, predating JVS's role as OEWD's Healthcare Academy Sector Coordinator (2010).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640080" y="2852928"/>
            <a:ext cx="10911535" cy="123444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640080" y="2852928"/>
            <a:ext cx="91440" cy="1234440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960120" y="2852928"/>
            <a:ext cx="21031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Negotiated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3154680" y="2852928"/>
            <a:ext cx="7460319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640080" y="4197096"/>
            <a:ext cx="10911535" cy="196596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640080" y="4197096"/>
            <a:ext cx="91440" cy="1965960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960120" y="4197096"/>
            <a:ext cx="21031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Maintained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3154680" y="4197096"/>
            <a:ext cx="8074152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UCSF and JVS co-design the EXCEL curriculum together, validated against UCSF's own hiring standards.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UCSF hosts, supervises, and evaluates every EXCEL intern on-site for all 13 paid weeks.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Documented through a formal training/internship agreement and a current signed Memorandum of Understanding.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3154679" y="2852928"/>
            <a:ext cx="413715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Placement/Hiring Commitments</a:t>
            </a:r>
            <a:endParaRPr/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Funding/cost-sharing</a:t>
            </a:r>
            <a:endParaRPr/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Cohort size and cadence</a:t>
            </a:r>
            <a:endParaRPr/>
          </a:p>
        </p:txBody>
      </p:sp>
      <p:sp>
        <p:nvSpPr>
          <p:cNvPr id="518" name="Google Shape;518;p23"/>
          <p:cNvSpPr/>
          <p:nvPr/>
        </p:nvSpPr>
        <p:spPr>
          <a:xfrm>
            <a:off x="7409178" y="2852928"/>
            <a:ext cx="413715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Role and division of labor</a:t>
            </a:r>
            <a:endParaRPr/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Curriculum governance</a:t>
            </a:r>
            <a:endParaRPr/>
          </a:p>
          <a:p>
            <a:pPr marL="342900" marR="0" lvl="0" indent="-34290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Eligibility/candidate criteria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9E95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4E9E95"/>
                </a:solidFill>
                <a:latin typeface="Arial"/>
                <a:ea typeface="Arial"/>
                <a:cs typeface="Arial"/>
                <a:sym typeface="Arial"/>
              </a:rPr>
              <a:t>JVS BAY AREA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597747" y="616035"/>
            <a:ext cx="8788823" cy="50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Behind the Case Study: What It Really Took</a:t>
            </a:r>
            <a:endParaRPr/>
          </a:p>
        </p:txBody>
      </p:sp>
      <p:pic>
        <p:nvPicPr>
          <p:cNvPr id="526" name="Google Shape;526;p24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4"/>
          <p:cNvSpPr/>
          <p:nvPr/>
        </p:nvSpPr>
        <p:spPr>
          <a:xfrm>
            <a:off x="703579" y="1194223"/>
            <a:ext cx="10890369" cy="5280659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/>
          <p:nvPr/>
        </p:nvSpPr>
        <p:spPr>
          <a:xfrm flipH="1">
            <a:off x="593937" y="1194223"/>
            <a:ext cx="109643" cy="5280659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995680" y="2559474"/>
            <a:ext cx="9957985" cy="285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It was designed with, not just for. 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 workgroup sketched the model, but it was a living room conversation with a UCSF Practice Coordinator, someone close to the actual work, where it got stress-tested against reality. 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One champion wasn't enough.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 JVS cultivated multiple internal ambassadors across UCSF departments, so the relationship didn't ride on any one person.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Labor was at the table from the beginning.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 JVS engaged with labor early so the internship model complemented union positions.</a:t>
            </a:r>
            <a:endParaRPr/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Trust was earned, not assumed. 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The partnership started in outpatient clinics and only expanded into acute care as credibility grew. </a:t>
            </a:r>
            <a:endParaRPr/>
          </a:p>
          <a:p>
            <a:pPr marL="285750" marR="0" lvl="0" indent="-1714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The model kept evolving.</a:t>
            </a: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 JVS used employer and participant feedback to continuously refine training, support, and internships.</a:t>
            </a:r>
            <a:endParaRPr sz="1800" b="1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2E29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5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822960" y="1600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9000"/>
              <a:buFont typeface="Arial"/>
              <a:buNone/>
            </a:pPr>
            <a:r>
              <a:rPr lang="en-US" sz="90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82296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SECTION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Models, Eight Dimensions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822960" y="4434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5F2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Placing HPP and JVS side by side against all eight framework dimensions.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6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CROSS-CASE COMPARISON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Who Invests? (Cost, Curriculum, Staffing, Hiring)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26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3" name="Google Shape;553;p26"/>
          <p:cNvGraphicFramePr/>
          <p:nvPr/>
        </p:nvGraphicFramePr>
        <p:xfrm>
          <a:off x="640080" y="1828800"/>
          <a:ext cx="10807275" cy="4480500"/>
        </p:xfrm>
        <a:graphic>
          <a:graphicData uri="http://schemas.openxmlformats.org/drawingml/2006/table">
            <a:tbl>
              <a:tblPr>
                <a:noFill/>
                <a:tableStyleId>{819C24C0-8368-457E-8275-846C7CFA8D08}</a:tableStyleId>
              </a:tblPr>
              <a:tblGrid>
                <a:gridCol w="284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29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HPP × CCSF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45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JVS × UCSF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Cost-sharing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HPP (OEWD grant) pays CCSF ~$60K/yr for instruction, plus all apprentice wages.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JVS funds training &amp; coaching; UCSF pays intern wages and supervisor time.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Curriculum control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Co-structured: CCSF CHW Certificate coursework paired with HPP's OJT standards.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Co-designed by JVS and UCSF, validated against UCSF's own hiring standards.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Staffing / instruction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CCSF faculty teach coursework; Betty (HPP) liaises and co-supervises apprentices.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UCSF hosts, supervises, and evaluates every EXCEL intern on-site for 13 weeks.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Hiring commitment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Apprentices are HPP employees from day one: a paid position, not an external hire negotiation.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UCSF commits to directly hiring successful graduates.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4" name="Google Shape;554;p2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7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CROSS-CASE COMPARISON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How Deep? (Data, Duration, Governance, Wraparound)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27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4" name="Google Shape;564;p27"/>
          <p:cNvGraphicFramePr/>
          <p:nvPr/>
        </p:nvGraphicFramePr>
        <p:xfrm>
          <a:off x="640080" y="1828800"/>
          <a:ext cx="10666725" cy="4480500"/>
        </p:xfrm>
        <a:graphic>
          <a:graphicData uri="http://schemas.openxmlformats.org/drawingml/2006/table">
            <a:tbl>
              <a:tblPr>
                <a:noFill/>
                <a:tableStyleId>{819C24C0-8368-457E-8275-846C7CFA8D08}</a:tableStyleId>
              </a:tblPr>
              <a:tblGrid>
                <a:gridCol w="28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29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HPP × CCSF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45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JVS × UCSF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Data-sharing &amp; outcomes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Regular HPP × CCSF alignment meetings; outcomes reported to OEWD.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JVS shares EXCEL data with UCSF for joint tracking.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 / sustainability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CHW training since 1995; formal State/Federal Apprenticeship since 2019.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partnership since 1998, JVS's longest-running healthcare employer relationship.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Governance structure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Defined roles: Betty is the direct CCSF liaison; regular joint meetings.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Formal training/internship agreement plus a current signed </a:t>
                      </a:r>
                      <a:r>
                        <a:rPr lang="en-US" sz="1250" b="0" i="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Memorandum of Understanding.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Wraparound support &amp; access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Wages, housing/food stability, case management, and tutoring through certification.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925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strike="noStrike" cap="none">
                          <a:solidFill>
                            <a:srgbClr val="2E29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JVS provides financial assistance, tech access, and childcare/transport support and referrals.</a:t>
                      </a:r>
                      <a:endParaRPr sz="12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600" marR="101600" marT="76200" marB="762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5" name="Google Shape;565;p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7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8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822960" y="1600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9000"/>
              <a:buFont typeface="Arial"/>
              <a:buNone/>
            </a:pPr>
            <a:r>
              <a:rPr lang="en-US" sz="90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82296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SECTION 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the Practitioners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822960" y="4434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5F2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Panelists: Lilli Milton &amp; Betty Espinoza (HPP) · Dorit Leavitt (JVS)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PANEL DISCUSSION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Prepared Questions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p29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9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If you could renegotiate one term of the partnership today, what would it be?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What's one piece of advice for a provider trying to move a referral relationship toward something like this?</a:t>
            </a:r>
            <a:endParaRPr/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Which of the 8 dimensions took longest to move from informal to embedded, and why?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822960" y="16002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9000"/>
              <a:buFont typeface="Arial"/>
              <a:buNone/>
            </a:pPr>
            <a:r>
              <a:rPr lang="en-US" sz="90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822960" y="2834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C9CC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4C9CC"/>
                </a:solidFill>
                <a:latin typeface="Arial"/>
                <a:ea typeface="Arial"/>
                <a:cs typeface="Arial"/>
                <a:sym typeface="Arial"/>
              </a:rPr>
              <a:t>SECTION 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822960" y="32461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Now Map Your Own Partnerships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822960" y="4434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15 minutes: self-assessment worksheet, pair/share, and report out.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INTERACTIVE ACTIVITY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Now Map Your Own Partnerships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31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1"/>
          <p:cNvSpPr/>
          <p:nvPr/>
        </p:nvSpPr>
        <p:spPr>
          <a:xfrm>
            <a:off x="640080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841248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Worksheet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841248" y="3374136"/>
            <a:ext cx="305196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841248" y="3648456"/>
            <a:ext cx="3051962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At your table, pick one current education or employer relationship. Score it across all 8 dimensions on the Partnership Depth Self-Assessment handout.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4368698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569866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4569866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4569866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Pair/Share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/>
          <p:nvPr/>
        </p:nvSpPr>
        <p:spPr>
          <a:xfrm>
            <a:off x="4569866" y="3374136"/>
            <a:ext cx="305196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6 MIN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569866" y="3648456"/>
            <a:ext cx="3051962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Turn to a neighbor. Compare total scores (8–32) and where your partnerships sit on the maturity spectrum. What would move it up a notch?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8097317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8097317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/>
          <p:nvPr/>
        </p:nvSpPr>
        <p:spPr>
          <a:xfrm>
            <a:off x="8298485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8298485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8298485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Report Out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8298485" y="3374136"/>
            <a:ext cx="305196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4 MIN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8298485" y="3648456"/>
            <a:ext cx="3051962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2–3 volunteers share one takeaway or one barrier that came up in discussion.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INTERACTIVE ACTIVITY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640080" y="658368"/>
            <a:ext cx="8778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Worksheet: Where Does Your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Partnership Sit?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4" name="Google Shape;644;p32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2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2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Name one active education or employer relationship in your current portfolio.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Using the handout, score it 1 (informal) to 4 (embedded) across all 8 dimensions: cost-sharing, curriculum, staffing, hiring, data-sharing, duration, governance, and wraparound support.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Total your score (range 8–32) and place it on the maturity spectrum below.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Bonus: What's one specific ask you could bring to that partner to move your lowest-scoring dimension up a point?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INTERACTIVE ACTIVITY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Partnership Maturity Spectrum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33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33"/>
          <p:cNvSpPr/>
          <p:nvPr/>
        </p:nvSpPr>
        <p:spPr>
          <a:xfrm>
            <a:off x="640080" y="2926080"/>
            <a:ext cx="2476195" cy="1463040"/>
          </a:xfrm>
          <a:prstGeom prst="rect">
            <a:avLst/>
          </a:prstGeom>
          <a:solidFill>
            <a:srgbClr val="C67B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3"/>
          <p:cNvSpPr/>
          <p:nvPr/>
        </p:nvSpPr>
        <p:spPr>
          <a:xfrm>
            <a:off x="822960" y="3154680"/>
            <a:ext cx="21104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Referral Relationship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3"/>
          <p:cNvSpPr/>
          <p:nvPr/>
        </p:nvSpPr>
        <p:spPr>
          <a:xfrm>
            <a:off x="822960" y="3840480"/>
            <a:ext cx="21104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Score: 8–13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3116275" y="3383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3482035" y="2926080"/>
            <a:ext cx="2476195" cy="1463040"/>
          </a:xfrm>
          <a:prstGeom prst="rect">
            <a:avLst/>
          </a:prstGeom>
          <a:solidFill>
            <a:srgbClr val="AFA83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/>
          <p:nvPr/>
        </p:nvSpPr>
        <p:spPr>
          <a:xfrm>
            <a:off x="3664915" y="3154680"/>
            <a:ext cx="21104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Emerging Partnership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3"/>
          <p:cNvSpPr/>
          <p:nvPr/>
        </p:nvSpPr>
        <p:spPr>
          <a:xfrm>
            <a:off x="3664915" y="3840480"/>
            <a:ext cx="21104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Score: 14–19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3"/>
          <p:cNvSpPr/>
          <p:nvPr/>
        </p:nvSpPr>
        <p:spPr>
          <a:xfrm>
            <a:off x="5958230" y="3383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3"/>
          <p:cNvSpPr/>
          <p:nvPr/>
        </p:nvSpPr>
        <p:spPr>
          <a:xfrm>
            <a:off x="6323990" y="2926080"/>
            <a:ext cx="2476195" cy="1463040"/>
          </a:xfrm>
          <a:prstGeom prst="rect">
            <a:avLst/>
          </a:prstGeom>
          <a:solidFill>
            <a:srgbClr val="4E9E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/>
          <p:nvPr/>
        </p:nvSpPr>
        <p:spPr>
          <a:xfrm>
            <a:off x="6506870" y="3154680"/>
            <a:ext cx="21104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Structured Partnership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3"/>
          <p:cNvSpPr/>
          <p:nvPr/>
        </p:nvSpPr>
        <p:spPr>
          <a:xfrm>
            <a:off x="6506870" y="3840480"/>
            <a:ext cx="21104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Score: 20–25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3"/>
          <p:cNvSpPr/>
          <p:nvPr/>
        </p:nvSpPr>
        <p:spPr>
          <a:xfrm>
            <a:off x="8800185" y="33832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3"/>
          <p:cNvSpPr/>
          <p:nvPr/>
        </p:nvSpPr>
        <p:spPr>
          <a:xfrm>
            <a:off x="9165945" y="2926080"/>
            <a:ext cx="2476195" cy="1463040"/>
          </a:xfrm>
          <a:prstGeom prst="rect">
            <a:avLst/>
          </a:prstGeom>
          <a:solidFill>
            <a:srgbClr val="876BA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3"/>
          <p:cNvSpPr/>
          <p:nvPr/>
        </p:nvSpPr>
        <p:spPr>
          <a:xfrm>
            <a:off x="9348825" y="3154680"/>
            <a:ext cx="21104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Partnership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3"/>
          <p:cNvSpPr/>
          <p:nvPr/>
        </p:nvSpPr>
        <p:spPr>
          <a:xfrm>
            <a:off x="9348825" y="3840480"/>
            <a:ext cx="21104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Score: 26–32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4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INTERACTIVE ACTIVITY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4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Report-Out: What Did We Hear?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p34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4"/>
          <p:cNvSpPr/>
          <p:nvPr/>
        </p:nvSpPr>
        <p:spPr>
          <a:xfrm>
            <a:off x="640080" y="1828800"/>
            <a:ext cx="10911535" cy="4480560"/>
          </a:xfrm>
          <a:prstGeom prst="roundRect">
            <a:avLst>
              <a:gd name="adj" fmla="val 1020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4"/>
          <p:cNvSpPr/>
          <p:nvPr/>
        </p:nvSpPr>
        <p:spPr>
          <a:xfrm>
            <a:off x="640080" y="1828800"/>
            <a:ext cx="109728" cy="4480560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1097280" y="2148840"/>
            <a:ext cx="999439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One partnership you mapped and the score band it landed in: Referral, Emerging, Structured, or Embedded (2–3 volunteers, 60 seconds each).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One dimension that came up as the weakest link at more than one table.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One concrete next step you're taking back to your team.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"/>
          <p:cNvSpPr/>
          <p:nvPr/>
        </p:nvSpPr>
        <p:spPr>
          <a:xfrm>
            <a:off x="640080" y="384048"/>
            <a:ext cx="80284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121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B5121B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640080" y="7772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Three Takeaways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35" descr="/home/claude/work/assets/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5"/>
          <p:cNvSpPr/>
          <p:nvPr/>
        </p:nvSpPr>
        <p:spPr>
          <a:xfrm>
            <a:off x="640080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841248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841248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841248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Spot the structure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841248" y="3374136"/>
            <a:ext cx="3051962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Cost-sharing, curriculum control, staffing, hiring commitment, data-sharing, duration, governance, and wraparound support are the eight dimensions that separate an embedded partnership from a transactional referral.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5"/>
          <p:cNvSpPr/>
          <p:nvPr/>
        </p:nvSpPr>
        <p:spPr>
          <a:xfrm>
            <a:off x="4368698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4569866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4569866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4569866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Borrow the models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4569866" y="3374136"/>
            <a:ext cx="3051962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Tuition/staffing investment (HPP) and embedded hiring pipelines (JVS) are both replicable within existing public workforce funding.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8097317" y="1828800"/>
            <a:ext cx="3454298" cy="4498848"/>
          </a:xfrm>
          <a:prstGeom prst="roundRect">
            <a:avLst>
              <a:gd name="adj" fmla="val 1059"/>
            </a:avLst>
          </a:prstGeom>
          <a:solidFill>
            <a:srgbClr val="F7F5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8097317" y="1828800"/>
            <a:ext cx="3454298" cy="73152"/>
          </a:xfrm>
          <a:prstGeom prst="rect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8298485" y="2011680"/>
            <a:ext cx="365760" cy="365760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8298485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8298485" y="2505456"/>
            <a:ext cx="305196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Bring negotiable terms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8298485" y="3374136"/>
            <a:ext cx="3051962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E292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E2925"/>
                </a:solidFill>
                <a:latin typeface="Arial"/>
                <a:ea typeface="Arial"/>
                <a:cs typeface="Arial"/>
                <a:sym typeface="Arial"/>
              </a:rPr>
              <a:t>Use the 8-dimension framework to score your own partnerships (8–32) and raise specific, negotiable terms with your next education or employer partner.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6E6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56E68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925"/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6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5121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6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B5121B">
              <a:alpha val="3490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6"/>
          <p:cNvSpPr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6"/>
          <p:cNvSpPr/>
          <p:nvPr/>
        </p:nvSpPr>
        <p:spPr>
          <a:xfrm>
            <a:off x="822960" y="32004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F5F2"/>
              </a:buClr>
              <a:buSzPts val="1600"/>
              <a:buFont typeface="Arial"/>
              <a:buNone/>
            </a:pPr>
            <a:r>
              <a:rPr lang="en-US" sz="1600" i="1">
                <a:solidFill>
                  <a:srgbClr val="F7F5F2"/>
                </a:solidFill>
                <a:latin typeface="Arial"/>
                <a:ea typeface="Arial"/>
                <a:cs typeface="Arial"/>
                <a:sym typeface="Arial"/>
              </a:rPr>
              <a:t>Questions after the session? Reach out: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6"/>
          <p:cNvSpPr/>
          <p:nvPr/>
        </p:nvSpPr>
        <p:spPr>
          <a:xfrm>
            <a:off x="822960" y="3703320"/>
            <a:ext cx="9144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Belin Khamerku  ·  Belin.khamerku@sfgov.org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 Floyd-Rodriguez  ·  Ren.floyd-rodriguez@sfgov.org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Betty Espinoza  ·  Bettyespinoza@homelessprenatal.org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Lilli Milton  ·  Lillimilton@homelessprenatal.org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Dorit Leavitt  ·  DLeavitt@jvs.org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36" descr="/home/claude/work/assets/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6920" y="685800"/>
            <a:ext cx="1947672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3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Partners in Practice  |  Meeting of the Minds Conference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6"/>
          <p:cNvSpPr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9BE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9BEB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3093</Words>
  <Application>Microsoft Macintosh PowerPoint</Application>
  <PresentationFormat>Widescreen</PresentationFormat>
  <Paragraphs>494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Khamerku, Belin (ECN)</cp:lastModifiedBy>
  <cp:revision>2</cp:revision>
  <dcterms:created xsi:type="dcterms:W3CDTF">2026-08-18T17:04:42Z</dcterms:created>
  <dcterms:modified xsi:type="dcterms:W3CDTF">2026-09-09T01:08:40Z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0x0101001D401250F549EF4883558660BD3803C0</vt:lpwstr>
  </property>
  <property fmtid="{D5CDD505-2E9C-101B-9397-08002B2CF9AE}" pid="3" name="MediaServiceImageTags">
    <vt:lpwstr/>
  </property>
</Properties>
</file>