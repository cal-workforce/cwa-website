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3"/>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embeddedFontLst>
    <p:embeddedFont>
      <p:font typeface="Play"/>
      <p:regular r:id="rId23"/>
      <p:bold r:id="rId24"/>
    </p:embeddedFont>
    <p:embeddedFont>
      <p:font typeface="Libre Franklin Light"/>
      <p:regular r:id="rId25"/>
      <p:bold r:id="rId26"/>
      <p:italic r:id="rId27"/>
      <p:boldItalic r:id="rId28"/>
    </p:embeddedFont>
    <p:embeddedFont>
      <p:font typeface="Libre Franklin"/>
      <p:regular r:id="rId29"/>
      <p:bold r:id="rId30"/>
      <p:italic r:id="rId31"/>
      <p:boldItalic r:id="rId32"/>
    </p:embeddedFont>
    <p:embeddedFont>
      <p:font typeface="Inter SemiBold"/>
      <p:regular r:id="rId33"/>
      <p:bold r:id="rId34"/>
      <p:italic r:id="rId35"/>
      <p:boldItalic r:id="rId36"/>
    </p:embeddedFont>
    <p:embeddedFont>
      <p:font typeface="Noto Sans"/>
      <p:regular r:id="rId37"/>
      <p:bold r:id="rId38"/>
      <p:italic r:id="rId39"/>
      <p:boldItalic r:id="rId40"/>
    </p:embeddedFont>
    <p:embeddedFont>
      <p:font typeface="Poppins"/>
      <p:bold r:id="rId41"/>
      <p:boldItalic r:id="rId42"/>
    </p:embeddedFont>
    <p:embeddedFont>
      <p:font typeface="Inter"/>
      <p:bold r:id="rId43"/>
      <p:boldItalic r:id="rId44"/>
    </p:embeddedFont>
    <p:embeddedFont>
      <p:font typeface="Poppins SemiBold"/>
      <p:regular r:id="rId45"/>
      <p:bold r:id="rId46"/>
      <p:italic r:id="rId47"/>
      <p:boldItalic r:id="rId48"/>
    </p:embeddedFont>
    <p:embeddedFont>
      <p:font typeface="Poppins ExtraBold"/>
      <p:bold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NotoSans-boldItalic.fntdata"/><Relationship Id="rId42" Type="http://schemas.openxmlformats.org/officeDocument/2006/relationships/font" Target="fonts/Poppins-boldItalic.fntdata"/><Relationship Id="rId41" Type="http://schemas.openxmlformats.org/officeDocument/2006/relationships/font" Target="fonts/Poppins-bold.fntdata"/><Relationship Id="rId44" Type="http://schemas.openxmlformats.org/officeDocument/2006/relationships/font" Target="fonts/Inter-boldItalic.fntdata"/><Relationship Id="rId43" Type="http://schemas.openxmlformats.org/officeDocument/2006/relationships/font" Target="fonts/Inter-bold.fntdata"/><Relationship Id="rId46" Type="http://schemas.openxmlformats.org/officeDocument/2006/relationships/font" Target="fonts/PoppinsSemiBold-bold.fntdata"/><Relationship Id="rId45" Type="http://schemas.openxmlformats.org/officeDocument/2006/relationships/font" Target="fonts/PoppinsSemiBol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PoppinsSemiBold-boldItalic.fntdata"/><Relationship Id="rId47" Type="http://schemas.openxmlformats.org/officeDocument/2006/relationships/font" Target="fonts/PoppinsSemiBold-italic.fntdata"/><Relationship Id="rId49" Type="http://schemas.openxmlformats.org/officeDocument/2006/relationships/font" Target="fonts/PoppinsExtra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ibreFranklin-italic.fntdata"/><Relationship Id="rId30" Type="http://schemas.openxmlformats.org/officeDocument/2006/relationships/font" Target="fonts/LibreFranklin-bold.fntdata"/><Relationship Id="rId33" Type="http://schemas.openxmlformats.org/officeDocument/2006/relationships/font" Target="fonts/InterSemiBold-regular.fntdata"/><Relationship Id="rId32" Type="http://schemas.openxmlformats.org/officeDocument/2006/relationships/font" Target="fonts/LibreFranklin-boldItalic.fntdata"/><Relationship Id="rId35" Type="http://schemas.openxmlformats.org/officeDocument/2006/relationships/font" Target="fonts/InterSemiBold-italic.fntdata"/><Relationship Id="rId34" Type="http://schemas.openxmlformats.org/officeDocument/2006/relationships/font" Target="fonts/InterSemiBold-bold.fntdata"/><Relationship Id="rId37" Type="http://schemas.openxmlformats.org/officeDocument/2006/relationships/font" Target="fonts/NotoSans-regular.fntdata"/><Relationship Id="rId36" Type="http://schemas.openxmlformats.org/officeDocument/2006/relationships/font" Target="fonts/InterSemiBold-boldItalic.fntdata"/><Relationship Id="rId39" Type="http://schemas.openxmlformats.org/officeDocument/2006/relationships/font" Target="fonts/NotoSans-italic.fntdata"/><Relationship Id="rId38" Type="http://schemas.openxmlformats.org/officeDocument/2006/relationships/font" Target="fonts/NotoSans-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bold.fntdata"/><Relationship Id="rId23" Type="http://schemas.openxmlformats.org/officeDocument/2006/relationships/font" Target="fonts/Play-regular.fntdata"/><Relationship Id="rId26" Type="http://schemas.openxmlformats.org/officeDocument/2006/relationships/font" Target="fonts/LibreFranklinLight-bold.fntdata"/><Relationship Id="rId25" Type="http://schemas.openxmlformats.org/officeDocument/2006/relationships/font" Target="fonts/LibreFranklinLight-regular.fntdata"/><Relationship Id="rId28" Type="http://schemas.openxmlformats.org/officeDocument/2006/relationships/font" Target="fonts/LibreFranklinLight-boldItalic.fntdata"/><Relationship Id="rId27" Type="http://schemas.openxmlformats.org/officeDocument/2006/relationships/font" Target="fonts/LibreFranklinLight-italic.fntdata"/><Relationship Id="rId29" Type="http://schemas.openxmlformats.org/officeDocument/2006/relationships/font" Target="fonts/LibreFranklin-regular.fntdata"/><Relationship Id="rId50" Type="http://schemas.openxmlformats.org/officeDocument/2006/relationships/font" Target="fonts/PoppinsExtraBold-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dir.ca.gov/DIRNews/2026/2026-18.html" TargetMode="External"/><Relationship Id="rId3" Type="http://schemas.openxmlformats.org/officeDocument/2006/relationships/hyperlink" Target="https://www.gov.ca.gov/2026/04/28/governor-newsom-celebrates-national-apprenticeship-week-highlighting-pathways-connecting-workers-to-good-job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sac.wa.gov/sites/default/files/2023%20Apprenticeship%20and%20Higher%20Education%20Integrated%20Summary%20Report.pdf#:~:text=While%2078%20percent%20of%20state%2Dregistered%20apprentices%20were,about%20one%20percent%20complete%20an%20associate%20degree."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034a59bf_0_37:notes"/>
          <p:cNvSpPr/>
          <p:nvPr>
            <p:ph idx="2" type="sldImg"/>
          </p:nvPr>
        </p:nvSpPr>
        <p:spPr>
          <a:xfrm>
            <a:off x="51435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fa034a59bf_0_37:notes"/>
          <p:cNvSpPr txBox="1"/>
          <p:nvPr>
            <p:ph idx="1" type="body"/>
          </p:nvPr>
        </p:nvSpPr>
        <p:spPr>
          <a:xfrm>
            <a:off x="514350" y="4400550"/>
            <a:ext cx="41148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fa034a59bf_0_37:notes"/>
          <p:cNvSpPr txBox="1"/>
          <p:nvPr>
            <p:ph idx="12" type="sldNum"/>
          </p:nvPr>
        </p:nvSpPr>
        <p:spPr>
          <a:xfrm>
            <a:off x="2913460" y="8685213"/>
            <a:ext cx="22290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a034a59bf_0_63:notes"/>
          <p:cNvSpPr/>
          <p:nvPr>
            <p:ph idx="2" type="sldImg"/>
          </p:nvPr>
        </p:nvSpPr>
        <p:spPr>
          <a:xfrm>
            <a:off x="51435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fa034a59bf_0_63:notes"/>
          <p:cNvSpPr txBox="1"/>
          <p:nvPr>
            <p:ph idx="1" type="body"/>
          </p:nvPr>
        </p:nvSpPr>
        <p:spPr>
          <a:xfrm>
            <a:off x="514350" y="4400550"/>
            <a:ext cx="4114800" cy="3600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800"/>
              <a:buFont typeface="Calibri"/>
              <a:buNone/>
            </a:pPr>
            <a:r>
              <a:t/>
            </a:r>
            <a:endParaRPr b="0" i="0" sz="2800">
              <a:solidFill>
                <a:srgbClr val="003651"/>
              </a:solidFill>
              <a:latin typeface="Calibri"/>
              <a:ea typeface="Calibri"/>
              <a:cs typeface="Calibri"/>
              <a:sym typeface="Calibri"/>
            </a:endParaRPr>
          </a:p>
        </p:txBody>
      </p:sp>
      <p:sp>
        <p:nvSpPr>
          <p:cNvPr id="96" name="Google Shape;96;g3fa034a59bf_0_63:notes"/>
          <p:cNvSpPr txBox="1"/>
          <p:nvPr>
            <p:ph idx="12" type="sldNum"/>
          </p:nvPr>
        </p:nvSpPr>
        <p:spPr>
          <a:xfrm>
            <a:off x="2913460" y="8685213"/>
            <a:ext cx="22290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a034a59bf_0_166:notes"/>
          <p:cNvSpPr/>
          <p:nvPr>
            <p:ph idx="2" type="sldImg"/>
          </p:nvPr>
        </p:nvSpPr>
        <p:spPr>
          <a:xfrm>
            <a:off x="51435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fa034a59bf_0_166:notes"/>
          <p:cNvSpPr txBox="1"/>
          <p:nvPr>
            <p:ph idx="1" type="body"/>
          </p:nvPr>
        </p:nvSpPr>
        <p:spPr>
          <a:xfrm>
            <a:off x="514350" y="4400550"/>
            <a:ext cx="41148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fa034a59bf_0_166:notes"/>
          <p:cNvSpPr txBox="1"/>
          <p:nvPr>
            <p:ph idx="12" type="sldNum"/>
          </p:nvPr>
        </p:nvSpPr>
        <p:spPr>
          <a:xfrm>
            <a:off x="2913460" y="8685213"/>
            <a:ext cx="22290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We like to describe CAEL by saying we bring education and training perspectives to workforce challenges and workforce perspectives to education and training challenges.</a:t>
            </a:r>
            <a:endParaRPr sz="1100">
              <a:latin typeface="Noto Sans"/>
              <a:ea typeface="Noto Sans"/>
              <a:cs typeface="Noto Sans"/>
              <a:sym typeface="Noto Sans"/>
            </a:endParaRPr>
          </a:p>
          <a:p>
            <a:pPr indent="-298450" lvl="0" marL="457200" rtl="0" algn="l">
              <a:lnSpc>
                <a:spcPct val="115000"/>
              </a:lnSpc>
              <a:spcBef>
                <a:spcPts val="0"/>
              </a:spcBef>
              <a:spcAft>
                <a:spcPts val="0"/>
              </a:spcAft>
              <a:buSzPts val="1100"/>
              <a:buFont typeface="Noto Sans"/>
              <a:buChar char="●"/>
            </a:pPr>
            <a:r>
              <a:rPr lang="en-US" sz="1100">
                <a:latin typeface="Noto Sans"/>
                <a:ea typeface="Noto Sans"/>
                <a:cs typeface="Noto Sans"/>
                <a:sym typeface="Noto Sans"/>
              </a:rPr>
              <a:t>Because we occupy all the spaces where those areas intersect. </a:t>
            </a:r>
            <a:endParaRPr sz="1100">
              <a:latin typeface="Noto Sans"/>
              <a:ea typeface="Noto Sans"/>
              <a:cs typeface="Noto Sans"/>
              <a:sym typeface="Noto Sans"/>
            </a:endParaRPr>
          </a:p>
          <a:p>
            <a:pPr indent="0" lvl="0" marL="0" rtl="0" algn="l">
              <a:lnSpc>
                <a:spcPct val="100000"/>
              </a:lnSpc>
              <a:spcBef>
                <a:spcPts val="0"/>
              </a:spcBef>
              <a:spcAft>
                <a:spcPts val="0"/>
              </a:spcAft>
              <a:buSzPts val="1400"/>
              <a:buNone/>
            </a:pPr>
            <a:r>
              <a:t/>
            </a:r>
            <a:endParaRPr sz="700">
              <a:latin typeface="Times New Roman"/>
              <a:ea typeface="Times New Roman"/>
              <a:cs typeface="Times New Roman"/>
              <a:sym typeface="Times New Roman"/>
            </a:endParaRPr>
          </a:p>
        </p:txBody>
      </p:sp>
      <p:sp>
        <p:nvSpPr>
          <p:cNvPr id="146" name="Google Shape;146;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66ba02815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f66ba02815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Economic mobility isn’t possible if the different sectors of the talent development </a:t>
            </a:r>
            <a:r>
              <a:rPr lang="en-US" sz="1100">
                <a:latin typeface="Noto Sans"/>
                <a:ea typeface="Noto Sans"/>
                <a:cs typeface="Noto Sans"/>
                <a:sym typeface="Noto Sans"/>
              </a:rPr>
              <a:t>ecosystem</a:t>
            </a:r>
            <a:r>
              <a:rPr lang="en-US" sz="1100">
                <a:latin typeface="Noto Sans"/>
                <a:ea typeface="Noto Sans"/>
                <a:cs typeface="Noto Sans"/>
                <a:sym typeface="Noto Sans"/>
              </a:rPr>
              <a:t> become siloed niches. Seamless alignment </a:t>
            </a:r>
            <a:r>
              <a:rPr lang="en-US" sz="1100">
                <a:latin typeface="Noto Sans"/>
                <a:ea typeface="Noto Sans"/>
                <a:cs typeface="Noto Sans"/>
                <a:sym typeface="Noto Sans"/>
              </a:rPr>
              <a:t>requires a trusted intermediary that can accelerate links among education, training, and employment.</a:t>
            </a:r>
            <a:endParaRPr sz="1100">
              <a:latin typeface="Noto Sans"/>
              <a:ea typeface="Noto Sans"/>
              <a:cs typeface="Noto Sans"/>
              <a:sym typeface="Noto Sans"/>
            </a:endParaRPr>
          </a:p>
          <a:p>
            <a:pPr indent="-298450" lvl="0" marL="457200" rtl="0" algn="l">
              <a:lnSpc>
                <a:spcPct val="115000"/>
              </a:lnSpc>
              <a:spcBef>
                <a:spcPts val="0"/>
              </a:spcBef>
              <a:spcAft>
                <a:spcPts val="0"/>
              </a:spcAft>
              <a:buSzPts val="1100"/>
              <a:buFont typeface="Noto Sans"/>
              <a:buChar char="●"/>
            </a:pPr>
            <a:r>
              <a:rPr lang="en-US" sz="1100">
                <a:latin typeface="Noto Sans"/>
                <a:ea typeface="Noto Sans"/>
                <a:cs typeface="Noto Sans"/>
                <a:sym typeface="Noto Sans"/>
              </a:rPr>
              <a:t>That’s the role CAEL embraces.</a:t>
            </a:r>
            <a:endParaRPr sz="1100">
              <a:latin typeface="Noto Sans"/>
              <a:ea typeface="Noto Sans"/>
              <a:cs typeface="Noto Sans"/>
              <a:sym typeface="Noto Sans"/>
            </a:endParaRPr>
          </a:p>
          <a:p>
            <a:pPr indent="0" lvl="0" marL="0" rtl="0" algn="l">
              <a:lnSpc>
                <a:spcPct val="100000"/>
              </a:lnSpc>
              <a:spcBef>
                <a:spcPts val="0"/>
              </a:spcBef>
              <a:spcAft>
                <a:spcPts val="0"/>
              </a:spcAft>
              <a:buSzPts val="1400"/>
              <a:buNone/>
            </a:pPr>
            <a:r>
              <a:t/>
            </a:r>
            <a:endParaRPr/>
          </a:p>
        </p:txBody>
      </p:sp>
      <p:sp>
        <p:nvSpPr>
          <p:cNvPr id="161" name="Google Shape;161;g3f66ba02815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888c24ab1_1_571: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f888c24ab1_1_571: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175" name="Google Shape;175;g3f888c24ab1_1_571: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f888c24ab1_1_5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CAEL operates as the trusted bridge between postsecondary education and workforce development. We view higher ed and workforce development as both sides of the same coin rather than competing currencies in the talent development marketplace.</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We support the entire talent development ecosystem, because the worlds of learning and work are stronger together. That strength is only possible when adults can thrive in both. Broader community prosperity rests on individual economic mobility. </a:t>
            </a:r>
            <a:endParaRPr sz="1100">
              <a:latin typeface="Arial"/>
              <a:ea typeface="Arial"/>
              <a:cs typeface="Arial"/>
              <a:sym typeface="Arial"/>
            </a:endParaRPr>
          </a:p>
        </p:txBody>
      </p:sp>
      <p:sp>
        <p:nvSpPr>
          <p:cNvPr id="177" name="Google Shape;177;g3f888c24ab1_1_571: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f888c24ab1_1_5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a0a077a70_22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fa0a077a70_22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SzPts val="1100"/>
              <a:buFont typeface="Noto Sans"/>
              <a:buChar char="●"/>
            </a:pPr>
            <a:r>
              <a:rPr lang="en-US" sz="1100">
                <a:latin typeface="Noto Sans"/>
                <a:ea typeface="Noto Sans"/>
                <a:cs typeface="Noto Sans"/>
                <a:sym typeface="Noto Sans"/>
              </a:rPr>
              <a:t>Regional approaches that are inclusive of the full talent development ecosystem are key to sustaining the kind of growth you see on this slide, especially amid a rapidly evolving labor market that depends on a skilled, and diverse workforce. </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When looking at California's landscape, you'll see headlines celebrating more than 600,000 earn-and-learn opportunities created since 2019. That broad total encompasses everything from pre-apprenticeships to specialized workforce grant programs. Within formal Registered Apprenticeships specifically, the state maintains a nation-leading active footprint of more than 93,000 workers at any given time. For CAEL and the Machinists Institute, our focus is ensuring these earn-and-learn activities include pathways to college credentials.</a:t>
            </a:r>
            <a:endParaRPr sz="1100">
              <a:latin typeface="Noto Sans"/>
              <a:ea typeface="Noto Sans"/>
              <a:cs typeface="Noto Sans"/>
              <a:sym typeface="Noto Sans"/>
            </a:endParaRPr>
          </a:p>
          <a:p>
            <a:pPr indent="-298450" lvl="0" marL="457200" rtl="0" algn="l">
              <a:lnSpc>
                <a:spcPct val="115000"/>
              </a:lnSpc>
              <a:spcBef>
                <a:spcPts val="0"/>
              </a:spcBef>
              <a:spcAft>
                <a:spcPts val="0"/>
              </a:spcAft>
              <a:buSzPts val="1100"/>
              <a:buFont typeface="Noto Sans"/>
              <a:buChar char="●"/>
            </a:pPr>
            <a:r>
              <a:rPr lang="en-US" sz="1100">
                <a:latin typeface="Noto Sans"/>
                <a:ea typeface="Noto Sans"/>
                <a:cs typeface="Noto Sans"/>
                <a:sym typeface="Noto Sans"/>
              </a:rPr>
              <a:t>Programs like the California Apprenticeship Initiative and the Apprenticeship Pathway Demonstration Project were created specifically to integrate traditionally disparate trade and academic education and training pathways.</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California views registered apprenticeships not merely as on-the-job training, but as a primary strategy for achieving statewide postsecondary degree attainment, ensuring workers earn family-sustaining credentials without taking on college debt.</a:t>
            </a:r>
            <a:endParaRPr sz="1100">
              <a:latin typeface="Noto Sans"/>
              <a:ea typeface="Noto Sans"/>
              <a:cs typeface="Noto Sans"/>
              <a:sym typeface="Noto Sans"/>
            </a:endParaRPr>
          </a:p>
          <a:p>
            <a:pPr indent="0" lvl="0" marL="0" rtl="0" algn="l">
              <a:lnSpc>
                <a:spcPct val="115000"/>
              </a:lnSpc>
              <a:spcBef>
                <a:spcPts val="0"/>
              </a:spcBef>
              <a:spcAft>
                <a:spcPts val="0"/>
              </a:spcAft>
              <a:buNone/>
            </a:pPr>
            <a:r>
              <a:t/>
            </a:r>
            <a:endParaRPr sz="1100">
              <a:latin typeface="Noto Sans"/>
              <a:ea typeface="Noto Sans"/>
              <a:cs typeface="Noto Sans"/>
              <a:sym typeface="Noto Sans"/>
            </a:endParaRPr>
          </a:p>
          <a:p>
            <a:pPr indent="0" lvl="0" marL="0" rtl="0" algn="l">
              <a:lnSpc>
                <a:spcPct val="115000"/>
              </a:lnSpc>
              <a:spcBef>
                <a:spcPts val="0"/>
              </a:spcBef>
              <a:spcAft>
                <a:spcPts val="0"/>
              </a:spcAft>
              <a:buNone/>
            </a:pPr>
            <a:r>
              <a:rPr lang="en-US" sz="1100">
                <a:latin typeface="Noto Sans"/>
                <a:ea typeface="Noto Sans"/>
                <a:cs typeface="Noto Sans"/>
                <a:sym typeface="Noto Sans"/>
              </a:rPr>
              <a:t>Sources: </a:t>
            </a:r>
            <a:r>
              <a:rPr lang="en-US" sz="1100" u="sng">
                <a:solidFill>
                  <a:schemeClr val="hlink"/>
                </a:solidFill>
                <a:latin typeface="Noto Sans"/>
                <a:ea typeface="Noto Sans"/>
                <a:cs typeface="Noto Sans"/>
                <a:sym typeface="Noto Sans"/>
                <a:hlinkClick r:id="rId2"/>
              </a:rPr>
              <a:t>https://www.dir.ca.gov/DIRNews/2026/2026-18.html</a:t>
            </a:r>
            <a:r>
              <a:rPr lang="en-US" sz="1100">
                <a:latin typeface="Noto Sans"/>
                <a:ea typeface="Noto Sans"/>
                <a:cs typeface="Noto Sans"/>
                <a:sym typeface="Noto Sans"/>
              </a:rPr>
              <a:t> “California continues to lead the nation in career education by surpassing its original goal of reaching 500,000 apprenticeships by 2029. In his most recent State of the State address, Governor Gavin Newsom announced that California has added 600,000 earn-and-learn opportunities, furthering the administration’s commitment to building a strong and skilled workforce.”</a:t>
            </a:r>
            <a:br>
              <a:rPr lang="en-US" sz="1100">
                <a:latin typeface="Noto Sans"/>
                <a:ea typeface="Noto Sans"/>
                <a:cs typeface="Noto Sans"/>
                <a:sym typeface="Noto Sans"/>
              </a:rPr>
            </a:br>
            <a:br>
              <a:rPr lang="en-US" sz="1100">
                <a:latin typeface="Noto Sans"/>
                <a:ea typeface="Noto Sans"/>
                <a:cs typeface="Noto Sans"/>
                <a:sym typeface="Noto Sans"/>
              </a:rPr>
            </a:br>
            <a:r>
              <a:rPr lang="en-US" sz="1100" u="sng">
                <a:solidFill>
                  <a:schemeClr val="hlink"/>
                </a:solidFill>
                <a:latin typeface="Noto Sans"/>
                <a:ea typeface="Noto Sans"/>
                <a:cs typeface="Noto Sans"/>
                <a:sym typeface="Noto Sans"/>
                <a:hlinkClick r:id="rId3"/>
              </a:rPr>
              <a:t>https://www.gov.ca.gov/2026/04/28/governor-newsom-celebrates-national-apprenticeship-week-highlighting-pathways-connecting-workers-to-good-jobs/</a:t>
            </a:r>
            <a:r>
              <a:rPr lang="en-US" sz="1100">
                <a:latin typeface="Noto Sans"/>
                <a:ea typeface="Noto Sans"/>
                <a:cs typeface="Noto Sans"/>
                <a:sym typeface="Noto Sans"/>
              </a:rPr>
              <a:t>   “</a:t>
            </a:r>
            <a:r>
              <a:rPr lang="en-US" sz="1400">
                <a:solidFill>
                  <a:srgbClr val="323232"/>
                </a:solidFill>
                <a:highlight>
                  <a:srgbClr val="FAFAFA"/>
                </a:highlight>
                <a:latin typeface="Noto Sans"/>
                <a:ea typeface="Noto Sans"/>
                <a:cs typeface="Noto Sans"/>
                <a:sym typeface="Noto Sans"/>
              </a:rPr>
              <a:t>More than 674,735 opportunities, including over 245,000 registered apprenticeships have been created across the state since 2019.</a:t>
            </a:r>
            <a:r>
              <a:rPr lang="en-US" sz="1100">
                <a:latin typeface="Arial"/>
                <a:ea typeface="Arial"/>
                <a:cs typeface="Arial"/>
                <a:sym typeface="Arial"/>
              </a:rPr>
              <a:t> “</a:t>
            </a:r>
            <a:endParaRPr sz="1100">
              <a:latin typeface="Noto Sans"/>
              <a:ea typeface="Noto Sans"/>
              <a:cs typeface="Noto Sans"/>
              <a:sym typeface="Noto Sans"/>
            </a:endParaRPr>
          </a:p>
          <a:p>
            <a:pPr indent="0" lvl="0" marL="0" rtl="0" algn="l">
              <a:lnSpc>
                <a:spcPct val="115000"/>
              </a:lnSpc>
              <a:spcBef>
                <a:spcPts val="0"/>
              </a:spcBef>
              <a:spcAft>
                <a:spcPts val="0"/>
              </a:spcAft>
              <a:buNone/>
            </a:pPr>
            <a:r>
              <a:t/>
            </a:r>
            <a:endParaRPr sz="1100">
              <a:latin typeface="Noto Sans"/>
              <a:ea typeface="Noto Sans"/>
              <a:cs typeface="Noto Sans"/>
              <a:sym typeface="Noto Sans"/>
            </a:endParaRPr>
          </a:p>
          <a:p>
            <a:pPr indent="0" lvl="0" marL="0" rtl="0" algn="l">
              <a:lnSpc>
                <a:spcPct val="115000"/>
              </a:lnSpc>
              <a:spcBef>
                <a:spcPts val="0"/>
              </a:spcBef>
              <a:spcAft>
                <a:spcPts val="0"/>
              </a:spcAft>
              <a:buNone/>
            </a:pPr>
            <a:r>
              <a:t/>
            </a:r>
            <a:endParaRPr sz="1100">
              <a:latin typeface="Noto Sans"/>
              <a:ea typeface="Noto Sans"/>
              <a:cs typeface="Noto Sans"/>
              <a:sym typeface="Noto Sans"/>
            </a:endParaRPr>
          </a:p>
          <a:p>
            <a:pPr indent="0" lvl="0" marL="0" rtl="0" algn="l">
              <a:lnSpc>
                <a:spcPct val="115000"/>
              </a:lnSpc>
              <a:spcBef>
                <a:spcPts val="0"/>
              </a:spcBef>
              <a:spcAft>
                <a:spcPts val="0"/>
              </a:spcAft>
              <a:buNone/>
            </a:pPr>
            <a:r>
              <a:t/>
            </a:r>
            <a:endParaRPr sz="1100">
              <a:latin typeface="Noto Sans"/>
              <a:ea typeface="Noto Sans"/>
              <a:cs typeface="Noto Sans"/>
              <a:sym typeface="Noto Sans"/>
            </a:endParaRPr>
          </a:p>
        </p:txBody>
      </p:sp>
      <p:sp>
        <p:nvSpPr>
          <p:cNvPr id="203" name="Google Shape;203;g3fa0a077a70_22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888c24ab1_1_357: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f888c24ab1_1_357: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221" name="Google Shape;221;g3f888c24ab1_1_357: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f888c24ab1_1_3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The vast majority of apprenticeships are classified in "non-credit" or "terminal technical certificate" pathways. Expanding avenues to apprenticeships shouldn’t mean closing the door on a college degree. </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Either/or siloes</a:t>
            </a:r>
            <a:r>
              <a:rPr b="1" lang="en-US" sz="1100">
                <a:latin typeface="Noto Sans"/>
                <a:ea typeface="Noto Sans"/>
                <a:cs typeface="Noto Sans"/>
                <a:sym typeface="Noto Sans"/>
              </a:rPr>
              <a:t>: </a:t>
            </a:r>
            <a:r>
              <a:rPr lang="en-US" sz="1100">
                <a:latin typeface="Noto Sans"/>
                <a:ea typeface="Noto Sans"/>
                <a:cs typeface="Noto Sans"/>
                <a:sym typeface="Noto Sans"/>
              </a:rPr>
              <a:t>According to a </a:t>
            </a:r>
            <a:r>
              <a:rPr lang="en-US" sz="1100" u="sng">
                <a:solidFill>
                  <a:srgbClr val="0000FF"/>
                </a:solidFill>
                <a:latin typeface="Noto Sans"/>
                <a:ea typeface="Noto Sans"/>
                <a:cs typeface="Noto Sans"/>
                <a:sym typeface="Noto Sans"/>
                <a:hlinkClick r:id="rId2">
                  <a:extLst>
                    <a:ext uri="{A12FA001-AC4F-418D-AE19-62706E023703}">
                      <ahyp:hlinkClr val="tx"/>
                    </a:ext>
                  </a:extLst>
                </a:hlinkClick>
              </a:rPr>
              <a:t>Washington Student Achievement Council study</a:t>
            </a:r>
            <a:r>
              <a:rPr lang="en-US" sz="1100">
                <a:latin typeface="Noto Sans"/>
                <a:ea typeface="Noto Sans"/>
                <a:cs typeface="Noto Sans"/>
                <a:sym typeface="Noto Sans"/>
              </a:rPr>
              <a:t>, while 78% of registered apprentices take coursework at community colleges, only about 1% earn an associate degree and only 3% complete a postsecondary certificate due to a structural disconnect between trade instruction and academic degree requirements.</a:t>
            </a:r>
            <a:endParaRPr sz="1100"/>
          </a:p>
        </p:txBody>
      </p:sp>
      <p:sp>
        <p:nvSpPr>
          <p:cNvPr id="223" name="Google Shape;223;g3f888c24ab1_1_357: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f888c24ab1_1_3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888c24ab1_1_1032: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f888c24ab1_1_1032: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258" name="Google Shape;258;g3f888c24ab1_1_1032: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f888c24ab1_1_10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The adult learner/earner: Most adult learners are also workers, and vice versa. Just as working for a single lifelong employer has become increasingly rare, the need for lifelong learning has become increasingly critical. </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Learning doesn’t begin–or end–at the classroom door: When adult learners walk through those doors, they are carrying a lot more than their books (or laptops). They are carrying competencies worthy of recognition. Competencies they have gained through their labor and through living their lives. </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“Unbundling” education and training pathways: Breaking down “all or nothing” degree pathways into “bite-sized” learning experiences has great potential to address the "no experience, no job" catch-22. Stackable learning experiences deliver real-time upskilling that offers immediate workforce impact to employers while maintaining a path toward long-term educational attainment</a:t>
            </a:r>
            <a:endParaRPr/>
          </a:p>
        </p:txBody>
      </p:sp>
      <p:sp>
        <p:nvSpPr>
          <p:cNvPr id="260" name="Google Shape;260;g3f888c24ab1_1_1032: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f888c24ab1_1_10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a034a59bf_0_229:notes"/>
          <p:cNvSpPr/>
          <p:nvPr>
            <p:ph idx="2" type="sldImg"/>
          </p:nvPr>
        </p:nvSpPr>
        <p:spPr>
          <a:xfrm>
            <a:off x="51435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fa034a59bf_0_229:notes"/>
          <p:cNvSpPr txBox="1"/>
          <p:nvPr>
            <p:ph idx="1" type="body"/>
          </p:nvPr>
        </p:nvSpPr>
        <p:spPr>
          <a:xfrm>
            <a:off x="514350" y="4400550"/>
            <a:ext cx="41148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Calibri"/>
              <a:buNone/>
            </a:pPr>
            <a:r>
              <a:t/>
            </a:r>
            <a:endParaRPr b="1" i="1" strike="sngStrike"/>
          </a:p>
        </p:txBody>
      </p:sp>
      <p:sp>
        <p:nvSpPr>
          <p:cNvPr id="285" name="Google Shape;285;g3fa034a59bf_0_229:notes"/>
          <p:cNvSpPr txBox="1"/>
          <p:nvPr>
            <p:ph idx="12" type="sldNum"/>
          </p:nvPr>
        </p:nvSpPr>
        <p:spPr>
          <a:xfrm>
            <a:off x="2913460" y="8685213"/>
            <a:ext cx="22290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888c24ab1_1_1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f888c24ab1_1_1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Font typeface="Noto Sans Symbols"/>
              <a:buChar char="●"/>
            </a:pPr>
            <a:r>
              <a:rPr b="1" lang="en-US" sz="1100">
                <a:latin typeface="Noto Sans"/>
                <a:ea typeface="Noto Sans"/>
                <a:cs typeface="Noto Sans"/>
                <a:sym typeface="Noto Sans"/>
              </a:rPr>
              <a:t>Putting policy into practice</a:t>
            </a:r>
            <a:r>
              <a:rPr lang="en-US" sz="1100">
                <a:latin typeface="Noto Sans"/>
                <a:ea typeface="Noto Sans"/>
                <a:cs typeface="Noto Sans"/>
                <a:sym typeface="Noto Sans"/>
              </a:rPr>
              <a:t>: California’s state-level goals for expanding degree pathways and equitable economic mobility set an ambitious agenda, but local workforce boards carry the heavy lift of operationalizing that vision every day. Because CAEL works regularly alongside California’s postsecondary and workforce leadership, we serve as a bi-directional translator, helping translate state-level higher ed priorities into practical, degree-bearing pathways while elevating real-world workforce mechanics to the state policy table.</a:t>
            </a:r>
            <a:endParaRPr sz="1100">
              <a:latin typeface="Noto Sans"/>
              <a:ea typeface="Noto Sans"/>
              <a:cs typeface="Noto Sans"/>
              <a:sym typeface="Noto Sans"/>
            </a:endParaRPr>
          </a:p>
          <a:p>
            <a:pPr indent="0" lvl="0" marL="0" rtl="0" algn="l">
              <a:lnSpc>
                <a:spcPct val="100000"/>
              </a:lnSpc>
              <a:spcBef>
                <a:spcPts val="0"/>
              </a:spcBef>
              <a:spcAft>
                <a:spcPts val="0"/>
              </a:spcAft>
              <a:buSzPts val="1400"/>
              <a:buNone/>
            </a:pPr>
            <a:r>
              <a:t/>
            </a:r>
            <a:endParaRPr/>
          </a:p>
        </p:txBody>
      </p:sp>
      <p:sp>
        <p:nvSpPr>
          <p:cNvPr id="295" name="Google Shape;295;g3f888c24ab1_1_1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f888c24ab1_1_1523: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3f888c24ab1_1_1523: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09" name="Google Shape;309;g3f888c24ab1_1_1523: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f888c24ab1_1_15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100% completion rate</a:t>
            </a:r>
            <a:r>
              <a:rPr b="1" lang="en-US" sz="1100">
                <a:latin typeface="Noto Sans"/>
                <a:ea typeface="Noto Sans"/>
                <a:cs typeface="Noto Sans"/>
                <a:sym typeface="Noto Sans"/>
              </a:rPr>
              <a:t>:</a:t>
            </a:r>
            <a:r>
              <a:rPr lang="en-US" sz="1100">
                <a:latin typeface="Noto Sans"/>
                <a:ea typeface="Noto Sans"/>
                <a:cs typeface="Noto Sans"/>
                <a:sym typeface="Noto Sans"/>
              </a:rPr>
              <a:t> Under the CAEL–Machinists Institute-Renton Technical College model, 100% of apprentices who complete their four-year registered apprenticeship also earn an Associate of Applied Science in Multi-Occupational Trades.</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Zero extra cost or seat time: Competency-based crosswalks align workplace instruction directly with college General Education outcomes, eliminating tuition and additional seat time. </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Holistic wraparound support: Registering apprentices as postsecondary students grants them full access to campus supportive resources, including libraries, computer labs, and food pantries.</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Symbols"/>
              <a:buChar char="●"/>
            </a:pPr>
            <a:r>
              <a:rPr lang="en-US" sz="1100">
                <a:latin typeface="Noto Sans"/>
                <a:ea typeface="Noto Sans"/>
                <a:cs typeface="Noto Sans"/>
                <a:sym typeface="Noto Sans"/>
              </a:rPr>
              <a:t>Framing apprenticeships as education benefits: Elevating trade training to degree-granting pathways turns registered apprenticeships into powerful recruitment and retention tools for employers.</a:t>
            </a:r>
            <a:endParaRPr sz="1100">
              <a:latin typeface="Noto Sans"/>
              <a:ea typeface="Noto Sans"/>
              <a:cs typeface="Noto Sans"/>
              <a:sym typeface="Noto Sans"/>
            </a:endParaRPr>
          </a:p>
          <a:p>
            <a:pPr indent="0" lvl="0" marL="457200" rtl="0" algn="l">
              <a:spcBef>
                <a:spcPts val="0"/>
              </a:spcBef>
              <a:spcAft>
                <a:spcPts val="0"/>
              </a:spcAft>
              <a:buNone/>
            </a:pPr>
            <a:r>
              <a:t/>
            </a:r>
            <a:endParaRPr/>
          </a:p>
        </p:txBody>
      </p:sp>
      <p:sp>
        <p:nvSpPr>
          <p:cNvPr id="311" name="Google Shape;311;g3f888c24ab1_1_1523: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g3f888c24ab1_1_15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888c24ab1_1_1691: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f888c24ab1_1_1691: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39" name="Google Shape;339;g3f888c24ab1_1_1691: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f888c24ab1_1_16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Font typeface="Noto Sans"/>
              <a:buChar char="●"/>
            </a:pPr>
            <a:r>
              <a:rPr b="1" lang="en-US" sz="1100">
                <a:latin typeface="Noto Sans"/>
                <a:ea typeface="Noto Sans"/>
                <a:cs typeface="Noto Sans"/>
                <a:sym typeface="Noto Sans"/>
              </a:rPr>
              <a:t>Degree as "career insurance":</a:t>
            </a:r>
            <a:r>
              <a:rPr lang="en-US" sz="1100">
                <a:latin typeface="Noto Sans"/>
                <a:ea typeface="Noto Sans"/>
                <a:cs typeface="Noto Sans"/>
                <a:sym typeface="Noto Sans"/>
              </a:rPr>
              <a:t> As CAEL and the Machinists Union readily acknowledge, not every apprentice may want or need a college degree, especially at the onset of their career. But an associate degree serves as vital career insurance. As trade workers age or face physical wear-and-tear, holding an accredited degree unlocks future career forks in management, safety, supervision, or instruction.</a:t>
            </a:r>
            <a:endParaRPr/>
          </a:p>
        </p:txBody>
      </p:sp>
      <p:sp>
        <p:nvSpPr>
          <p:cNvPr id="341" name="Google Shape;341;g3f888c24ab1_1_1691: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g3f888c24ab1_1_16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888c24ab1_1_1872: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3f888c24ab1_1_1872: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63" name="Google Shape;363;g3f888c24ab1_1_1872: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f888c24ab1_1_18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National Research Validates the CAEL-Machinists Institute “Both/And” Solution </a:t>
            </a:r>
            <a:endParaRPr/>
          </a:p>
          <a:p>
            <a:pPr indent="-298450" lvl="0" marL="457200" rtl="0" algn="l">
              <a:lnSpc>
                <a:spcPct val="115000"/>
              </a:lnSpc>
              <a:spcBef>
                <a:spcPts val="0"/>
              </a:spcBef>
              <a:spcAft>
                <a:spcPts val="0"/>
              </a:spcAft>
              <a:buClr>
                <a:schemeClr val="dk1"/>
              </a:buClr>
              <a:buSzPts val="1100"/>
              <a:buFont typeface="Noto Sans"/>
              <a:buChar char="●"/>
            </a:pPr>
            <a:r>
              <a:rPr lang="en-US" sz="1100">
                <a:latin typeface="Noto Sans"/>
                <a:ea typeface="Noto Sans"/>
                <a:cs typeface="Noto Sans"/>
                <a:sym typeface="Noto Sans"/>
              </a:rPr>
              <a:t>We wanted to end with some national recognition of our approach and what’s needed going forward.</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a:buChar char="●"/>
            </a:pPr>
            <a:r>
              <a:rPr lang="en-US" sz="1100">
                <a:latin typeface="Noto Sans"/>
                <a:ea typeface="Noto Sans"/>
                <a:cs typeface="Noto Sans"/>
                <a:sym typeface="Noto Sans"/>
              </a:rPr>
              <a:t>In its national report, </a:t>
            </a:r>
            <a:r>
              <a:rPr b="1" lang="en-US" sz="1100">
                <a:latin typeface="Noto Sans"/>
                <a:ea typeface="Noto Sans"/>
                <a:cs typeface="Noto Sans"/>
                <a:sym typeface="Noto Sans"/>
              </a:rPr>
              <a:t>Apprenticeships for America </a:t>
            </a:r>
            <a:r>
              <a:rPr lang="en-US" sz="1100">
                <a:latin typeface="Noto Sans"/>
                <a:ea typeface="Noto Sans"/>
                <a:cs typeface="Noto Sans"/>
                <a:sym typeface="Noto Sans"/>
              </a:rPr>
              <a:t>((</a:t>
            </a:r>
            <a:r>
              <a:rPr i="1" lang="en-US" sz="1100">
                <a:latin typeface="Noto Sans"/>
                <a:ea typeface="Noto Sans"/>
                <a:cs typeface="Noto Sans"/>
                <a:sym typeface="Noto Sans"/>
              </a:rPr>
              <a:t>Learning from the Field: Making Apprenticeship Degrees Work at Scale</a:t>
            </a:r>
            <a:r>
              <a:rPr lang="en-US" sz="1100">
                <a:latin typeface="Noto Sans"/>
                <a:ea typeface="Noto Sans"/>
                <a:cs typeface="Noto Sans"/>
                <a:sym typeface="Noto Sans"/>
              </a:rPr>
              <a:t>), AFA highlights the CAEL–Machinists Institute–Renton Technical College partnership as a key example of linking apprenticeships and degrees.</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a:buChar char="●"/>
            </a:pPr>
            <a:r>
              <a:rPr b="1" lang="en-US" sz="1100">
                <a:latin typeface="Noto Sans"/>
                <a:ea typeface="Noto Sans"/>
                <a:cs typeface="Noto Sans"/>
                <a:sym typeface="Noto Sans"/>
              </a:rPr>
              <a:t>Most innovative model</a:t>
            </a:r>
            <a:r>
              <a:rPr lang="en-US" sz="1100">
                <a:latin typeface="Noto Sans"/>
                <a:ea typeface="Noto Sans"/>
                <a:cs typeface="Noto Sans"/>
                <a:sym typeface="Noto Sans"/>
              </a:rPr>
              <a:t>: The AFA categorizes our approach within the Apprenticeship-Embedded Degree model, the most innovative model of aligning apprenticeships with degree programs, which “unlocks the full potential of work-based learning by formally recognizing and credentialing competencies developed through real-world experience.” The embedded model is considered the most innovative because it utilizes a competency-based approach to weave academic requirements directly into apprenticeship training, such as embedding general education requirements right into technical instruction, rather than requiring workers to sit through traditional, separate classes.</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a:buChar char="●"/>
            </a:pPr>
            <a:r>
              <a:rPr b="1" lang="en-US" sz="1100">
                <a:latin typeface="Noto Sans"/>
                <a:ea typeface="Noto Sans"/>
                <a:cs typeface="Noto Sans"/>
                <a:sym typeface="Noto Sans"/>
              </a:rPr>
              <a:t>Urban Institute:</a:t>
            </a:r>
            <a:r>
              <a:rPr lang="en-US" sz="1100">
                <a:latin typeface="Noto Sans"/>
                <a:ea typeface="Noto Sans"/>
                <a:cs typeface="Noto Sans"/>
                <a:sym typeface="Noto Sans"/>
              </a:rPr>
              <a:t> The Urban Institute report (</a:t>
            </a:r>
            <a:r>
              <a:rPr i="1" lang="en-US" sz="1100">
                <a:latin typeface="Noto Sans"/>
                <a:ea typeface="Noto Sans"/>
                <a:cs typeface="Noto Sans"/>
                <a:sym typeface="Noto Sans"/>
              </a:rPr>
              <a:t>Setting the Stage for Scaling Apprenticeship Degrees</a:t>
            </a:r>
            <a:r>
              <a:rPr lang="en-US" sz="1100">
                <a:latin typeface="Noto Sans"/>
                <a:ea typeface="Noto Sans"/>
                <a:cs typeface="Noto Sans"/>
                <a:sym typeface="Noto Sans"/>
              </a:rPr>
              <a:t>), which CAEL experts contributed to, also argues for expanding and scaling high-quality apprenticeship-degree pathways as a high-potential solution to align higher education with workforce development. It highlights that fewer than 10% of U.S. higher education institutions offer apprenticeship degrees, citing our work as a national "emerging innovation."</a:t>
            </a:r>
            <a:endParaRPr sz="1100">
              <a:latin typeface="Noto Sans"/>
              <a:ea typeface="Noto Sans"/>
              <a:cs typeface="Noto Sans"/>
              <a:sym typeface="Noto Sans"/>
            </a:endParaRPr>
          </a:p>
          <a:p>
            <a:pPr indent="-298450" lvl="0" marL="457200" rtl="0" algn="l">
              <a:lnSpc>
                <a:spcPct val="115000"/>
              </a:lnSpc>
              <a:spcBef>
                <a:spcPts val="0"/>
              </a:spcBef>
              <a:spcAft>
                <a:spcPts val="0"/>
              </a:spcAft>
              <a:buClr>
                <a:schemeClr val="dk1"/>
              </a:buClr>
              <a:buSzPts val="1100"/>
              <a:buFont typeface="Noto Sans"/>
              <a:buChar char="●"/>
            </a:pPr>
            <a:r>
              <a:rPr b="1" lang="en-US" sz="1100">
                <a:latin typeface="Noto Sans"/>
                <a:ea typeface="Noto Sans"/>
                <a:cs typeface="Noto Sans"/>
                <a:sym typeface="Noto Sans"/>
              </a:rPr>
              <a:t>Solving the multi-stakeholder bottleneck:</a:t>
            </a:r>
            <a:r>
              <a:rPr lang="en-US" sz="1100">
                <a:latin typeface="Noto Sans"/>
                <a:ea typeface="Noto Sans"/>
                <a:cs typeface="Noto Sans"/>
                <a:sym typeface="Noto Sans"/>
              </a:rPr>
              <a:t> Both reports conclude that scaling apprenticeship-degree programs is not possible without aligning chronically siloed stakeholders: unions, academic faculty, registrars, workforce developers, employers, and accrediting bodies. CAEL acts as the neutral "solutions architect," bringing deep technical expertise in credit for prior learning, competency-based career pathways mapping, and higher education operations to orchestrate seamless cross-system coordination.</a:t>
            </a:r>
            <a:endParaRPr/>
          </a:p>
        </p:txBody>
      </p:sp>
      <p:sp>
        <p:nvSpPr>
          <p:cNvPr id="365" name="Google Shape;365;g3f888c24ab1_1_1872: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3f888c24ab1_1_18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a034a59bf_0_386: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You are a key piece of the cross-sector </a:t>
            </a:r>
            <a:r>
              <a:rPr lang="en-US"/>
              <a:t>collaboration</a:t>
            </a:r>
            <a:r>
              <a:rPr lang="en-US"/>
              <a:t> puzzle, so thank you, and I hope you’ll connect with us.</a:t>
            </a:r>
            <a:endParaRPr/>
          </a:p>
        </p:txBody>
      </p:sp>
      <p:sp>
        <p:nvSpPr>
          <p:cNvPr id="404" name="Google Shape;404;g3fa034a59bf_0_386: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a034a59b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fa034a59b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g3fa034a59b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 name="Shape 11"/>
        <p:cNvGrpSpPr/>
        <p:nvPr/>
      </p:nvGrpSpPr>
      <p:grpSpPr>
        <a:xfrm>
          <a:off x="0" y="0"/>
          <a:ext cx="0" cy="0"/>
          <a:chOff x="0" y="0"/>
          <a:chExt cx="0" cy="0"/>
        </a:xfrm>
      </p:grpSpPr>
      <p:sp>
        <p:nvSpPr>
          <p:cNvPr id="12" name="Google Shape;12;p3"/>
          <p:cNvSpPr/>
          <p:nvPr/>
        </p:nvSpPr>
        <p:spPr>
          <a:xfrm>
            <a:off x="330215" y="460805"/>
            <a:ext cx="8482275" cy="891900"/>
          </a:xfrm>
          <a:prstGeom prst="rect">
            <a:avLst/>
          </a:prstGeom>
          <a:solidFill>
            <a:schemeClr val="accent1"/>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Clr>
                <a:schemeClr val="dk1"/>
              </a:buClr>
              <a:buSzPts val="1900"/>
              <a:buFont typeface="Arial"/>
              <a:buNone/>
            </a:pPr>
            <a:r>
              <a:t/>
            </a:r>
            <a:endParaRPr b="0" i="0" sz="1425" u="none" cap="none" strike="noStrike">
              <a:solidFill>
                <a:schemeClr val="dk1"/>
              </a:solidFill>
              <a:latin typeface="Arial"/>
              <a:ea typeface="Arial"/>
              <a:cs typeface="Arial"/>
              <a:sym typeface="Arial"/>
            </a:endParaRPr>
          </a:p>
        </p:txBody>
      </p:sp>
      <p:sp>
        <p:nvSpPr>
          <p:cNvPr id="13" name="Google Shape;13;p3"/>
          <p:cNvSpPr txBox="1"/>
          <p:nvPr>
            <p:ph type="title"/>
          </p:nvPr>
        </p:nvSpPr>
        <p:spPr>
          <a:xfrm>
            <a:off x="435894" y="526617"/>
            <a:ext cx="8272125" cy="601875"/>
          </a:xfrm>
          <a:prstGeom prst="rect">
            <a:avLst/>
          </a:prstGeom>
          <a:noFill/>
          <a:ln>
            <a:noFill/>
          </a:ln>
        </p:spPr>
        <p:txBody>
          <a:bodyPr anchorCtr="0" anchor="b" bIns="45700" lIns="91425" spcFirstLastPara="1" rIns="91425" wrap="square" tIns="45700">
            <a:normAutofit/>
          </a:bodyPr>
          <a:lstStyle>
            <a:lvl1pPr lvl="0" marR="0" rtl="0" algn="l">
              <a:lnSpc>
                <a:spcPct val="80000"/>
              </a:lnSpc>
              <a:spcBef>
                <a:spcPts val="0"/>
              </a:spcBef>
              <a:spcAft>
                <a:spcPts val="0"/>
              </a:spcAft>
              <a:buClr>
                <a:schemeClr val="lt1"/>
              </a:buClr>
              <a:buSzPts val="2800"/>
              <a:buFont typeface="Gill Sans"/>
              <a:buNone/>
              <a:defRPr b="0" i="0" sz="1400" u="none" cap="none" strike="noStrike">
                <a:solidFill>
                  <a:srgbClr val="000000"/>
                </a:solidFill>
                <a:latin typeface="Noto Sans"/>
                <a:ea typeface="Noto Sans"/>
                <a:cs typeface="Noto Sans"/>
                <a:sym typeface="Noto Sans"/>
              </a:defRPr>
            </a:lvl1pPr>
            <a:lvl2pPr lvl="1" marR="0" rtl="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2pPr>
            <a:lvl3pPr lvl="2" marR="0" rtl="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3pPr>
            <a:lvl4pPr lvl="3" marR="0" rtl="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4pPr>
            <a:lvl5pPr lvl="4" marR="0" rtl="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5pPr>
            <a:lvl6pPr lvl="5" marR="0" rtl="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6pPr>
            <a:lvl7pPr lvl="6" marR="0" rtl="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7pPr>
            <a:lvl8pPr lvl="7" marR="0" rtl="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8pPr>
            <a:lvl9pPr lvl="8" marR="0" rtl="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3"/>
          <p:cNvSpPr txBox="1"/>
          <p:nvPr>
            <p:ph idx="1" type="body"/>
          </p:nvPr>
        </p:nvSpPr>
        <p:spPr>
          <a:xfrm>
            <a:off x="435894" y="1635372"/>
            <a:ext cx="8272125" cy="2758725"/>
          </a:xfrm>
          <a:prstGeom prst="rect">
            <a:avLst/>
          </a:prstGeom>
          <a:noFill/>
          <a:ln>
            <a:noFill/>
          </a:ln>
        </p:spPr>
        <p:txBody>
          <a:bodyPr anchorCtr="0" anchor="ctr" bIns="45700" lIns="91425" spcFirstLastPara="1" rIns="91425" wrap="square" tIns="45700">
            <a:normAutofit/>
          </a:bodyPr>
          <a:lstStyle>
            <a:lvl1pPr indent="-330200" lvl="0" marL="457200" marR="0" rtl="0" algn="l">
              <a:lnSpc>
                <a:spcPct val="100000"/>
              </a:lnSpc>
              <a:spcBef>
                <a:spcPts val="300"/>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1pPr>
            <a:lvl2pPr indent="-330200" lvl="1" marL="914400" marR="0" rtl="0" algn="l">
              <a:lnSpc>
                <a:spcPct val="100000"/>
              </a:lnSpc>
              <a:spcBef>
                <a:spcPts val="525"/>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2pPr>
            <a:lvl3pPr indent="-330200" lvl="2" marL="1371600" marR="0" rtl="0" algn="l">
              <a:lnSpc>
                <a:spcPct val="100000"/>
              </a:lnSpc>
              <a:spcBef>
                <a:spcPts val="525"/>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3pPr>
            <a:lvl4pPr indent="-330200" lvl="3" marL="1828800" marR="0" rtl="0" algn="l">
              <a:lnSpc>
                <a:spcPct val="100000"/>
              </a:lnSpc>
              <a:spcBef>
                <a:spcPts val="525"/>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4pPr>
            <a:lvl5pPr indent="-330200" lvl="4" marL="2286000" marR="0" rtl="0" algn="l">
              <a:lnSpc>
                <a:spcPct val="100000"/>
              </a:lnSpc>
              <a:spcBef>
                <a:spcPts val="525"/>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5pPr>
            <a:lvl6pPr indent="-330200" lvl="5" marL="2743200" marR="0" rtl="0" algn="l">
              <a:lnSpc>
                <a:spcPct val="100000"/>
              </a:lnSpc>
              <a:spcBef>
                <a:spcPts val="525"/>
              </a:spcBef>
              <a:spcAft>
                <a:spcPts val="0"/>
              </a:spcAft>
              <a:buClr>
                <a:srgbClr val="E3E3E4"/>
              </a:buClr>
              <a:buSzPts val="1600"/>
              <a:buFont typeface="Libre Franklin"/>
              <a:buChar char="◼"/>
              <a:defRPr b="0" i="0" sz="1400" u="none" cap="none" strike="noStrike">
                <a:solidFill>
                  <a:srgbClr val="000000"/>
                </a:solidFill>
                <a:latin typeface="Arial"/>
                <a:ea typeface="Arial"/>
                <a:cs typeface="Arial"/>
                <a:sym typeface="Arial"/>
              </a:defRPr>
            </a:lvl6pPr>
            <a:lvl7pPr indent="-330200" lvl="6" marL="3200400" marR="0" rtl="0" algn="l">
              <a:lnSpc>
                <a:spcPct val="100000"/>
              </a:lnSpc>
              <a:spcBef>
                <a:spcPts val="525"/>
              </a:spcBef>
              <a:spcAft>
                <a:spcPts val="0"/>
              </a:spcAft>
              <a:buClr>
                <a:srgbClr val="E3E3E4"/>
              </a:buClr>
              <a:buSzPts val="1600"/>
              <a:buFont typeface="Libre Franklin"/>
              <a:buChar char="◼"/>
              <a:defRPr b="0" i="0" sz="1400" u="none" cap="none" strike="noStrike">
                <a:solidFill>
                  <a:srgbClr val="000000"/>
                </a:solidFill>
                <a:latin typeface="Arial"/>
                <a:ea typeface="Arial"/>
                <a:cs typeface="Arial"/>
                <a:sym typeface="Arial"/>
              </a:defRPr>
            </a:lvl7pPr>
            <a:lvl8pPr indent="-330200" lvl="7" marL="3657600" marR="0" rtl="0" algn="l">
              <a:lnSpc>
                <a:spcPct val="100000"/>
              </a:lnSpc>
              <a:spcBef>
                <a:spcPts val="525"/>
              </a:spcBef>
              <a:spcAft>
                <a:spcPts val="0"/>
              </a:spcAft>
              <a:buClr>
                <a:srgbClr val="E3E3E4"/>
              </a:buClr>
              <a:buSzPts val="1600"/>
              <a:buFont typeface="Libre Franklin"/>
              <a:buChar char="◼"/>
              <a:defRPr b="0" i="0" sz="1400" u="none" cap="none" strike="noStrike">
                <a:solidFill>
                  <a:srgbClr val="000000"/>
                </a:solidFill>
                <a:latin typeface="Arial"/>
                <a:ea typeface="Arial"/>
                <a:cs typeface="Arial"/>
                <a:sym typeface="Arial"/>
              </a:defRPr>
            </a:lvl8pPr>
            <a:lvl9pPr indent="-330200" lvl="8" marL="4114800" marR="0" rtl="0" algn="l">
              <a:lnSpc>
                <a:spcPct val="100000"/>
              </a:lnSpc>
              <a:spcBef>
                <a:spcPts val="525"/>
              </a:spcBef>
              <a:spcAft>
                <a:spcPts val="525"/>
              </a:spcAft>
              <a:buClr>
                <a:srgbClr val="E3E3E4"/>
              </a:buClr>
              <a:buSzPts val="1600"/>
              <a:buFont typeface="Libre Franklin"/>
              <a:buChar char="◼"/>
              <a:defRPr b="0" i="0" sz="1400" u="none" cap="none" strike="noStrike">
                <a:solidFill>
                  <a:srgbClr val="000000"/>
                </a:solidFill>
                <a:latin typeface="Arial"/>
                <a:ea typeface="Arial"/>
                <a:cs typeface="Arial"/>
                <a:sym typeface="Arial"/>
              </a:defRPr>
            </a:lvl9pPr>
          </a:lstStyle>
          <a:p/>
        </p:txBody>
      </p:sp>
      <p:sp>
        <p:nvSpPr>
          <p:cNvPr id="15" name="Google Shape;15;p3"/>
          <p:cNvSpPr txBox="1"/>
          <p:nvPr>
            <p:ph idx="10" type="dt"/>
          </p:nvPr>
        </p:nvSpPr>
        <p:spPr>
          <a:xfrm>
            <a:off x="5704463" y="4467103"/>
            <a:ext cx="2133675" cy="2738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9pPr>
          </a:lstStyle>
          <a:p/>
        </p:txBody>
      </p:sp>
      <p:sp>
        <p:nvSpPr>
          <p:cNvPr id="16" name="Google Shape;16;p3"/>
          <p:cNvSpPr txBox="1"/>
          <p:nvPr>
            <p:ph idx="11" type="ftr"/>
          </p:nvPr>
        </p:nvSpPr>
        <p:spPr>
          <a:xfrm>
            <a:off x="435894" y="4463858"/>
            <a:ext cx="5187825" cy="2738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9pPr>
          </a:lstStyle>
          <a:p/>
        </p:txBody>
      </p:sp>
      <p:sp>
        <p:nvSpPr>
          <p:cNvPr id="17" name="Google Shape;17;p3"/>
          <p:cNvSpPr txBox="1"/>
          <p:nvPr>
            <p:ph idx="12" type="sldNum"/>
          </p:nvPr>
        </p:nvSpPr>
        <p:spPr>
          <a:xfrm>
            <a:off x="7918725" y="4467103"/>
            <a:ext cx="789300" cy="2738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1pPr>
            <a:lvl2pPr indent="0" lvl="1"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2pPr>
            <a:lvl3pPr indent="0" lvl="2"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3pPr>
            <a:lvl4pPr indent="0" lvl="3"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4pPr>
            <a:lvl5pPr indent="0" lvl="4"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5pPr>
            <a:lvl6pPr indent="0" lvl="5"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6pPr>
            <a:lvl7pPr indent="0" lvl="6"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7pPr>
            <a:lvl8pPr indent="0" lvl="7"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8pPr>
            <a:lvl9pPr indent="0" lvl="8" marL="0" marR="0" rtl="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C">
  <p:cSld name="Generated Slide 1_1_1_TITLEANDBULLETS_C">
    <p:spTree>
      <p:nvGrpSpPr>
        <p:cNvPr id="20" name="Shape 20"/>
        <p:cNvGrpSpPr/>
        <p:nvPr/>
      </p:nvGrpSpPr>
      <p:grpSpPr>
        <a:xfrm>
          <a:off x="0" y="0"/>
          <a:ext cx="0" cy="0"/>
          <a:chOff x="0" y="0"/>
          <a:chExt cx="0" cy="0"/>
        </a:xfrm>
      </p:grpSpPr>
      <p:sp>
        <p:nvSpPr>
          <p:cNvPr id="21" name="Google Shape;21;p5"/>
          <p:cNvSpPr txBox="1"/>
          <p:nvPr>
            <p:ph type="title"/>
          </p:nvPr>
        </p:nvSpPr>
        <p:spPr>
          <a:xfrm>
            <a:off x="327575" y="289525"/>
            <a:ext cx="3548100" cy="1093500"/>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p5"/>
          <p:cNvSpPr txBox="1"/>
          <p:nvPr>
            <p:ph idx="1" type="body"/>
          </p:nvPr>
        </p:nvSpPr>
        <p:spPr>
          <a:xfrm>
            <a:off x="327575" y="1565671"/>
            <a:ext cx="3548100" cy="3288300"/>
          </a:xfrm>
          <a:prstGeom prst="rect">
            <a:avLst/>
          </a:prstGeom>
          <a:noFill/>
          <a:ln>
            <a:noFill/>
          </a:ln>
        </p:spPr>
        <p:txBody>
          <a:bodyPr anchorCtr="0" anchor="t" bIns="0" lIns="0" spcFirstLastPara="1" rIns="0" wrap="square" tIns="0">
            <a:normAutofit/>
          </a:bodyPr>
          <a:lstStyle>
            <a:lvl1pPr indent="-342900" lvl="0" marL="457200" marR="0" rtl="0" algn="l">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3" name="Google Shape;23;p5"/>
          <p:cNvSpPr/>
          <p:nvPr>
            <p:ph idx="2" type="pic"/>
          </p:nvPr>
        </p:nvSpPr>
        <p:spPr>
          <a:xfrm>
            <a:off x="4298349" y="316350"/>
            <a:ext cx="4510800" cy="4510800"/>
          </a:xfrm>
          <a:prstGeom prst="roundRect">
            <a:avLst>
              <a:gd fmla="val 50000"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type="tx">
  <p:cSld name="TITLE_AND_BODY">
    <p:bg>
      <p:bgPr>
        <a:solidFill>
          <a:srgbClr val="FFFFFF"/>
        </a:solidFill>
      </p:bgPr>
    </p:bg>
    <p:spTree>
      <p:nvGrpSpPr>
        <p:cNvPr id="24" name="Shape 24"/>
        <p:cNvGrpSpPr/>
        <p:nvPr/>
      </p:nvGrpSpPr>
      <p:grpSpPr>
        <a:xfrm>
          <a:off x="0" y="0"/>
          <a:ext cx="0" cy="0"/>
          <a:chOff x="0" y="0"/>
          <a:chExt cx="0" cy="0"/>
        </a:xfrm>
      </p:grpSpPr>
      <p:sp>
        <p:nvSpPr>
          <p:cNvPr id="25" name="Google Shape;25;p6"/>
          <p:cNvSpPr txBox="1"/>
          <p:nvPr>
            <p:ph idx="1" type="body"/>
          </p:nvPr>
        </p:nvSpPr>
        <p:spPr>
          <a:xfrm>
            <a:off x="485775" y="4858457"/>
            <a:ext cx="8201025" cy="160875"/>
          </a:xfrm>
          <a:prstGeom prst="rect">
            <a:avLst/>
          </a:prstGeom>
          <a:noFill/>
          <a:ln>
            <a:noFill/>
          </a:ln>
        </p:spPr>
        <p:txBody>
          <a:bodyPr anchorCtr="0" anchor="t" bIns="50800" lIns="50800" spcFirstLastPara="1" rIns="50800" wrap="square" tIns="50800">
            <a:normAutofit/>
          </a:bodyPr>
          <a:lstStyle>
            <a:lvl1pPr indent="-228600" lvl="0" marL="457200" marR="0" rtl="0" algn="l">
              <a:lnSpc>
                <a:spcPct val="100000"/>
              </a:lnSpc>
              <a:spcBef>
                <a:spcPts val="1200"/>
              </a:spcBef>
              <a:spcAft>
                <a:spcPts val="0"/>
              </a:spcAft>
              <a:buClr>
                <a:srgbClr val="000000"/>
              </a:buClr>
              <a:buSzPts val="1000"/>
              <a:buFont typeface="Libre Franklin"/>
              <a:buNone/>
              <a:defRPr b="0" i="0" sz="750" u="none" cap="none" strike="noStrike">
                <a:solidFill>
                  <a:srgbClr val="000000"/>
                </a:solidFill>
                <a:latin typeface="Libre Franklin"/>
                <a:ea typeface="Libre Franklin"/>
                <a:cs typeface="Libre Franklin"/>
                <a:sym typeface="Libre Franklin"/>
              </a:defRPr>
            </a:lvl1pPr>
            <a:lvl2pPr indent="-228600" lvl="1" marL="9144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p6"/>
          <p:cNvSpPr txBox="1"/>
          <p:nvPr>
            <p:ph idx="2" type="body"/>
          </p:nvPr>
        </p:nvSpPr>
        <p:spPr>
          <a:xfrm>
            <a:off x="485775" y="1328795"/>
            <a:ext cx="8201025" cy="260325"/>
          </a:xfrm>
          <a:prstGeom prst="rect">
            <a:avLst/>
          </a:prstGeom>
          <a:noFill/>
          <a:ln>
            <a:noFill/>
          </a:ln>
        </p:spPr>
        <p:txBody>
          <a:bodyPr anchorCtr="0" anchor="t" bIns="50800" lIns="50800" spcFirstLastPara="1" rIns="50800" wrap="square" tIns="50800">
            <a:normAutofit/>
          </a:bodyPr>
          <a:lstStyle>
            <a:lvl1pPr indent="-228600" lvl="0" marL="457200" marR="0" rtl="0" algn="l">
              <a:lnSpc>
                <a:spcPct val="100000"/>
              </a:lnSpc>
              <a:spcBef>
                <a:spcPts val="0"/>
              </a:spcBef>
              <a:spcAft>
                <a:spcPts val="0"/>
              </a:spcAft>
              <a:buClr>
                <a:srgbClr val="626366"/>
              </a:buClr>
              <a:buSzPts val="1750"/>
              <a:buFont typeface="Calibri"/>
              <a:buNone/>
              <a:defRPr b="0" i="0" sz="1400" u="none" cap="none" strike="noStrike">
                <a:solidFill>
                  <a:srgbClr val="626366"/>
                </a:solidFill>
                <a:latin typeface="Arial"/>
                <a:ea typeface="Arial"/>
                <a:cs typeface="Arial"/>
                <a:sym typeface="Arial"/>
              </a:defRPr>
            </a:lvl1pPr>
            <a:lvl2pPr indent="-228600" lvl="1" marL="9144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9pPr>
          </a:lstStyle>
          <a:p/>
        </p:txBody>
      </p:sp>
      <p:sp>
        <p:nvSpPr>
          <p:cNvPr id="27" name="Google Shape;27;p6"/>
          <p:cNvSpPr/>
          <p:nvPr/>
        </p:nvSpPr>
        <p:spPr>
          <a:xfrm>
            <a:off x="0" y="371456"/>
            <a:ext cx="9144000" cy="104850"/>
          </a:xfrm>
          <a:prstGeom prst="rect">
            <a:avLst/>
          </a:prstGeom>
          <a:solidFill>
            <a:schemeClr val="accent4"/>
          </a:solid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825" u="none" cap="none" strike="noStrike">
              <a:solidFill>
                <a:schemeClr val="dk1"/>
              </a:solidFill>
              <a:latin typeface="Calibri"/>
              <a:ea typeface="Calibri"/>
              <a:cs typeface="Calibri"/>
              <a:sym typeface="Calibri"/>
            </a:endParaRPr>
          </a:p>
        </p:txBody>
      </p:sp>
      <p:sp>
        <p:nvSpPr>
          <p:cNvPr id="28" name="Google Shape;28;p6"/>
          <p:cNvSpPr/>
          <p:nvPr/>
        </p:nvSpPr>
        <p:spPr>
          <a:xfrm>
            <a:off x="0" y="371456"/>
            <a:ext cx="9144000" cy="104850"/>
          </a:xfrm>
          <a:prstGeom prst="rect">
            <a:avLst/>
          </a:prstGeom>
          <a:gradFill>
            <a:gsLst>
              <a:gs pos="0">
                <a:srgbClr val="981C1F"/>
              </a:gs>
              <a:gs pos="50629">
                <a:srgbClr val="BBBDBF"/>
              </a:gs>
              <a:gs pos="100000">
                <a:srgbClr val="273970"/>
              </a:gs>
            </a:gsLst>
            <a:lin ang="18000042" scaled="0"/>
          </a:grad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825" u="none" cap="none" strike="noStrike">
              <a:solidFill>
                <a:schemeClr val="dk1"/>
              </a:solidFill>
              <a:latin typeface="Calibri"/>
              <a:ea typeface="Calibri"/>
              <a:cs typeface="Calibri"/>
              <a:sym typeface="Calibri"/>
            </a:endParaRPr>
          </a:p>
        </p:txBody>
      </p:sp>
      <p:sp>
        <p:nvSpPr>
          <p:cNvPr id="29" name="Google Shape;29;p6"/>
          <p:cNvSpPr txBox="1"/>
          <p:nvPr>
            <p:ph type="title"/>
          </p:nvPr>
        </p:nvSpPr>
        <p:spPr>
          <a:xfrm>
            <a:off x="485775" y="607762"/>
            <a:ext cx="8201025" cy="666675"/>
          </a:xfrm>
          <a:prstGeom prst="rect">
            <a:avLst/>
          </a:prstGeom>
          <a:noFill/>
          <a:ln>
            <a:noFill/>
          </a:ln>
        </p:spPr>
        <p:txBody>
          <a:bodyPr anchorCtr="0" anchor="t" bIns="50800" lIns="50800" spcFirstLastPara="1" rIns="50800" wrap="square" tIns="50800">
            <a:normAutofit/>
          </a:bodyPr>
          <a:lstStyle>
            <a:lvl1pPr lvl="0" marR="0" rtl="0" algn="l">
              <a:lnSpc>
                <a:spcPct val="80000"/>
              </a:lnSpc>
              <a:spcBef>
                <a:spcPts val="0"/>
              </a:spcBef>
              <a:spcAft>
                <a:spcPts val="0"/>
              </a:spcAft>
              <a:buClr>
                <a:srgbClr val="273970"/>
              </a:buClr>
              <a:buSzPts val="5000"/>
              <a:buFont typeface="Calibri"/>
              <a:buNone/>
              <a:defRPr b="0" i="0" sz="3750" u="none" cap="none" strike="noStrike">
                <a:solidFill>
                  <a:srgbClr val="273970"/>
                </a:solidFill>
                <a:latin typeface="Arial"/>
                <a:ea typeface="Arial"/>
                <a:cs typeface="Arial"/>
                <a:sym typeface="Arial"/>
              </a:defRPr>
            </a:lvl1pPr>
            <a:lvl2pPr lvl="1" marR="0" rtl="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2pPr>
            <a:lvl3pPr lvl="2" marR="0" rtl="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3pPr>
            <a:lvl4pPr lvl="3" marR="0" rtl="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4pPr>
            <a:lvl5pPr lvl="4" marR="0" rtl="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5pPr>
            <a:lvl6pPr lvl="5" marR="0" rtl="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6pPr>
            <a:lvl7pPr lvl="6" marR="0" rtl="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7pPr>
            <a:lvl8pPr lvl="7" marR="0" rtl="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8pPr>
            <a:lvl9pPr lvl="8" marR="0" rtl="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p6"/>
          <p:cNvSpPr txBox="1"/>
          <p:nvPr>
            <p:ph idx="12" type="sldNum"/>
          </p:nvPr>
        </p:nvSpPr>
        <p:spPr>
          <a:xfrm>
            <a:off x="8346688" y="4760912"/>
            <a:ext cx="341325" cy="2738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1pPr>
            <a:lvl2pPr indent="0" lvl="1"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2pPr>
            <a:lvl3pPr indent="0" lvl="2"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3pPr>
            <a:lvl4pPr indent="0" lvl="3"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4pPr>
            <a:lvl5pPr indent="0" lvl="4"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5pPr>
            <a:lvl6pPr indent="0" lvl="5"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6pPr>
            <a:lvl7pPr indent="0" lvl="6"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7pPr>
            <a:lvl8pPr indent="0" lvl="7"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8pPr>
            <a:lvl9pPr indent="0" lvl="8" marL="0" marR="0" rtl="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E">
  <p:cSld name="Generated Slide 1_1_1_TITLEANDBULLETS_E">
    <p:spTree>
      <p:nvGrpSpPr>
        <p:cNvPr id="31" name="Shape 31"/>
        <p:cNvGrpSpPr/>
        <p:nvPr/>
      </p:nvGrpSpPr>
      <p:grpSpPr>
        <a:xfrm>
          <a:off x="0" y="0"/>
          <a:ext cx="0" cy="0"/>
          <a:chOff x="0" y="0"/>
          <a:chExt cx="0" cy="0"/>
        </a:xfrm>
      </p:grpSpPr>
      <p:sp>
        <p:nvSpPr>
          <p:cNvPr id="32" name="Google Shape;32;p7"/>
          <p:cNvSpPr txBox="1"/>
          <p:nvPr>
            <p:ph type="title"/>
          </p:nvPr>
        </p:nvSpPr>
        <p:spPr>
          <a:xfrm>
            <a:off x="5145700" y="226400"/>
            <a:ext cx="3651900" cy="1094400"/>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5145700" y="1598500"/>
            <a:ext cx="3651900" cy="3318600"/>
          </a:xfrm>
          <a:prstGeom prst="rect">
            <a:avLst/>
          </a:prstGeom>
          <a:noFill/>
          <a:ln>
            <a:noFill/>
          </a:ln>
        </p:spPr>
        <p:txBody>
          <a:bodyPr anchorCtr="0" anchor="t" bIns="0" lIns="0" spcFirstLastPara="1" rIns="0" wrap="square" tIns="0">
            <a:normAutofit/>
          </a:bodyPr>
          <a:lstStyle>
            <a:lvl1pPr indent="-342900" lvl="0" marL="457200" marR="0" rtl="0" algn="l">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4" name="Google Shape;34;p7"/>
          <p:cNvSpPr/>
          <p:nvPr>
            <p:ph idx="2" type="pic"/>
          </p:nvPr>
        </p:nvSpPr>
        <p:spPr>
          <a:xfrm>
            <a:off x="204047" y="226350"/>
            <a:ext cx="4690800" cy="4690800"/>
          </a:xfrm>
          <a:prstGeom prst="rect">
            <a:avLst/>
          </a:prstGeom>
          <a:noFill/>
          <a:ln>
            <a:noFill/>
          </a:ln>
        </p:spPr>
      </p:sp>
    </p:spTree>
  </p:cSld>
  <p:clrMapOvr>
    <a:masterClrMapping/>
  </p:clrMapOvr>
  <p:extLst>
    <p:ext uri="{DCECCB84-F9BA-43D5-87BE-67443E8EF086}">
      <p15:sldGuideLst>
        <p15:guide id="1" orient="horz" pos="1620">
          <p15:clr>
            <a:srgbClr val="E46962"/>
          </p15:clr>
        </p15:guide>
        <p15:guide id="2" pos="3083">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lank CAEL Grey" showMasterSp="0">
  <p:cSld name="Section: Blank CAEL Grey">
    <p:spTree>
      <p:nvGrpSpPr>
        <p:cNvPr id="35" name="Shape 35"/>
        <p:cNvGrpSpPr/>
        <p:nvPr/>
      </p:nvGrpSpPr>
      <p:grpSpPr>
        <a:xfrm>
          <a:off x="0" y="0"/>
          <a:ext cx="0" cy="0"/>
          <a:chOff x="0" y="0"/>
          <a:chExt cx="0" cy="0"/>
        </a:xfrm>
      </p:grpSpPr>
      <p:pic>
        <p:nvPicPr>
          <p:cNvPr id="36" name="Google Shape;36;p8"/>
          <p:cNvPicPr preferRelativeResize="0"/>
          <p:nvPr/>
        </p:nvPicPr>
        <p:blipFill rotWithShape="1">
          <a:blip r:embed="rId2">
            <a:alphaModFix/>
          </a:blip>
          <a:srcRect b="0" l="0" r="0" t="0"/>
          <a:stretch/>
        </p:blipFill>
        <p:spPr>
          <a:xfrm>
            <a:off x="7582410" y="4406131"/>
            <a:ext cx="1105651" cy="346517"/>
          </a:xfrm>
          <a:prstGeom prst="rect">
            <a:avLst/>
          </a:prstGeom>
          <a:noFill/>
          <a:ln>
            <a:noFill/>
          </a:ln>
        </p:spPr>
      </p:pic>
      <p:pic>
        <p:nvPicPr>
          <p:cNvPr id="37" name="Google Shape;37;p8"/>
          <p:cNvPicPr preferRelativeResize="0"/>
          <p:nvPr/>
        </p:nvPicPr>
        <p:blipFill rotWithShape="1">
          <a:blip r:embed="rId3">
            <a:alphaModFix/>
          </a:blip>
          <a:srcRect b="0" l="0" r="0" t="0"/>
          <a:stretch/>
        </p:blipFill>
        <p:spPr>
          <a:xfrm>
            <a:off x="474121" y="4692060"/>
            <a:ext cx="468260" cy="127818"/>
          </a:xfrm>
          <a:prstGeom prst="rect">
            <a:avLst/>
          </a:prstGeom>
          <a:noFill/>
          <a:ln>
            <a:noFill/>
          </a:ln>
        </p:spPr>
      </p:pic>
    </p:spTree>
  </p:cSld>
  <p:clrMapOvr>
    <a:masterClrMapping/>
  </p:clrMapOvr>
  <p:extLst>
    <p:ext uri="{DCECCB84-F9BA-43D5-87BE-67443E8EF086}">
      <p15:sldGuideLst>
        <p15:guide id="1" orient="horz" pos="778">
          <p15:clr>
            <a:srgbClr val="FA7B17"/>
          </p15:clr>
        </p15:guide>
        <p15:guide id="2" pos="384">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9" name="Shape 3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0" name="Shape 40"/>
        <p:cNvGrpSpPr/>
        <p:nvPr/>
      </p:nvGrpSpPr>
      <p:grpSpPr>
        <a:xfrm>
          <a:off x="0" y="0"/>
          <a:ext cx="0" cy="0"/>
          <a:chOff x="0" y="0"/>
          <a:chExt cx="0" cy="0"/>
        </a:xfrm>
      </p:grpSpPr>
      <p:sp>
        <p:nvSpPr>
          <p:cNvPr id="41" name="Google Shape;41;p11"/>
          <p:cNvSpPr/>
          <p:nvPr/>
        </p:nvSpPr>
        <p:spPr>
          <a:xfrm>
            <a:off x="330215" y="460805"/>
            <a:ext cx="8482200" cy="891900"/>
          </a:xfrm>
          <a:prstGeom prst="rect">
            <a:avLst/>
          </a:prstGeom>
          <a:solidFill>
            <a:schemeClr val="accent1"/>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Clr>
                <a:schemeClr val="dk1"/>
              </a:buClr>
              <a:buSzPts val="1900"/>
              <a:buFont typeface="Arial"/>
              <a:buNone/>
            </a:pPr>
            <a:r>
              <a:t/>
            </a:r>
            <a:endParaRPr b="0" i="0" sz="1425" u="none" cap="none" strike="noStrike">
              <a:solidFill>
                <a:schemeClr val="dk1"/>
              </a:solidFill>
              <a:latin typeface="Arial"/>
              <a:ea typeface="Arial"/>
              <a:cs typeface="Arial"/>
              <a:sym typeface="Arial"/>
            </a:endParaRPr>
          </a:p>
        </p:txBody>
      </p:sp>
      <p:sp>
        <p:nvSpPr>
          <p:cNvPr id="42" name="Google Shape;42;p11"/>
          <p:cNvSpPr txBox="1"/>
          <p:nvPr>
            <p:ph type="title"/>
          </p:nvPr>
        </p:nvSpPr>
        <p:spPr>
          <a:xfrm>
            <a:off x="435894" y="526617"/>
            <a:ext cx="8272200" cy="601800"/>
          </a:xfrm>
          <a:prstGeom prst="rect">
            <a:avLst/>
          </a:prstGeom>
          <a:noFill/>
          <a:ln>
            <a:noFill/>
          </a:ln>
        </p:spPr>
        <p:txBody>
          <a:bodyPr anchorCtr="0" anchor="b" bIns="45700" lIns="91425" spcFirstLastPara="1" rIns="91425" wrap="square" tIns="45700">
            <a:normAutofit/>
          </a:bodyPr>
          <a:lstStyle>
            <a:lvl1pPr lvl="0" marR="0" algn="l">
              <a:lnSpc>
                <a:spcPct val="80000"/>
              </a:lnSpc>
              <a:spcBef>
                <a:spcPts val="0"/>
              </a:spcBef>
              <a:spcAft>
                <a:spcPts val="0"/>
              </a:spcAft>
              <a:buClr>
                <a:schemeClr val="lt1"/>
              </a:buClr>
              <a:buSzPts val="2800"/>
              <a:buFont typeface="Gill Sans"/>
              <a:buNone/>
              <a:defRPr b="0" i="0" sz="1400" u="none" cap="none" strike="noStrike">
                <a:solidFill>
                  <a:srgbClr val="000000"/>
                </a:solidFill>
                <a:latin typeface="Noto Sans"/>
                <a:ea typeface="Noto Sans"/>
                <a:cs typeface="Noto Sans"/>
                <a:sym typeface="Noto Sans"/>
              </a:defRPr>
            </a:lvl1pPr>
            <a:lvl2pPr lvl="1" marR="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2pPr>
            <a:lvl3pPr lvl="2" marR="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3pPr>
            <a:lvl4pPr lvl="3" marR="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4pPr>
            <a:lvl5pPr lvl="4" marR="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5pPr>
            <a:lvl6pPr lvl="5" marR="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6pPr>
            <a:lvl7pPr lvl="6" marR="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7pPr>
            <a:lvl8pPr lvl="7" marR="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8pPr>
            <a:lvl9pPr lvl="8" marR="0" algn="l">
              <a:lnSpc>
                <a:spcPct val="80000"/>
              </a:lnSpc>
              <a:spcBef>
                <a:spcPts val="0"/>
              </a:spcBef>
              <a:spcAft>
                <a:spcPts val="0"/>
              </a:spcAft>
              <a:buClr>
                <a:srgbClr val="FFFFFF"/>
              </a:buClr>
              <a:buSzPts val="1500"/>
              <a:buFont typeface="Arial"/>
              <a:buNone/>
              <a:defRPr b="0" i="0" sz="1400" u="none" cap="none" strike="noStrike">
                <a:solidFill>
                  <a:srgbClr val="000000"/>
                </a:solidFill>
                <a:latin typeface="Arial"/>
                <a:ea typeface="Arial"/>
                <a:cs typeface="Arial"/>
                <a:sym typeface="Arial"/>
              </a:defRPr>
            </a:lvl9pPr>
          </a:lstStyle>
          <a:p/>
        </p:txBody>
      </p:sp>
      <p:sp>
        <p:nvSpPr>
          <p:cNvPr id="43" name="Google Shape;43;p11"/>
          <p:cNvSpPr txBox="1"/>
          <p:nvPr>
            <p:ph idx="1" type="body"/>
          </p:nvPr>
        </p:nvSpPr>
        <p:spPr>
          <a:xfrm>
            <a:off x="435894" y="1635372"/>
            <a:ext cx="8272200" cy="2758800"/>
          </a:xfrm>
          <a:prstGeom prst="rect">
            <a:avLst/>
          </a:prstGeom>
          <a:noFill/>
          <a:ln>
            <a:noFill/>
          </a:ln>
        </p:spPr>
        <p:txBody>
          <a:bodyPr anchorCtr="0" anchor="ctr" bIns="45700" lIns="91425" spcFirstLastPara="1" rIns="91425" wrap="square" tIns="45700">
            <a:normAutofit/>
          </a:bodyPr>
          <a:lstStyle>
            <a:lvl1pPr indent="-330200" lvl="0" marL="457200" marR="0" algn="l">
              <a:lnSpc>
                <a:spcPct val="100000"/>
              </a:lnSpc>
              <a:spcBef>
                <a:spcPts val="300"/>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1pPr>
            <a:lvl2pPr indent="-330200" lvl="1" marL="914400" marR="0" algn="l">
              <a:lnSpc>
                <a:spcPct val="100000"/>
              </a:lnSpc>
              <a:spcBef>
                <a:spcPts val="525"/>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2pPr>
            <a:lvl3pPr indent="-330200" lvl="2" marL="1371600" marR="0" algn="l">
              <a:lnSpc>
                <a:spcPct val="100000"/>
              </a:lnSpc>
              <a:spcBef>
                <a:spcPts val="525"/>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3pPr>
            <a:lvl4pPr indent="-330200" lvl="3" marL="1828800" marR="0" algn="l">
              <a:lnSpc>
                <a:spcPct val="100000"/>
              </a:lnSpc>
              <a:spcBef>
                <a:spcPts val="525"/>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4pPr>
            <a:lvl5pPr indent="-330200" lvl="4" marL="2286000" marR="0" algn="l">
              <a:lnSpc>
                <a:spcPct val="100000"/>
              </a:lnSpc>
              <a:spcBef>
                <a:spcPts val="525"/>
              </a:spcBef>
              <a:spcAft>
                <a:spcPts val="0"/>
              </a:spcAft>
              <a:buClr>
                <a:srgbClr val="E3E3E4"/>
              </a:buClr>
              <a:buSzPts val="1600"/>
              <a:buFont typeface="Calibri"/>
              <a:buChar char="◼"/>
              <a:defRPr b="0" i="0" sz="1400" u="none" cap="none" strike="noStrike">
                <a:solidFill>
                  <a:srgbClr val="000000"/>
                </a:solidFill>
                <a:latin typeface="Arial"/>
                <a:ea typeface="Arial"/>
                <a:cs typeface="Arial"/>
                <a:sym typeface="Arial"/>
              </a:defRPr>
            </a:lvl5pPr>
            <a:lvl6pPr indent="-330200" lvl="5" marL="2743200" marR="0" algn="l">
              <a:lnSpc>
                <a:spcPct val="100000"/>
              </a:lnSpc>
              <a:spcBef>
                <a:spcPts val="525"/>
              </a:spcBef>
              <a:spcAft>
                <a:spcPts val="0"/>
              </a:spcAft>
              <a:buClr>
                <a:srgbClr val="E3E3E4"/>
              </a:buClr>
              <a:buSzPts val="1600"/>
              <a:buFont typeface="Libre Franklin"/>
              <a:buChar char="◼"/>
              <a:defRPr b="0" i="0" sz="1400" u="none" cap="none" strike="noStrike">
                <a:solidFill>
                  <a:srgbClr val="000000"/>
                </a:solidFill>
                <a:latin typeface="Arial"/>
                <a:ea typeface="Arial"/>
                <a:cs typeface="Arial"/>
                <a:sym typeface="Arial"/>
              </a:defRPr>
            </a:lvl6pPr>
            <a:lvl7pPr indent="-330200" lvl="6" marL="3200400" marR="0" algn="l">
              <a:lnSpc>
                <a:spcPct val="100000"/>
              </a:lnSpc>
              <a:spcBef>
                <a:spcPts val="525"/>
              </a:spcBef>
              <a:spcAft>
                <a:spcPts val="0"/>
              </a:spcAft>
              <a:buClr>
                <a:srgbClr val="E3E3E4"/>
              </a:buClr>
              <a:buSzPts val="1600"/>
              <a:buFont typeface="Libre Franklin"/>
              <a:buChar char="◼"/>
              <a:defRPr b="0" i="0" sz="1400" u="none" cap="none" strike="noStrike">
                <a:solidFill>
                  <a:srgbClr val="000000"/>
                </a:solidFill>
                <a:latin typeface="Arial"/>
                <a:ea typeface="Arial"/>
                <a:cs typeface="Arial"/>
                <a:sym typeface="Arial"/>
              </a:defRPr>
            </a:lvl7pPr>
            <a:lvl8pPr indent="-330200" lvl="7" marL="3657600" marR="0" algn="l">
              <a:lnSpc>
                <a:spcPct val="100000"/>
              </a:lnSpc>
              <a:spcBef>
                <a:spcPts val="525"/>
              </a:spcBef>
              <a:spcAft>
                <a:spcPts val="0"/>
              </a:spcAft>
              <a:buClr>
                <a:srgbClr val="E3E3E4"/>
              </a:buClr>
              <a:buSzPts val="1600"/>
              <a:buFont typeface="Libre Franklin"/>
              <a:buChar char="◼"/>
              <a:defRPr b="0" i="0" sz="1400" u="none" cap="none" strike="noStrike">
                <a:solidFill>
                  <a:srgbClr val="000000"/>
                </a:solidFill>
                <a:latin typeface="Arial"/>
                <a:ea typeface="Arial"/>
                <a:cs typeface="Arial"/>
                <a:sym typeface="Arial"/>
              </a:defRPr>
            </a:lvl8pPr>
            <a:lvl9pPr indent="-330200" lvl="8" marL="4114800" marR="0" algn="l">
              <a:lnSpc>
                <a:spcPct val="100000"/>
              </a:lnSpc>
              <a:spcBef>
                <a:spcPts val="525"/>
              </a:spcBef>
              <a:spcAft>
                <a:spcPts val="525"/>
              </a:spcAft>
              <a:buClr>
                <a:srgbClr val="E3E3E4"/>
              </a:buClr>
              <a:buSzPts val="1600"/>
              <a:buFont typeface="Libre Franklin"/>
              <a:buChar char="◼"/>
              <a:defRPr b="0" i="0" sz="1400" u="none" cap="none" strike="noStrike">
                <a:solidFill>
                  <a:srgbClr val="000000"/>
                </a:solidFill>
                <a:latin typeface="Arial"/>
                <a:ea typeface="Arial"/>
                <a:cs typeface="Arial"/>
                <a:sym typeface="Arial"/>
              </a:defRPr>
            </a:lvl9pPr>
          </a:lstStyle>
          <a:p/>
        </p:txBody>
      </p:sp>
      <p:sp>
        <p:nvSpPr>
          <p:cNvPr id="44" name="Google Shape;44;p11"/>
          <p:cNvSpPr txBox="1"/>
          <p:nvPr>
            <p:ph idx="10" type="dt"/>
          </p:nvPr>
        </p:nvSpPr>
        <p:spPr>
          <a:xfrm>
            <a:off x="5704463" y="4467103"/>
            <a:ext cx="2133600" cy="273900"/>
          </a:xfrm>
          <a:prstGeom prst="rect">
            <a:avLst/>
          </a:prstGeom>
          <a:noFill/>
          <a:ln>
            <a:noFill/>
          </a:ln>
        </p:spPr>
        <p:txBody>
          <a:bodyPr anchorCtr="0" anchor="ctr" bIns="45700" lIns="91425" spcFirstLastPara="1" rIns="91425" wrap="square" tIns="45700">
            <a:noAutofit/>
          </a:bodyPr>
          <a:lstStyle>
            <a:lvl1pPr lvl="0" marR="0" algn="r">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9pPr>
          </a:lstStyle>
          <a:p/>
        </p:txBody>
      </p:sp>
      <p:sp>
        <p:nvSpPr>
          <p:cNvPr id="45" name="Google Shape;45;p11"/>
          <p:cNvSpPr txBox="1"/>
          <p:nvPr>
            <p:ph idx="11" type="ftr"/>
          </p:nvPr>
        </p:nvSpPr>
        <p:spPr>
          <a:xfrm>
            <a:off x="435894" y="4463858"/>
            <a:ext cx="51879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500"/>
              <a:buFont typeface="Arial"/>
              <a:buNone/>
              <a:defRPr b="0" i="0" sz="1425" u="none" cap="none" strike="noStrike">
                <a:solidFill>
                  <a:schemeClr val="dk1"/>
                </a:solidFill>
                <a:latin typeface="Arial"/>
                <a:ea typeface="Arial"/>
                <a:cs typeface="Arial"/>
                <a:sym typeface="Arial"/>
              </a:defRPr>
            </a:lvl9pPr>
          </a:lstStyle>
          <a:p/>
        </p:txBody>
      </p:sp>
      <p:sp>
        <p:nvSpPr>
          <p:cNvPr id="46" name="Google Shape;46;p11"/>
          <p:cNvSpPr txBox="1"/>
          <p:nvPr>
            <p:ph idx="12" type="sldNum"/>
          </p:nvPr>
        </p:nvSpPr>
        <p:spPr>
          <a:xfrm>
            <a:off x="7918725" y="4467103"/>
            <a:ext cx="7893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1pPr>
            <a:lvl2pPr indent="0" lvl="1"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2pPr>
            <a:lvl3pPr indent="0" lvl="2"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3pPr>
            <a:lvl4pPr indent="0" lvl="3"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4pPr>
            <a:lvl5pPr indent="0" lvl="4"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5pPr>
            <a:lvl6pPr indent="0" lvl="5"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6pPr>
            <a:lvl7pPr indent="0" lvl="6"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7pPr>
            <a:lvl8pPr indent="0" lvl="7"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8pPr>
            <a:lvl9pPr indent="0" lvl="8" marL="0" marR="0" algn="r">
              <a:lnSpc>
                <a:spcPct val="100000"/>
              </a:lnSpc>
              <a:spcBef>
                <a:spcPts val="0"/>
              </a:spcBef>
              <a:spcAft>
                <a:spcPts val="0"/>
              </a:spcAft>
              <a:buClr>
                <a:schemeClr val="lt1"/>
              </a:buClr>
              <a:buSzPts val="900"/>
              <a:buFont typeface="Libre Franklin"/>
              <a:buNone/>
              <a:defRPr b="0" i="0" sz="675" u="none" cap="none" strike="noStrike">
                <a:solidFill>
                  <a:schemeClr val="lt1"/>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lnSpcReduction="10000"/>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C">
  <p:cSld name="Generated Slide 1_1_1_TITLEANDBULLETS_C">
    <p:spTree>
      <p:nvGrpSpPr>
        <p:cNvPr id="49" name="Shape 49"/>
        <p:cNvGrpSpPr/>
        <p:nvPr/>
      </p:nvGrpSpPr>
      <p:grpSpPr>
        <a:xfrm>
          <a:off x="0" y="0"/>
          <a:ext cx="0" cy="0"/>
          <a:chOff x="0" y="0"/>
          <a:chExt cx="0" cy="0"/>
        </a:xfrm>
      </p:grpSpPr>
      <p:sp>
        <p:nvSpPr>
          <p:cNvPr id="50" name="Google Shape;50;p13"/>
          <p:cNvSpPr txBox="1"/>
          <p:nvPr>
            <p:ph type="title"/>
          </p:nvPr>
        </p:nvSpPr>
        <p:spPr>
          <a:xfrm>
            <a:off x="327575" y="289525"/>
            <a:ext cx="3548100" cy="1093500"/>
          </a:xfrm>
          <a:prstGeom prst="rect">
            <a:avLst/>
          </a:prstGeom>
          <a:noFill/>
          <a:ln>
            <a:noFill/>
          </a:ln>
        </p:spPr>
        <p:txBody>
          <a:bodyPr anchorCtr="0" anchor="t" bIns="0" lIns="0" spcFirstLastPara="1" rIns="0" wrap="square" tIns="0">
            <a:normAutofit/>
          </a:bodyPr>
          <a:lstStyle>
            <a:lvl1pPr lvl="0"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51" name="Google Shape;51;p13"/>
          <p:cNvSpPr txBox="1"/>
          <p:nvPr>
            <p:ph idx="1" type="body"/>
          </p:nvPr>
        </p:nvSpPr>
        <p:spPr>
          <a:xfrm>
            <a:off x="327575" y="1565671"/>
            <a:ext cx="3548100" cy="3288300"/>
          </a:xfrm>
          <a:prstGeom prst="rect">
            <a:avLst/>
          </a:prstGeom>
          <a:noFill/>
          <a:ln>
            <a:noFill/>
          </a:ln>
        </p:spPr>
        <p:txBody>
          <a:bodyPr anchorCtr="0" anchor="t" bIns="0" lIns="0" spcFirstLastPara="1" rIns="0" wrap="square" tIns="0">
            <a:normAutofit/>
          </a:bodyPr>
          <a:lstStyle>
            <a:lvl1pPr indent="-342900" lvl="0" marL="457200" marR="0" algn="l">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52" name="Google Shape;52;p13"/>
          <p:cNvSpPr/>
          <p:nvPr>
            <p:ph idx="2" type="pic"/>
          </p:nvPr>
        </p:nvSpPr>
        <p:spPr>
          <a:xfrm>
            <a:off x="4298349" y="316350"/>
            <a:ext cx="4510800" cy="4510800"/>
          </a:xfrm>
          <a:prstGeom prst="roundRect">
            <a:avLst>
              <a:gd fmla="val 50000" name="adj"/>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type="tx">
  <p:cSld name="TITLE_AND_BODY">
    <p:bg>
      <p:bgPr>
        <a:solidFill>
          <a:srgbClr val="FFFFFF"/>
        </a:solidFill>
      </p:bgPr>
    </p:bg>
    <p:spTree>
      <p:nvGrpSpPr>
        <p:cNvPr id="53" name="Shape 53"/>
        <p:cNvGrpSpPr/>
        <p:nvPr/>
      </p:nvGrpSpPr>
      <p:grpSpPr>
        <a:xfrm>
          <a:off x="0" y="0"/>
          <a:ext cx="0" cy="0"/>
          <a:chOff x="0" y="0"/>
          <a:chExt cx="0" cy="0"/>
        </a:xfrm>
      </p:grpSpPr>
      <p:sp>
        <p:nvSpPr>
          <p:cNvPr id="54" name="Google Shape;54;p14"/>
          <p:cNvSpPr txBox="1"/>
          <p:nvPr>
            <p:ph idx="1" type="body"/>
          </p:nvPr>
        </p:nvSpPr>
        <p:spPr>
          <a:xfrm>
            <a:off x="485775" y="4858457"/>
            <a:ext cx="8201100" cy="160800"/>
          </a:xfrm>
          <a:prstGeom prst="rect">
            <a:avLst/>
          </a:prstGeom>
          <a:noFill/>
          <a:ln>
            <a:noFill/>
          </a:ln>
        </p:spPr>
        <p:txBody>
          <a:bodyPr anchorCtr="0" anchor="t" bIns="50800" lIns="50800" spcFirstLastPara="1" rIns="50800" wrap="square" tIns="50800">
            <a:normAutofit/>
          </a:bodyPr>
          <a:lstStyle>
            <a:lvl1pPr indent="-228600" lvl="0" marL="457200" marR="0" algn="l">
              <a:lnSpc>
                <a:spcPct val="100000"/>
              </a:lnSpc>
              <a:spcBef>
                <a:spcPts val="1200"/>
              </a:spcBef>
              <a:spcAft>
                <a:spcPts val="0"/>
              </a:spcAft>
              <a:buClr>
                <a:srgbClr val="000000"/>
              </a:buClr>
              <a:buSzPts val="1000"/>
              <a:buFont typeface="Libre Franklin"/>
              <a:buNone/>
              <a:defRPr b="0" i="0" sz="750" u="none" cap="none" strike="noStrike">
                <a:solidFill>
                  <a:srgbClr val="000000"/>
                </a:solidFill>
                <a:latin typeface="Libre Franklin"/>
                <a:ea typeface="Libre Franklin"/>
                <a:cs typeface="Libre Franklin"/>
                <a:sym typeface="Libre Franklin"/>
              </a:defRPr>
            </a:lvl1pPr>
            <a:lvl2pPr indent="-228600" lvl="1" marL="9144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14"/>
          <p:cNvSpPr txBox="1"/>
          <p:nvPr>
            <p:ph idx="2" type="body"/>
          </p:nvPr>
        </p:nvSpPr>
        <p:spPr>
          <a:xfrm>
            <a:off x="485775" y="1328795"/>
            <a:ext cx="8201100" cy="260400"/>
          </a:xfrm>
          <a:prstGeom prst="rect">
            <a:avLst/>
          </a:prstGeom>
          <a:noFill/>
          <a:ln>
            <a:noFill/>
          </a:ln>
        </p:spPr>
        <p:txBody>
          <a:bodyPr anchorCtr="0" anchor="t" bIns="50800" lIns="50800" spcFirstLastPara="1" rIns="50800" wrap="square" tIns="50800">
            <a:normAutofit/>
          </a:bodyPr>
          <a:lstStyle>
            <a:lvl1pPr indent="-228600" lvl="0" marL="457200" marR="0" algn="l">
              <a:lnSpc>
                <a:spcPct val="100000"/>
              </a:lnSpc>
              <a:spcBef>
                <a:spcPts val="0"/>
              </a:spcBef>
              <a:spcAft>
                <a:spcPts val="0"/>
              </a:spcAft>
              <a:buClr>
                <a:srgbClr val="626366"/>
              </a:buClr>
              <a:buSzPts val="1750"/>
              <a:buFont typeface="Calibri"/>
              <a:buNone/>
              <a:defRPr b="0" i="0" sz="1400" u="none" cap="none" strike="noStrike">
                <a:solidFill>
                  <a:srgbClr val="626366"/>
                </a:solidFill>
                <a:latin typeface="Arial"/>
                <a:ea typeface="Arial"/>
                <a:cs typeface="Arial"/>
                <a:sym typeface="Arial"/>
              </a:defRPr>
            </a:lvl1pPr>
            <a:lvl2pPr indent="-228600" lvl="1" marL="9144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E3E3E4"/>
              </a:buClr>
              <a:buSzPts val="18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14"/>
          <p:cNvSpPr/>
          <p:nvPr/>
        </p:nvSpPr>
        <p:spPr>
          <a:xfrm>
            <a:off x="0" y="371456"/>
            <a:ext cx="9144000" cy="105000"/>
          </a:xfrm>
          <a:prstGeom prst="rect">
            <a:avLst/>
          </a:prstGeom>
          <a:solidFill>
            <a:schemeClr val="accent4"/>
          </a:solid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825" u="none" cap="none" strike="noStrike">
              <a:solidFill>
                <a:schemeClr val="dk1"/>
              </a:solidFill>
              <a:latin typeface="Calibri"/>
              <a:ea typeface="Calibri"/>
              <a:cs typeface="Calibri"/>
              <a:sym typeface="Calibri"/>
            </a:endParaRPr>
          </a:p>
        </p:txBody>
      </p:sp>
      <p:sp>
        <p:nvSpPr>
          <p:cNvPr id="57" name="Google Shape;57;p14"/>
          <p:cNvSpPr/>
          <p:nvPr/>
        </p:nvSpPr>
        <p:spPr>
          <a:xfrm>
            <a:off x="0" y="371456"/>
            <a:ext cx="9144000" cy="105000"/>
          </a:xfrm>
          <a:prstGeom prst="rect">
            <a:avLst/>
          </a:prstGeom>
          <a:gradFill>
            <a:gsLst>
              <a:gs pos="0">
                <a:srgbClr val="981C1F"/>
              </a:gs>
              <a:gs pos="50630">
                <a:srgbClr val="BBBDBF"/>
              </a:gs>
              <a:gs pos="100000">
                <a:srgbClr val="273970"/>
              </a:gs>
            </a:gsLst>
            <a:lin ang="18000042" scaled="0"/>
          </a:grad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825" u="none" cap="none" strike="noStrike">
              <a:solidFill>
                <a:schemeClr val="dk1"/>
              </a:solidFill>
              <a:latin typeface="Calibri"/>
              <a:ea typeface="Calibri"/>
              <a:cs typeface="Calibri"/>
              <a:sym typeface="Calibri"/>
            </a:endParaRPr>
          </a:p>
        </p:txBody>
      </p:sp>
      <p:sp>
        <p:nvSpPr>
          <p:cNvPr id="58" name="Google Shape;58;p14"/>
          <p:cNvSpPr txBox="1"/>
          <p:nvPr>
            <p:ph type="title"/>
          </p:nvPr>
        </p:nvSpPr>
        <p:spPr>
          <a:xfrm>
            <a:off x="485775" y="607762"/>
            <a:ext cx="8201100" cy="666600"/>
          </a:xfrm>
          <a:prstGeom prst="rect">
            <a:avLst/>
          </a:prstGeom>
          <a:noFill/>
          <a:ln>
            <a:noFill/>
          </a:ln>
        </p:spPr>
        <p:txBody>
          <a:bodyPr anchorCtr="0" anchor="t" bIns="50800" lIns="50800" spcFirstLastPara="1" rIns="50800" wrap="square" tIns="50800">
            <a:normAutofit/>
          </a:bodyPr>
          <a:lstStyle>
            <a:lvl1pPr lvl="0" marR="0" algn="l">
              <a:lnSpc>
                <a:spcPct val="80000"/>
              </a:lnSpc>
              <a:spcBef>
                <a:spcPts val="0"/>
              </a:spcBef>
              <a:spcAft>
                <a:spcPts val="0"/>
              </a:spcAft>
              <a:buClr>
                <a:srgbClr val="273970"/>
              </a:buClr>
              <a:buSzPts val="5000"/>
              <a:buFont typeface="Calibri"/>
              <a:buNone/>
              <a:defRPr b="0" i="0" sz="3750" u="none" cap="none" strike="noStrike">
                <a:solidFill>
                  <a:srgbClr val="273970"/>
                </a:solidFill>
                <a:latin typeface="Arial"/>
                <a:ea typeface="Arial"/>
                <a:cs typeface="Arial"/>
                <a:sym typeface="Arial"/>
              </a:defRPr>
            </a:lvl1pPr>
            <a:lvl2pPr lvl="1" marR="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2pPr>
            <a:lvl3pPr lvl="2" marR="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3pPr>
            <a:lvl4pPr lvl="3" marR="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4pPr>
            <a:lvl5pPr lvl="4" marR="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5pPr>
            <a:lvl6pPr lvl="5" marR="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6pPr>
            <a:lvl7pPr lvl="6" marR="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7pPr>
            <a:lvl8pPr lvl="7" marR="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8pPr>
            <a:lvl9pPr lvl="8" marR="0" algn="l">
              <a:lnSpc>
                <a:spcPct val="80000"/>
              </a:lnSpc>
              <a:spcBef>
                <a:spcPts val="0"/>
              </a:spcBef>
              <a:spcAft>
                <a:spcPts val="0"/>
              </a:spcAft>
              <a:buClr>
                <a:srgbClr val="FFFFFF"/>
              </a:buClr>
              <a:buSzPts val="1800"/>
              <a:buFont typeface="Arial"/>
              <a:buNone/>
              <a:defRPr b="0" i="0" sz="1400" u="none" cap="none" strike="noStrike">
                <a:solidFill>
                  <a:srgbClr val="000000"/>
                </a:solidFill>
                <a:latin typeface="Arial"/>
                <a:ea typeface="Arial"/>
                <a:cs typeface="Arial"/>
                <a:sym typeface="Arial"/>
              </a:defRPr>
            </a:lvl9pPr>
          </a:lstStyle>
          <a:p/>
        </p:txBody>
      </p:sp>
      <p:sp>
        <p:nvSpPr>
          <p:cNvPr id="59" name="Google Shape;59;p14"/>
          <p:cNvSpPr txBox="1"/>
          <p:nvPr>
            <p:ph idx="12" type="sldNum"/>
          </p:nvPr>
        </p:nvSpPr>
        <p:spPr>
          <a:xfrm>
            <a:off x="8346688" y="4760912"/>
            <a:ext cx="341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1pPr>
            <a:lvl2pPr indent="0" lvl="1"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2pPr>
            <a:lvl3pPr indent="0" lvl="2"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3pPr>
            <a:lvl4pPr indent="0" lvl="3"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4pPr>
            <a:lvl5pPr indent="0" lvl="4"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5pPr>
            <a:lvl6pPr indent="0" lvl="5"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6pPr>
            <a:lvl7pPr indent="0" lvl="6"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7pPr>
            <a:lvl8pPr indent="0" lvl="7"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8pPr>
            <a:lvl9pPr indent="0" lvl="8" marL="0" marR="0" algn="r">
              <a:lnSpc>
                <a:spcPct val="100000"/>
              </a:lnSpc>
              <a:spcBef>
                <a:spcPts val="0"/>
              </a:spcBef>
              <a:spcAft>
                <a:spcPts val="0"/>
              </a:spcAft>
              <a:buClr>
                <a:schemeClr val="dk1"/>
              </a:buClr>
              <a:buSzPts val="900"/>
              <a:buFont typeface="Libre Franklin"/>
              <a:buNone/>
              <a:defRPr b="0" i="0" sz="675" u="none" cap="none" strike="noStrike">
                <a:solidFill>
                  <a:schemeClr val="dk1"/>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E">
  <p:cSld name="Generated Slide 1_1_1_TITLEANDBULLETS_E">
    <p:spTree>
      <p:nvGrpSpPr>
        <p:cNvPr id="60" name="Shape 60"/>
        <p:cNvGrpSpPr/>
        <p:nvPr/>
      </p:nvGrpSpPr>
      <p:grpSpPr>
        <a:xfrm>
          <a:off x="0" y="0"/>
          <a:ext cx="0" cy="0"/>
          <a:chOff x="0" y="0"/>
          <a:chExt cx="0" cy="0"/>
        </a:xfrm>
      </p:grpSpPr>
      <p:sp>
        <p:nvSpPr>
          <p:cNvPr id="61" name="Google Shape;61;p15"/>
          <p:cNvSpPr txBox="1"/>
          <p:nvPr>
            <p:ph type="title"/>
          </p:nvPr>
        </p:nvSpPr>
        <p:spPr>
          <a:xfrm>
            <a:off x="5145700" y="226400"/>
            <a:ext cx="3651900" cy="1094400"/>
          </a:xfrm>
          <a:prstGeom prst="rect">
            <a:avLst/>
          </a:prstGeom>
          <a:noFill/>
          <a:ln>
            <a:noFill/>
          </a:ln>
        </p:spPr>
        <p:txBody>
          <a:bodyPr anchorCtr="0" anchor="t" bIns="0" lIns="0" spcFirstLastPara="1" rIns="0" wrap="square" tIns="0">
            <a:normAutofit/>
          </a:bodyPr>
          <a:lstStyle>
            <a:lvl1pPr lvl="0"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62" name="Google Shape;62;p15"/>
          <p:cNvSpPr txBox="1"/>
          <p:nvPr>
            <p:ph idx="1" type="body"/>
          </p:nvPr>
        </p:nvSpPr>
        <p:spPr>
          <a:xfrm>
            <a:off x="5145700" y="1598500"/>
            <a:ext cx="3651900" cy="3318600"/>
          </a:xfrm>
          <a:prstGeom prst="rect">
            <a:avLst/>
          </a:prstGeom>
          <a:noFill/>
          <a:ln>
            <a:noFill/>
          </a:ln>
        </p:spPr>
        <p:txBody>
          <a:bodyPr anchorCtr="0" anchor="t" bIns="0" lIns="0" spcFirstLastPara="1" rIns="0" wrap="square" tIns="0">
            <a:normAutofit/>
          </a:bodyPr>
          <a:lstStyle>
            <a:lvl1pPr indent="-342900" lvl="0" marL="457200" marR="0" algn="l">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63" name="Google Shape;63;p15"/>
          <p:cNvSpPr/>
          <p:nvPr>
            <p:ph idx="2" type="pic"/>
          </p:nvPr>
        </p:nvSpPr>
        <p:spPr>
          <a:xfrm>
            <a:off x="204047" y="226350"/>
            <a:ext cx="4690800" cy="4690800"/>
          </a:xfrm>
          <a:prstGeom prst="rect">
            <a:avLst/>
          </a:prstGeom>
          <a:noFill/>
          <a:ln>
            <a:noFill/>
          </a:ln>
        </p:spPr>
      </p:sp>
    </p:spTree>
  </p:cSld>
  <p:clrMapOvr>
    <a:masterClrMapping/>
  </p:clrMapOvr>
  <p:extLst>
    <p:ext uri="{DCECCB84-F9BA-43D5-87BE-67443E8EF086}">
      <p15:sldGuideLst>
        <p15:guide id="1" orient="horz" pos="1620">
          <p15:clr>
            <a:srgbClr val="E46962"/>
          </p15:clr>
        </p15:guide>
        <p15:guide id="2" pos="3083">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lank CAEL Grey" showMasterSp="0">
  <p:cSld name="Section: Blank CAEL Grey">
    <p:spTree>
      <p:nvGrpSpPr>
        <p:cNvPr id="64" name="Shape 64"/>
        <p:cNvGrpSpPr/>
        <p:nvPr/>
      </p:nvGrpSpPr>
      <p:grpSpPr>
        <a:xfrm>
          <a:off x="0" y="0"/>
          <a:ext cx="0" cy="0"/>
          <a:chOff x="0" y="0"/>
          <a:chExt cx="0" cy="0"/>
        </a:xfrm>
      </p:grpSpPr>
      <p:pic>
        <p:nvPicPr>
          <p:cNvPr id="65" name="Google Shape;65;p16"/>
          <p:cNvPicPr preferRelativeResize="0"/>
          <p:nvPr/>
        </p:nvPicPr>
        <p:blipFill rotWithShape="1">
          <a:blip r:embed="rId2">
            <a:alphaModFix/>
          </a:blip>
          <a:srcRect b="0" l="0" r="0" t="0"/>
          <a:stretch/>
        </p:blipFill>
        <p:spPr>
          <a:xfrm>
            <a:off x="7582410" y="4406131"/>
            <a:ext cx="1105650" cy="346517"/>
          </a:xfrm>
          <a:prstGeom prst="rect">
            <a:avLst/>
          </a:prstGeom>
          <a:noFill/>
          <a:ln>
            <a:noFill/>
          </a:ln>
        </p:spPr>
      </p:pic>
      <p:pic>
        <p:nvPicPr>
          <p:cNvPr id="66" name="Google Shape;66;p16"/>
          <p:cNvPicPr preferRelativeResize="0"/>
          <p:nvPr/>
        </p:nvPicPr>
        <p:blipFill rotWithShape="1">
          <a:blip r:embed="rId3">
            <a:alphaModFix/>
          </a:blip>
          <a:srcRect b="0" l="0" r="0" t="0"/>
          <a:stretch/>
        </p:blipFill>
        <p:spPr>
          <a:xfrm>
            <a:off x="474121" y="4692060"/>
            <a:ext cx="468260" cy="127818"/>
          </a:xfrm>
          <a:prstGeom prst="rect">
            <a:avLst/>
          </a:prstGeom>
          <a:noFill/>
          <a:ln>
            <a:noFill/>
          </a:ln>
        </p:spPr>
      </p:pic>
    </p:spTree>
  </p:cSld>
  <p:clrMapOvr>
    <a:masterClrMapping/>
  </p:clrMapOvr>
  <p:extLst>
    <p:ext uri="{DCECCB84-F9BA-43D5-87BE-67443E8EF086}">
      <p15:sldGuideLst>
        <p15:guide id="1" orient="horz" pos="778">
          <p15:clr>
            <a:srgbClr val="FA7B17"/>
          </p15:clr>
        </p15:guide>
        <p15:guide id="2" pos="384">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888c24ab1_23_0)">
  <p:cSld name="Generated (g3f888c24ab1_23_0)">
    <p:spTree>
      <p:nvGrpSpPr>
        <p:cNvPr id="67" name="Shape 67"/>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lt1"/>
              </a:buClr>
              <a:buSzPts val="4500"/>
              <a:buFont typeface="Play"/>
              <a:buChar char="●"/>
              <a:defRPr sz="45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70" name="Google Shape;70;p18"/>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lt1"/>
              </a:buClr>
              <a:buSzPts val="1800"/>
              <a:buNone/>
              <a:defRPr sz="1800"/>
            </a:lvl1pPr>
            <a:lvl2pPr lvl="1" algn="ctr">
              <a:lnSpc>
                <a:spcPct val="90000"/>
              </a:lnSpc>
              <a:spcBef>
                <a:spcPts val="400"/>
              </a:spcBef>
              <a:spcAft>
                <a:spcPts val="0"/>
              </a:spcAft>
              <a:buClr>
                <a:schemeClr val="lt1"/>
              </a:buClr>
              <a:buSzPts val="1500"/>
              <a:buNone/>
              <a:defRPr sz="1500"/>
            </a:lvl2pPr>
            <a:lvl3pPr lvl="2" algn="ctr">
              <a:lnSpc>
                <a:spcPct val="90000"/>
              </a:lnSpc>
              <a:spcBef>
                <a:spcPts val="400"/>
              </a:spcBef>
              <a:spcAft>
                <a:spcPts val="0"/>
              </a:spcAft>
              <a:buClr>
                <a:schemeClr val="lt1"/>
              </a:buClr>
              <a:buSzPts val="1400"/>
              <a:buNone/>
              <a:defRPr sz="1400"/>
            </a:lvl3pPr>
            <a:lvl4pPr lvl="3" algn="ctr">
              <a:lnSpc>
                <a:spcPct val="90000"/>
              </a:lnSpc>
              <a:spcBef>
                <a:spcPts val="400"/>
              </a:spcBef>
              <a:spcAft>
                <a:spcPts val="0"/>
              </a:spcAft>
              <a:buClr>
                <a:schemeClr val="lt1"/>
              </a:buClr>
              <a:buSzPts val="1200"/>
              <a:buNone/>
              <a:defRPr sz="1200"/>
            </a:lvl4pPr>
            <a:lvl5pPr lvl="4" algn="ctr">
              <a:lnSpc>
                <a:spcPct val="90000"/>
              </a:lnSpc>
              <a:spcBef>
                <a:spcPts val="400"/>
              </a:spcBef>
              <a:spcAft>
                <a:spcPts val="0"/>
              </a:spcAft>
              <a:buClr>
                <a:schemeClr val="lt1"/>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p:txBody>
      </p:sp>
      <p:sp>
        <p:nvSpPr>
          <p:cNvPr id="71" name="Google Shape;71;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72" name="Google Shape;72;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73" name="Google Shape;73;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0" Type="http://schemas.openxmlformats.org/officeDocument/2006/relationships/theme" Target="../theme/theme3.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 name="Shape 3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2.png"/><Relationship Id="rId9" Type="http://schemas.openxmlformats.org/officeDocument/2006/relationships/hyperlink" Target="https://youtu.be/NIGZo76_ytU?si=UMVQEG0gq5L6kYiL" TargetMode="External"/><Relationship Id="rId5" Type="http://schemas.openxmlformats.org/officeDocument/2006/relationships/image" Target="../media/image13.png"/><Relationship Id="rId6" Type="http://schemas.openxmlformats.org/officeDocument/2006/relationships/image" Target="../media/image2.png"/><Relationship Id="rId7" Type="http://schemas.openxmlformats.org/officeDocument/2006/relationships/hyperlink" Target="https://youtu.be/NIGZo76_ytU?si=UMVQEG0gq5L6kYiL" TargetMode="External"/><Relationship Id="rId8"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4.png"/><Relationship Id="rId9" Type="http://schemas.openxmlformats.org/officeDocument/2006/relationships/image" Target="../media/image25.png"/><Relationship Id="rId5" Type="http://schemas.openxmlformats.org/officeDocument/2006/relationships/image" Target="../media/image28.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0.png"/><Relationship Id="rId5"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39.png"/><Relationship Id="rId5" Type="http://schemas.openxmlformats.org/officeDocument/2006/relationships/image" Target="../media/image3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42.png"/><Relationship Id="rId5" Type="http://schemas.openxmlformats.org/officeDocument/2006/relationships/image" Target="../media/image35.png"/><Relationship Id="rId6"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0" Type="http://schemas.openxmlformats.org/officeDocument/2006/relationships/image" Target="../media/image47.png"/><Relationship Id="rId11" Type="http://schemas.openxmlformats.org/officeDocument/2006/relationships/image" Target="../media/image48.png"/><Relationship Id="rId22" Type="http://schemas.openxmlformats.org/officeDocument/2006/relationships/image" Target="../media/image1.png"/><Relationship Id="rId10" Type="http://schemas.openxmlformats.org/officeDocument/2006/relationships/image" Target="../media/image52.png"/><Relationship Id="rId21" Type="http://schemas.openxmlformats.org/officeDocument/2006/relationships/image" Target="../media/image45.png"/><Relationship Id="rId13" Type="http://schemas.openxmlformats.org/officeDocument/2006/relationships/image" Target="../media/image40.png"/><Relationship Id="rId12" Type="http://schemas.openxmlformats.org/officeDocument/2006/relationships/image" Target="../media/image51.png"/><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44.png"/><Relationship Id="rId15" Type="http://schemas.openxmlformats.org/officeDocument/2006/relationships/image" Target="../media/image37.png"/><Relationship Id="rId14" Type="http://schemas.openxmlformats.org/officeDocument/2006/relationships/image" Target="../media/image56.png"/><Relationship Id="rId17" Type="http://schemas.openxmlformats.org/officeDocument/2006/relationships/image" Target="../media/image50.png"/><Relationship Id="rId16" Type="http://schemas.openxmlformats.org/officeDocument/2006/relationships/image" Target="../media/image49.png"/><Relationship Id="rId5" Type="http://schemas.openxmlformats.org/officeDocument/2006/relationships/image" Target="../media/image33.png"/><Relationship Id="rId19" Type="http://schemas.openxmlformats.org/officeDocument/2006/relationships/image" Target="../media/image53.png"/><Relationship Id="rId6" Type="http://schemas.openxmlformats.org/officeDocument/2006/relationships/image" Target="../media/image38.png"/><Relationship Id="rId18" Type="http://schemas.openxmlformats.org/officeDocument/2006/relationships/image" Target="../media/image46.png"/><Relationship Id="rId7" Type="http://schemas.openxmlformats.org/officeDocument/2006/relationships/image" Target="../media/image36.png"/><Relationship Id="rId8"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5.png"/><Relationship Id="rId4" Type="http://schemas.openxmlformats.org/officeDocument/2006/relationships/image" Target="../media/image1.png"/><Relationship Id="rId5"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9"/>
          <p:cNvPicPr preferRelativeResize="0"/>
          <p:nvPr/>
        </p:nvPicPr>
        <p:blipFill rotWithShape="1">
          <a:blip r:embed="rId3">
            <a:alphaModFix/>
          </a:blip>
          <a:srcRect b="0" l="0" r="0" t="0"/>
          <a:stretch/>
        </p:blipFill>
        <p:spPr>
          <a:xfrm>
            <a:off x="4880610" y="1745446"/>
            <a:ext cx="4070073" cy="1584028"/>
          </a:xfrm>
          <a:prstGeom prst="rect">
            <a:avLst/>
          </a:prstGeom>
          <a:noFill/>
          <a:ln>
            <a:noFill/>
          </a:ln>
        </p:spPr>
      </p:pic>
      <p:sp>
        <p:nvSpPr>
          <p:cNvPr id="80" name="Google Shape;80;p19"/>
          <p:cNvSpPr/>
          <p:nvPr/>
        </p:nvSpPr>
        <p:spPr>
          <a:xfrm>
            <a:off x="4537710" y="0"/>
            <a:ext cx="68580" cy="51435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 name="Google Shape;81;p19"/>
          <p:cNvSpPr/>
          <p:nvPr/>
        </p:nvSpPr>
        <p:spPr>
          <a:xfrm>
            <a:off x="0" y="2537460"/>
            <a:ext cx="4594860" cy="6858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82" name="Google Shape;82;p19"/>
          <p:cNvPicPr preferRelativeResize="0"/>
          <p:nvPr/>
        </p:nvPicPr>
        <p:blipFill rotWithShape="1">
          <a:blip r:embed="rId4">
            <a:alphaModFix/>
          </a:blip>
          <a:srcRect b="0" l="0" r="0" t="0"/>
          <a:stretch/>
        </p:blipFill>
        <p:spPr>
          <a:xfrm>
            <a:off x="233819" y="364057"/>
            <a:ext cx="4070073" cy="1699256"/>
          </a:xfrm>
          <a:prstGeom prst="rect">
            <a:avLst/>
          </a:prstGeom>
          <a:noFill/>
          <a:ln>
            <a:noFill/>
          </a:ln>
        </p:spPr>
      </p:pic>
      <p:pic>
        <p:nvPicPr>
          <p:cNvPr descr="A logo with a black background&#10;&#10;Description automatically generated" id="83" name="Google Shape;83;p19"/>
          <p:cNvPicPr preferRelativeResize="0"/>
          <p:nvPr/>
        </p:nvPicPr>
        <p:blipFill rotWithShape="1">
          <a:blip r:embed="rId5">
            <a:alphaModFix/>
          </a:blip>
          <a:srcRect b="0" l="0" r="0" t="0"/>
          <a:stretch/>
        </p:blipFill>
        <p:spPr>
          <a:xfrm>
            <a:off x="328641" y="3186946"/>
            <a:ext cx="3880449" cy="15347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651"/>
        </a:solidFill>
      </p:bgPr>
    </p:bg>
    <p:spTree>
      <p:nvGrpSpPr>
        <p:cNvPr id="88" name="Shape 88"/>
        <p:cNvGrpSpPr/>
        <p:nvPr/>
      </p:nvGrpSpPr>
      <p:grpSpPr>
        <a:xfrm>
          <a:off x="0" y="0"/>
          <a:ext cx="0" cy="0"/>
          <a:chOff x="0" y="0"/>
          <a:chExt cx="0" cy="0"/>
        </a:xfrm>
      </p:grpSpPr>
      <p:sp>
        <p:nvSpPr>
          <p:cNvPr id="89" name="Google Shape;89;p20"/>
          <p:cNvSpPr txBox="1"/>
          <p:nvPr>
            <p:ph type="ctrTitle"/>
          </p:nvPr>
        </p:nvSpPr>
        <p:spPr>
          <a:xfrm>
            <a:off x="367849" y="2390696"/>
            <a:ext cx="4728300" cy="1223400"/>
          </a:xfrm>
          <a:prstGeom prst="rect">
            <a:avLst/>
          </a:prstGeom>
          <a:noFill/>
          <a:ln>
            <a:noFill/>
          </a:ln>
        </p:spPr>
        <p:txBody>
          <a:bodyPr anchorCtr="0" anchor="b" bIns="34275" lIns="68575" spcFirstLastPara="1" rIns="68575" wrap="square" tIns="34275">
            <a:normAutofit/>
          </a:bodyPr>
          <a:lstStyle/>
          <a:p>
            <a:pPr indent="0" lvl="0" marL="0" rtl="0" algn="ctr">
              <a:lnSpc>
                <a:spcPct val="90000"/>
              </a:lnSpc>
              <a:spcBef>
                <a:spcPts val="0"/>
              </a:spcBef>
              <a:spcAft>
                <a:spcPts val="0"/>
              </a:spcAft>
              <a:buClr>
                <a:schemeClr val="lt1"/>
              </a:buClr>
              <a:buSzPts val="5000"/>
              <a:buFont typeface="Libre Franklin"/>
              <a:buNone/>
            </a:pPr>
            <a:r>
              <a:rPr b="1" lang="en-US" sz="5000">
                <a:solidFill>
                  <a:schemeClr val="lt1"/>
                </a:solidFill>
                <a:latin typeface="Calibri"/>
                <a:ea typeface="Calibri"/>
                <a:cs typeface="Calibri"/>
                <a:sym typeface="Calibri"/>
              </a:rPr>
              <a:t>The MI Story</a:t>
            </a:r>
            <a:endParaRPr>
              <a:solidFill>
                <a:schemeClr val="lt1"/>
              </a:solidFill>
              <a:latin typeface="Calibri"/>
              <a:ea typeface="Calibri"/>
              <a:cs typeface="Calibri"/>
              <a:sym typeface="Calibri"/>
            </a:endParaRPr>
          </a:p>
        </p:txBody>
      </p:sp>
      <p:pic>
        <p:nvPicPr>
          <p:cNvPr descr="A white line drawing of a gear&#10;&#10;Description automatically generated" id="90" name="Google Shape;90;p20"/>
          <p:cNvPicPr preferRelativeResize="0"/>
          <p:nvPr/>
        </p:nvPicPr>
        <p:blipFill rotWithShape="1">
          <a:blip r:embed="rId3">
            <a:alphaModFix/>
          </a:blip>
          <a:srcRect b="0" l="0" r="0" t="-5675"/>
          <a:stretch/>
        </p:blipFill>
        <p:spPr>
          <a:xfrm>
            <a:off x="7752500" y="3002322"/>
            <a:ext cx="1400260" cy="1479697"/>
          </a:xfrm>
          <a:prstGeom prst="rect">
            <a:avLst/>
          </a:prstGeom>
          <a:noFill/>
          <a:ln>
            <a:noFill/>
          </a:ln>
        </p:spPr>
      </p:pic>
      <p:pic>
        <p:nvPicPr>
          <p:cNvPr descr="A white outline of a couple of gears&#10;&#10;Description automatically generated" id="91" name="Google Shape;91;p20"/>
          <p:cNvPicPr preferRelativeResize="0"/>
          <p:nvPr/>
        </p:nvPicPr>
        <p:blipFill rotWithShape="1">
          <a:blip r:embed="rId4">
            <a:alphaModFix/>
          </a:blip>
          <a:srcRect b="-1460" l="0" r="-10" t="-623"/>
          <a:stretch/>
        </p:blipFill>
        <p:spPr>
          <a:xfrm>
            <a:off x="4780144" y="-782619"/>
            <a:ext cx="4632217" cy="4728305"/>
          </a:xfrm>
          <a:prstGeom prst="rect">
            <a:avLst/>
          </a:prstGeom>
          <a:noFill/>
          <a:ln>
            <a:noFill/>
          </a:ln>
        </p:spPr>
      </p:pic>
      <p:pic>
        <p:nvPicPr>
          <p:cNvPr descr="A logo with a black background&#10;&#10;Description automatically generated" id="92" name="Google Shape;92;p20"/>
          <p:cNvPicPr preferRelativeResize="0"/>
          <p:nvPr/>
        </p:nvPicPr>
        <p:blipFill rotWithShape="1">
          <a:blip r:embed="rId5">
            <a:alphaModFix/>
          </a:blip>
          <a:srcRect b="0" l="0" r="0" t="0"/>
          <a:stretch/>
        </p:blipFill>
        <p:spPr>
          <a:xfrm>
            <a:off x="207540" y="334348"/>
            <a:ext cx="3988291" cy="15784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nvSpPr>
        <p:spPr>
          <a:xfrm>
            <a:off x="377235" y="843504"/>
            <a:ext cx="5436900" cy="364200"/>
          </a:xfrm>
          <a:prstGeom prst="rect">
            <a:avLst/>
          </a:prstGeom>
          <a:noFill/>
          <a:ln>
            <a:noFill/>
          </a:ln>
        </p:spPr>
        <p:txBody>
          <a:bodyPr anchorCtr="0" anchor="t" bIns="34275" lIns="68575" spcFirstLastPara="1" rIns="68575" wrap="square" tIns="34275">
            <a:normAutofit fontScale="47500"/>
          </a:bodyPr>
          <a:lstStyle/>
          <a:p>
            <a:pPr indent="0" lvl="0" marL="0" marR="0" rtl="0" algn="just">
              <a:lnSpc>
                <a:spcPct val="90000"/>
              </a:lnSpc>
              <a:spcBef>
                <a:spcPts val="0"/>
              </a:spcBef>
              <a:spcAft>
                <a:spcPts val="0"/>
              </a:spcAft>
              <a:buClr>
                <a:srgbClr val="003651"/>
              </a:buClr>
              <a:buSzPct val="100000"/>
              <a:buFont typeface="Libre Franklin"/>
              <a:buNone/>
            </a:pPr>
            <a:r>
              <a:rPr b="1" lang="en-US" sz="3800">
                <a:solidFill>
                  <a:srgbClr val="003651"/>
                </a:solidFill>
                <a:latin typeface="Calibri"/>
                <a:ea typeface="Calibri"/>
                <a:cs typeface="Calibri"/>
                <a:sym typeface="Calibri"/>
              </a:rPr>
              <a:t>MI Educates, Supports, Mentors, and Empowers. </a:t>
            </a:r>
            <a:endParaRPr sz="1100">
              <a:latin typeface="Calibri"/>
              <a:ea typeface="Calibri"/>
              <a:cs typeface="Calibri"/>
              <a:sym typeface="Calibri"/>
            </a:endParaRPr>
          </a:p>
        </p:txBody>
      </p:sp>
      <p:pic>
        <p:nvPicPr>
          <p:cNvPr descr="A logo with a black background&#10;&#10;Description automatically generated" id="99" name="Google Shape;99;p21"/>
          <p:cNvPicPr preferRelativeResize="0"/>
          <p:nvPr/>
        </p:nvPicPr>
        <p:blipFill rotWithShape="1">
          <a:blip r:embed="rId3">
            <a:alphaModFix/>
          </a:blip>
          <a:srcRect b="0" l="0" r="0" t="0"/>
          <a:stretch/>
        </p:blipFill>
        <p:spPr>
          <a:xfrm>
            <a:off x="-10061" y="-3719"/>
            <a:ext cx="2142030" cy="847215"/>
          </a:xfrm>
          <a:prstGeom prst="rect">
            <a:avLst/>
          </a:prstGeom>
          <a:noFill/>
          <a:ln>
            <a:noFill/>
          </a:ln>
        </p:spPr>
      </p:pic>
      <p:grpSp>
        <p:nvGrpSpPr>
          <p:cNvPr id="100" name="Google Shape;100;p21"/>
          <p:cNvGrpSpPr/>
          <p:nvPr/>
        </p:nvGrpSpPr>
        <p:grpSpPr>
          <a:xfrm>
            <a:off x="2199290" y="857962"/>
            <a:ext cx="3787863" cy="3782115"/>
            <a:chOff x="7919686" y="2327203"/>
            <a:chExt cx="5050484" cy="5042820"/>
          </a:xfrm>
        </p:grpSpPr>
        <p:pic>
          <p:nvPicPr>
            <p:cNvPr descr="A blue circular object with black background&#10;&#10;Description automatically generated" id="101" name="Google Shape;101;p21"/>
            <p:cNvPicPr preferRelativeResize="0"/>
            <p:nvPr/>
          </p:nvPicPr>
          <p:blipFill rotWithShape="1">
            <a:blip r:embed="rId4">
              <a:alphaModFix/>
            </a:blip>
            <a:srcRect b="0" l="24199" r="19418" t="0"/>
            <a:stretch/>
          </p:blipFill>
          <p:spPr>
            <a:xfrm rot="-694328">
              <a:off x="8304553" y="2713158"/>
              <a:ext cx="4280751" cy="4270910"/>
            </a:xfrm>
            <a:prstGeom prst="rect">
              <a:avLst/>
            </a:prstGeom>
            <a:noFill/>
            <a:ln>
              <a:noFill/>
            </a:ln>
          </p:spPr>
        </p:pic>
        <p:grpSp>
          <p:nvGrpSpPr>
            <p:cNvPr id="102" name="Google Shape;102;p21"/>
            <p:cNvGrpSpPr/>
            <p:nvPr/>
          </p:nvGrpSpPr>
          <p:grpSpPr>
            <a:xfrm>
              <a:off x="8941936" y="3735482"/>
              <a:ext cx="3113493" cy="2439130"/>
              <a:chOff x="8941936" y="3735482"/>
              <a:chExt cx="3113493" cy="2439130"/>
            </a:xfrm>
          </p:grpSpPr>
          <p:grpSp>
            <p:nvGrpSpPr>
              <p:cNvPr id="103" name="Google Shape;103;p21"/>
              <p:cNvGrpSpPr/>
              <p:nvPr/>
            </p:nvGrpSpPr>
            <p:grpSpPr>
              <a:xfrm>
                <a:off x="8941936" y="4084865"/>
                <a:ext cx="3113493" cy="2089747"/>
                <a:chOff x="1825126" y="4411454"/>
                <a:chExt cx="3113493" cy="2089747"/>
              </a:xfrm>
            </p:grpSpPr>
            <p:sp>
              <p:nvSpPr>
                <p:cNvPr id="104" name="Google Shape;104;p21"/>
                <p:cNvSpPr txBox="1"/>
                <p:nvPr/>
              </p:nvSpPr>
              <p:spPr>
                <a:xfrm>
                  <a:off x="1825126" y="4411454"/>
                  <a:ext cx="3006000" cy="995400"/>
                </a:xfrm>
                <a:prstGeom prst="rect">
                  <a:avLst/>
                </a:prstGeom>
                <a:noFill/>
                <a:ln>
                  <a:noFill/>
                </a:ln>
              </p:spPr>
              <p:txBody>
                <a:bodyPr anchorCtr="0" anchor="t" bIns="34275" lIns="68575" spcFirstLastPara="1" rIns="68575" wrap="square" tIns="34275">
                  <a:spAutoFit/>
                </a:bodyPr>
                <a:lstStyle/>
                <a:p>
                  <a:pPr indent="0" lvl="0" marL="0" marR="0" rtl="0" algn="just">
                    <a:spcBef>
                      <a:spcPts val="0"/>
                    </a:spcBef>
                    <a:spcAft>
                      <a:spcPts val="0"/>
                    </a:spcAft>
                    <a:buNone/>
                  </a:pPr>
                  <a:r>
                    <a:rPr b="0" i="0" lang="en-US" sz="1100" u="none" cap="none" strike="noStrike">
                      <a:solidFill>
                        <a:schemeClr val="lt1"/>
                      </a:solidFill>
                      <a:latin typeface="Play"/>
                      <a:ea typeface="Play"/>
                      <a:cs typeface="Play"/>
                      <a:sym typeface="Play"/>
                    </a:rPr>
                    <a:t>Built on the belief that education and training improves society and creates better futures for all, we commit to core values of: </a:t>
                  </a:r>
                  <a:endParaRPr sz="1100"/>
                </a:p>
              </p:txBody>
            </p:sp>
            <p:sp>
              <p:nvSpPr>
                <p:cNvPr id="105" name="Google Shape;105;p21"/>
                <p:cNvSpPr txBox="1"/>
                <p:nvPr/>
              </p:nvSpPr>
              <p:spPr>
                <a:xfrm>
                  <a:off x="2180798" y="5382801"/>
                  <a:ext cx="1331400" cy="1118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US" sz="1000" u="none" cap="none" strike="noStrike">
                      <a:solidFill>
                        <a:schemeClr val="lt1"/>
                      </a:solidFill>
                      <a:latin typeface="Play"/>
                      <a:ea typeface="Play"/>
                      <a:cs typeface="Play"/>
                      <a:sym typeface="Play"/>
                    </a:rPr>
                    <a:t>Excellence</a:t>
                  </a:r>
                  <a:endParaRPr sz="1100"/>
                </a:p>
                <a:p>
                  <a:pPr indent="0" lvl="0" marL="0" marR="0" rtl="0" algn="l">
                    <a:spcBef>
                      <a:spcPts val="0"/>
                    </a:spcBef>
                    <a:spcAft>
                      <a:spcPts val="0"/>
                    </a:spcAft>
                    <a:buNone/>
                  </a:pPr>
                  <a:r>
                    <a:rPr b="0" i="0" lang="en-US" sz="1000" u="none" cap="none" strike="noStrike">
                      <a:solidFill>
                        <a:schemeClr val="lt1"/>
                      </a:solidFill>
                      <a:latin typeface="Play"/>
                      <a:ea typeface="Play"/>
                      <a:cs typeface="Play"/>
                      <a:sym typeface="Play"/>
                    </a:rPr>
                    <a:t>Ethics</a:t>
                  </a:r>
                  <a:endParaRPr sz="1100"/>
                </a:p>
                <a:p>
                  <a:pPr indent="0" lvl="0" marL="0" marR="0" rtl="0" algn="l">
                    <a:spcBef>
                      <a:spcPts val="0"/>
                    </a:spcBef>
                    <a:spcAft>
                      <a:spcPts val="0"/>
                    </a:spcAft>
                    <a:buNone/>
                  </a:pPr>
                  <a:r>
                    <a:rPr b="0" i="0" lang="en-US" sz="1000" u="none" cap="none" strike="noStrike">
                      <a:solidFill>
                        <a:schemeClr val="lt1"/>
                      </a:solidFill>
                      <a:latin typeface="Play"/>
                      <a:ea typeface="Play"/>
                      <a:cs typeface="Play"/>
                      <a:sym typeface="Play"/>
                    </a:rPr>
                    <a:t>Dignity</a:t>
                  </a:r>
                  <a:endParaRPr sz="1100"/>
                </a:p>
                <a:p>
                  <a:pPr indent="0" lvl="0" marL="0" marR="0" rtl="0" algn="l">
                    <a:spcBef>
                      <a:spcPts val="0"/>
                    </a:spcBef>
                    <a:spcAft>
                      <a:spcPts val="0"/>
                    </a:spcAft>
                    <a:buNone/>
                  </a:pPr>
                  <a:r>
                    <a:rPr b="0" i="0" lang="en-US" sz="1000" u="none" cap="none" strike="noStrike">
                      <a:solidFill>
                        <a:schemeClr val="lt1"/>
                      </a:solidFill>
                      <a:latin typeface="Play"/>
                      <a:ea typeface="Play"/>
                      <a:cs typeface="Play"/>
                      <a:sym typeface="Play"/>
                    </a:rPr>
                    <a:t>Diversity and Equity</a:t>
                  </a:r>
                  <a:endParaRPr sz="1100"/>
                </a:p>
              </p:txBody>
            </p:sp>
            <p:sp>
              <p:nvSpPr>
                <p:cNvPr id="106" name="Google Shape;106;p21"/>
                <p:cNvSpPr txBox="1"/>
                <p:nvPr/>
              </p:nvSpPr>
              <p:spPr>
                <a:xfrm>
                  <a:off x="3332719" y="5380336"/>
                  <a:ext cx="1605900" cy="91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US" sz="1000" u="none" cap="none" strike="noStrike">
                      <a:solidFill>
                        <a:schemeClr val="lt1"/>
                      </a:solidFill>
                      <a:latin typeface="Play"/>
                      <a:ea typeface="Play"/>
                      <a:cs typeface="Play"/>
                      <a:sym typeface="Play"/>
                    </a:rPr>
                    <a:t>Solidarity</a:t>
                  </a:r>
                  <a:endParaRPr sz="1100"/>
                </a:p>
                <a:p>
                  <a:pPr indent="0" lvl="0" marL="0" marR="0" rtl="0" algn="l">
                    <a:spcBef>
                      <a:spcPts val="0"/>
                    </a:spcBef>
                    <a:spcAft>
                      <a:spcPts val="0"/>
                    </a:spcAft>
                    <a:buNone/>
                  </a:pPr>
                  <a:r>
                    <a:rPr b="0" i="0" lang="en-US" sz="1000" u="none" cap="none" strike="noStrike">
                      <a:solidFill>
                        <a:schemeClr val="lt1"/>
                      </a:solidFill>
                      <a:latin typeface="Play"/>
                      <a:ea typeface="Play"/>
                      <a:cs typeface="Play"/>
                      <a:sym typeface="Play"/>
                    </a:rPr>
                    <a:t>Accountability</a:t>
                  </a:r>
                  <a:endParaRPr sz="1100"/>
                </a:p>
                <a:p>
                  <a:pPr indent="0" lvl="0" marL="0" marR="0" rtl="0" algn="l">
                    <a:spcBef>
                      <a:spcPts val="0"/>
                    </a:spcBef>
                    <a:spcAft>
                      <a:spcPts val="0"/>
                    </a:spcAft>
                    <a:buNone/>
                  </a:pPr>
                  <a:r>
                    <a:rPr b="0" i="0" lang="en-US" sz="1000" u="none" cap="none" strike="noStrike">
                      <a:solidFill>
                        <a:schemeClr val="lt1"/>
                      </a:solidFill>
                      <a:latin typeface="Play"/>
                      <a:ea typeface="Play"/>
                      <a:cs typeface="Play"/>
                      <a:sym typeface="Play"/>
                    </a:rPr>
                    <a:t>Collective Bargaining Rights</a:t>
                  </a:r>
                  <a:endParaRPr sz="1100"/>
                </a:p>
              </p:txBody>
            </p:sp>
          </p:grpSp>
          <p:sp>
            <p:nvSpPr>
              <p:cNvPr id="107" name="Google Shape;107;p21"/>
              <p:cNvSpPr txBox="1"/>
              <p:nvPr/>
            </p:nvSpPr>
            <p:spPr>
              <a:xfrm>
                <a:off x="9082254" y="3735482"/>
                <a:ext cx="2725200" cy="560400"/>
              </a:xfrm>
              <a:prstGeom prst="rect">
                <a:avLst/>
              </a:prstGeom>
              <a:noFill/>
              <a:ln>
                <a:noFill/>
              </a:ln>
            </p:spPr>
            <p:txBody>
              <a:bodyPr anchorCtr="0" anchor="t" bIns="34275" lIns="68575" spcFirstLastPara="1" rIns="68575" wrap="square" tIns="34275">
                <a:normAutofit/>
              </a:bodyPr>
              <a:lstStyle/>
              <a:p>
                <a:pPr indent="0" lvl="0" marL="0" marR="0" rtl="0" algn="just">
                  <a:lnSpc>
                    <a:spcPct val="90000"/>
                  </a:lnSpc>
                  <a:spcBef>
                    <a:spcPts val="0"/>
                  </a:spcBef>
                  <a:spcAft>
                    <a:spcPts val="0"/>
                  </a:spcAft>
                  <a:buClr>
                    <a:schemeClr val="lt1"/>
                  </a:buClr>
                  <a:buSzPts val="1500"/>
                  <a:buFont typeface="Libre Franklin"/>
                  <a:buNone/>
                </a:pPr>
                <a:r>
                  <a:rPr b="1" i="0" lang="en-US" sz="1500" u="none" cap="none" strike="noStrike">
                    <a:solidFill>
                      <a:schemeClr val="lt1"/>
                    </a:solidFill>
                    <a:latin typeface="Libre Franklin"/>
                    <a:ea typeface="Libre Franklin"/>
                    <a:cs typeface="Libre Franklin"/>
                    <a:sym typeface="Libre Franklin"/>
                  </a:rPr>
                  <a:t>OUR CORE VALUES</a:t>
                </a:r>
                <a:endParaRPr sz="1100"/>
              </a:p>
            </p:txBody>
          </p:sp>
        </p:grpSp>
      </p:grpSp>
      <p:grpSp>
        <p:nvGrpSpPr>
          <p:cNvPr id="108" name="Google Shape;108;p21"/>
          <p:cNvGrpSpPr/>
          <p:nvPr/>
        </p:nvGrpSpPr>
        <p:grpSpPr>
          <a:xfrm>
            <a:off x="5367574" y="409733"/>
            <a:ext cx="2408285" cy="2404706"/>
            <a:chOff x="9505242" y="-529687"/>
            <a:chExt cx="3211046" cy="3206274"/>
          </a:xfrm>
        </p:grpSpPr>
        <p:pic>
          <p:nvPicPr>
            <p:cNvPr descr="A red circular object with black background&#10;&#10;Description automatically generated" id="109" name="Google Shape;109;p21"/>
            <p:cNvPicPr preferRelativeResize="0"/>
            <p:nvPr/>
          </p:nvPicPr>
          <p:blipFill rotWithShape="1">
            <a:blip r:embed="rId5">
              <a:alphaModFix/>
            </a:blip>
            <a:srcRect b="0" l="24206" r="19463" t="0"/>
            <a:stretch/>
          </p:blipFill>
          <p:spPr>
            <a:xfrm>
              <a:off x="9505242" y="-529687"/>
              <a:ext cx="3211046" cy="3206274"/>
            </a:xfrm>
            <a:prstGeom prst="rect">
              <a:avLst/>
            </a:prstGeom>
            <a:noFill/>
            <a:ln>
              <a:noFill/>
            </a:ln>
          </p:spPr>
        </p:pic>
        <p:grpSp>
          <p:nvGrpSpPr>
            <p:cNvPr id="110" name="Google Shape;110;p21"/>
            <p:cNvGrpSpPr/>
            <p:nvPr/>
          </p:nvGrpSpPr>
          <p:grpSpPr>
            <a:xfrm>
              <a:off x="10063786" y="260526"/>
              <a:ext cx="2103938" cy="1896492"/>
              <a:chOff x="10063786" y="260526"/>
              <a:chExt cx="2103938" cy="1896492"/>
            </a:xfrm>
          </p:grpSpPr>
          <p:sp>
            <p:nvSpPr>
              <p:cNvPr id="111" name="Google Shape;111;p21"/>
              <p:cNvSpPr txBox="1"/>
              <p:nvPr/>
            </p:nvSpPr>
            <p:spPr>
              <a:xfrm>
                <a:off x="10063786" y="710118"/>
                <a:ext cx="1991400" cy="1446900"/>
              </a:xfrm>
              <a:prstGeom prst="rect">
                <a:avLst/>
              </a:prstGeom>
              <a:noFill/>
              <a:ln>
                <a:noFill/>
              </a:ln>
            </p:spPr>
            <p:txBody>
              <a:bodyPr anchorCtr="0" anchor="t" bIns="34275" lIns="68575" spcFirstLastPara="1" rIns="68575" wrap="square" tIns="34275">
                <a:spAutoFit/>
              </a:bodyPr>
              <a:lstStyle/>
              <a:p>
                <a:pPr indent="0" lvl="0" marL="0" marR="0" rtl="0" algn="just">
                  <a:spcBef>
                    <a:spcPts val="0"/>
                  </a:spcBef>
                  <a:spcAft>
                    <a:spcPts val="0"/>
                  </a:spcAft>
                  <a:buNone/>
                </a:pPr>
                <a:r>
                  <a:rPr b="0" i="0" lang="en-US" sz="1100" u="none" cap="none" strike="noStrike">
                    <a:solidFill>
                      <a:schemeClr val="lt1"/>
                    </a:solidFill>
                    <a:latin typeface="Play"/>
                    <a:ea typeface="Play"/>
                    <a:cs typeface="Play"/>
                    <a:sym typeface="Play"/>
                  </a:rPr>
                  <a:t>To empower workers to build a better future through world class</a:t>
                </a:r>
                <a:r>
                  <a:rPr lang="en-US" sz="1100">
                    <a:solidFill>
                      <a:schemeClr val="lt1"/>
                    </a:solidFill>
                    <a:latin typeface="Play"/>
                    <a:ea typeface="Play"/>
                    <a:cs typeface="Play"/>
                    <a:sym typeface="Play"/>
                  </a:rPr>
                  <a:t> </a:t>
                </a:r>
                <a:r>
                  <a:rPr b="0" i="0" lang="en-US" sz="1100" u="none" cap="none" strike="noStrike">
                    <a:solidFill>
                      <a:schemeClr val="lt1"/>
                    </a:solidFill>
                    <a:latin typeface="Play"/>
                    <a:ea typeface="Play"/>
                    <a:cs typeface="Play"/>
                    <a:sym typeface="Play"/>
                  </a:rPr>
                  <a:t>education, training and union rights on the job.</a:t>
                </a:r>
                <a:endParaRPr sz="1100"/>
              </a:p>
            </p:txBody>
          </p:sp>
          <p:sp>
            <p:nvSpPr>
              <p:cNvPr id="112" name="Google Shape;112;p21"/>
              <p:cNvSpPr txBox="1"/>
              <p:nvPr/>
            </p:nvSpPr>
            <p:spPr>
              <a:xfrm>
                <a:off x="10192524" y="260526"/>
                <a:ext cx="1975200" cy="456000"/>
              </a:xfrm>
              <a:prstGeom prst="rect">
                <a:avLst/>
              </a:prstGeom>
              <a:noFill/>
              <a:ln>
                <a:noFill/>
              </a:ln>
            </p:spPr>
            <p:txBody>
              <a:bodyPr anchorCtr="0" anchor="ctr" bIns="34275" lIns="68575" spcFirstLastPara="1" rIns="68575" wrap="square" tIns="34275">
                <a:noAutofit/>
              </a:bodyPr>
              <a:lstStyle/>
              <a:p>
                <a:pPr indent="0" lvl="0" marL="0" marR="0" rtl="0" algn="just">
                  <a:lnSpc>
                    <a:spcPct val="90000"/>
                  </a:lnSpc>
                  <a:spcBef>
                    <a:spcPts val="0"/>
                  </a:spcBef>
                  <a:spcAft>
                    <a:spcPts val="0"/>
                  </a:spcAft>
                  <a:buClr>
                    <a:schemeClr val="lt1"/>
                  </a:buClr>
                  <a:buSzPts val="1500"/>
                  <a:buFont typeface="Libre Franklin"/>
                  <a:buNone/>
                </a:pPr>
                <a:r>
                  <a:rPr b="1" i="0" lang="en-US" sz="1500" u="none" cap="none" strike="noStrike">
                    <a:solidFill>
                      <a:schemeClr val="lt1"/>
                    </a:solidFill>
                    <a:latin typeface="Libre Franklin"/>
                    <a:ea typeface="Libre Franklin"/>
                    <a:cs typeface="Libre Franklin"/>
                    <a:sym typeface="Libre Franklin"/>
                  </a:rPr>
                  <a:t>OUR </a:t>
                </a:r>
                <a:r>
                  <a:rPr b="1" lang="en-US" sz="1500">
                    <a:solidFill>
                      <a:schemeClr val="lt1"/>
                    </a:solidFill>
                    <a:latin typeface="Libre Franklin"/>
                    <a:ea typeface="Libre Franklin"/>
                    <a:cs typeface="Libre Franklin"/>
                    <a:sym typeface="Libre Franklin"/>
                  </a:rPr>
                  <a:t>MISSION</a:t>
                </a:r>
                <a:endParaRPr sz="1100"/>
              </a:p>
            </p:txBody>
          </p:sp>
        </p:grpSp>
      </p:grpSp>
      <p:grpSp>
        <p:nvGrpSpPr>
          <p:cNvPr id="113" name="Google Shape;113;p21"/>
          <p:cNvGrpSpPr/>
          <p:nvPr/>
        </p:nvGrpSpPr>
        <p:grpSpPr>
          <a:xfrm>
            <a:off x="-315543" y="2120958"/>
            <a:ext cx="3316098" cy="3312416"/>
            <a:chOff x="5541790" y="-257405"/>
            <a:chExt cx="4421465" cy="4416554"/>
          </a:xfrm>
        </p:grpSpPr>
        <p:pic>
          <p:nvPicPr>
            <p:cNvPr descr="A blue circular object with a black background&#10;&#10;Description automatically generated" id="114" name="Google Shape;114;p21"/>
            <p:cNvPicPr preferRelativeResize="0"/>
            <p:nvPr/>
          </p:nvPicPr>
          <p:blipFill rotWithShape="1">
            <a:blip r:embed="rId6">
              <a:alphaModFix/>
            </a:blip>
            <a:srcRect b="0" l="24213" r="19452" t="0"/>
            <a:stretch/>
          </p:blipFill>
          <p:spPr>
            <a:xfrm rot="493536">
              <a:off x="5800564" y="1812"/>
              <a:ext cx="3903917" cy="3898119"/>
            </a:xfrm>
            <a:prstGeom prst="rect">
              <a:avLst/>
            </a:prstGeom>
            <a:noFill/>
            <a:ln>
              <a:noFill/>
            </a:ln>
          </p:spPr>
        </p:pic>
        <p:grpSp>
          <p:nvGrpSpPr>
            <p:cNvPr id="115" name="Google Shape;115;p21"/>
            <p:cNvGrpSpPr/>
            <p:nvPr/>
          </p:nvGrpSpPr>
          <p:grpSpPr>
            <a:xfrm>
              <a:off x="6509962" y="667237"/>
              <a:ext cx="2641200" cy="3031440"/>
              <a:chOff x="6509962" y="667237"/>
              <a:chExt cx="2641200" cy="3031440"/>
            </a:xfrm>
          </p:grpSpPr>
          <p:sp>
            <p:nvSpPr>
              <p:cNvPr id="116" name="Google Shape;116;p21"/>
              <p:cNvSpPr txBox="1"/>
              <p:nvPr/>
            </p:nvSpPr>
            <p:spPr>
              <a:xfrm>
                <a:off x="6509962" y="1123177"/>
                <a:ext cx="2641200" cy="2575500"/>
              </a:xfrm>
              <a:prstGeom prst="rect">
                <a:avLst/>
              </a:prstGeom>
              <a:noFill/>
              <a:ln>
                <a:noFill/>
              </a:ln>
            </p:spPr>
            <p:txBody>
              <a:bodyPr anchorCtr="0" anchor="t" bIns="34275" lIns="68575" spcFirstLastPara="1" rIns="68575" wrap="square" tIns="34275">
                <a:spAutoFit/>
              </a:bodyPr>
              <a:lstStyle/>
              <a:p>
                <a:pPr indent="0" lvl="0" marL="0" marR="0" rtl="0" algn="just">
                  <a:spcBef>
                    <a:spcPts val="0"/>
                  </a:spcBef>
                  <a:spcAft>
                    <a:spcPts val="0"/>
                  </a:spcAft>
                  <a:buNone/>
                </a:pPr>
                <a:r>
                  <a:rPr b="0" i="0" lang="en-US" sz="1100" u="none" cap="none" strike="noStrike">
                    <a:solidFill>
                      <a:schemeClr val="lt1"/>
                    </a:solidFill>
                    <a:latin typeface="Play"/>
                    <a:ea typeface="Play"/>
                    <a:cs typeface="Play"/>
                    <a:sym typeface="Play"/>
                  </a:rPr>
                  <a:t>We envision prosperity for workers across multiple industries through accessible and affordable world class education and training. By providing pathways to needed skill development for IAM members and community members in need of opportunities and rights in the workplace.</a:t>
                </a:r>
                <a:endParaRPr sz="1100"/>
              </a:p>
            </p:txBody>
          </p:sp>
          <p:sp>
            <p:nvSpPr>
              <p:cNvPr id="117" name="Google Shape;117;p21"/>
              <p:cNvSpPr txBox="1"/>
              <p:nvPr/>
            </p:nvSpPr>
            <p:spPr>
              <a:xfrm>
                <a:off x="6853059" y="667237"/>
                <a:ext cx="1955100" cy="456000"/>
              </a:xfrm>
              <a:prstGeom prst="rect">
                <a:avLst/>
              </a:prstGeom>
              <a:noFill/>
              <a:ln>
                <a:noFill/>
              </a:ln>
            </p:spPr>
            <p:txBody>
              <a:bodyPr anchorCtr="0" anchor="ctr" bIns="34275" lIns="68575" spcFirstLastPara="1" rIns="68575" wrap="square" tIns="34275">
                <a:noAutofit/>
              </a:bodyPr>
              <a:lstStyle/>
              <a:p>
                <a:pPr indent="0" lvl="0" marL="0" marR="0" rtl="0" algn="just">
                  <a:lnSpc>
                    <a:spcPct val="90000"/>
                  </a:lnSpc>
                  <a:spcBef>
                    <a:spcPts val="0"/>
                  </a:spcBef>
                  <a:spcAft>
                    <a:spcPts val="0"/>
                  </a:spcAft>
                  <a:buClr>
                    <a:schemeClr val="lt1"/>
                  </a:buClr>
                  <a:buSzPts val="1500"/>
                  <a:buFont typeface="Libre Franklin"/>
                  <a:buNone/>
                </a:pPr>
                <a:r>
                  <a:rPr b="1" i="0" lang="en-US" sz="1500" u="none" cap="none" strike="noStrike">
                    <a:solidFill>
                      <a:schemeClr val="lt1"/>
                    </a:solidFill>
                    <a:latin typeface="Libre Franklin"/>
                    <a:ea typeface="Libre Franklin"/>
                    <a:cs typeface="Libre Franklin"/>
                    <a:sym typeface="Libre Franklin"/>
                  </a:rPr>
                  <a:t>OUR </a:t>
                </a:r>
                <a:r>
                  <a:rPr b="1" lang="en-US" sz="1500">
                    <a:solidFill>
                      <a:schemeClr val="lt1"/>
                    </a:solidFill>
                    <a:latin typeface="Libre Franklin"/>
                    <a:ea typeface="Libre Franklin"/>
                    <a:cs typeface="Libre Franklin"/>
                    <a:sym typeface="Libre Franklin"/>
                  </a:rPr>
                  <a:t>VISION</a:t>
                </a:r>
                <a:endParaRPr sz="1100"/>
              </a:p>
            </p:txBody>
          </p:sp>
        </p:grpSp>
      </p:grpSp>
      <p:sp>
        <p:nvSpPr>
          <p:cNvPr id="118" name="Google Shape;118;p21"/>
          <p:cNvSpPr txBox="1"/>
          <p:nvPr/>
        </p:nvSpPr>
        <p:spPr>
          <a:xfrm>
            <a:off x="1215010" y="3287505"/>
            <a:ext cx="2604300" cy="459900"/>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Clr>
                <a:schemeClr val="dk1"/>
              </a:buClr>
              <a:buSzPts val="3800"/>
              <a:buFont typeface="Play"/>
              <a:buNone/>
            </a:pPr>
            <a:r>
              <a:t/>
            </a:r>
            <a:endParaRPr b="1" i="0" sz="3800" u="none" cap="none" strike="noStrike">
              <a:solidFill>
                <a:srgbClr val="003651"/>
              </a:solidFill>
              <a:latin typeface="Libre Franklin"/>
              <a:ea typeface="Libre Franklin"/>
              <a:cs typeface="Libre Franklin"/>
              <a:sym typeface="Libre Franklin"/>
            </a:endParaRPr>
          </a:p>
        </p:txBody>
      </p:sp>
      <p:pic>
        <p:nvPicPr>
          <p:cNvPr descr="A qr code with circles and gears&#10;&#10;AI-generated content may be incorrect." id="119" name="Google Shape;119;p21">
            <a:hlinkClick r:id="rId7"/>
          </p:cNvPr>
          <p:cNvPicPr preferRelativeResize="0"/>
          <p:nvPr/>
        </p:nvPicPr>
        <p:blipFill rotWithShape="1">
          <a:blip r:embed="rId8">
            <a:alphaModFix/>
          </a:blip>
          <a:srcRect b="0" l="0" r="0" t="0"/>
          <a:stretch/>
        </p:blipFill>
        <p:spPr>
          <a:xfrm>
            <a:off x="7233220" y="3471667"/>
            <a:ext cx="1204341" cy="1204341"/>
          </a:xfrm>
          <a:prstGeom prst="rect">
            <a:avLst/>
          </a:prstGeom>
          <a:noFill/>
          <a:ln>
            <a:noFill/>
          </a:ln>
        </p:spPr>
      </p:pic>
      <p:sp>
        <p:nvSpPr>
          <p:cNvPr id="120" name="Google Shape;120;p21">
            <a:hlinkClick r:id="rId9"/>
          </p:cNvPr>
          <p:cNvSpPr txBox="1"/>
          <p:nvPr/>
        </p:nvSpPr>
        <p:spPr>
          <a:xfrm>
            <a:off x="6533306" y="4795742"/>
            <a:ext cx="2604300" cy="348000"/>
          </a:xfrm>
          <a:prstGeom prst="rect">
            <a:avLst/>
          </a:prstGeom>
          <a:noFill/>
          <a:ln>
            <a:noFill/>
          </a:ln>
        </p:spPr>
        <p:txBody>
          <a:bodyPr anchorCtr="0" anchor="t" bIns="34275" lIns="68575" spcFirstLastPara="1" rIns="68575" wrap="square" tIns="34275">
            <a:normAutofit fontScale="32500"/>
          </a:bodyPr>
          <a:lstStyle/>
          <a:p>
            <a:pPr indent="0" lvl="0" marL="0" marR="0" rtl="0" algn="ctr">
              <a:lnSpc>
                <a:spcPct val="90000"/>
              </a:lnSpc>
              <a:spcBef>
                <a:spcPts val="0"/>
              </a:spcBef>
              <a:spcAft>
                <a:spcPts val="0"/>
              </a:spcAft>
              <a:buClr>
                <a:srgbClr val="003651"/>
              </a:buClr>
              <a:buSzPct val="100000"/>
              <a:buFont typeface="Libre Franklin"/>
              <a:buNone/>
            </a:pPr>
            <a:r>
              <a:rPr b="1" i="0" lang="en-US" sz="3800" u="none" cap="none" strike="noStrike">
                <a:solidFill>
                  <a:srgbClr val="003651"/>
                </a:solidFill>
                <a:latin typeface="Libre Franklin"/>
                <a:ea typeface="Libre Franklin"/>
                <a:cs typeface="Libre Franklin"/>
                <a:sym typeface="Libre Franklin"/>
              </a:rPr>
              <a:t>Scan for our video introduction</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2"/>
          <p:cNvPicPr preferRelativeResize="0"/>
          <p:nvPr/>
        </p:nvPicPr>
        <p:blipFill rotWithShape="1">
          <a:blip r:embed="rId3">
            <a:alphaModFix/>
          </a:blip>
          <a:srcRect b="0" l="0" r="0" t="0"/>
          <a:stretch/>
        </p:blipFill>
        <p:spPr>
          <a:xfrm>
            <a:off x="899" y="0"/>
            <a:ext cx="9142204" cy="5139359"/>
          </a:xfrm>
          <a:prstGeom prst="rect">
            <a:avLst/>
          </a:prstGeom>
          <a:noFill/>
          <a:ln>
            <a:noFill/>
          </a:ln>
        </p:spPr>
      </p:pic>
      <p:sp>
        <p:nvSpPr>
          <p:cNvPr id="127" name="Google Shape;127;p22"/>
          <p:cNvSpPr txBox="1"/>
          <p:nvPr>
            <p:ph type="ctrTitle"/>
          </p:nvPr>
        </p:nvSpPr>
        <p:spPr>
          <a:xfrm>
            <a:off x="3154670" y="346775"/>
            <a:ext cx="5865900" cy="675600"/>
          </a:xfrm>
          <a:prstGeom prst="rect">
            <a:avLst/>
          </a:prstGeom>
          <a:noFill/>
          <a:ln>
            <a:noFill/>
          </a:ln>
        </p:spPr>
        <p:txBody>
          <a:bodyPr anchorCtr="0" anchor="b" bIns="34275" lIns="68575" spcFirstLastPara="1" rIns="68575" wrap="square" tIns="34275">
            <a:noAutofit/>
          </a:bodyPr>
          <a:lstStyle/>
          <a:p>
            <a:pPr indent="0" lvl="0" marL="0" rtl="0" algn="just">
              <a:lnSpc>
                <a:spcPct val="150000"/>
              </a:lnSpc>
              <a:spcBef>
                <a:spcPts val="0"/>
              </a:spcBef>
              <a:spcAft>
                <a:spcPts val="0"/>
              </a:spcAft>
              <a:buClr>
                <a:schemeClr val="lt1"/>
              </a:buClr>
              <a:buSzPts val="1500"/>
              <a:buFont typeface="Libre Franklin"/>
              <a:buNone/>
            </a:pPr>
            <a:r>
              <a:rPr b="1" lang="en-US" sz="1500">
                <a:solidFill>
                  <a:schemeClr val="lt1"/>
                </a:solidFill>
                <a:latin typeface="Calibri"/>
                <a:ea typeface="Calibri"/>
                <a:cs typeface="Calibri"/>
                <a:sym typeface="Calibri"/>
              </a:rPr>
              <a:t>MI Takes a Holistic Approach To Delivering Accessible Education.</a:t>
            </a:r>
            <a:endParaRPr>
              <a:latin typeface="Calibri"/>
              <a:ea typeface="Calibri"/>
              <a:cs typeface="Calibri"/>
              <a:sym typeface="Calibri"/>
            </a:endParaRPr>
          </a:p>
        </p:txBody>
      </p:sp>
      <p:grpSp>
        <p:nvGrpSpPr>
          <p:cNvPr id="128" name="Google Shape;128;p22"/>
          <p:cNvGrpSpPr/>
          <p:nvPr/>
        </p:nvGrpSpPr>
        <p:grpSpPr>
          <a:xfrm>
            <a:off x="320846" y="1841402"/>
            <a:ext cx="2411712" cy="3385617"/>
            <a:chOff x="436880" y="2958536"/>
            <a:chExt cx="3215616" cy="4514156"/>
          </a:xfrm>
        </p:grpSpPr>
        <p:sp>
          <p:nvSpPr>
            <p:cNvPr id="129" name="Google Shape;129;p22"/>
            <p:cNvSpPr txBox="1"/>
            <p:nvPr/>
          </p:nvSpPr>
          <p:spPr>
            <a:xfrm>
              <a:off x="436880" y="3686092"/>
              <a:ext cx="2480100" cy="378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IAM</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Employers</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K12</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Higher Education</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Community Partners</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Legislators</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Workforce System</a:t>
              </a:r>
              <a:endParaRPr sz="1100"/>
            </a:p>
          </p:txBody>
        </p:sp>
        <p:grpSp>
          <p:nvGrpSpPr>
            <p:cNvPr id="130" name="Google Shape;130;p22"/>
            <p:cNvGrpSpPr/>
            <p:nvPr/>
          </p:nvGrpSpPr>
          <p:grpSpPr>
            <a:xfrm>
              <a:off x="436880" y="2958536"/>
              <a:ext cx="3215616" cy="665844"/>
              <a:chOff x="436880" y="2958536"/>
              <a:chExt cx="3215616" cy="665844"/>
            </a:xfrm>
          </p:grpSpPr>
          <p:sp>
            <p:nvSpPr>
              <p:cNvPr id="131" name="Google Shape;131;p22"/>
              <p:cNvSpPr txBox="1"/>
              <p:nvPr/>
            </p:nvSpPr>
            <p:spPr>
              <a:xfrm>
                <a:off x="436880" y="2958536"/>
                <a:ext cx="2052600" cy="617700"/>
              </a:xfrm>
              <a:prstGeom prst="rect">
                <a:avLst/>
              </a:prstGeom>
              <a:noFill/>
              <a:ln>
                <a:noFill/>
              </a:ln>
            </p:spPr>
            <p:txBody>
              <a:bodyPr anchorCtr="0" anchor="b" bIns="34275" lIns="68575" spcFirstLastPara="1" rIns="68575" wrap="square" tIns="34275">
                <a:noAutofit/>
              </a:bodyPr>
              <a:lstStyle/>
              <a:p>
                <a:pPr indent="0" lvl="0" marL="0" marR="0" rtl="0" algn="just">
                  <a:lnSpc>
                    <a:spcPct val="150000"/>
                  </a:lnSpc>
                  <a:spcBef>
                    <a:spcPts val="0"/>
                  </a:spcBef>
                  <a:spcAft>
                    <a:spcPts val="0"/>
                  </a:spcAft>
                  <a:buClr>
                    <a:schemeClr val="lt1"/>
                  </a:buClr>
                  <a:buSzPts val="2300"/>
                  <a:buFont typeface="Libre Franklin Light"/>
                  <a:buNone/>
                </a:pPr>
                <a:r>
                  <a:rPr b="1" lang="en-US" sz="2300" u="none">
                    <a:solidFill>
                      <a:schemeClr val="lt1"/>
                    </a:solidFill>
                    <a:latin typeface="Libre Franklin Light"/>
                    <a:ea typeface="Libre Franklin Light"/>
                    <a:cs typeface="Libre Franklin Light"/>
                    <a:sym typeface="Libre Franklin Light"/>
                  </a:rPr>
                  <a:t>PARTNER</a:t>
                </a:r>
                <a:endParaRPr sz="1100"/>
              </a:p>
            </p:txBody>
          </p:sp>
          <p:pic>
            <p:nvPicPr>
              <p:cNvPr descr="A group of hands shaking hands&#10;&#10;AI-generated content may be incorrect." id="132" name="Google Shape;132;p22"/>
              <p:cNvPicPr preferRelativeResize="0"/>
              <p:nvPr/>
            </p:nvPicPr>
            <p:blipFill rotWithShape="1">
              <a:blip r:embed="rId4">
                <a:alphaModFix/>
              </a:blip>
              <a:srcRect b="67623" l="0" r="40134" t="0"/>
              <a:stretch/>
            </p:blipFill>
            <p:spPr>
              <a:xfrm>
                <a:off x="2505733" y="3004182"/>
                <a:ext cx="1146763" cy="620198"/>
              </a:xfrm>
              <a:prstGeom prst="rect">
                <a:avLst/>
              </a:prstGeom>
              <a:noFill/>
              <a:ln>
                <a:noFill/>
              </a:ln>
            </p:spPr>
          </p:pic>
        </p:grpSp>
      </p:grpSp>
      <p:grpSp>
        <p:nvGrpSpPr>
          <p:cNvPr id="133" name="Google Shape;133;p22"/>
          <p:cNvGrpSpPr/>
          <p:nvPr/>
        </p:nvGrpSpPr>
        <p:grpSpPr>
          <a:xfrm>
            <a:off x="3048539" y="1775927"/>
            <a:ext cx="2916450" cy="3117811"/>
            <a:chOff x="4073803" y="2871235"/>
            <a:chExt cx="3888600" cy="4157081"/>
          </a:xfrm>
        </p:grpSpPr>
        <p:sp>
          <p:nvSpPr>
            <p:cNvPr id="134" name="Google Shape;134;p22"/>
            <p:cNvSpPr txBox="1"/>
            <p:nvPr/>
          </p:nvSpPr>
          <p:spPr>
            <a:xfrm>
              <a:off x="4073803" y="3611316"/>
              <a:ext cx="3888600" cy="341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Learning Management System</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Instructional Designers</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Train the Trainer</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Apprenticeship Development</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Standardized Curriculum</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Technical Assistance</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Student Supports</a:t>
              </a:r>
              <a:endParaRPr sz="1100"/>
            </a:p>
          </p:txBody>
        </p:sp>
        <p:grpSp>
          <p:nvGrpSpPr>
            <p:cNvPr id="135" name="Google Shape;135;p22"/>
            <p:cNvGrpSpPr/>
            <p:nvPr/>
          </p:nvGrpSpPr>
          <p:grpSpPr>
            <a:xfrm>
              <a:off x="4073803" y="2871235"/>
              <a:ext cx="2591523" cy="797469"/>
              <a:chOff x="4073803" y="2871235"/>
              <a:chExt cx="2591523" cy="797469"/>
            </a:xfrm>
          </p:grpSpPr>
          <p:sp>
            <p:nvSpPr>
              <p:cNvPr id="136" name="Google Shape;136;p22"/>
              <p:cNvSpPr txBox="1"/>
              <p:nvPr/>
            </p:nvSpPr>
            <p:spPr>
              <a:xfrm>
                <a:off x="4073803" y="2958536"/>
                <a:ext cx="2087400" cy="627000"/>
              </a:xfrm>
              <a:prstGeom prst="rect">
                <a:avLst/>
              </a:prstGeom>
              <a:noFill/>
              <a:ln>
                <a:noFill/>
              </a:ln>
            </p:spPr>
            <p:txBody>
              <a:bodyPr anchorCtr="0" anchor="b" bIns="34275" lIns="68575" spcFirstLastPara="1" rIns="68575" wrap="square" tIns="34275">
                <a:noAutofit/>
              </a:bodyPr>
              <a:lstStyle/>
              <a:p>
                <a:pPr indent="0" lvl="0" marL="0" marR="0" rtl="0" algn="just">
                  <a:lnSpc>
                    <a:spcPct val="150000"/>
                  </a:lnSpc>
                  <a:spcBef>
                    <a:spcPts val="0"/>
                  </a:spcBef>
                  <a:spcAft>
                    <a:spcPts val="0"/>
                  </a:spcAft>
                  <a:buClr>
                    <a:schemeClr val="lt1"/>
                  </a:buClr>
                  <a:buSzPts val="2300"/>
                  <a:buFont typeface="Libre Franklin Light"/>
                  <a:buNone/>
                </a:pPr>
                <a:r>
                  <a:rPr b="1" lang="en-US" sz="2300" u="none">
                    <a:solidFill>
                      <a:schemeClr val="lt1"/>
                    </a:solidFill>
                    <a:latin typeface="Libre Franklin Light"/>
                    <a:ea typeface="Libre Franklin Light"/>
                    <a:cs typeface="Libre Franklin Light"/>
                    <a:sym typeface="Libre Franklin Light"/>
                  </a:rPr>
                  <a:t>BUILD</a:t>
                </a:r>
                <a:r>
                  <a:rPr b="0" lang="en-US" sz="2300" u="none">
                    <a:solidFill>
                      <a:schemeClr val="dk1"/>
                    </a:solidFill>
                    <a:latin typeface="Libre Franklin Light"/>
                    <a:ea typeface="Libre Franklin Light"/>
                    <a:cs typeface="Libre Franklin Light"/>
                    <a:sym typeface="Libre Franklin Light"/>
                  </a:rPr>
                  <a:t> </a:t>
                </a:r>
                <a:endParaRPr b="0" sz="2300" u="none">
                  <a:solidFill>
                    <a:schemeClr val="dk1"/>
                  </a:solidFill>
                  <a:latin typeface="Libre Franklin Light"/>
                  <a:ea typeface="Libre Franklin Light"/>
                  <a:cs typeface="Libre Franklin Light"/>
                  <a:sym typeface="Libre Franklin Light"/>
                </a:endParaRPr>
              </a:p>
            </p:txBody>
          </p:sp>
          <p:pic>
            <p:nvPicPr>
              <p:cNvPr descr="A group of hands shaking hands&#10;&#10;AI-generated content may be incorrect." id="137" name="Google Shape;137;p22"/>
              <p:cNvPicPr preferRelativeResize="0"/>
              <p:nvPr/>
            </p:nvPicPr>
            <p:blipFill rotWithShape="1">
              <a:blip r:embed="rId4">
                <a:alphaModFix/>
              </a:blip>
              <a:srcRect b="22232" l="55696" r="2234" t="35348"/>
              <a:stretch/>
            </p:blipFill>
            <p:spPr>
              <a:xfrm>
                <a:off x="5667384" y="2871235"/>
                <a:ext cx="997942" cy="797469"/>
              </a:xfrm>
              <a:prstGeom prst="rect">
                <a:avLst/>
              </a:prstGeom>
              <a:noFill/>
              <a:ln>
                <a:noFill/>
              </a:ln>
            </p:spPr>
          </p:pic>
        </p:grpSp>
      </p:grpSp>
      <p:grpSp>
        <p:nvGrpSpPr>
          <p:cNvPr id="138" name="Google Shape;138;p22"/>
          <p:cNvGrpSpPr/>
          <p:nvPr/>
        </p:nvGrpSpPr>
        <p:grpSpPr>
          <a:xfrm>
            <a:off x="5984482" y="1761869"/>
            <a:ext cx="2869099" cy="3114683"/>
            <a:chOff x="7988394" y="2897985"/>
            <a:chExt cx="3825465" cy="4152911"/>
          </a:xfrm>
        </p:grpSpPr>
        <p:sp>
          <p:nvSpPr>
            <p:cNvPr id="139" name="Google Shape;139;p22"/>
            <p:cNvSpPr txBox="1"/>
            <p:nvPr/>
          </p:nvSpPr>
          <p:spPr>
            <a:xfrm>
              <a:off x="8045259" y="3633896"/>
              <a:ext cx="3768600" cy="341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Use Proven Model to replicate:</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Rural Delivery</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Hybrid Delivery</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Through Partnerships</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Underserved Communities</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Tribal Partners</a:t>
              </a:r>
              <a:endParaRPr sz="1100"/>
            </a:p>
            <a:p>
              <a:pPr indent="0" lvl="0" marL="0" marR="0" rtl="0" algn="l">
                <a:spcBef>
                  <a:spcPts val="0"/>
                </a:spcBef>
                <a:spcAft>
                  <a:spcPts val="0"/>
                </a:spcAft>
                <a:buNone/>
              </a:pPr>
              <a:r>
                <a:rPr lang="en-US" sz="1800">
                  <a:solidFill>
                    <a:schemeClr val="lt1"/>
                  </a:solidFill>
                  <a:latin typeface="Arial"/>
                  <a:ea typeface="Arial"/>
                  <a:cs typeface="Arial"/>
                  <a:sym typeface="Arial"/>
                </a:rPr>
                <a:t>National Expansion</a:t>
              </a:r>
              <a:endParaRPr sz="1100"/>
            </a:p>
          </p:txBody>
        </p:sp>
        <p:grpSp>
          <p:nvGrpSpPr>
            <p:cNvPr id="140" name="Google Shape;140;p22"/>
            <p:cNvGrpSpPr/>
            <p:nvPr/>
          </p:nvGrpSpPr>
          <p:grpSpPr>
            <a:xfrm>
              <a:off x="7988394" y="2897985"/>
              <a:ext cx="2964468" cy="686078"/>
              <a:chOff x="7988394" y="2897985"/>
              <a:chExt cx="2964468" cy="686078"/>
            </a:xfrm>
          </p:grpSpPr>
          <p:sp>
            <p:nvSpPr>
              <p:cNvPr id="141" name="Google Shape;141;p22"/>
              <p:cNvSpPr txBox="1"/>
              <p:nvPr/>
            </p:nvSpPr>
            <p:spPr>
              <a:xfrm>
                <a:off x="7988394" y="2924417"/>
                <a:ext cx="2209200" cy="640500"/>
              </a:xfrm>
              <a:prstGeom prst="rect">
                <a:avLst/>
              </a:prstGeom>
              <a:noFill/>
              <a:ln>
                <a:noFill/>
              </a:ln>
            </p:spPr>
            <p:txBody>
              <a:bodyPr anchorCtr="0" anchor="b" bIns="34275" lIns="68575" spcFirstLastPara="1" rIns="68575" wrap="square" tIns="34275">
                <a:noAutofit/>
              </a:bodyPr>
              <a:lstStyle/>
              <a:p>
                <a:pPr indent="0" lvl="0" marL="0" marR="0" rtl="0" algn="just">
                  <a:lnSpc>
                    <a:spcPct val="150000"/>
                  </a:lnSpc>
                  <a:spcBef>
                    <a:spcPts val="0"/>
                  </a:spcBef>
                  <a:spcAft>
                    <a:spcPts val="0"/>
                  </a:spcAft>
                  <a:buClr>
                    <a:schemeClr val="lt1"/>
                  </a:buClr>
                  <a:buSzPts val="2300"/>
                  <a:buFont typeface="Libre Franklin Light"/>
                  <a:buNone/>
                </a:pPr>
                <a:r>
                  <a:rPr b="1" lang="en-US" sz="2300" u="none">
                    <a:solidFill>
                      <a:schemeClr val="lt1"/>
                    </a:solidFill>
                    <a:latin typeface="Libre Franklin Light"/>
                    <a:ea typeface="Libre Franklin Light"/>
                    <a:cs typeface="Libre Franklin Light"/>
                    <a:sym typeface="Libre Franklin Light"/>
                  </a:rPr>
                  <a:t>EXPAND</a:t>
                </a:r>
                <a:r>
                  <a:rPr b="0" lang="en-US" sz="2300" u="none">
                    <a:solidFill>
                      <a:schemeClr val="dk1"/>
                    </a:solidFill>
                    <a:latin typeface="Libre Franklin Light"/>
                    <a:ea typeface="Libre Franklin Light"/>
                    <a:cs typeface="Libre Franklin Light"/>
                    <a:sym typeface="Libre Franklin Light"/>
                  </a:rPr>
                  <a:t> </a:t>
                </a:r>
                <a:endParaRPr b="0" sz="2300" u="none">
                  <a:solidFill>
                    <a:schemeClr val="dk1"/>
                  </a:solidFill>
                  <a:latin typeface="Libre Franklin Light"/>
                  <a:ea typeface="Libre Franklin Light"/>
                  <a:cs typeface="Libre Franklin Light"/>
                  <a:sym typeface="Libre Franklin Light"/>
                </a:endParaRPr>
              </a:p>
            </p:txBody>
          </p:sp>
          <p:pic>
            <p:nvPicPr>
              <p:cNvPr descr="A group of hands shaking hands&#10;&#10;AI-generated content may be incorrect." id="142" name="Google Shape;142;p22"/>
              <p:cNvPicPr preferRelativeResize="0"/>
              <p:nvPr/>
            </p:nvPicPr>
            <p:blipFill rotWithShape="1">
              <a:blip r:embed="rId4">
                <a:alphaModFix/>
              </a:blip>
              <a:srcRect b="5416" l="6466" r="51464" t="48529"/>
              <a:stretch/>
            </p:blipFill>
            <p:spPr>
              <a:xfrm>
                <a:off x="10043775" y="2897985"/>
                <a:ext cx="909087" cy="686078"/>
              </a:xfrm>
              <a:prstGeom prst="rect">
                <a:avLst/>
              </a:prstGeom>
              <a:noFill/>
              <a:ln>
                <a:noFill/>
              </a:ln>
            </p:spPr>
          </p:pic>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p:nvPr/>
        </p:nvSpPr>
        <p:spPr>
          <a:xfrm>
            <a:off x="0" y="0"/>
            <a:ext cx="9144000" cy="640200"/>
          </a:xfrm>
          <a:prstGeom prst="rect">
            <a:avLst/>
          </a:prstGeom>
          <a:solidFill>
            <a:srgbClr val="003B5C"/>
          </a:solidFill>
          <a:ln cap="flat" cmpd="sng" w="12700">
            <a:solidFill>
              <a:srgbClr val="003B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3"/>
          <p:cNvSpPr/>
          <p:nvPr/>
        </p:nvSpPr>
        <p:spPr>
          <a:xfrm>
            <a:off x="0" y="0"/>
            <a:ext cx="9144000" cy="640200"/>
          </a:xfrm>
          <a:prstGeom prst="rect">
            <a:avLst/>
          </a:prstGeom>
          <a:solidFill>
            <a:srgbClr val="003B5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3"/>
          <p:cNvSpPr/>
          <p:nvPr/>
        </p:nvSpPr>
        <p:spPr>
          <a:xfrm>
            <a:off x="457200" y="0"/>
            <a:ext cx="8229600" cy="64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FFFFFF"/>
                </a:solidFill>
                <a:latin typeface="Calibri"/>
                <a:ea typeface="Calibri"/>
                <a:cs typeface="Calibri"/>
                <a:sym typeface="Calibri"/>
              </a:rPr>
              <a:t>Who Is CAEL?</a:t>
            </a:r>
            <a:endParaRPr b="1" i="0" sz="2000" u="none" cap="none" strike="noStrike">
              <a:solidFill>
                <a:srgbClr val="FFFFFF"/>
              </a:solidFill>
              <a:latin typeface="Calibri"/>
              <a:ea typeface="Calibri"/>
              <a:cs typeface="Calibri"/>
              <a:sym typeface="Calibri"/>
            </a:endParaRPr>
          </a:p>
        </p:txBody>
      </p:sp>
      <p:sp>
        <p:nvSpPr>
          <p:cNvPr id="151" name="Google Shape;151;p23"/>
          <p:cNvSpPr/>
          <p:nvPr/>
        </p:nvSpPr>
        <p:spPr>
          <a:xfrm>
            <a:off x="457200" y="822960"/>
            <a:ext cx="8229600" cy="5487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2600">
                <a:solidFill>
                  <a:srgbClr val="003B5C"/>
                </a:solidFill>
                <a:latin typeface="Calibri"/>
                <a:ea typeface="Calibri"/>
                <a:cs typeface="Calibri"/>
                <a:sym typeface="Calibri"/>
              </a:rPr>
              <a:t>A National Leader in Economic Mobility</a:t>
            </a:r>
            <a:endParaRPr b="1" sz="2600">
              <a:solidFill>
                <a:srgbClr val="003B5C"/>
              </a:solidFill>
              <a:latin typeface="Calibri"/>
              <a:ea typeface="Calibri"/>
              <a:cs typeface="Calibri"/>
              <a:sym typeface="Calibri"/>
            </a:endParaRPr>
          </a:p>
        </p:txBody>
      </p:sp>
      <p:sp>
        <p:nvSpPr>
          <p:cNvPr id="152" name="Google Shape;152;p23"/>
          <p:cNvSpPr/>
          <p:nvPr/>
        </p:nvSpPr>
        <p:spPr>
          <a:xfrm>
            <a:off x="457200" y="1524000"/>
            <a:ext cx="4857900" cy="2857500"/>
          </a:xfrm>
          <a:prstGeom prst="roundRect">
            <a:avLst>
              <a:gd fmla="val 2666" name="adj"/>
            </a:avLst>
          </a:prstGeom>
          <a:solidFill>
            <a:srgbClr val="F4F7F9"/>
          </a:solidFill>
          <a:ln cap="flat" cmpd="sng" w="14300">
            <a:solidFill>
              <a:srgbClr val="E8EE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23"/>
          <p:cNvSpPr/>
          <p:nvPr/>
        </p:nvSpPr>
        <p:spPr>
          <a:xfrm>
            <a:off x="457200" y="1524000"/>
            <a:ext cx="4857900" cy="76200"/>
          </a:xfrm>
          <a:prstGeom prst="roundRect">
            <a:avLst>
              <a:gd fmla="val 50000" name="adj"/>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23"/>
          <p:cNvSpPr txBox="1"/>
          <p:nvPr/>
        </p:nvSpPr>
        <p:spPr>
          <a:xfrm>
            <a:off x="742950" y="1809750"/>
            <a:ext cx="42864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003B5C"/>
                </a:solidFill>
                <a:latin typeface="Calibri"/>
                <a:ea typeface="Calibri"/>
                <a:cs typeface="Calibri"/>
                <a:sym typeface="Calibri"/>
              </a:rPr>
              <a:t>50+ Years of Impact</a:t>
            </a:r>
            <a:endParaRPr b="1" sz="2000">
              <a:solidFill>
                <a:srgbClr val="003B5C"/>
              </a:solidFill>
              <a:latin typeface="Calibri"/>
              <a:ea typeface="Calibri"/>
              <a:cs typeface="Calibri"/>
              <a:sym typeface="Calibri"/>
            </a:endParaRPr>
          </a:p>
          <a:p>
            <a:pPr indent="0" lvl="0" marL="0" rtl="0" algn="l">
              <a:spcBef>
                <a:spcPts val="1125"/>
              </a:spcBef>
              <a:spcAft>
                <a:spcPts val="0"/>
              </a:spcAft>
              <a:buNone/>
            </a:pPr>
            <a:r>
              <a:rPr b="0" lang="en-US" sz="1350">
                <a:solidFill>
                  <a:srgbClr val="545859"/>
                </a:solidFill>
                <a:latin typeface="Calibri"/>
                <a:ea typeface="Calibri"/>
                <a:cs typeface="Calibri"/>
                <a:sym typeface="Calibri"/>
              </a:rPr>
              <a:t>For more than 50 years, CAEL has worked at the intersection of workforce development, higher education, employer engagement, and economic mobility — helping regions build ecosystems that connect adult learners to family-sustaining careers.</a:t>
            </a:r>
            <a:endParaRPr b="0" sz="1350">
              <a:solidFill>
                <a:srgbClr val="545859"/>
              </a:solidFill>
              <a:latin typeface="Calibri"/>
              <a:ea typeface="Calibri"/>
              <a:cs typeface="Calibri"/>
              <a:sym typeface="Calibri"/>
            </a:endParaRPr>
          </a:p>
        </p:txBody>
      </p:sp>
      <p:sp>
        <p:nvSpPr>
          <p:cNvPr id="155" name="Google Shape;155;p23"/>
          <p:cNvSpPr/>
          <p:nvPr/>
        </p:nvSpPr>
        <p:spPr>
          <a:xfrm>
            <a:off x="5619750" y="1524000"/>
            <a:ext cx="3067200" cy="2857500"/>
          </a:xfrm>
          <a:prstGeom prst="roundRect">
            <a:avLst>
              <a:gd fmla="val 2666" name="adj"/>
            </a:avLst>
          </a:prstGeom>
          <a:solidFill>
            <a:srgbClr val="FFFFFF"/>
          </a:solidFill>
          <a:ln cap="flat" cmpd="sng" w="14300">
            <a:solidFill>
              <a:srgbClr val="E8EE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23"/>
          <p:cNvSpPr/>
          <p:nvPr/>
        </p:nvSpPr>
        <p:spPr>
          <a:xfrm>
            <a:off x="5619750" y="1524000"/>
            <a:ext cx="3067200" cy="76200"/>
          </a:xfrm>
          <a:prstGeom prst="roundRect">
            <a:avLst>
              <a:gd fmla="val 50000" name="adj"/>
            </a:avLst>
          </a:prstGeom>
          <a:solidFill>
            <a:srgbClr val="8520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23"/>
          <p:cNvSpPr txBox="1"/>
          <p:nvPr/>
        </p:nvSpPr>
        <p:spPr>
          <a:xfrm>
            <a:off x="5905500" y="1809750"/>
            <a:ext cx="2495700" cy="2286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4000">
                <a:solidFill>
                  <a:srgbClr val="85200C"/>
                </a:solidFill>
                <a:latin typeface="Material Icons"/>
                <a:ea typeface="Material Icons"/>
                <a:cs typeface="Material Icons"/>
                <a:sym typeface="Material Icons"/>
              </a:rPr>
              <a:t>explore</a:t>
            </a:r>
            <a:endParaRPr sz="4000">
              <a:solidFill>
                <a:srgbClr val="85200C"/>
              </a:solidFill>
              <a:latin typeface="Material Icons"/>
              <a:ea typeface="Material Icons"/>
              <a:cs typeface="Material Icons"/>
              <a:sym typeface="Material Icons"/>
            </a:endParaRPr>
          </a:p>
          <a:p>
            <a:pPr indent="0" lvl="0" marL="0" rtl="0" algn="ctr">
              <a:spcBef>
                <a:spcPts val="1125"/>
              </a:spcBef>
              <a:spcAft>
                <a:spcPts val="0"/>
              </a:spcAft>
              <a:buNone/>
            </a:pPr>
            <a:r>
              <a:rPr b="1" lang="en-US" sz="1800">
                <a:solidFill>
                  <a:srgbClr val="85200C"/>
                </a:solidFill>
                <a:latin typeface="Calibri"/>
                <a:ea typeface="Calibri"/>
                <a:cs typeface="Calibri"/>
                <a:sym typeface="Calibri"/>
              </a:rPr>
              <a:t>OUR NORTH STAR</a:t>
            </a:r>
            <a:endParaRPr b="1" sz="1800">
              <a:solidFill>
                <a:srgbClr val="85200C"/>
              </a:solidFill>
              <a:latin typeface="Calibri"/>
              <a:ea typeface="Calibri"/>
              <a:cs typeface="Calibri"/>
              <a:sym typeface="Calibri"/>
            </a:endParaRPr>
          </a:p>
          <a:p>
            <a:pPr indent="0" lvl="0" marL="0" rtl="0" algn="ctr">
              <a:spcBef>
                <a:spcPts val="1125"/>
              </a:spcBef>
              <a:spcAft>
                <a:spcPts val="0"/>
              </a:spcAft>
              <a:buNone/>
            </a:pPr>
            <a:r>
              <a:rPr b="0" lang="en-US" sz="1350">
                <a:solidFill>
                  <a:srgbClr val="545859"/>
                </a:solidFill>
                <a:latin typeface="Calibri"/>
                <a:ea typeface="Calibri"/>
                <a:cs typeface="Calibri"/>
                <a:sym typeface="Calibri"/>
              </a:rPr>
              <a:t>Economic mobility through lifelong learning and easily navigable career pathways</a:t>
            </a:r>
            <a:endParaRPr b="0" sz="1350">
              <a:solidFill>
                <a:srgbClr val="545859"/>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24"/>
          <p:cNvSpPr/>
          <p:nvPr/>
        </p:nvSpPr>
        <p:spPr>
          <a:xfrm>
            <a:off x="0" y="0"/>
            <a:ext cx="9144000" cy="640200"/>
          </a:xfrm>
          <a:prstGeom prst="rect">
            <a:avLst/>
          </a:prstGeom>
          <a:solidFill>
            <a:srgbClr val="003B5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4"/>
          <p:cNvSpPr/>
          <p:nvPr/>
        </p:nvSpPr>
        <p:spPr>
          <a:xfrm>
            <a:off x="457200" y="0"/>
            <a:ext cx="8229600" cy="64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FF"/>
                </a:solidFill>
                <a:latin typeface="Calibri"/>
                <a:ea typeface="Calibri"/>
                <a:cs typeface="Calibri"/>
                <a:sym typeface="Calibri"/>
              </a:rPr>
              <a:t>An Ecosystem Approach</a:t>
            </a:r>
            <a:endParaRPr b="1" i="0" sz="1900" u="none" cap="none" strike="noStrike">
              <a:solidFill>
                <a:srgbClr val="FFFFFF"/>
              </a:solidFill>
              <a:latin typeface="Calibri"/>
              <a:ea typeface="Calibri"/>
              <a:cs typeface="Calibri"/>
              <a:sym typeface="Calibri"/>
            </a:endParaRPr>
          </a:p>
        </p:txBody>
      </p:sp>
      <p:sp>
        <p:nvSpPr>
          <p:cNvPr id="165" name="Google Shape;165;p24"/>
          <p:cNvSpPr/>
          <p:nvPr/>
        </p:nvSpPr>
        <p:spPr>
          <a:xfrm>
            <a:off x="457200" y="762000"/>
            <a:ext cx="82296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590"/>
              <a:buFont typeface="Arial"/>
              <a:buNone/>
            </a:pPr>
            <a:r>
              <a:t/>
            </a:r>
            <a:endParaRPr b="1" i="0" sz="2290" u="none" cap="none" strike="noStrike">
              <a:solidFill>
                <a:srgbClr val="003B5C"/>
              </a:solidFill>
              <a:latin typeface="Calibri"/>
              <a:ea typeface="Calibri"/>
              <a:cs typeface="Calibri"/>
              <a:sym typeface="Calibri"/>
            </a:endParaRPr>
          </a:p>
        </p:txBody>
      </p:sp>
      <p:grpSp>
        <p:nvGrpSpPr>
          <p:cNvPr id="166" name="Google Shape;166;p24"/>
          <p:cNvGrpSpPr/>
          <p:nvPr/>
        </p:nvGrpSpPr>
        <p:grpSpPr>
          <a:xfrm>
            <a:off x="266467" y="863900"/>
            <a:ext cx="4389576" cy="3583400"/>
            <a:chOff x="381000" y="1524000"/>
            <a:chExt cx="4095900" cy="3238500"/>
          </a:xfrm>
        </p:grpSpPr>
        <p:sp>
          <p:nvSpPr>
            <p:cNvPr id="167" name="Google Shape;167;p24"/>
            <p:cNvSpPr/>
            <p:nvPr/>
          </p:nvSpPr>
          <p:spPr>
            <a:xfrm>
              <a:off x="381000" y="1524000"/>
              <a:ext cx="4095900" cy="3238500"/>
            </a:xfrm>
            <a:prstGeom prst="roundRect">
              <a:avLst>
                <a:gd fmla="val 2941" name="adj"/>
              </a:avLst>
            </a:prstGeom>
            <a:solidFill>
              <a:srgbClr val="FFFFFF"/>
            </a:solidFill>
            <a:ln cap="flat" cmpd="sng" w="10525">
              <a:solidFill>
                <a:srgbClr val="E8EEF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49"/>
                <a:buFont typeface="Arial"/>
                <a:buNone/>
              </a:pPr>
              <a:r>
                <a:t/>
              </a:r>
              <a:endParaRPr b="0" i="0" sz="1549" u="none" cap="none" strike="noStrike">
                <a:solidFill>
                  <a:srgbClr val="000000"/>
                </a:solidFill>
                <a:latin typeface="Arial"/>
                <a:ea typeface="Arial"/>
                <a:cs typeface="Arial"/>
                <a:sym typeface="Arial"/>
              </a:endParaRPr>
            </a:p>
          </p:txBody>
        </p:sp>
        <p:sp>
          <p:nvSpPr>
            <p:cNvPr id="168" name="Google Shape;168;p24"/>
            <p:cNvSpPr/>
            <p:nvPr/>
          </p:nvSpPr>
          <p:spPr>
            <a:xfrm>
              <a:off x="381000" y="1524000"/>
              <a:ext cx="4095900" cy="76200"/>
            </a:xfrm>
            <a:prstGeom prst="roundRect">
              <a:avLst>
                <a:gd fmla="val 50000" name="adj"/>
              </a:avLst>
            </a:prstGeom>
            <a:solidFill>
              <a:srgbClr val="D9B48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49"/>
                <a:buFont typeface="Arial"/>
                <a:buNone/>
              </a:pPr>
              <a:r>
                <a:t/>
              </a:r>
              <a:endParaRPr b="0" i="0" sz="1549" u="none" cap="none" strike="noStrike">
                <a:solidFill>
                  <a:srgbClr val="000000"/>
                </a:solidFill>
                <a:latin typeface="Arial"/>
                <a:ea typeface="Arial"/>
                <a:cs typeface="Arial"/>
                <a:sym typeface="Arial"/>
              </a:endParaRPr>
            </a:p>
          </p:txBody>
        </p:sp>
        <p:sp>
          <p:nvSpPr>
            <p:cNvPr id="169" name="Google Shape;169;p24"/>
            <p:cNvSpPr txBox="1"/>
            <p:nvPr/>
          </p:nvSpPr>
          <p:spPr>
            <a:xfrm>
              <a:off x="571500" y="1714500"/>
              <a:ext cx="3714900" cy="2857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chemeClr val="dk1"/>
                </a:buClr>
                <a:buSzPts val="1771"/>
                <a:buFont typeface="Arial"/>
                <a:buNone/>
              </a:pPr>
              <a:r>
                <a:t/>
              </a:r>
              <a:endParaRPr i="0" sz="1771" u="none" cap="none" strike="noStrike">
                <a:solidFill>
                  <a:srgbClr val="3F3F3F"/>
                </a:solidFill>
                <a:latin typeface="Calibri"/>
                <a:ea typeface="Calibri"/>
                <a:cs typeface="Calibri"/>
                <a:sym typeface="Calibri"/>
              </a:endParaRPr>
            </a:p>
            <a:p>
              <a:pPr indent="0" lvl="0" marL="0" marR="0" rtl="0" algn="ctr">
                <a:lnSpc>
                  <a:spcPct val="120000"/>
                </a:lnSpc>
                <a:spcBef>
                  <a:spcPts val="0"/>
                </a:spcBef>
                <a:spcAft>
                  <a:spcPts val="0"/>
                </a:spcAft>
                <a:buClr>
                  <a:schemeClr val="dk1"/>
                </a:buClr>
                <a:buSzPts val="1770"/>
                <a:buFont typeface="Arial"/>
                <a:buNone/>
              </a:pPr>
              <a:r>
                <a:rPr i="0" lang="en-US" sz="1771" u="none" cap="none" strike="noStrike">
                  <a:solidFill>
                    <a:srgbClr val="595959"/>
                  </a:solidFill>
                  <a:latin typeface="Calibri"/>
                  <a:ea typeface="Calibri"/>
                  <a:cs typeface="Calibri"/>
                  <a:sym typeface="Calibri"/>
                </a:rPr>
                <a:t>CAEL meets regional stakeholders where they are and helps by providing expertise, resources, and innovative solutions that effectively support adult learners as they navigate on-and off- ramps between education and employment.</a:t>
              </a:r>
              <a:endParaRPr i="0" sz="1273" u="none" cap="none" strike="noStrike">
                <a:solidFill>
                  <a:srgbClr val="595959"/>
                </a:solidFill>
                <a:latin typeface="Calibri"/>
                <a:ea typeface="Calibri"/>
                <a:cs typeface="Calibri"/>
                <a:sym typeface="Calibri"/>
              </a:endParaRPr>
            </a:p>
          </p:txBody>
        </p:sp>
      </p:grpSp>
      <p:pic>
        <p:nvPicPr>
          <p:cNvPr id="170" name="Google Shape;170;p24"/>
          <p:cNvPicPr preferRelativeResize="0"/>
          <p:nvPr/>
        </p:nvPicPr>
        <p:blipFill rotWithShape="1">
          <a:blip r:embed="rId4">
            <a:alphaModFix/>
          </a:blip>
          <a:srcRect b="0" l="0" r="0" t="0"/>
          <a:stretch/>
        </p:blipFill>
        <p:spPr>
          <a:xfrm>
            <a:off x="5027875" y="863900"/>
            <a:ext cx="3797626" cy="3583400"/>
          </a:xfrm>
          <a:prstGeom prst="rect">
            <a:avLst/>
          </a:prstGeom>
          <a:noFill/>
          <a:ln>
            <a:noFill/>
          </a:ln>
        </p:spPr>
      </p:pic>
      <p:sp>
        <p:nvSpPr>
          <p:cNvPr id="171" name="Google Shape;171;p24"/>
          <p:cNvSpPr txBox="1"/>
          <p:nvPr/>
        </p:nvSpPr>
        <p:spPr>
          <a:xfrm>
            <a:off x="571500" y="4572000"/>
            <a:ext cx="8001000" cy="571500"/>
          </a:xfrm>
          <a:prstGeom prst="rect">
            <a:avLst/>
          </a:prstGeom>
          <a:solidFill>
            <a:srgbClr val="85200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600" u="none" cap="none" strike="noStrike">
                <a:solidFill>
                  <a:srgbClr val="D9B48F"/>
                </a:solidFill>
                <a:latin typeface="Calibri"/>
                <a:ea typeface="Calibri"/>
                <a:cs typeface="Calibri"/>
                <a:sym typeface="Calibri"/>
              </a:rPr>
              <a:t>CAEL</a:t>
            </a:r>
            <a:r>
              <a:rPr b="0" i="0" lang="en-US" sz="1300" u="none" cap="none" strike="noStrike">
                <a:solidFill>
                  <a:srgbClr val="D9B48F"/>
                </a:solidFill>
                <a:latin typeface="Calibri"/>
                <a:ea typeface="Calibri"/>
                <a:cs typeface="Calibri"/>
                <a:sym typeface="Calibri"/>
              </a:rPr>
              <a:t>:</a:t>
            </a:r>
            <a:r>
              <a:rPr b="0" i="0" lang="en-US" sz="1300" u="none" cap="none" strike="noStrike">
                <a:solidFill>
                  <a:srgbClr val="FFFFFF"/>
                </a:solidFill>
                <a:latin typeface="Calibri"/>
                <a:ea typeface="Calibri"/>
                <a:cs typeface="Calibri"/>
                <a:sym typeface="Calibri"/>
              </a:rPr>
              <a:t> Operates as the coordinating intermediary to align employers, workforce systems, education, and labor </a:t>
            </a:r>
            <a:endParaRPr b="0" i="0" sz="1300" u="none" cap="none" strike="noStrike">
              <a:solidFill>
                <a:srgbClr val="FFFFF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9" name="Shape 179"/>
        <p:cNvGrpSpPr/>
        <p:nvPr/>
      </p:nvGrpSpPr>
      <p:grpSpPr>
        <a:xfrm>
          <a:off x="0" y="0"/>
          <a:ext cx="0" cy="0"/>
          <a:chOff x="0" y="0"/>
          <a:chExt cx="0" cy="0"/>
        </a:xfrm>
      </p:grpSpPr>
      <p:sp>
        <p:nvSpPr>
          <p:cNvPr id="180" name="Google Shape;180;p25"/>
          <p:cNvSpPr/>
          <p:nvPr/>
        </p:nvSpPr>
        <p:spPr>
          <a:xfrm>
            <a:off x="0" y="0"/>
            <a:ext cx="9144000" cy="638100"/>
          </a:xfrm>
          <a:prstGeom prst="rect">
            <a:avLst/>
          </a:prstGeom>
          <a:solidFill>
            <a:srgbClr val="003B5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1" sz="1900">
              <a:solidFill>
                <a:srgbClr val="FFFFFF"/>
              </a:solidFill>
              <a:latin typeface="Calibri"/>
              <a:ea typeface="Calibri"/>
              <a:cs typeface="Calibri"/>
              <a:sym typeface="Calibri"/>
            </a:endParaRPr>
          </a:p>
        </p:txBody>
      </p:sp>
      <p:sp>
        <p:nvSpPr>
          <p:cNvPr id="181" name="Google Shape;181;p25"/>
          <p:cNvSpPr txBox="1"/>
          <p:nvPr/>
        </p:nvSpPr>
        <p:spPr>
          <a:xfrm>
            <a:off x="457200" y="0"/>
            <a:ext cx="8229600" cy="638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900">
                <a:solidFill>
                  <a:srgbClr val="FFFFFF"/>
                </a:solidFill>
                <a:latin typeface="Calibri"/>
                <a:ea typeface="Calibri"/>
                <a:cs typeface="Calibri"/>
                <a:sym typeface="Calibri"/>
              </a:rPr>
              <a:t>CAEL’s Ecosystem Model	</a:t>
            </a:r>
            <a:endParaRPr b="1" sz="1900">
              <a:solidFill>
                <a:srgbClr val="FFFFFF"/>
              </a:solidFill>
              <a:latin typeface="Calibri"/>
              <a:ea typeface="Calibri"/>
              <a:cs typeface="Calibri"/>
              <a:sym typeface="Calibri"/>
            </a:endParaRPr>
          </a:p>
        </p:txBody>
      </p:sp>
      <p:sp>
        <p:nvSpPr>
          <p:cNvPr id="182" name="Google Shape;182;p25"/>
          <p:cNvSpPr txBox="1"/>
          <p:nvPr/>
        </p:nvSpPr>
        <p:spPr>
          <a:xfrm>
            <a:off x="428625" y="721519"/>
            <a:ext cx="8701200" cy="28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870">
                <a:solidFill>
                  <a:srgbClr val="003B5C"/>
                </a:solidFill>
                <a:latin typeface="Calibri"/>
                <a:ea typeface="Calibri"/>
                <a:cs typeface="Calibri"/>
                <a:sym typeface="Calibri"/>
              </a:rPr>
              <a:t>Integrated Talent Development Requires a Trusted Intermediary</a:t>
            </a:r>
            <a:endParaRPr b="1" sz="1870">
              <a:solidFill>
                <a:srgbClr val="003B5C"/>
              </a:solidFill>
              <a:latin typeface="Calibri"/>
              <a:ea typeface="Calibri"/>
              <a:cs typeface="Calibri"/>
              <a:sym typeface="Calibri"/>
            </a:endParaRPr>
          </a:p>
        </p:txBody>
      </p:sp>
      <p:sp>
        <p:nvSpPr>
          <p:cNvPr id="183" name="Google Shape;183;p25"/>
          <p:cNvSpPr txBox="1"/>
          <p:nvPr/>
        </p:nvSpPr>
        <p:spPr>
          <a:xfrm>
            <a:off x="428625" y="1050131"/>
            <a:ext cx="82869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i="0" lang="en-US" sz="1300" u="none" cap="none" strike="noStrike">
                <a:solidFill>
                  <a:srgbClr val="475569"/>
                </a:solidFill>
                <a:latin typeface="Calibri"/>
                <a:ea typeface="Calibri"/>
                <a:cs typeface="Calibri"/>
                <a:sym typeface="Calibri"/>
              </a:rPr>
              <a:t>Higher education and workforce development are two sides of the same coin</a:t>
            </a:r>
            <a:r>
              <a:rPr lang="en-US" sz="1300">
                <a:solidFill>
                  <a:srgbClr val="475569"/>
                </a:solidFill>
                <a:latin typeface="Calibri"/>
                <a:ea typeface="Calibri"/>
                <a:cs typeface="Calibri"/>
                <a:sym typeface="Calibri"/>
              </a:rPr>
              <a:t>, </a:t>
            </a:r>
            <a:r>
              <a:rPr i="0" lang="en-US" sz="1300" u="none" cap="none" strike="noStrike">
                <a:solidFill>
                  <a:srgbClr val="475569"/>
                </a:solidFill>
                <a:latin typeface="Calibri"/>
                <a:ea typeface="Calibri"/>
                <a:cs typeface="Calibri"/>
                <a:sym typeface="Calibri"/>
              </a:rPr>
              <a:t>requiring neutral coordination to link learning </a:t>
            </a:r>
            <a:r>
              <a:rPr lang="en-US" sz="1300">
                <a:solidFill>
                  <a:srgbClr val="475569"/>
                </a:solidFill>
                <a:latin typeface="Calibri"/>
                <a:ea typeface="Calibri"/>
                <a:cs typeface="Calibri"/>
                <a:sym typeface="Calibri"/>
              </a:rPr>
              <a:t>and earning</a:t>
            </a:r>
            <a:r>
              <a:rPr i="0" lang="en-US" sz="1300" u="none" cap="none" strike="noStrike">
                <a:solidFill>
                  <a:srgbClr val="475569"/>
                </a:solidFill>
                <a:latin typeface="Calibri"/>
                <a:ea typeface="Calibri"/>
                <a:cs typeface="Calibri"/>
                <a:sym typeface="Calibri"/>
              </a:rPr>
              <a:t>.</a:t>
            </a:r>
            <a:endParaRPr sz="1500">
              <a:latin typeface="Calibri"/>
              <a:ea typeface="Calibri"/>
              <a:cs typeface="Calibri"/>
              <a:sym typeface="Calibri"/>
            </a:endParaRPr>
          </a:p>
        </p:txBody>
      </p:sp>
      <p:grpSp>
        <p:nvGrpSpPr>
          <p:cNvPr id="184" name="Google Shape;184;p25"/>
          <p:cNvGrpSpPr/>
          <p:nvPr/>
        </p:nvGrpSpPr>
        <p:grpSpPr>
          <a:xfrm>
            <a:off x="457200" y="1524000"/>
            <a:ext cx="2590800" cy="2381400"/>
            <a:chOff x="0" y="0"/>
            <a:chExt cx="2590800" cy="2381400"/>
          </a:xfrm>
        </p:grpSpPr>
        <p:sp>
          <p:nvSpPr>
            <p:cNvPr id="185" name="Google Shape;185;p25"/>
            <p:cNvSpPr/>
            <p:nvPr/>
          </p:nvSpPr>
          <p:spPr>
            <a:xfrm>
              <a:off x="0" y="0"/>
              <a:ext cx="2590800" cy="2381400"/>
            </a:xfrm>
            <a:prstGeom prst="roundRect">
              <a:avLst>
                <a:gd fmla="val 32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25"/>
            <p:cNvSpPr/>
            <p:nvPr/>
          </p:nvSpPr>
          <p:spPr>
            <a:xfrm>
              <a:off x="0" y="0"/>
              <a:ext cx="2590800" cy="57300"/>
            </a:xfrm>
            <a:prstGeom prst="roundRect">
              <a:avLst>
                <a:gd fmla="val 50000" name="adj"/>
              </a:avLst>
            </a:prstGeom>
            <a:solidFill>
              <a:srgbClr val="8B261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25"/>
            <p:cNvSpPr txBox="1"/>
            <p:nvPr/>
          </p:nvSpPr>
          <p:spPr>
            <a:xfrm>
              <a:off x="0" y="0"/>
              <a:ext cx="2590800" cy="2381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lang="en-US" sz="1800">
                  <a:solidFill>
                    <a:srgbClr val="8B2611"/>
                  </a:solidFill>
                  <a:latin typeface="Material Icons"/>
                  <a:ea typeface="Material Icons"/>
                  <a:cs typeface="Material Icons"/>
                  <a:sym typeface="Material Icons"/>
                </a:rPr>
                <a:t>work</a:t>
              </a:r>
              <a:r>
                <a:rPr b="1" lang="en-US" sz="1200">
                  <a:solidFill>
                    <a:srgbClr val="8B2611"/>
                  </a:solidFill>
                  <a:latin typeface="Calibri"/>
                  <a:ea typeface="Calibri"/>
                  <a:cs typeface="Calibri"/>
                  <a:sym typeface="Calibri"/>
                </a:rPr>
                <a:t>Workforce Development</a:t>
              </a:r>
              <a:endParaRPr>
                <a:latin typeface="Calibri"/>
                <a:ea typeface="Calibri"/>
                <a:cs typeface="Calibri"/>
                <a:sym typeface="Calibri"/>
              </a:endParaRPr>
            </a:p>
            <a:p>
              <a:pPr indent="-295275" lvl="0" marL="457200" rtl="0" algn="l">
                <a:spcBef>
                  <a:spcPts val="105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Employer &amp; labor coalition engagement</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Occupational crosswalks &amp; competency mapping</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Credit for Prior Learning (CPL) design</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Learning &amp; Employment Record (LER) mobility</a:t>
              </a:r>
              <a:endParaRPr sz="1050">
                <a:solidFill>
                  <a:srgbClr val="334155"/>
                </a:solidFill>
                <a:latin typeface="Calibri"/>
                <a:ea typeface="Calibri"/>
                <a:cs typeface="Calibri"/>
                <a:sym typeface="Calibri"/>
              </a:endParaRPr>
            </a:p>
          </p:txBody>
        </p:sp>
      </p:grpSp>
      <p:grpSp>
        <p:nvGrpSpPr>
          <p:cNvPr id="188" name="Google Shape;188;p25"/>
          <p:cNvGrpSpPr/>
          <p:nvPr/>
        </p:nvGrpSpPr>
        <p:grpSpPr>
          <a:xfrm>
            <a:off x="3276600" y="1524000"/>
            <a:ext cx="2590800" cy="2381400"/>
            <a:chOff x="0" y="0"/>
            <a:chExt cx="2590800" cy="2381400"/>
          </a:xfrm>
        </p:grpSpPr>
        <p:sp>
          <p:nvSpPr>
            <p:cNvPr id="189" name="Google Shape;189;p25"/>
            <p:cNvSpPr/>
            <p:nvPr/>
          </p:nvSpPr>
          <p:spPr>
            <a:xfrm>
              <a:off x="0" y="0"/>
              <a:ext cx="2590800" cy="2381400"/>
            </a:xfrm>
            <a:prstGeom prst="roundRect">
              <a:avLst>
                <a:gd fmla="val 32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25"/>
            <p:cNvSpPr/>
            <p:nvPr/>
          </p:nvSpPr>
          <p:spPr>
            <a:xfrm>
              <a:off x="0" y="0"/>
              <a:ext cx="2590800" cy="57300"/>
            </a:xfrm>
            <a:prstGeom prst="roundRect">
              <a:avLst>
                <a:gd fmla="val 50000" name="adj"/>
              </a:avLst>
            </a:prstGeom>
            <a:solidFill>
              <a:srgbClr val="8B261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25"/>
            <p:cNvSpPr txBox="1"/>
            <p:nvPr/>
          </p:nvSpPr>
          <p:spPr>
            <a:xfrm>
              <a:off x="0" y="0"/>
              <a:ext cx="2590800" cy="2381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lang="en-US" sz="1800">
                  <a:solidFill>
                    <a:srgbClr val="8B2611"/>
                  </a:solidFill>
                  <a:latin typeface="Material Icons"/>
                  <a:ea typeface="Material Icons"/>
                  <a:cs typeface="Material Icons"/>
                  <a:sym typeface="Material Icons"/>
                </a:rPr>
                <a:t>account_balance</a:t>
              </a:r>
              <a:r>
                <a:rPr b="1" lang="en-US" sz="1200">
                  <a:solidFill>
                    <a:srgbClr val="8B2611"/>
                  </a:solidFill>
                  <a:latin typeface="Calibri"/>
                  <a:ea typeface="Calibri"/>
                  <a:cs typeface="Calibri"/>
                  <a:sym typeface="Calibri"/>
                </a:rPr>
                <a:t>Postsecondary Education</a:t>
              </a:r>
              <a:endParaRPr>
                <a:latin typeface="Calibri"/>
                <a:ea typeface="Calibri"/>
                <a:cs typeface="Calibri"/>
                <a:sym typeface="Calibri"/>
              </a:endParaRPr>
            </a:p>
            <a:p>
              <a:pPr indent="-295275" lvl="0" marL="457200" rtl="0" algn="l">
                <a:spcBef>
                  <a:spcPts val="105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Institutional capacity for adult learners</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Degree pathway alignment &amp; credit mobility</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Prior Learning Assessment (PLA) models</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RSI to degree-credit translation</a:t>
              </a:r>
              <a:endParaRPr sz="1050">
                <a:solidFill>
                  <a:srgbClr val="334155"/>
                </a:solidFill>
                <a:latin typeface="Calibri"/>
                <a:ea typeface="Calibri"/>
                <a:cs typeface="Calibri"/>
                <a:sym typeface="Calibri"/>
              </a:endParaRPr>
            </a:p>
          </p:txBody>
        </p:sp>
      </p:grpSp>
      <p:grpSp>
        <p:nvGrpSpPr>
          <p:cNvPr id="192" name="Google Shape;192;p25"/>
          <p:cNvGrpSpPr/>
          <p:nvPr/>
        </p:nvGrpSpPr>
        <p:grpSpPr>
          <a:xfrm>
            <a:off x="6096000" y="1524000"/>
            <a:ext cx="2590800" cy="2381400"/>
            <a:chOff x="0" y="0"/>
            <a:chExt cx="2590800" cy="2381400"/>
          </a:xfrm>
        </p:grpSpPr>
        <p:sp>
          <p:nvSpPr>
            <p:cNvPr id="193" name="Google Shape;193;p25"/>
            <p:cNvSpPr/>
            <p:nvPr/>
          </p:nvSpPr>
          <p:spPr>
            <a:xfrm>
              <a:off x="0" y="0"/>
              <a:ext cx="2590800" cy="2381400"/>
            </a:xfrm>
            <a:prstGeom prst="roundRect">
              <a:avLst>
                <a:gd fmla="val 32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25"/>
            <p:cNvSpPr/>
            <p:nvPr/>
          </p:nvSpPr>
          <p:spPr>
            <a:xfrm>
              <a:off x="0" y="0"/>
              <a:ext cx="2590800" cy="57300"/>
            </a:xfrm>
            <a:prstGeom prst="roundRect">
              <a:avLst>
                <a:gd fmla="val 50000" name="adj"/>
              </a:avLst>
            </a:prstGeom>
            <a:solidFill>
              <a:srgbClr val="8B261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25"/>
            <p:cNvSpPr txBox="1"/>
            <p:nvPr/>
          </p:nvSpPr>
          <p:spPr>
            <a:xfrm>
              <a:off x="0" y="0"/>
              <a:ext cx="2590800" cy="2381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lang="en-US" sz="1800">
                  <a:solidFill>
                    <a:srgbClr val="8B2611"/>
                  </a:solidFill>
                  <a:latin typeface="Material Icons"/>
                  <a:ea typeface="Material Icons"/>
                  <a:cs typeface="Material Icons"/>
                  <a:sym typeface="Material Icons"/>
                </a:rPr>
                <a:t>gavel</a:t>
              </a:r>
              <a:r>
                <a:rPr b="1" lang="en-US" sz="1200">
                  <a:solidFill>
                    <a:srgbClr val="8B2611"/>
                  </a:solidFill>
                  <a:latin typeface="Calibri"/>
                  <a:ea typeface="Calibri"/>
                  <a:cs typeface="Calibri"/>
                  <a:sym typeface="Calibri"/>
                </a:rPr>
                <a:t>Policy &amp; System Alignment</a:t>
              </a:r>
              <a:endParaRPr>
                <a:latin typeface="Calibri"/>
                <a:ea typeface="Calibri"/>
                <a:cs typeface="Calibri"/>
                <a:sym typeface="Calibri"/>
              </a:endParaRPr>
            </a:p>
            <a:p>
              <a:pPr indent="-295275" lvl="0" marL="457200" rtl="0" algn="l">
                <a:spcBef>
                  <a:spcPts val="105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Centering adult learner access &amp; equity</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Translating state policy into local practice</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Strategic regional partnerships</a:t>
              </a:r>
              <a:endParaRPr sz="1050">
                <a:solidFill>
                  <a:srgbClr val="334155"/>
                </a:solidFill>
                <a:latin typeface="Calibri"/>
                <a:ea typeface="Calibri"/>
                <a:cs typeface="Calibri"/>
                <a:sym typeface="Calibri"/>
              </a:endParaRPr>
            </a:p>
            <a:p>
              <a:pPr indent="-295275" lvl="0" marL="457200" rtl="0" algn="l">
                <a:spcBef>
                  <a:spcPts val="600"/>
                </a:spcBef>
                <a:spcAft>
                  <a:spcPts val="0"/>
                </a:spcAft>
                <a:buClr>
                  <a:srgbClr val="334155"/>
                </a:buClr>
                <a:buSzPts val="1050"/>
                <a:buFont typeface="Calibri"/>
                <a:buChar char="●"/>
              </a:pPr>
              <a:r>
                <a:rPr lang="en-US" sz="1050">
                  <a:solidFill>
                    <a:srgbClr val="334155"/>
                  </a:solidFill>
                  <a:latin typeface="Calibri"/>
                  <a:ea typeface="Calibri"/>
                  <a:cs typeface="Calibri"/>
                  <a:sym typeface="Calibri"/>
                </a:rPr>
                <a:t>Braiding &amp; aligning funding streams</a:t>
              </a:r>
              <a:endParaRPr sz="1050">
                <a:solidFill>
                  <a:srgbClr val="334155"/>
                </a:solidFill>
                <a:latin typeface="Calibri"/>
                <a:ea typeface="Calibri"/>
                <a:cs typeface="Calibri"/>
                <a:sym typeface="Calibri"/>
              </a:endParaRPr>
            </a:p>
          </p:txBody>
        </p:sp>
      </p:grpSp>
      <p:grpSp>
        <p:nvGrpSpPr>
          <p:cNvPr id="196" name="Google Shape;196;p25"/>
          <p:cNvGrpSpPr/>
          <p:nvPr/>
        </p:nvGrpSpPr>
        <p:grpSpPr>
          <a:xfrm>
            <a:off x="457200" y="4114800"/>
            <a:ext cx="8229600" cy="571500"/>
            <a:chOff x="0" y="0"/>
            <a:chExt cx="8229600" cy="571500"/>
          </a:xfrm>
        </p:grpSpPr>
        <p:sp>
          <p:nvSpPr>
            <p:cNvPr id="197" name="Google Shape;197;p25"/>
            <p:cNvSpPr/>
            <p:nvPr/>
          </p:nvSpPr>
          <p:spPr>
            <a:xfrm>
              <a:off x="0" y="0"/>
              <a:ext cx="8229600" cy="571500"/>
            </a:xfrm>
            <a:prstGeom prst="roundRect">
              <a:avLst>
                <a:gd fmla="val 10000" name="adj"/>
              </a:avLst>
            </a:prstGeom>
            <a:solidFill>
              <a:srgbClr val="F5F2EB"/>
            </a:solidFill>
            <a:ln cap="flat" cmpd="sng" w="9525">
              <a:solidFill>
                <a:srgbClr val="D9B48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5"/>
            <p:cNvSpPr/>
            <p:nvPr/>
          </p:nvSpPr>
          <p:spPr>
            <a:xfrm>
              <a:off x="0" y="0"/>
              <a:ext cx="38100" cy="571500"/>
            </a:xfrm>
            <a:prstGeom prst="roundRect">
              <a:avLst>
                <a:gd fmla="val 50000" name="adj"/>
              </a:avLst>
            </a:prstGeom>
            <a:solidFill>
              <a:srgbClr val="8B261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25"/>
            <p:cNvSpPr txBox="1"/>
            <p:nvPr/>
          </p:nvSpPr>
          <p:spPr>
            <a:xfrm>
              <a:off x="0" y="0"/>
              <a:ext cx="8229600" cy="571500"/>
            </a:xfrm>
            <a:prstGeom prst="rect">
              <a:avLst/>
            </a:prstGeom>
            <a:solidFill>
              <a:srgbClr val="000000">
                <a:alpha val="0"/>
              </a:srgbClr>
            </a:solidFill>
            <a:ln>
              <a:noFill/>
            </a:ln>
          </p:spPr>
          <p:txBody>
            <a:bodyPr anchorCtr="0" anchor="ctr" bIns="0" lIns="228600" spcFirstLastPara="1" rIns="228600" wrap="square" tIns="0">
              <a:noAutofit/>
            </a:bodyPr>
            <a:lstStyle/>
            <a:p>
              <a:pPr indent="0" lvl="0" marL="0" rtl="0" algn="ctr">
                <a:spcBef>
                  <a:spcPts val="0"/>
                </a:spcBef>
                <a:spcAft>
                  <a:spcPts val="0"/>
                </a:spcAft>
                <a:buNone/>
              </a:pPr>
              <a:r>
                <a:rPr lang="en-US" sz="2000">
                  <a:solidFill>
                    <a:srgbClr val="8B2611"/>
                  </a:solidFill>
                  <a:latin typeface="Material Icons"/>
                  <a:ea typeface="Material Icons"/>
                  <a:cs typeface="Material Icons"/>
                  <a:sym typeface="Material Icons"/>
                </a:rPr>
                <a:t>link</a:t>
              </a:r>
              <a:r>
                <a:rPr b="1" lang="en-US" sz="1300">
                  <a:solidFill>
                    <a:srgbClr val="003B5C"/>
                  </a:solidFill>
                  <a:latin typeface="Calibri"/>
                  <a:ea typeface="Calibri"/>
                  <a:cs typeface="Calibri"/>
                  <a:sym typeface="Calibri"/>
                </a:rPr>
                <a:t>CAEL accelerates links among education, training, and employment</a:t>
              </a:r>
              <a:endParaRPr sz="2000">
                <a:solidFill>
                  <a:srgbClr val="8B261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p:nvPr/>
        </p:nvSpPr>
        <p:spPr>
          <a:xfrm>
            <a:off x="0" y="0"/>
            <a:ext cx="9144000" cy="640200"/>
          </a:xfrm>
          <a:prstGeom prst="rect">
            <a:avLst/>
          </a:prstGeom>
          <a:solidFill>
            <a:srgbClr val="003B5C"/>
          </a:solidFill>
          <a:ln cap="flat" cmpd="sng" w="12700">
            <a:solidFill>
              <a:srgbClr val="003B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6"/>
          <p:cNvSpPr/>
          <p:nvPr/>
        </p:nvSpPr>
        <p:spPr>
          <a:xfrm>
            <a:off x="0" y="0"/>
            <a:ext cx="9144000" cy="640200"/>
          </a:xfrm>
          <a:prstGeom prst="rect">
            <a:avLst/>
          </a:prstGeom>
          <a:solidFill>
            <a:srgbClr val="003B5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6"/>
          <p:cNvSpPr/>
          <p:nvPr/>
        </p:nvSpPr>
        <p:spPr>
          <a:xfrm>
            <a:off x="457200" y="0"/>
            <a:ext cx="8229600" cy="64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FFFFFF"/>
                </a:solidFill>
                <a:latin typeface="Calibri"/>
                <a:ea typeface="Calibri"/>
                <a:cs typeface="Calibri"/>
                <a:sym typeface="Calibri"/>
              </a:rPr>
              <a:t>Applying the Ecosystem Model: California’s Apprenticeship Landscape</a:t>
            </a:r>
            <a:endParaRPr b="1" i="0" sz="2000" u="none" cap="none" strike="noStrike">
              <a:solidFill>
                <a:srgbClr val="FFFFFF"/>
              </a:solidFill>
              <a:latin typeface="Calibri"/>
              <a:ea typeface="Calibri"/>
              <a:cs typeface="Calibri"/>
              <a:sym typeface="Calibri"/>
            </a:endParaRPr>
          </a:p>
        </p:txBody>
      </p:sp>
      <p:sp>
        <p:nvSpPr>
          <p:cNvPr id="208" name="Google Shape;208;p26"/>
          <p:cNvSpPr/>
          <p:nvPr/>
        </p:nvSpPr>
        <p:spPr>
          <a:xfrm>
            <a:off x="457200" y="822960"/>
            <a:ext cx="8229600" cy="5487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2600">
                <a:solidFill>
                  <a:srgbClr val="003B5C"/>
                </a:solidFill>
                <a:latin typeface="Calibri"/>
                <a:ea typeface="Calibri"/>
                <a:cs typeface="Calibri"/>
                <a:sym typeface="Calibri"/>
              </a:rPr>
              <a:t>Statewide Goals and Momentum</a:t>
            </a:r>
            <a:endParaRPr b="1" sz="2600">
              <a:solidFill>
                <a:srgbClr val="003B5C"/>
              </a:solidFill>
              <a:latin typeface="Calibri"/>
              <a:ea typeface="Calibri"/>
              <a:cs typeface="Calibri"/>
              <a:sym typeface="Calibri"/>
            </a:endParaRPr>
          </a:p>
        </p:txBody>
      </p:sp>
      <p:sp>
        <p:nvSpPr>
          <p:cNvPr id="209" name="Google Shape;209;p26"/>
          <p:cNvSpPr/>
          <p:nvPr/>
        </p:nvSpPr>
        <p:spPr>
          <a:xfrm>
            <a:off x="295350" y="1480925"/>
            <a:ext cx="3371700" cy="3477300"/>
          </a:xfrm>
          <a:prstGeom prst="roundRect">
            <a:avLst>
              <a:gd fmla="val 2500" name="adj"/>
            </a:avLst>
          </a:prstGeom>
          <a:solidFill>
            <a:srgbClr val="8520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26"/>
          <p:cNvSpPr txBox="1"/>
          <p:nvPr/>
        </p:nvSpPr>
        <p:spPr>
          <a:xfrm>
            <a:off x="536400" y="1776675"/>
            <a:ext cx="2889600" cy="1333200"/>
          </a:xfrm>
          <a:prstGeom prst="rect">
            <a:avLst/>
          </a:prstGeom>
          <a:noFill/>
          <a:ln>
            <a:noFill/>
          </a:ln>
        </p:spPr>
        <p:txBody>
          <a:bodyPr anchorCtr="0" anchor="ctr" bIns="0" lIns="0" spcFirstLastPara="1" rIns="0" wrap="square" tIns="0">
            <a:noAutofit/>
          </a:bodyPr>
          <a:lstStyle/>
          <a:p>
            <a:pPr indent="0" lvl="0" marL="0" rtl="0" algn="l">
              <a:spcBef>
                <a:spcPts val="375"/>
              </a:spcBef>
              <a:spcAft>
                <a:spcPts val="0"/>
              </a:spcAft>
              <a:buNone/>
            </a:pPr>
            <a:r>
              <a:rPr b="1" lang="en-US" sz="4400">
                <a:solidFill>
                  <a:srgbClr val="FFFFFF"/>
                </a:solidFill>
                <a:latin typeface="Calibri"/>
                <a:ea typeface="Calibri"/>
                <a:cs typeface="Calibri"/>
                <a:sym typeface="Calibri"/>
              </a:rPr>
              <a:t>500,000</a:t>
            </a:r>
            <a:endParaRPr b="1" sz="4400">
              <a:solidFill>
                <a:srgbClr val="FFFFFF"/>
              </a:solidFill>
              <a:latin typeface="Calibri"/>
              <a:ea typeface="Calibri"/>
              <a:cs typeface="Calibri"/>
              <a:sym typeface="Calibri"/>
            </a:endParaRPr>
          </a:p>
          <a:p>
            <a:pPr indent="0" lvl="0" marL="0" rtl="0" algn="l">
              <a:spcBef>
                <a:spcPts val="0"/>
              </a:spcBef>
              <a:spcAft>
                <a:spcPts val="0"/>
              </a:spcAft>
              <a:buNone/>
            </a:pPr>
            <a:r>
              <a:rPr b="1" lang="en-US" sz="1200">
                <a:solidFill>
                  <a:srgbClr val="F4F7F9"/>
                </a:solidFill>
                <a:latin typeface="Calibri"/>
                <a:ea typeface="Calibri"/>
                <a:cs typeface="Calibri"/>
                <a:sym typeface="Calibri"/>
              </a:rPr>
              <a:t>Registered Apprentices by 2029</a:t>
            </a:r>
            <a:endParaRPr b="1" sz="1200">
              <a:solidFill>
                <a:srgbClr val="F4F7F9"/>
              </a:solidFill>
              <a:latin typeface="Calibri"/>
              <a:ea typeface="Calibri"/>
              <a:cs typeface="Calibri"/>
              <a:sym typeface="Calibri"/>
            </a:endParaRPr>
          </a:p>
          <a:p>
            <a:pPr indent="0" lvl="0" marL="0" rtl="0" algn="l">
              <a:spcBef>
                <a:spcPts val="0"/>
              </a:spcBef>
              <a:spcAft>
                <a:spcPts val="0"/>
              </a:spcAft>
              <a:buNone/>
            </a:pPr>
            <a:r>
              <a:rPr lang="en-US" sz="1200">
                <a:solidFill>
                  <a:srgbClr val="F4F7F9"/>
                </a:solidFill>
                <a:latin typeface="Calibri"/>
                <a:ea typeface="Calibri"/>
                <a:cs typeface="Calibri"/>
                <a:sym typeface="Calibri"/>
              </a:rPr>
              <a:t>Governor Newsom's primary target for expanding formal registered apprenticeship pathways.</a:t>
            </a:r>
            <a:endParaRPr sz="1200">
              <a:solidFill>
                <a:srgbClr val="F4F7F9"/>
              </a:solidFill>
              <a:latin typeface="Calibri"/>
              <a:ea typeface="Calibri"/>
              <a:cs typeface="Calibri"/>
              <a:sym typeface="Calibri"/>
            </a:endParaRPr>
          </a:p>
        </p:txBody>
      </p:sp>
      <p:sp>
        <p:nvSpPr>
          <p:cNvPr id="211" name="Google Shape;211;p26"/>
          <p:cNvSpPr/>
          <p:nvPr/>
        </p:nvSpPr>
        <p:spPr>
          <a:xfrm>
            <a:off x="3810000" y="1524000"/>
            <a:ext cx="38100" cy="809700"/>
          </a:xfrm>
          <a:prstGeom prst="roundRect">
            <a:avLst>
              <a:gd fmla="val 50000" name="adj"/>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26"/>
          <p:cNvSpPr txBox="1"/>
          <p:nvPr/>
        </p:nvSpPr>
        <p:spPr>
          <a:xfrm>
            <a:off x="3962400" y="1524000"/>
            <a:ext cx="47244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3B5C"/>
                </a:solidFill>
                <a:latin typeface="Calibri"/>
                <a:ea typeface="Calibri"/>
                <a:cs typeface="Calibri"/>
                <a:sym typeface="Calibri"/>
              </a:rPr>
              <a:t>Statewide Ambition &amp; Scale</a:t>
            </a:r>
            <a:endParaRPr b="1" sz="1400">
              <a:solidFill>
                <a:srgbClr val="003B5C"/>
              </a:solidFill>
              <a:latin typeface="Calibri"/>
              <a:ea typeface="Calibri"/>
              <a:cs typeface="Calibri"/>
              <a:sym typeface="Calibri"/>
            </a:endParaRPr>
          </a:p>
          <a:p>
            <a:pPr indent="0" lvl="0" marL="0" rtl="0" algn="l">
              <a:spcBef>
                <a:spcPts val="300"/>
              </a:spcBef>
              <a:spcAft>
                <a:spcPts val="0"/>
              </a:spcAft>
              <a:buNone/>
            </a:pPr>
            <a:r>
              <a:rPr b="1" lang="en-US" sz="1150">
                <a:solidFill>
                  <a:srgbClr val="003B5C"/>
                </a:solidFill>
                <a:latin typeface="Calibri"/>
                <a:ea typeface="Calibri"/>
                <a:cs typeface="Calibri"/>
                <a:sym typeface="Calibri"/>
              </a:rPr>
              <a:t>93,000+ Active Apprentices:</a:t>
            </a:r>
            <a:r>
              <a:rPr lang="en-US" sz="1150">
                <a:solidFill>
                  <a:srgbClr val="545859"/>
                </a:solidFill>
                <a:latin typeface="Calibri"/>
                <a:ea typeface="Calibri"/>
                <a:cs typeface="Calibri"/>
                <a:sym typeface="Calibri"/>
              </a:rPr>
              <a:t> California holds the largest active apprenticeship footprint in the nation, with aggressive growth goals.</a:t>
            </a:r>
            <a:endParaRPr sz="1150">
              <a:solidFill>
                <a:srgbClr val="545859"/>
              </a:solidFill>
              <a:latin typeface="Calibri"/>
              <a:ea typeface="Calibri"/>
              <a:cs typeface="Calibri"/>
              <a:sym typeface="Calibri"/>
            </a:endParaRPr>
          </a:p>
        </p:txBody>
      </p:sp>
      <p:sp>
        <p:nvSpPr>
          <p:cNvPr id="213" name="Google Shape;213;p26"/>
          <p:cNvSpPr/>
          <p:nvPr/>
        </p:nvSpPr>
        <p:spPr>
          <a:xfrm>
            <a:off x="3810000" y="2524125"/>
            <a:ext cx="38100" cy="952500"/>
          </a:xfrm>
          <a:prstGeom prst="roundRect">
            <a:avLst>
              <a:gd fmla="val 50000" name="adj"/>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26"/>
          <p:cNvSpPr txBox="1"/>
          <p:nvPr/>
        </p:nvSpPr>
        <p:spPr>
          <a:xfrm>
            <a:off x="3962400" y="2524125"/>
            <a:ext cx="472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95">
                <a:solidFill>
                  <a:srgbClr val="003B5C"/>
                </a:solidFill>
                <a:latin typeface="Calibri"/>
                <a:ea typeface="Calibri"/>
                <a:cs typeface="Calibri"/>
                <a:sym typeface="Calibri"/>
              </a:rPr>
              <a:t>Policy &amp; Funding Drivers</a:t>
            </a:r>
            <a:endParaRPr b="1" sz="1295">
              <a:solidFill>
                <a:srgbClr val="003B5C"/>
              </a:solidFill>
              <a:latin typeface="Calibri"/>
              <a:ea typeface="Calibri"/>
              <a:cs typeface="Calibri"/>
              <a:sym typeface="Calibri"/>
            </a:endParaRPr>
          </a:p>
          <a:p>
            <a:pPr indent="0" lvl="0" marL="0" rtl="0" algn="l">
              <a:spcBef>
                <a:spcPts val="300"/>
              </a:spcBef>
              <a:spcAft>
                <a:spcPts val="0"/>
              </a:spcAft>
              <a:buNone/>
            </a:pPr>
            <a:r>
              <a:rPr b="1" lang="en-US" sz="1064">
                <a:solidFill>
                  <a:srgbClr val="003B5C"/>
                </a:solidFill>
                <a:latin typeface="Calibri"/>
                <a:ea typeface="Calibri"/>
                <a:cs typeface="Calibri"/>
                <a:sym typeface="Calibri"/>
              </a:rPr>
              <a:t>California Apprenticeship Initiative (CAI):</a:t>
            </a:r>
            <a:r>
              <a:rPr lang="en-US" sz="1064">
                <a:solidFill>
                  <a:srgbClr val="545859"/>
                </a:solidFill>
                <a:latin typeface="Calibri"/>
                <a:ea typeface="Calibri"/>
                <a:cs typeface="Calibri"/>
                <a:sym typeface="Calibri"/>
              </a:rPr>
              <a:t> Funding regional community college pathways and expansion into nontraditional sectors.</a:t>
            </a:r>
            <a:endParaRPr sz="1064">
              <a:solidFill>
                <a:srgbClr val="545859"/>
              </a:solidFill>
              <a:latin typeface="Calibri"/>
              <a:ea typeface="Calibri"/>
              <a:cs typeface="Calibri"/>
              <a:sym typeface="Calibri"/>
            </a:endParaRPr>
          </a:p>
          <a:p>
            <a:pPr indent="0" lvl="0" marL="0" rtl="0" algn="l">
              <a:spcBef>
                <a:spcPts val="300"/>
              </a:spcBef>
              <a:spcAft>
                <a:spcPts val="0"/>
              </a:spcAft>
              <a:buNone/>
            </a:pPr>
            <a:r>
              <a:rPr b="1" lang="en-US" sz="1064">
                <a:solidFill>
                  <a:srgbClr val="003B5C"/>
                </a:solidFill>
                <a:latin typeface="Calibri"/>
                <a:ea typeface="Calibri"/>
                <a:cs typeface="Calibri"/>
                <a:sym typeface="Calibri"/>
              </a:rPr>
              <a:t>Apprenticeship Pathways Demonstration Project (APDP):</a:t>
            </a:r>
            <a:r>
              <a:rPr lang="en-US" sz="1064">
                <a:solidFill>
                  <a:srgbClr val="545859"/>
                </a:solidFill>
                <a:latin typeface="Calibri"/>
                <a:ea typeface="Calibri"/>
                <a:cs typeface="Calibri"/>
                <a:sym typeface="Calibri"/>
              </a:rPr>
              <a:t> Aligning degree completion directly with registered programs.</a:t>
            </a:r>
            <a:endParaRPr sz="1064">
              <a:solidFill>
                <a:srgbClr val="545859"/>
              </a:solidFill>
              <a:latin typeface="Calibri"/>
              <a:ea typeface="Calibri"/>
              <a:cs typeface="Calibri"/>
              <a:sym typeface="Calibri"/>
            </a:endParaRPr>
          </a:p>
        </p:txBody>
      </p:sp>
      <p:sp>
        <p:nvSpPr>
          <p:cNvPr id="215" name="Google Shape;215;p26"/>
          <p:cNvSpPr/>
          <p:nvPr/>
        </p:nvSpPr>
        <p:spPr>
          <a:xfrm>
            <a:off x="3810000" y="3667125"/>
            <a:ext cx="38100" cy="809700"/>
          </a:xfrm>
          <a:prstGeom prst="roundRect">
            <a:avLst>
              <a:gd fmla="val 50000" name="adj"/>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26"/>
          <p:cNvSpPr txBox="1"/>
          <p:nvPr/>
        </p:nvSpPr>
        <p:spPr>
          <a:xfrm>
            <a:off x="3962400" y="3667125"/>
            <a:ext cx="47244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3B5C"/>
                </a:solidFill>
                <a:latin typeface="Calibri"/>
                <a:ea typeface="Calibri"/>
                <a:cs typeface="Calibri"/>
                <a:sym typeface="Calibri"/>
              </a:rPr>
              <a:t>The Strategic Need</a:t>
            </a:r>
            <a:endParaRPr b="1" sz="1400">
              <a:solidFill>
                <a:srgbClr val="003B5C"/>
              </a:solidFill>
              <a:latin typeface="Calibri"/>
              <a:ea typeface="Calibri"/>
              <a:cs typeface="Calibri"/>
              <a:sym typeface="Calibri"/>
            </a:endParaRPr>
          </a:p>
          <a:p>
            <a:pPr indent="0" lvl="0" marL="0" rtl="0" algn="l">
              <a:spcBef>
                <a:spcPts val="300"/>
              </a:spcBef>
              <a:spcAft>
                <a:spcPts val="0"/>
              </a:spcAft>
              <a:buNone/>
            </a:pPr>
            <a:r>
              <a:rPr b="1" lang="en-US" sz="1150">
                <a:solidFill>
                  <a:srgbClr val="003B5C"/>
                </a:solidFill>
                <a:latin typeface="Calibri"/>
                <a:ea typeface="Calibri"/>
                <a:cs typeface="Calibri"/>
                <a:sym typeface="Calibri"/>
              </a:rPr>
              <a:t>Scaling Intermediaries:</a:t>
            </a:r>
            <a:r>
              <a:rPr lang="en-US" sz="1150">
                <a:solidFill>
                  <a:srgbClr val="545859"/>
                </a:solidFill>
                <a:latin typeface="Calibri"/>
                <a:ea typeface="Calibri"/>
                <a:cs typeface="Calibri"/>
                <a:sym typeface="Calibri"/>
              </a:rPr>
              <a:t> With hundreds of thousands of workers entering pre-apprenticeships and work-based training, regional intermediaries are needed to bridge these entry points directly into registered degrees.</a:t>
            </a:r>
            <a:endParaRPr sz="1150">
              <a:solidFill>
                <a:srgbClr val="545859"/>
              </a:solidFill>
              <a:latin typeface="Calibri"/>
              <a:ea typeface="Calibri"/>
              <a:cs typeface="Calibri"/>
              <a:sym typeface="Calibri"/>
            </a:endParaRPr>
          </a:p>
        </p:txBody>
      </p:sp>
      <p:sp>
        <p:nvSpPr>
          <p:cNvPr id="217" name="Google Shape;217;p26"/>
          <p:cNvSpPr txBox="1"/>
          <p:nvPr/>
        </p:nvSpPr>
        <p:spPr>
          <a:xfrm>
            <a:off x="534900" y="3329263"/>
            <a:ext cx="2892600" cy="1333200"/>
          </a:xfrm>
          <a:prstGeom prst="rect">
            <a:avLst/>
          </a:prstGeom>
          <a:noFill/>
          <a:ln>
            <a:noFill/>
          </a:ln>
        </p:spPr>
        <p:txBody>
          <a:bodyPr anchorCtr="0" anchor="ctr" bIns="0" lIns="0" spcFirstLastPara="1" rIns="0" wrap="square" tIns="0">
            <a:noAutofit/>
          </a:bodyPr>
          <a:lstStyle/>
          <a:p>
            <a:pPr indent="0" lvl="0" marL="0" rtl="0" algn="l">
              <a:spcBef>
                <a:spcPts val="375"/>
              </a:spcBef>
              <a:spcAft>
                <a:spcPts val="0"/>
              </a:spcAft>
              <a:buNone/>
            </a:pPr>
            <a:r>
              <a:rPr b="1" lang="en-US" sz="4400">
                <a:solidFill>
                  <a:srgbClr val="FFFFFF"/>
                </a:solidFill>
                <a:latin typeface="Calibri"/>
                <a:ea typeface="Calibri"/>
                <a:cs typeface="Calibri"/>
                <a:sym typeface="Calibri"/>
              </a:rPr>
              <a:t>600,000+</a:t>
            </a:r>
            <a:endParaRPr b="1" sz="4400">
              <a:solidFill>
                <a:srgbClr val="FFFFFF"/>
              </a:solidFill>
              <a:latin typeface="Calibri"/>
              <a:ea typeface="Calibri"/>
              <a:cs typeface="Calibri"/>
              <a:sym typeface="Calibri"/>
            </a:endParaRPr>
          </a:p>
          <a:p>
            <a:pPr indent="0" lvl="0" marL="0" rtl="0" algn="l">
              <a:spcBef>
                <a:spcPts val="0"/>
              </a:spcBef>
              <a:spcAft>
                <a:spcPts val="0"/>
              </a:spcAft>
              <a:buNone/>
            </a:pPr>
            <a:r>
              <a:rPr b="1" lang="en-US" sz="1200">
                <a:solidFill>
                  <a:srgbClr val="F4F7F9"/>
                </a:solidFill>
                <a:latin typeface="Calibri"/>
                <a:ea typeface="Calibri"/>
                <a:cs typeface="Calibri"/>
                <a:sym typeface="Calibri"/>
              </a:rPr>
              <a:t>Earn-and-Learn Opportunities</a:t>
            </a:r>
            <a:endParaRPr b="1" sz="1200">
              <a:solidFill>
                <a:srgbClr val="F4F7F9"/>
              </a:solidFill>
              <a:latin typeface="Calibri"/>
              <a:ea typeface="Calibri"/>
              <a:cs typeface="Calibri"/>
              <a:sym typeface="Calibri"/>
            </a:endParaRPr>
          </a:p>
          <a:p>
            <a:pPr indent="0" lvl="0" marL="0" rtl="0" algn="l">
              <a:spcBef>
                <a:spcPts val="0"/>
              </a:spcBef>
              <a:spcAft>
                <a:spcPts val="0"/>
              </a:spcAft>
              <a:buNone/>
            </a:pPr>
            <a:r>
              <a:rPr lang="en-US" sz="1200">
                <a:solidFill>
                  <a:srgbClr val="F4F7F9"/>
                </a:solidFill>
                <a:latin typeface="Calibri"/>
                <a:ea typeface="Calibri"/>
                <a:cs typeface="Calibri"/>
                <a:sym typeface="Calibri"/>
              </a:rPr>
              <a:t>Cumulative state total including registered programs, pre-apprenticeships, and workforce grant pathways.</a:t>
            </a:r>
            <a:endParaRPr sz="1200">
              <a:solidFill>
                <a:srgbClr val="F4F7F9"/>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5" name="Shape 225"/>
        <p:cNvGrpSpPr/>
        <p:nvPr/>
      </p:nvGrpSpPr>
      <p:grpSpPr>
        <a:xfrm>
          <a:off x="0" y="0"/>
          <a:ext cx="0" cy="0"/>
          <a:chOff x="0" y="0"/>
          <a:chExt cx="0" cy="0"/>
        </a:xfrm>
      </p:grpSpPr>
      <p:sp>
        <p:nvSpPr>
          <p:cNvPr id="226" name="Google Shape;226;p27"/>
          <p:cNvSpPr/>
          <p:nvPr/>
        </p:nvSpPr>
        <p:spPr>
          <a:xfrm>
            <a:off x="0" y="0"/>
            <a:ext cx="9144000" cy="638100"/>
          </a:xfrm>
          <a:prstGeom prst="rect">
            <a:avLst/>
          </a:prstGeom>
          <a:solidFill>
            <a:srgbClr val="003B5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t/>
            </a:r>
            <a:endParaRPr b="1" sz="1900">
              <a:solidFill>
                <a:srgbClr val="FFFFFF"/>
              </a:solidFill>
              <a:latin typeface="Calibri"/>
              <a:ea typeface="Calibri"/>
              <a:cs typeface="Calibri"/>
              <a:sym typeface="Calibri"/>
            </a:endParaRPr>
          </a:p>
        </p:txBody>
      </p:sp>
      <p:sp>
        <p:nvSpPr>
          <p:cNvPr id="227" name="Google Shape;227;p27"/>
          <p:cNvSpPr txBox="1"/>
          <p:nvPr/>
        </p:nvSpPr>
        <p:spPr>
          <a:xfrm>
            <a:off x="457200" y="0"/>
            <a:ext cx="8229600" cy="638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1" lang="en-US" sz="1900">
                <a:solidFill>
                  <a:srgbClr val="FFFFFF"/>
                </a:solidFill>
                <a:latin typeface="Calibri"/>
                <a:ea typeface="Calibri"/>
                <a:cs typeface="Calibri"/>
                <a:sym typeface="Calibri"/>
              </a:rPr>
              <a:t>A Lack of Credit for a Wealth of Experience</a:t>
            </a:r>
            <a:endParaRPr b="1" sz="1900">
              <a:solidFill>
                <a:srgbClr val="FFFFFF"/>
              </a:solidFill>
              <a:latin typeface="Calibri"/>
              <a:ea typeface="Calibri"/>
              <a:cs typeface="Calibri"/>
              <a:sym typeface="Calibri"/>
            </a:endParaRPr>
          </a:p>
        </p:txBody>
      </p:sp>
      <p:sp>
        <p:nvSpPr>
          <p:cNvPr id="228" name="Google Shape;228;p27"/>
          <p:cNvSpPr txBox="1"/>
          <p:nvPr/>
        </p:nvSpPr>
        <p:spPr>
          <a:xfrm>
            <a:off x="457200" y="952500"/>
            <a:ext cx="8229600" cy="287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870">
                <a:solidFill>
                  <a:srgbClr val="003B5C"/>
                </a:solidFill>
                <a:latin typeface="Calibri"/>
                <a:ea typeface="Calibri"/>
                <a:cs typeface="Calibri"/>
                <a:sym typeface="Calibri"/>
              </a:rPr>
              <a:t>High Demand From Apprentices for Postsecondary Credentials</a:t>
            </a:r>
            <a:endParaRPr b="1" sz="1870">
              <a:solidFill>
                <a:srgbClr val="003B5C"/>
              </a:solidFill>
              <a:latin typeface="Calibri"/>
              <a:ea typeface="Calibri"/>
              <a:cs typeface="Calibri"/>
              <a:sym typeface="Calibri"/>
            </a:endParaRPr>
          </a:p>
        </p:txBody>
      </p:sp>
      <p:grpSp>
        <p:nvGrpSpPr>
          <p:cNvPr id="229" name="Google Shape;229;p27"/>
          <p:cNvGrpSpPr/>
          <p:nvPr/>
        </p:nvGrpSpPr>
        <p:grpSpPr>
          <a:xfrm>
            <a:off x="457200" y="1428750"/>
            <a:ext cx="3962400" cy="3429000"/>
            <a:chOff x="0" y="0"/>
            <a:chExt cx="3962400" cy="3429000"/>
          </a:xfrm>
        </p:grpSpPr>
        <p:sp>
          <p:nvSpPr>
            <p:cNvPr id="230" name="Google Shape;230;p27"/>
            <p:cNvSpPr/>
            <p:nvPr/>
          </p:nvSpPr>
          <p:spPr>
            <a:xfrm>
              <a:off x="0" y="0"/>
              <a:ext cx="3962400" cy="3429000"/>
            </a:xfrm>
            <a:prstGeom prst="roundRect">
              <a:avLst>
                <a:gd fmla="val 222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7"/>
            <p:cNvSpPr/>
            <p:nvPr/>
          </p:nvSpPr>
          <p:spPr>
            <a:xfrm>
              <a:off x="0" y="0"/>
              <a:ext cx="3962400" cy="38100"/>
            </a:xfrm>
            <a:prstGeom prst="roundRect">
              <a:avLst>
                <a:gd fmla="val 50000" name="adj"/>
              </a:avLst>
            </a:prstGeom>
            <a:solidFill>
              <a:srgbClr val="8520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7"/>
            <p:cNvSpPr txBox="1"/>
            <p:nvPr/>
          </p:nvSpPr>
          <p:spPr>
            <a:xfrm>
              <a:off x="228600" y="190500"/>
              <a:ext cx="35052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000">
                  <a:solidFill>
                    <a:srgbClr val="85200C"/>
                  </a:solidFill>
                  <a:latin typeface="Material Icons"/>
                  <a:ea typeface="Material Icons"/>
                  <a:cs typeface="Material Icons"/>
                  <a:sym typeface="Material Icons"/>
                </a:rPr>
                <a:t>school</a:t>
              </a:r>
              <a:r>
                <a:rPr b="1" lang="en-US" sz="1400">
                  <a:solidFill>
                    <a:srgbClr val="003B5C"/>
                  </a:solidFill>
                  <a:latin typeface="Poppins"/>
                  <a:ea typeface="Poppins"/>
                  <a:cs typeface="Poppins"/>
                  <a:sym typeface="Poppins"/>
                </a:rPr>
                <a:t>Strong Apprentice Demand</a:t>
              </a:r>
              <a:endParaRPr b="1" sz="1400">
                <a:solidFill>
                  <a:srgbClr val="003B5C"/>
                </a:solidFill>
                <a:latin typeface="Poppins"/>
                <a:ea typeface="Poppins"/>
                <a:cs typeface="Poppins"/>
                <a:sym typeface="Poppins"/>
              </a:endParaRPr>
            </a:p>
          </p:txBody>
        </p:sp>
        <p:sp>
          <p:nvSpPr>
            <p:cNvPr id="233" name="Google Shape;233;p27"/>
            <p:cNvSpPr txBox="1"/>
            <p:nvPr/>
          </p:nvSpPr>
          <p:spPr>
            <a:xfrm>
              <a:off x="228600" y="714375"/>
              <a:ext cx="35052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4995">
                  <a:solidFill>
                    <a:srgbClr val="85200C"/>
                  </a:solidFill>
                  <a:latin typeface="Poppins ExtraBold"/>
                  <a:ea typeface="Poppins ExtraBold"/>
                  <a:cs typeface="Poppins ExtraBold"/>
                  <a:sym typeface="Poppins ExtraBold"/>
                </a:rPr>
                <a:t>73%</a:t>
              </a:r>
              <a:endParaRPr b="0" sz="4995">
                <a:solidFill>
                  <a:srgbClr val="85200C"/>
                </a:solidFill>
                <a:latin typeface="Poppins ExtraBold"/>
                <a:ea typeface="Poppins ExtraBold"/>
                <a:cs typeface="Poppins ExtraBold"/>
                <a:sym typeface="Poppins ExtraBold"/>
              </a:endParaRPr>
            </a:p>
            <a:p>
              <a:pPr indent="0" lvl="0" marL="0" rtl="0" algn="l">
                <a:spcBef>
                  <a:spcPts val="0"/>
                </a:spcBef>
                <a:spcAft>
                  <a:spcPts val="0"/>
                </a:spcAft>
                <a:buNone/>
              </a:pPr>
              <a:r>
                <a:rPr b="1" lang="en-US" sz="1110">
                  <a:solidFill>
                    <a:srgbClr val="334155"/>
                  </a:solidFill>
                  <a:latin typeface="Calibri"/>
                  <a:ea typeface="Calibri"/>
                  <a:cs typeface="Calibri"/>
                  <a:sym typeface="Calibri"/>
                </a:rPr>
                <a:t>Desire Postsecondary Credentials</a:t>
              </a:r>
              <a:endParaRPr b="1" sz="1110">
                <a:solidFill>
                  <a:srgbClr val="334155"/>
                </a:solidFill>
                <a:latin typeface="Calibri"/>
                <a:ea typeface="Calibri"/>
                <a:cs typeface="Calibri"/>
                <a:sym typeface="Calibri"/>
              </a:endParaRPr>
            </a:p>
          </p:txBody>
        </p:sp>
        <p:sp>
          <p:nvSpPr>
            <p:cNvPr id="234" name="Google Shape;234;p27"/>
            <p:cNvSpPr txBox="1"/>
            <p:nvPr/>
          </p:nvSpPr>
          <p:spPr>
            <a:xfrm>
              <a:off x="228600" y="1857375"/>
              <a:ext cx="35052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150">
                  <a:solidFill>
                    <a:srgbClr val="475569"/>
                  </a:solidFill>
                  <a:latin typeface="Calibri"/>
                  <a:ea typeface="Calibri"/>
                  <a:cs typeface="Calibri"/>
                  <a:sym typeface="Calibri"/>
                </a:rPr>
                <a:t>Nearly three-quarters of registered apprentices express a clear interest in earning an associate degree alongside their trade credentials.</a:t>
              </a:r>
              <a:endParaRPr sz="1150">
                <a:solidFill>
                  <a:srgbClr val="475569"/>
                </a:solidFill>
                <a:latin typeface="Calibri"/>
                <a:ea typeface="Calibri"/>
                <a:cs typeface="Calibri"/>
                <a:sym typeface="Calibri"/>
              </a:endParaRPr>
            </a:p>
          </p:txBody>
        </p:sp>
        <p:sp>
          <p:nvSpPr>
            <p:cNvPr id="235" name="Google Shape;235;p27"/>
            <p:cNvSpPr txBox="1"/>
            <p:nvPr/>
          </p:nvSpPr>
          <p:spPr>
            <a:xfrm>
              <a:off x="228600" y="3095625"/>
              <a:ext cx="3505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1" lang="en-US" sz="850">
                  <a:solidFill>
                    <a:srgbClr val="94A3B8"/>
                  </a:solidFill>
                  <a:latin typeface="Calibri"/>
                  <a:ea typeface="Calibri"/>
                  <a:cs typeface="Calibri"/>
                  <a:sym typeface="Calibri"/>
                </a:rPr>
                <a:t>Source: WSAC / Education Northwest Study (Appendix D)</a:t>
              </a:r>
              <a:endParaRPr i="1" sz="850">
                <a:solidFill>
                  <a:srgbClr val="94A3B8"/>
                </a:solidFill>
                <a:latin typeface="Calibri"/>
                <a:ea typeface="Calibri"/>
                <a:cs typeface="Calibri"/>
                <a:sym typeface="Calibri"/>
              </a:endParaRPr>
            </a:p>
          </p:txBody>
        </p:sp>
      </p:grpSp>
      <p:grpSp>
        <p:nvGrpSpPr>
          <p:cNvPr id="236" name="Google Shape;236;p27"/>
          <p:cNvGrpSpPr/>
          <p:nvPr/>
        </p:nvGrpSpPr>
        <p:grpSpPr>
          <a:xfrm>
            <a:off x="4724400" y="1428750"/>
            <a:ext cx="3962400" cy="3429000"/>
            <a:chOff x="0" y="0"/>
            <a:chExt cx="3962400" cy="3429000"/>
          </a:xfrm>
        </p:grpSpPr>
        <p:sp>
          <p:nvSpPr>
            <p:cNvPr id="237" name="Google Shape;237;p27"/>
            <p:cNvSpPr/>
            <p:nvPr/>
          </p:nvSpPr>
          <p:spPr>
            <a:xfrm>
              <a:off x="0" y="0"/>
              <a:ext cx="3962400" cy="3429000"/>
            </a:xfrm>
            <a:prstGeom prst="roundRect">
              <a:avLst>
                <a:gd fmla="val 222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7"/>
            <p:cNvSpPr/>
            <p:nvPr/>
          </p:nvSpPr>
          <p:spPr>
            <a:xfrm>
              <a:off x="0" y="0"/>
              <a:ext cx="3962400" cy="38100"/>
            </a:xfrm>
            <a:prstGeom prst="roundRect">
              <a:avLst>
                <a:gd fmla="val 50000" name="adj"/>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7"/>
            <p:cNvSpPr txBox="1"/>
            <p:nvPr/>
          </p:nvSpPr>
          <p:spPr>
            <a:xfrm>
              <a:off x="228600" y="190500"/>
              <a:ext cx="35052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000">
                  <a:solidFill>
                    <a:srgbClr val="003B5C"/>
                  </a:solidFill>
                  <a:latin typeface="Material Icons"/>
                  <a:ea typeface="Material Icons"/>
                  <a:cs typeface="Material Icons"/>
                  <a:sym typeface="Material Icons"/>
                </a:rPr>
                <a:t>bar_chart</a:t>
              </a:r>
              <a:r>
                <a:rPr b="1" lang="en-US" sz="1400">
                  <a:solidFill>
                    <a:srgbClr val="003B5C"/>
                  </a:solidFill>
                  <a:latin typeface="Calibri"/>
                  <a:ea typeface="Calibri"/>
                  <a:cs typeface="Calibri"/>
                  <a:sym typeface="Calibri"/>
                </a:rPr>
                <a:t>Enrollment vs. Credential Yield</a:t>
              </a:r>
              <a:endParaRPr b="1" sz="1400">
                <a:solidFill>
                  <a:srgbClr val="003B5C"/>
                </a:solidFill>
                <a:latin typeface="Calibri"/>
                <a:ea typeface="Calibri"/>
                <a:cs typeface="Calibri"/>
                <a:sym typeface="Calibri"/>
              </a:endParaRPr>
            </a:p>
          </p:txBody>
        </p:sp>
        <p:sp>
          <p:nvSpPr>
            <p:cNvPr id="240" name="Google Shape;240;p27"/>
            <p:cNvSpPr txBox="1"/>
            <p:nvPr/>
          </p:nvSpPr>
          <p:spPr>
            <a:xfrm>
              <a:off x="228600" y="619125"/>
              <a:ext cx="35052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950">
                  <a:solidFill>
                    <a:srgbClr val="334155"/>
                  </a:solidFill>
                  <a:latin typeface="Calibri"/>
                  <a:ea typeface="Calibri"/>
                  <a:cs typeface="Calibri"/>
                  <a:sym typeface="Calibri"/>
                </a:rPr>
                <a:t>Enrolled in Community College Training</a:t>
              </a:r>
              <a:endParaRPr sz="950">
                <a:solidFill>
                  <a:srgbClr val="334155"/>
                </a:solidFill>
                <a:latin typeface="Calibri"/>
                <a:ea typeface="Calibri"/>
                <a:cs typeface="Calibri"/>
                <a:sym typeface="Calibri"/>
              </a:endParaRPr>
            </a:p>
          </p:txBody>
        </p:sp>
        <p:sp>
          <p:nvSpPr>
            <p:cNvPr id="241" name="Google Shape;241;p27"/>
            <p:cNvSpPr txBox="1"/>
            <p:nvPr/>
          </p:nvSpPr>
          <p:spPr>
            <a:xfrm>
              <a:off x="3333750" y="619125"/>
              <a:ext cx="4002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US" sz="950">
                  <a:solidFill>
                    <a:srgbClr val="003B5C"/>
                  </a:solidFill>
                  <a:latin typeface="Inter"/>
                  <a:ea typeface="Inter"/>
                  <a:cs typeface="Inter"/>
                  <a:sym typeface="Inter"/>
                </a:rPr>
                <a:t>78%</a:t>
              </a:r>
              <a:endParaRPr b="1" sz="950">
                <a:solidFill>
                  <a:srgbClr val="003B5C"/>
                </a:solidFill>
                <a:latin typeface="Inter"/>
                <a:ea typeface="Inter"/>
                <a:cs typeface="Inter"/>
                <a:sym typeface="Inter"/>
              </a:endParaRPr>
            </a:p>
          </p:txBody>
        </p:sp>
        <p:sp>
          <p:nvSpPr>
            <p:cNvPr id="242" name="Google Shape;242;p27"/>
            <p:cNvSpPr/>
            <p:nvPr/>
          </p:nvSpPr>
          <p:spPr>
            <a:xfrm>
              <a:off x="228600" y="809625"/>
              <a:ext cx="3505200" cy="76200"/>
            </a:xfrm>
            <a:prstGeom prst="roundRect">
              <a:avLst>
                <a:gd fmla="val 50000"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7"/>
            <p:cNvSpPr/>
            <p:nvPr/>
          </p:nvSpPr>
          <p:spPr>
            <a:xfrm>
              <a:off x="228600" y="809625"/>
              <a:ext cx="2733600" cy="76200"/>
            </a:xfrm>
            <a:prstGeom prst="roundRect">
              <a:avLst>
                <a:gd fmla="val 50000" name="adj"/>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7"/>
            <p:cNvSpPr txBox="1"/>
            <p:nvPr/>
          </p:nvSpPr>
          <p:spPr>
            <a:xfrm>
              <a:off x="228600" y="1000125"/>
              <a:ext cx="3048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Calibri"/>
                  <a:ea typeface="Calibri"/>
                  <a:cs typeface="Calibri"/>
                  <a:sym typeface="Calibri"/>
                </a:rPr>
                <a:t>Earn a Postsecondary Certificate</a:t>
              </a:r>
              <a:endParaRPr sz="950">
                <a:solidFill>
                  <a:srgbClr val="334155"/>
                </a:solidFill>
                <a:latin typeface="Calibri"/>
                <a:ea typeface="Calibri"/>
                <a:cs typeface="Calibri"/>
                <a:sym typeface="Calibri"/>
              </a:endParaRPr>
            </a:p>
          </p:txBody>
        </p:sp>
        <p:sp>
          <p:nvSpPr>
            <p:cNvPr id="245" name="Google Shape;245;p27"/>
            <p:cNvSpPr txBox="1"/>
            <p:nvPr/>
          </p:nvSpPr>
          <p:spPr>
            <a:xfrm>
              <a:off x="3333750" y="1000125"/>
              <a:ext cx="4002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US" sz="950">
                  <a:solidFill>
                    <a:srgbClr val="F59E0B"/>
                  </a:solidFill>
                  <a:latin typeface="Inter"/>
                  <a:ea typeface="Inter"/>
                  <a:cs typeface="Inter"/>
                  <a:sym typeface="Inter"/>
                </a:rPr>
                <a:t>3%</a:t>
              </a:r>
              <a:endParaRPr b="1" sz="950">
                <a:solidFill>
                  <a:srgbClr val="F59E0B"/>
                </a:solidFill>
                <a:latin typeface="Inter"/>
                <a:ea typeface="Inter"/>
                <a:cs typeface="Inter"/>
                <a:sym typeface="Inter"/>
              </a:endParaRPr>
            </a:p>
          </p:txBody>
        </p:sp>
        <p:sp>
          <p:nvSpPr>
            <p:cNvPr id="246" name="Google Shape;246;p27"/>
            <p:cNvSpPr/>
            <p:nvPr/>
          </p:nvSpPr>
          <p:spPr>
            <a:xfrm>
              <a:off x="228600" y="1190625"/>
              <a:ext cx="3505200" cy="76200"/>
            </a:xfrm>
            <a:prstGeom prst="roundRect">
              <a:avLst>
                <a:gd fmla="val 50000"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27"/>
            <p:cNvSpPr/>
            <p:nvPr/>
          </p:nvSpPr>
          <p:spPr>
            <a:xfrm>
              <a:off x="228600" y="1190625"/>
              <a:ext cx="104700" cy="762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7"/>
            <p:cNvSpPr txBox="1"/>
            <p:nvPr/>
          </p:nvSpPr>
          <p:spPr>
            <a:xfrm>
              <a:off x="228600" y="1381125"/>
              <a:ext cx="3048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Calibri"/>
                  <a:ea typeface="Calibri"/>
                  <a:cs typeface="Calibri"/>
                  <a:sym typeface="Calibri"/>
                </a:rPr>
                <a:t>Attain an Associate Degree</a:t>
              </a:r>
              <a:endParaRPr sz="950">
                <a:solidFill>
                  <a:srgbClr val="334155"/>
                </a:solidFill>
                <a:latin typeface="Calibri"/>
                <a:ea typeface="Calibri"/>
                <a:cs typeface="Calibri"/>
                <a:sym typeface="Calibri"/>
              </a:endParaRPr>
            </a:p>
          </p:txBody>
        </p:sp>
        <p:sp>
          <p:nvSpPr>
            <p:cNvPr id="249" name="Google Shape;249;p27"/>
            <p:cNvSpPr txBox="1"/>
            <p:nvPr/>
          </p:nvSpPr>
          <p:spPr>
            <a:xfrm>
              <a:off x="3333750" y="1381125"/>
              <a:ext cx="4002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US" sz="950">
                  <a:solidFill>
                    <a:srgbClr val="85200C"/>
                  </a:solidFill>
                  <a:latin typeface="Inter"/>
                  <a:ea typeface="Inter"/>
                  <a:cs typeface="Inter"/>
                  <a:sym typeface="Inter"/>
                </a:rPr>
                <a:t>~1%</a:t>
              </a:r>
              <a:endParaRPr b="1" sz="950">
                <a:solidFill>
                  <a:srgbClr val="85200C"/>
                </a:solidFill>
                <a:latin typeface="Inter"/>
                <a:ea typeface="Inter"/>
                <a:cs typeface="Inter"/>
                <a:sym typeface="Inter"/>
              </a:endParaRPr>
            </a:p>
          </p:txBody>
        </p:sp>
        <p:sp>
          <p:nvSpPr>
            <p:cNvPr id="250" name="Google Shape;250;p27"/>
            <p:cNvSpPr/>
            <p:nvPr/>
          </p:nvSpPr>
          <p:spPr>
            <a:xfrm>
              <a:off x="228600" y="1571625"/>
              <a:ext cx="3505200" cy="76200"/>
            </a:xfrm>
            <a:prstGeom prst="roundRect">
              <a:avLst>
                <a:gd fmla="val 50000"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27"/>
            <p:cNvSpPr/>
            <p:nvPr/>
          </p:nvSpPr>
          <p:spPr>
            <a:xfrm>
              <a:off x="228600" y="1571625"/>
              <a:ext cx="38100" cy="76200"/>
            </a:xfrm>
            <a:prstGeom prst="roundRect">
              <a:avLst>
                <a:gd fmla="val 50000" name="adj"/>
              </a:avLst>
            </a:prstGeom>
            <a:solidFill>
              <a:srgbClr val="8520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7"/>
            <p:cNvSpPr/>
            <p:nvPr/>
          </p:nvSpPr>
          <p:spPr>
            <a:xfrm>
              <a:off x="228600" y="1857375"/>
              <a:ext cx="3505200" cy="1143000"/>
            </a:xfrm>
            <a:prstGeom prst="roundRect">
              <a:avLst>
                <a:gd fmla="val 5000" name="adj"/>
              </a:avLst>
            </a:prstGeom>
            <a:solidFill>
              <a:srgbClr val="FEF2F2"/>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7"/>
            <p:cNvSpPr txBox="1"/>
            <p:nvPr/>
          </p:nvSpPr>
          <p:spPr>
            <a:xfrm>
              <a:off x="342900" y="1933575"/>
              <a:ext cx="3276600" cy="99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991B1B"/>
                  </a:solidFill>
                  <a:latin typeface="Material Icons"/>
                  <a:ea typeface="Material Icons"/>
                  <a:cs typeface="Material Icons"/>
                  <a:sym typeface="Material Icons"/>
                </a:rPr>
                <a:t>warning</a:t>
              </a:r>
              <a:r>
                <a:rPr b="1" lang="en-US" sz="950">
                  <a:solidFill>
                    <a:srgbClr val="991B1B"/>
                  </a:solidFill>
                  <a:latin typeface="Poppins"/>
                  <a:ea typeface="Poppins"/>
                  <a:cs typeface="Poppins"/>
                  <a:sym typeface="Poppins"/>
                </a:rPr>
                <a:t>Structural Disconnect</a:t>
              </a:r>
              <a:endParaRPr b="1" sz="950">
                <a:solidFill>
                  <a:srgbClr val="991B1B"/>
                </a:solidFill>
                <a:latin typeface="Poppins"/>
                <a:ea typeface="Poppins"/>
                <a:cs typeface="Poppins"/>
                <a:sym typeface="Poppins"/>
              </a:endParaRPr>
            </a:p>
            <a:p>
              <a:pPr indent="0" lvl="0" marL="0" rtl="0" algn="l">
                <a:spcBef>
                  <a:spcPts val="300"/>
                </a:spcBef>
                <a:spcAft>
                  <a:spcPts val="0"/>
                </a:spcAft>
                <a:buNone/>
              </a:pPr>
              <a:r>
                <a:rPr lang="en-US" sz="1100">
                  <a:solidFill>
                    <a:srgbClr val="7F1D1D"/>
                  </a:solidFill>
                  <a:latin typeface="Calibri"/>
                  <a:ea typeface="Calibri"/>
                  <a:cs typeface="Calibri"/>
                  <a:sym typeface="Calibri"/>
                </a:rPr>
                <a:t>Colleges primarily deliver trade instruction as clock-hour licensing requirements rather than credit-bearing courses mapped toward academic degree requirements.</a:t>
              </a:r>
              <a:endParaRPr sz="1100">
                <a:solidFill>
                  <a:srgbClr val="7F1D1D"/>
                </a:solidFill>
                <a:latin typeface="Calibri"/>
                <a:ea typeface="Calibri"/>
                <a:cs typeface="Calibri"/>
                <a:sym typeface="Calibri"/>
              </a:endParaRPr>
            </a:p>
          </p:txBody>
        </p:sp>
        <p:sp>
          <p:nvSpPr>
            <p:cNvPr id="254" name="Google Shape;254;p27"/>
            <p:cNvSpPr txBox="1"/>
            <p:nvPr/>
          </p:nvSpPr>
          <p:spPr>
            <a:xfrm>
              <a:off x="228600" y="3095625"/>
              <a:ext cx="3505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1" lang="en-US" sz="786">
                  <a:solidFill>
                    <a:srgbClr val="94A3B8"/>
                  </a:solidFill>
                  <a:latin typeface="Calibri"/>
                  <a:ea typeface="Calibri"/>
                  <a:cs typeface="Calibri"/>
                  <a:sym typeface="Calibri"/>
                </a:rPr>
                <a:t>Source: Washington Student Achievement Council (WSAC) 2023 Report</a:t>
              </a:r>
              <a:endParaRPr i="1" sz="786">
                <a:solidFill>
                  <a:srgbClr val="94A3B8"/>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2" name="Shape 262"/>
        <p:cNvGrpSpPr/>
        <p:nvPr/>
      </p:nvGrpSpPr>
      <p:grpSpPr>
        <a:xfrm>
          <a:off x="0" y="0"/>
          <a:ext cx="0" cy="0"/>
          <a:chOff x="0" y="0"/>
          <a:chExt cx="0" cy="0"/>
        </a:xfrm>
      </p:grpSpPr>
      <p:sp>
        <p:nvSpPr>
          <p:cNvPr id="263" name="Google Shape;263;p28"/>
          <p:cNvSpPr/>
          <p:nvPr/>
        </p:nvSpPr>
        <p:spPr>
          <a:xfrm>
            <a:off x="0" y="0"/>
            <a:ext cx="9144000" cy="638100"/>
          </a:xfrm>
          <a:prstGeom prst="rect">
            <a:avLst/>
          </a:prstGeom>
          <a:solidFill>
            <a:srgbClr val="003B5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1" sz="1900">
              <a:solidFill>
                <a:srgbClr val="FFFFFF"/>
              </a:solidFill>
              <a:latin typeface="Calibri"/>
              <a:ea typeface="Calibri"/>
              <a:cs typeface="Calibri"/>
              <a:sym typeface="Calibri"/>
            </a:endParaRPr>
          </a:p>
        </p:txBody>
      </p:sp>
      <p:sp>
        <p:nvSpPr>
          <p:cNvPr id="264" name="Google Shape;264;p28"/>
          <p:cNvSpPr txBox="1"/>
          <p:nvPr/>
        </p:nvSpPr>
        <p:spPr>
          <a:xfrm>
            <a:off x="457200" y="0"/>
            <a:ext cx="8229600" cy="638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900">
                <a:solidFill>
                  <a:srgbClr val="FFFFFF"/>
                </a:solidFill>
                <a:latin typeface="Calibri"/>
                <a:ea typeface="Calibri"/>
                <a:cs typeface="Calibri"/>
                <a:sym typeface="Calibri"/>
              </a:rPr>
              <a:t>The Learner/Earner Framework</a:t>
            </a:r>
            <a:endParaRPr b="1" sz="1900">
              <a:solidFill>
                <a:srgbClr val="FFFFFF"/>
              </a:solidFill>
              <a:latin typeface="Calibri"/>
              <a:ea typeface="Calibri"/>
              <a:cs typeface="Calibri"/>
              <a:sym typeface="Calibri"/>
            </a:endParaRPr>
          </a:p>
        </p:txBody>
      </p:sp>
      <p:pic>
        <p:nvPicPr>
          <p:cNvPr descr="image.png" id="265" name="Google Shape;265;p28"/>
          <p:cNvPicPr preferRelativeResize="0"/>
          <p:nvPr/>
        </p:nvPicPr>
        <p:blipFill rotWithShape="1">
          <a:blip r:embed="rId4">
            <a:alphaModFix/>
          </a:blip>
          <a:srcRect b="0" l="0" r="0" t="0"/>
          <a:stretch/>
        </p:blipFill>
        <p:spPr>
          <a:xfrm>
            <a:off x="428625" y="1643509"/>
            <a:ext cx="2647875" cy="2252067"/>
          </a:xfrm>
          <a:prstGeom prst="rect">
            <a:avLst/>
          </a:prstGeom>
          <a:noFill/>
          <a:ln>
            <a:noFill/>
          </a:ln>
        </p:spPr>
      </p:pic>
      <p:pic>
        <p:nvPicPr>
          <p:cNvPr descr="image.png" id="266" name="Google Shape;266;p28"/>
          <p:cNvPicPr preferRelativeResize="0"/>
          <p:nvPr/>
        </p:nvPicPr>
        <p:blipFill rotWithShape="1">
          <a:blip r:embed="rId5">
            <a:alphaModFix/>
          </a:blip>
          <a:srcRect b="0" l="0" r="0" t="0"/>
          <a:stretch/>
        </p:blipFill>
        <p:spPr>
          <a:xfrm>
            <a:off x="3247950" y="1643509"/>
            <a:ext cx="2647987" cy="2252067"/>
          </a:xfrm>
          <a:prstGeom prst="rect">
            <a:avLst/>
          </a:prstGeom>
          <a:noFill/>
          <a:ln>
            <a:noFill/>
          </a:ln>
        </p:spPr>
      </p:pic>
      <p:pic>
        <p:nvPicPr>
          <p:cNvPr descr="image.png" id="267" name="Google Shape;267;p28"/>
          <p:cNvPicPr preferRelativeResize="0"/>
          <p:nvPr/>
        </p:nvPicPr>
        <p:blipFill rotWithShape="1">
          <a:blip r:embed="rId6">
            <a:alphaModFix/>
          </a:blip>
          <a:srcRect b="0" l="0" r="0" t="0"/>
          <a:stretch/>
        </p:blipFill>
        <p:spPr>
          <a:xfrm>
            <a:off x="6067388" y="1643509"/>
            <a:ext cx="2647875" cy="2252067"/>
          </a:xfrm>
          <a:prstGeom prst="rect">
            <a:avLst/>
          </a:prstGeom>
          <a:noFill/>
          <a:ln>
            <a:noFill/>
          </a:ln>
        </p:spPr>
      </p:pic>
      <p:sp>
        <p:nvSpPr>
          <p:cNvPr id="268" name="Google Shape;268;p28"/>
          <p:cNvSpPr txBox="1"/>
          <p:nvPr/>
        </p:nvSpPr>
        <p:spPr>
          <a:xfrm>
            <a:off x="428625" y="721519"/>
            <a:ext cx="8701200" cy="28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870">
                <a:solidFill>
                  <a:srgbClr val="003B5C"/>
                </a:solidFill>
                <a:latin typeface="Calibri"/>
                <a:ea typeface="Calibri"/>
                <a:cs typeface="Calibri"/>
                <a:sym typeface="Calibri"/>
              </a:rPr>
              <a:t>Learning Counts No Matter Where It Happens</a:t>
            </a:r>
            <a:endParaRPr b="1" sz="1870">
              <a:solidFill>
                <a:srgbClr val="003B5C"/>
              </a:solidFill>
              <a:latin typeface="Calibri"/>
              <a:ea typeface="Calibri"/>
              <a:cs typeface="Calibri"/>
              <a:sym typeface="Calibri"/>
            </a:endParaRPr>
          </a:p>
        </p:txBody>
      </p:sp>
      <p:sp>
        <p:nvSpPr>
          <p:cNvPr id="269" name="Google Shape;269;p28"/>
          <p:cNvSpPr txBox="1"/>
          <p:nvPr/>
        </p:nvSpPr>
        <p:spPr>
          <a:xfrm>
            <a:off x="428625" y="1050131"/>
            <a:ext cx="8286900" cy="1692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i="0" lang="en-US" sz="1100" u="none" cap="none" strike="noStrike">
                <a:solidFill>
                  <a:srgbClr val="475569"/>
                </a:solidFill>
                <a:latin typeface="Calibri"/>
                <a:ea typeface="Calibri"/>
                <a:cs typeface="Calibri"/>
                <a:sym typeface="Calibri"/>
              </a:rPr>
              <a:t>Recognizing competencies gained through labor and life experience accelerates economic mobility for adult learners.</a:t>
            </a:r>
            <a:endParaRPr sz="1300">
              <a:latin typeface="Calibri"/>
              <a:ea typeface="Calibri"/>
              <a:cs typeface="Calibri"/>
              <a:sym typeface="Calibri"/>
            </a:endParaRPr>
          </a:p>
        </p:txBody>
      </p:sp>
      <p:pic>
        <p:nvPicPr>
          <p:cNvPr descr="image.png" id="270" name="Google Shape;270;p28"/>
          <p:cNvPicPr preferRelativeResize="0"/>
          <p:nvPr/>
        </p:nvPicPr>
        <p:blipFill rotWithShape="1">
          <a:blip r:embed="rId7">
            <a:alphaModFix/>
          </a:blip>
          <a:srcRect b="0" l="0" r="0" t="0"/>
          <a:stretch/>
        </p:blipFill>
        <p:spPr>
          <a:xfrm>
            <a:off x="578644" y="1882824"/>
            <a:ext cx="164306" cy="128587"/>
          </a:xfrm>
          <a:prstGeom prst="rect">
            <a:avLst/>
          </a:prstGeom>
          <a:noFill/>
          <a:ln>
            <a:noFill/>
          </a:ln>
        </p:spPr>
      </p:pic>
      <p:sp>
        <p:nvSpPr>
          <p:cNvPr id="271" name="Google Shape;271;p28"/>
          <p:cNvSpPr txBox="1"/>
          <p:nvPr/>
        </p:nvSpPr>
        <p:spPr>
          <a:xfrm>
            <a:off x="814388" y="1850678"/>
            <a:ext cx="1414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8B2611"/>
                </a:solidFill>
                <a:latin typeface="Calibri"/>
                <a:ea typeface="Calibri"/>
                <a:cs typeface="Calibri"/>
                <a:sym typeface="Calibri"/>
              </a:rPr>
              <a:t>The "Learner/Earner"</a:t>
            </a:r>
            <a:endParaRPr b="1" sz="1100">
              <a:latin typeface="Calibri"/>
              <a:ea typeface="Calibri"/>
              <a:cs typeface="Calibri"/>
              <a:sym typeface="Calibri"/>
            </a:endParaRPr>
          </a:p>
        </p:txBody>
      </p:sp>
      <p:sp>
        <p:nvSpPr>
          <p:cNvPr id="272" name="Google Shape;272;p28"/>
          <p:cNvSpPr txBox="1"/>
          <p:nvPr/>
        </p:nvSpPr>
        <p:spPr>
          <a:xfrm>
            <a:off x="490769" y="2312784"/>
            <a:ext cx="2523600" cy="1100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i="0" lang="en-US" sz="1300" u="none" cap="none" strike="noStrike">
                <a:solidFill>
                  <a:srgbClr val="0F172A"/>
                </a:solidFill>
                <a:latin typeface="Calibri"/>
                <a:ea typeface="Calibri"/>
                <a:cs typeface="Calibri"/>
                <a:sym typeface="Calibri"/>
              </a:rPr>
              <a:t>Dual Identity:</a:t>
            </a:r>
            <a:r>
              <a:rPr i="0" lang="en-US" sz="1300" u="none" cap="none" strike="noStrike">
                <a:solidFill>
                  <a:srgbClr val="334155"/>
                </a:solidFill>
                <a:latin typeface="Calibri"/>
                <a:ea typeface="Calibri"/>
                <a:cs typeface="Calibri"/>
                <a:sym typeface="Calibri"/>
              </a:rPr>
              <a:t> Most adult learners are active workers, and most workers must engage in continuous lifelong learning.</a:t>
            </a:r>
            <a:endParaRPr sz="1600">
              <a:latin typeface="Calibri"/>
              <a:ea typeface="Calibri"/>
              <a:cs typeface="Calibri"/>
              <a:sym typeface="Calibri"/>
            </a:endParaRPr>
          </a:p>
        </p:txBody>
      </p:sp>
      <p:pic>
        <p:nvPicPr>
          <p:cNvPr descr="image.png" id="273" name="Google Shape;273;p28"/>
          <p:cNvPicPr preferRelativeResize="0"/>
          <p:nvPr/>
        </p:nvPicPr>
        <p:blipFill rotWithShape="1">
          <a:blip r:embed="rId8">
            <a:alphaModFix/>
          </a:blip>
          <a:srcRect b="0" l="0" r="0" t="0"/>
          <a:stretch/>
        </p:blipFill>
        <p:spPr>
          <a:xfrm>
            <a:off x="3397969" y="1882824"/>
            <a:ext cx="100013" cy="128587"/>
          </a:xfrm>
          <a:prstGeom prst="rect">
            <a:avLst/>
          </a:prstGeom>
          <a:noFill/>
          <a:ln>
            <a:noFill/>
          </a:ln>
        </p:spPr>
      </p:pic>
      <p:sp>
        <p:nvSpPr>
          <p:cNvPr id="274" name="Google Shape;274;p28"/>
          <p:cNvSpPr txBox="1"/>
          <p:nvPr/>
        </p:nvSpPr>
        <p:spPr>
          <a:xfrm>
            <a:off x="3569419" y="1850678"/>
            <a:ext cx="15072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8B2611"/>
                </a:solidFill>
                <a:latin typeface="Calibri"/>
                <a:ea typeface="Calibri"/>
                <a:cs typeface="Calibri"/>
                <a:sym typeface="Calibri"/>
              </a:rPr>
              <a:t>Beyond the Classroom</a:t>
            </a:r>
            <a:endParaRPr b="1" sz="1100">
              <a:latin typeface="Calibri"/>
              <a:ea typeface="Calibri"/>
              <a:cs typeface="Calibri"/>
              <a:sym typeface="Calibri"/>
            </a:endParaRPr>
          </a:p>
        </p:txBody>
      </p:sp>
      <p:sp>
        <p:nvSpPr>
          <p:cNvPr id="275" name="Google Shape;275;p28"/>
          <p:cNvSpPr txBox="1"/>
          <p:nvPr/>
        </p:nvSpPr>
        <p:spPr>
          <a:xfrm>
            <a:off x="3387100" y="2312775"/>
            <a:ext cx="2519700" cy="1100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300">
                <a:solidFill>
                  <a:srgbClr val="0F172A"/>
                </a:solidFill>
                <a:latin typeface="Calibri"/>
                <a:ea typeface="Calibri"/>
                <a:cs typeface="Calibri"/>
                <a:sym typeface="Calibri"/>
              </a:rPr>
              <a:t>Recognizing real-world learning</a:t>
            </a:r>
            <a:r>
              <a:rPr i="0" lang="en-US" sz="1300" u="none" cap="none" strike="noStrike">
                <a:solidFill>
                  <a:srgbClr val="0F172A"/>
                </a:solidFill>
                <a:latin typeface="Calibri"/>
                <a:ea typeface="Calibri"/>
                <a:cs typeface="Calibri"/>
                <a:sym typeface="Calibri"/>
              </a:rPr>
              <a:t>:</a:t>
            </a:r>
            <a:r>
              <a:rPr i="0" lang="en-US" sz="1300" u="none" cap="none" strike="noStrike">
                <a:solidFill>
                  <a:srgbClr val="334155"/>
                </a:solidFill>
                <a:latin typeface="Calibri"/>
                <a:ea typeface="Calibri"/>
                <a:cs typeface="Calibri"/>
                <a:sym typeface="Calibri"/>
              </a:rPr>
              <a:t> Learning doesn't begin or end at school doors; adults carry skills built through labor and life.</a:t>
            </a:r>
            <a:endParaRPr sz="1600">
              <a:latin typeface="Calibri"/>
              <a:ea typeface="Calibri"/>
              <a:cs typeface="Calibri"/>
              <a:sym typeface="Calibri"/>
            </a:endParaRPr>
          </a:p>
        </p:txBody>
      </p:sp>
      <p:pic>
        <p:nvPicPr>
          <p:cNvPr descr="image.png" id="276" name="Google Shape;276;p28"/>
          <p:cNvPicPr preferRelativeResize="0"/>
          <p:nvPr/>
        </p:nvPicPr>
        <p:blipFill rotWithShape="1">
          <a:blip r:embed="rId9">
            <a:alphaModFix/>
          </a:blip>
          <a:srcRect b="0" l="0" r="0" t="0"/>
          <a:stretch/>
        </p:blipFill>
        <p:spPr>
          <a:xfrm>
            <a:off x="6217406" y="1882824"/>
            <a:ext cx="114300" cy="128587"/>
          </a:xfrm>
          <a:prstGeom prst="rect">
            <a:avLst/>
          </a:prstGeom>
          <a:noFill/>
          <a:ln>
            <a:noFill/>
          </a:ln>
        </p:spPr>
      </p:pic>
      <p:sp>
        <p:nvSpPr>
          <p:cNvPr id="277" name="Google Shape;277;p28"/>
          <p:cNvSpPr txBox="1"/>
          <p:nvPr/>
        </p:nvSpPr>
        <p:spPr>
          <a:xfrm>
            <a:off x="6403144" y="1850678"/>
            <a:ext cx="1485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8B2611"/>
                </a:solidFill>
                <a:latin typeface="Calibri"/>
                <a:ea typeface="Calibri"/>
                <a:cs typeface="Calibri"/>
                <a:sym typeface="Calibri"/>
              </a:rPr>
              <a:t>Unbundling Education</a:t>
            </a:r>
            <a:endParaRPr b="1" sz="1100">
              <a:latin typeface="Calibri"/>
              <a:ea typeface="Calibri"/>
              <a:cs typeface="Calibri"/>
              <a:sym typeface="Calibri"/>
            </a:endParaRPr>
          </a:p>
        </p:txBody>
      </p:sp>
      <p:sp>
        <p:nvSpPr>
          <p:cNvPr id="278" name="Google Shape;278;p28"/>
          <p:cNvSpPr txBox="1"/>
          <p:nvPr/>
        </p:nvSpPr>
        <p:spPr>
          <a:xfrm>
            <a:off x="6067369" y="2312784"/>
            <a:ext cx="2523600" cy="1100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i="0" lang="en-US" sz="1300" u="none" cap="none" strike="noStrike">
                <a:solidFill>
                  <a:srgbClr val="0F172A"/>
                </a:solidFill>
                <a:latin typeface="Calibri"/>
                <a:ea typeface="Calibri"/>
                <a:cs typeface="Calibri"/>
                <a:sym typeface="Calibri"/>
              </a:rPr>
              <a:t>Stackable Milestones:</a:t>
            </a:r>
            <a:r>
              <a:rPr i="0" lang="en-US" sz="1300" u="none" cap="none" strike="noStrike">
                <a:solidFill>
                  <a:srgbClr val="334155"/>
                </a:solidFill>
                <a:latin typeface="Calibri"/>
                <a:ea typeface="Calibri"/>
                <a:cs typeface="Calibri"/>
                <a:sym typeface="Calibri"/>
              </a:rPr>
              <a:t> Deconstruct rigid "all-or-nothing" degree tracks into modular, bite-sized learning achievements.</a:t>
            </a:r>
            <a:endParaRPr sz="1600">
              <a:latin typeface="Calibri"/>
              <a:ea typeface="Calibri"/>
              <a:cs typeface="Calibri"/>
              <a:sym typeface="Calibri"/>
            </a:endParaRPr>
          </a:p>
        </p:txBody>
      </p:sp>
      <p:sp>
        <p:nvSpPr>
          <p:cNvPr id="279" name="Google Shape;279;p28"/>
          <p:cNvSpPr txBox="1"/>
          <p:nvPr/>
        </p:nvSpPr>
        <p:spPr>
          <a:xfrm>
            <a:off x="3397969" y="2143571"/>
            <a:ext cx="64200" cy="169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t/>
            </a:r>
            <a:endParaRPr sz="1100"/>
          </a:p>
        </p:txBody>
      </p:sp>
      <p:sp>
        <p:nvSpPr>
          <p:cNvPr id="280" name="Google Shape;280;p28"/>
          <p:cNvSpPr txBox="1"/>
          <p:nvPr/>
        </p:nvSpPr>
        <p:spPr>
          <a:xfrm>
            <a:off x="3397969" y="3182987"/>
            <a:ext cx="64200" cy="169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t/>
            </a:r>
            <a:endParaRPr sz="1100"/>
          </a:p>
        </p:txBody>
      </p:sp>
      <p:sp>
        <p:nvSpPr>
          <p:cNvPr id="281" name="Google Shape;281;p28"/>
          <p:cNvSpPr txBox="1"/>
          <p:nvPr/>
        </p:nvSpPr>
        <p:spPr>
          <a:xfrm>
            <a:off x="6217406" y="2663279"/>
            <a:ext cx="64200" cy="169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10001"/>
        </a:solidFill>
      </p:bgPr>
    </p:bg>
    <p:spTree>
      <p:nvGrpSpPr>
        <p:cNvPr id="286" name="Shape 286"/>
        <p:cNvGrpSpPr/>
        <p:nvPr/>
      </p:nvGrpSpPr>
      <p:grpSpPr>
        <a:xfrm>
          <a:off x="0" y="0"/>
          <a:ext cx="0" cy="0"/>
          <a:chOff x="0" y="0"/>
          <a:chExt cx="0" cy="0"/>
        </a:xfrm>
      </p:grpSpPr>
      <p:pic>
        <p:nvPicPr>
          <p:cNvPr descr="A logo with a black background&#10;&#10;Description automatically generated" id="287" name="Google Shape;287;p29"/>
          <p:cNvPicPr preferRelativeResize="0"/>
          <p:nvPr/>
        </p:nvPicPr>
        <p:blipFill rotWithShape="1">
          <a:blip r:embed="rId3">
            <a:alphaModFix/>
          </a:blip>
          <a:srcRect b="0" l="0" r="0" t="0"/>
          <a:stretch/>
        </p:blipFill>
        <p:spPr>
          <a:xfrm>
            <a:off x="0" y="0"/>
            <a:ext cx="2121910" cy="839779"/>
          </a:xfrm>
          <a:prstGeom prst="rect">
            <a:avLst/>
          </a:prstGeom>
          <a:noFill/>
          <a:ln>
            <a:noFill/>
          </a:ln>
        </p:spPr>
      </p:pic>
      <p:pic>
        <p:nvPicPr>
          <p:cNvPr id="288" name="Google Shape;288;p29"/>
          <p:cNvPicPr preferRelativeResize="0"/>
          <p:nvPr/>
        </p:nvPicPr>
        <p:blipFill rotWithShape="1">
          <a:blip r:embed="rId4">
            <a:alphaModFix/>
          </a:blip>
          <a:srcRect b="0" l="344" r="1502" t="0"/>
          <a:stretch/>
        </p:blipFill>
        <p:spPr>
          <a:xfrm>
            <a:off x="2005218" y="1326646"/>
            <a:ext cx="6657977" cy="3538839"/>
          </a:xfrm>
          <a:prstGeom prst="rect">
            <a:avLst/>
          </a:prstGeom>
          <a:noFill/>
          <a:ln>
            <a:noFill/>
          </a:ln>
        </p:spPr>
      </p:pic>
      <p:sp>
        <p:nvSpPr>
          <p:cNvPr id="289" name="Google Shape;289;p29"/>
          <p:cNvSpPr txBox="1"/>
          <p:nvPr>
            <p:ph type="ctrTitle"/>
          </p:nvPr>
        </p:nvSpPr>
        <p:spPr>
          <a:xfrm>
            <a:off x="480807" y="1096685"/>
            <a:ext cx="2338800" cy="459900"/>
          </a:xfrm>
          <a:prstGeom prst="rect">
            <a:avLst/>
          </a:prstGeom>
          <a:noFill/>
          <a:ln>
            <a:noFill/>
          </a:ln>
        </p:spPr>
        <p:txBody>
          <a:bodyPr anchorCtr="0" anchor="b" bIns="34275" lIns="68575" spcFirstLastPara="1" rIns="68575" wrap="square" tIns="34275">
            <a:noAutofit/>
          </a:bodyPr>
          <a:lstStyle/>
          <a:p>
            <a:pPr indent="0" lvl="0" marL="0" rtl="0" algn="just">
              <a:lnSpc>
                <a:spcPct val="90000"/>
              </a:lnSpc>
              <a:spcBef>
                <a:spcPts val="0"/>
              </a:spcBef>
              <a:spcAft>
                <a:spcPts val="0"/>
              </a:spcAft>
              <a:buClr>
                <a:schemeClr val="lt1"/>
              </a:buClr>
              <a:buSzPts val="2300"/>
              <a:buFont typeface="Libre Franklin"/>
              <a:buNone/>
            </a:pPr>
            <a:r>
              <a:rPr b="1" lang="en-US" sz="2300">
                <a:solidFill>
                  <a:srgbClr val="D9B48F"/>
                </a:solidFill>
                <a:latin typeface="Calibri"/>
                <a:ea typeface="Calibri"/>
                <a:cs typeface="Calibri"/>
                <a:sym typeface="Calibri"/>
              </a:rPr>
              <a:t>EDUCATIONAL MODEL</a:t>
            </a:r>
            <a:endParaRPr>
              <a:solidFill>
                <a:srgbClr val="D9B48F"/>
              </a:solidFill>
              <a:latin typeface="Calibri"/>
              <a:ea typeface="Calibri"/>
              <a:cs typeface="Calibri"/>
              <a:sym typeface="Calibri"/>
            </a:endParaRPr>
          </a:p>
        </p:txBody>
      </p:sp>
      <p:pic>
        <p:nvPicPr>
          <p:cNvPr id="290" name="Google Shape;290;p29"/>
          <p:cNvPicPr preferRelativeResize="0"/>
          <p:nvPr/>
        </p:nvPicPr>
        <p:blipFill rotWithShape="1">
          <a:blip r:embed="rId5">
            <a:alphaModFix/>
          </a:blip>
          <a:srcRect b="0" l="0" r="0" t="0"/>
          <a:stretch/>
        </p:blipFill>
        <p:spPr>
          <a:xfrm>
            <a:off x="5470982" y="1299772"/>
            <a:ext cx="3539668" cy="3592587"/>
          </a:xfrm>
          <a:prstGeom prst="rect">
            <a:avLst/>
          </a:prstGeom>
          <a:noFill/>
          <a:ln>
            <a:noFill/>
          </a:ln>
        </p:spPr>
      </p:pic>
      <p:sp>
        <p:nvSpPr>
          <p:cNvPr id="291" name="Google Shape;291;p29"/>
          <p:cNvSpPr txBox="1"/>
          <p:nvPr/>
        </p:nvSpPr>
        <p:spPr>
          <a:xfrm>
            <a:off x="3596163" y="244875"/>
            <a:ext cx="34761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rgbClr val="FFFFFF"/>
                </a:solidFill>
                <a:latin typeface="Calibri"/>
                <a:ea typeface="Calibri"/>
                <a:cs typeface="Calibri"/>
                <a:sym typeface="Calibri"/>
              </a:rPr>
              <a:t>Putting Policy Into Practice</a:t>
            </a:r>
            <a:endParaRPr b="1" sz="1900">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p30"/>
          <p:cNvSpPr/>
          <p:nvPr/>
        </p:nvSpPr>
        <p:spPr>
          <a:xfrm>
            <a:off x="0" y="0"/>
            <a:ext cx="9144000" cy="640200"/>
          </a:xfrm>
          <a:prstGeom prst="rect">
            <a:avLst/>
          </a:prstGeom>
          <a:solidFill>
            <a:srgbClr val="003B5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30"/>
          <p:cNvSpPr/>
          <p:nvPr/>
        </p:nvSpPr>
        <p:spPr>
          <a:xfrm>
            <a:off x="457200" y="0"/>
            <a:ext cx="8229600" cy="64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1" lang="en-US" sz="1900">
                <a:solidFill>
                  <a:srgbClr val="FFFFFF"/>
                </a:solidFill>
                <a:latin typeface="Calibri"/>
                <a:ea typeface="Calibri"/>
                <a:cs typeface="Calibri"/>
                <a:sym typeface="Calibri"/>
              </a:rPr>
              <a:t>Designing Flexible and Accessible Pathways</a:t>
            </a:r>
            <a:endParaRPr b="1" i="0" sz="1900" u="none" cap="none" strike="noStrike">
              <a:solidFill>
                <a:srgbClr val="FFFFFF"/>
              </a:solidFill>
              <a:latin typeface="Calibri"/>
              <a:ea typeface="Calibri"/>
              <a:cs typeface="Calibri"/>
              <a:sym typeface="Calibri"/>
            </a:endParaRPr>
          </a:p>
        </p:txBody>
      </p:sp>
      <p:grpSp>
        <p:nvGrpSpPr>
          <p:cNvPr id="299" name="Google Shape;299;p30"/>
          <p:cNvGrpSpPr/>
          <p:nvPr/>
        </p:nvGrpSpPr>
        <p:grpSpPr>
          <a:xfrm>
            <a:off x="457200" y="1476375"/>
            <a:ext cx="4191000" cy="3095700"/>
            <a:chOff x="0" y="0"/>
            <a:chExt cx="4191000" cy="3095700"/>
          </a:xfrm>
        </p:grpSpPr>
        <p:sp>
          <p:nvSpPr>
            <p:cNvPr id="300" name="Google Shape;300;p30"/>
            <p:cNvSpPr/>
            <p:nvPr/>
          </p:nvSpPr>
          <p:spPr>
            <a:xfrm>
              <a:off x="0" y="0"/>
              <a:ext cx="4191000" cy="3095700"/>
            </a:xfrm>
            <a:prstGeom prst="roundRect">
              <a:avLst>
                <a:gd fmla="val 369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30"/>
            <p:cNvSpPr/>
            <p:nvPr/>
          </p:nvSpPr>
          <p:spPr>
            <a:xfrm>
              <a:off x="0" y="0"/>
              <a:ext cx="57300" cy="3095700"/>
            </a:xfrm>
            <a:prstGeom prst="roundRect">
              <a:avLst>
                <a:gd fmla="val 50000" name="adj"/>
              </a:avLst>
            </a:prstGeom>
            <a:solidFill>
              <a:srgbClr val="8B261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30"/>
            <p:cNvSpPr txBox="1"/>
            <p:nvPr/>
          </p:nvSpPr>
          <p:spPr>
            <a:xfrm>
              <a:off x="228600" y="190500"/>
              <a:ext cx="3733800" cy="271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700">
                  <a:solidFill>
                    <a:srgbClr val="8B2611"/>
                  </a:solidFill>
                  <a:latin typeface="Calibri"/>
                  <a:ea typeface="Calibri"/>
                  <a:cs typeface="Calibri"/>
                  <a:sym typeface="Calibri"/>
                </a:rPr>
                <a:t>The Core Belief</a:t>
              </a:r>
              <a:endParaRPr sz="1700">
                <a:solidFill>
                  <a:srgbClr val="8B2611"/>
                </a:solidFill>
                <a:latin typeface="Calibri"/>
                <a:ea typeface="Calibri"/>
                <a:cs typeface="Calibri"/>
                <a:sym typeface="Calibri"/>
              </a:endParaRPr>
            </a:p>
            <a:p>
              <a:pPr indent="0" lvl="0" marL="0" rtl="0" algn="l">
                <a:spcBef>
                  <a:spcPts val="450"/>
                </a:spcBef>
                <a:spcAft>
                  <a:spcPts val="0"/>
                </a:spcAft>
                <a:buNone/>
              </a:pPr>
              <a:r>
                <a:rPr lang="en-US" sz="1550">
                  <a:solidFill>
                    <a:srgbClr val="475569"/>
                  </a:solidFill>
                  <a:latin typeface="Calibri"/>
                  <a:ea typeface="Calibri"/>
                  <a:cs typeface="Calibri"/>
                  <a:sym typeface="Calibri"/>
                </a:rPr>
                <a:t>No one should be locked into an unrewarding or unfulfilling career. Everyone deserves access to </a:t>
              </a:r>
              <a:r>
                <a:rPr b="1" lang="en-US" sz="1550">
                  <a:solidFill>
                    <a:srgbClr val="003B5C"/>
                  </a:solidFill>
                  <a:latin typeface="Calibri"/>
                  <a:ea typeface="Calibri"/>
                  <a:cs typeface="Calibri"/>
                  <a:sym typeface="Calibri"/>
                </a:rPr>
                <a:t>extended career pathways</a:t>
              </a:r>
              <a:r>
                <a:rPr lang="en-US" sz="1550">
                  <a:solidFill>
                    <a:srgbClr val="475569"/>
                  </a:solidFill>
                  <a:latin typeface="Calibri"/>
                  <a:ea typeface="Calibri"/>
                  <a:cs typeface="Calibri"/>
                  <a:sym typeface="Calibri"/>
                </a:rPr>
                <a:t>.</a:t>
              </a:r>
              <a:endParaRPr sz="1550">
                <a:solidFill>
                  <a:srgbClr val="475569"/>
                </a:solidFill>
                <a:latin typeface="Calibri"/>
                <a:ea typeface="Calibri"/>
                <a:cs typeface="Calibri"/>
                <a:sym typeface="Calibri"/>
              </a:endParaRPr>
            </a:p>
            <a:p>
              <a:pPr indent="0" lvl="0" marL="0" rtl="0" algn="l">
                <a:spcBef>
                  <a:spcPts val="900"/>
                </a:spcBef>
                <a:spcAft>
                  <a:spcPts val="0"/>
                </a:spcAft>
                <a:buNone/>
              </a:pPr>
              <a:r>
                <a:rPr lang="en-US" sz="1700">
                  <a:solidFill>
                    <a:srgbClr val="8B2611"/>
                  </a:solidFill>
                  <a:latin typeface="Calibri"/>
                  <a:ea typeface="Calibri"/>
                  <a:cs typeface="Calibri"/>
                  <a:sym typeface="Calibri"/>
                </a:rPr>
                <a:t>The Broad Impact</a:t>
              </a:r>
              <a:endParaRPr sz="1700">
                <a:solidFill>
                  <a:srgbClr val="8B2611"/>
                </a:solidFill>
                <a:latin typeface="Calibri"/>
                <a:ea typeface="Calibri"/>
                <a:cs typeface="Calibri"/>
                <a:sym typeface="Calibri"/>
              </a:endParaRPr>
            </a:p>
            <a:p>
              <a:pPr indent="0" lvl="0" marL="0" rtl="0" algn="l">
                <a:spcBef>
                  <a:spcPts val="450"/>
                </a:spcBef>
                <a:spcAft>
                  <a:spcPts val="0"/>
                </a:spcAft>
                <a:buNone/>
              </a:pPr>
              <a:r>
                <a:rPr lang="en-US" sz="1550">
                  <a:solidFill>
                    <a:srgbClr val="475569"/>
                  </a:solidFill>
                  <a:latin typeface="Calibri"/>
                  <a:ea typeface="Calibri"/>
                  <a:cs typeface="Calibri"/>
                  <a:sym typeface="Calibri"/>
                </a:rPr>
                <a:t>When those pathways are present, they don’t just lead to individual success for adult learners. They meet critical talent needs, drive </a:t>
              </a:r>
              <a:r>
                <a:rPr b="1" lang="en-US" sz="1550">
                  <a:solidFill>
                    <a:srgbClr val="003B5C"/>
                  </a:solidFill>
                  <a:latin typeface="Calibri"/>
                  <a:ea typeface="Calibri"/>
                  <a:cs typeface="Calibri"/>
                  <a:sym typeface="Calibri"/>
                </a:rPr>
                <a:t>economic mobility</a:t>
              </a:r>
              <a:r>
                <a:rPr lang="en-US" sz="1550">
                  <a:solidFill>
                    <a:srgbClr val="475569"/>
                  </a:solidFill>
                  <a:latin typeface="Calibri"/>
                  <a:ea typeface="Calibri"/>
                  <a:cs typeface="Calibri"/>
                  <a:sym typeface="Calibri"/>
                </a:rPr>
                <a:t>, and fuel community prosperity.</a:t>
              </a:r>
              <a:endParaRPr sz="1550">
                <a:solidFill>
                  <a:srgbClr val="475569"/>
                </a:solidFill>
                <a:latin typeface="Calibri"/>
                <a:ea typeface="Calibri"/>
                <a:cs typeface="Calibri"/>
                <a:sym typeface="Calibri"/>
              </a:endParaRPr>
            </a:p>
          </p:txBody>
        </p:sp>
      </p:grpSp>
      <p:grpSp>
        <p:nvGrpSpPr>
          <p:cNvPr id="303" name="Google Shape;303;p30"/>
          <p:cNvGrpSpPr/>
          <p:nvPr/>
        </p:nvGrpSpPr>
        <p:grpSpPr>
          <a:xfrm>
            <a:off x="5029200" y="1095375"/>
            <a:ext cx="3705375" cy="3524175"/>
            <a:chOff x="0" y="0"/>
            <a:chExt cx="3705375" cy="3524175"/>
          </a:xfrm>
        </p:grpSpPr>
        <p:pic>
          <p:nvPicPr>
            <p:cNvPr id="304" name="Google Shape;304;p30"/>
            <p:cNvPicPr preferRelativeResize="0"/>
            <p:nvPr/>
          </p:nvPicPr>
          <p:blipFill rotWithShape="1">
            <a:blip r:embed="rId4">
              <a:alphaModFix/>
            </a:blip>
            <a:srcRect b="0" l="0" r="0" t="0"/>
            <a:stretch/>
          </p:blipFill>
          <p:spPr>
            <a:xfrm>
              <a:off x="28575" y="28575"/>
              <a:ext cx="3676800" cy="3495600"/>
            </a:xfrm>
            <a:prstGeom prst="rect">
              <a:avLst/>
            </a:prstGeom>
            <a:noFill/>
            <a:ln>
              <a:noFill/>
            </a:ln>
          </p:spPr>
        </p:pic>
        <p:pic>
          <p:nvPicPr>
            <p:cNvPr id="305" name="Google Shape;305;p30"/>
            <p:cNvPicPr preferRelativeResize="0"/>
            <p:nvPr/>
          </p:nvPicPr>
          <p:blipFill rotWithShape="1">
            <a:blip r:embed="rId5">
              <a:alphaModFix/>
            </a:blip>
            <a:srcRect b="2481" l="0" r="0" t="2471"/>
            <a:stretch/>
          </p:blipFill>
          <p:spPr>
            <a:xfrm>
              <a:off x="0" y="0"/>
              <a:ext cx="3657600" cy="3476700"/>
            </a:xfrm>
            <a:prstGeom prst="roundRect">
              <a:avLst>
                <a:gd fmla="val 4383" name="adj"/>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p:nvPr/>
        </p:nvSpPr>
        <p:spPr>
          <a:xfrm>
            <a:off x="-12" y="0"/>
            <a:ext cx="9144000" cy="5143500"/>
          </a:xfrm>
          <a:prstGeom prst="rect">
            <a:avLst/>
          </a:prstGeom>
          <a:solidFill>
            <a:srgbClr val="F8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31"/>
          <p:cNvSpPr/>
          <p:nvPr/>
        </p:nvSpPr>
        <p:spPr>
          <a:xfrm>
            <a:off x="0" y="0"/>
            <a:ext cx="9144000" cy="647700"/>
          </a:xfrm>
          <a:prstGeom prst="rect">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31"/>
          <p:cNvSpPr txBox="1"/>
          <p:nvPr/>
        </p:nvSpPr>
        <p:spPr>
          <a:xfrm>
            <a:off x="457200" y="0"/>
            <a:ext cx="82296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FFFFFF"/>
                </a:solidFill>
                <a:latin typeface="Calibri"/>
                <a:ea typeface="Calibri"/>
                <a:cs typeface="Calibri"/>
                <a:sym typeface="Calibri"/>
              </a:rPr>
              <a:t>College or Trade School? Saying ‘Yes’ to Both</a:t>
            </a:r>
            <a:endParaRPr b="1" sz="2000">
              <a:solidFill>
                <a:srgbClr val="FFFFFF"/>
              </a:solidFill>
              <a:latin typeface="Calibri"/>
              <a:ea typeface="Calibri"/>
              <a:cs typeface="Calibri"/>
              <a:sym typeface="Calibri"/>
            </a:endParaRPr>
          </a:p>
        </p:txBody>
      </p:sp>
      <p:sp>
        <p:nvSpPr>
          <p:cNvPr id="317" name="Google Shape;317;p31"/>
          <p:cNvSpPr txBox="1"/>
          <p:nvPr/>
        </p:nvSpPr>
        <p:spPr>
          <a:xfrm>
            <a:off x="457200" y="809625"/>
            <a:ext cx="82296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3B5C"/>
                </a:solidFill>
                <a:latin typeface="Calibri"/>
                <a:ea typeface="Calibri"/>
                <a:cs typeface="Calibri"/>
                <a:sym typeface="Calibri"/>
              </a:rPr>
              <a:t>A Seamless, Dual-Outcome Educational Model</a:t>
            </a:r>
            <a:endParaRPr b="1" sz="1800">
              <a:solidFill>
                <a:srgbClr val="003B5C"/>
              </a:solidFill>
              <a:latin typeface="Calibri"/>
              <a:ea typeface="Calibri"/>
              <a:cs typeface="Calibri"/>
              <a:sym typeface="Calibri"/>
            </a:endParaRPr>
          </a:p>
        </p:txBody>
      </p:sp>
      <p:grpSp>
        <p:nvGrpSpPr>
          <p:cNvPr id="318" name="Google Shape;318;p31"/>
          <p:cNvGrpSpPr/>
          <p:nvPr/>
        </p:nvGrpSpPr>
        <p:grpSpPr>
          <a:xfrm>
            <a:off x="685800" y="1571625"/>
            <a:ext cx="3791100" cy="2149602"/>
            <a:chOff x="228600" y="190500"/>
            <a:chExt cx="3791100" cy="2149602"/>
          </a:xfrm>
        </p:grpSpPr>
        <p:grpSp>
          <p:nvGrpSpPr>
            <p:cNvPr id="319" name="Google Shape;319;p31"/>
            <p:cNvGrpSpPr/>
            <p:nvPr/>
          </p:nvGrpSpPr>
          <p:grpSpPr>
            <a:xfrm>
              <a:off x="228600" y="190500"/>
              <a:ext cx="3791100" cy="377952"/>
              <a:chOff x="0" y="0"/>
              <a:chExt cx="3791100" cy="377952"/>
            </a:xfrm>
          </p:grpSpPr>
          <p:sp>
            <p:nvSpPr>
              <p:cNvPr id="320" name="Google Shape;320;p31"/>
              <p:cNvSpPr txBox="1"/>
              <p:nvPr/>
            </p:nvSpPr>
            <p:spPr>
              <a:xfrm>
                <a:off x="0" y="35052"/>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8B2611"/>
                    </a:solidFill>
                    <a:latin typeface="Material Icons"/>
                    <a:ea typeface="Material Icons"/>
                    <a:cs typeface="Material Icons"/>
                    <a:sym typeface="Material Icons"/>
                  </a:rPr>
                  <a:t>school</a:t>
                </a:r>
                <a:endParaRPr sz="2400">
                  <a:solidFill>
                    <a:srgbClr val="8B2611"/>
                  </a:solidFill>
                  <a:latin typeface="Material Icons"/>
                  <a:ea typeface="Material Icons"/>
                  <a:cs typeface="Material Icons"/>
                  <a:sym typeface="Material Icons"/>
                </a:endParaRPr>
              </a:p>
            </p:txBody>
          </p:sp>
          <p:sp>
            <p:nvSpPr>
              <p:cNvPr id="321" name="Google Shape;321;p31"/>
              <p:cNvSpPr txBox="1"/>
              <p:nvPr/>
            </p:nvSpPr>
            <p:spPr>
              <a:xfrm>
                <a:off x="457200" y="0"/>
                <a:ext cx="33339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3B5C"/>
                    </a:solidFill>
                    <a:latin typeface="Calibri"/>
                    <a:ea typeface="Calibri"/>
                    <a:cs typeface="Calibri"/>
                    <a:sym typeface="Calibri"/>
                  </a:rPr>
                  <a:t>100% Completion Rate</a:t>
                </a:r>
                <a:endParaRPr b="1" sz="1300">
                  <a:solidFill>
                    <a:srgbClr val="003B5C"/>
                  </a:solidFill>
                  <a:latin typeface="Calibri"/>
                  <a:ea typeface="Calibri"/>
                  <a:cs typeface="Calibri"/>
                  <a:sym typeface="Calibri"/>
                </a:endParaRPr>
              </a:p>
            </p:txBody>
          </p:sp>
        </p:grpSp>
        <p:grpSp>
          <p:nvGrpSpPr>
            <p:cNvPr id="322" name="Google Shape;322;p31"/>
            <p:cNvGrpSpPr/>
            <p:nvPr/>
          </p:nvGrpSpPr>
          <p:grpSpPr>
            <a:xfrm>
              <a:off x="228600" y="781050"/>
              <a:ext cx="3791100" cy="377952"/>
              <a:chOff x="0" y="0"/>
              <a:chExt cx="3791100" cy="377952"/>
            </a:xfrm>
          </p:grpSpPr>
          <p:sp>
            <p:nvSpPr>
              <p:cNvPr id="323" name="Google Shape;323;p31"/>
              <p:cNvSpPr txBox="1"/>
              <p:nvPr/>
            </p:nvSpPr>
            <p:spPr>
              <a:xfrm>
                <a:off x="0" y="35052"/>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8B2611"/>
                    </a:solidFill>
                    <a:latin typeface="Material Icons"/>
                    <a:ea typeface="Material Icons"/>
                    <a:cs typeface="Material Icons"/>
                    <a:sym typeface="Material Icons"/>
                  </a:rPr>
                  <a:t>monetization_on</a:t>
                </a:r>
                <a:endParaRPr sz="2400">
                  <a:solidFill>
                    <a:srgbClr val="8B2611"/>
                  </a:solidFill>
                  <a:latin typeface="Material Icons"/>
                  <a:ea typeface="Material Icons"/>
                  <a:cs typeface="Material Icons"/>
                  <a:sym typeface="Material Icons"/>
                </a:endParaRPr>
              </a:p>
            </p:txBody>
          </p:sp>
          <p:sp>
            <p:nvSpPr>
              <p:cNvPr id="324" name="Google Shape;324;p31"/>
              <p:cNvSpPr txBox="1"/>
              <p:nvPr/>
            </p:nvSpPr>
            <p:spPr>
              <a:xfrm>
                <a:off x="457200" y="0"/>
                <a:ext cx="33339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3B5C"/>
                    </a:solidFill>
                    <a:latin typeface="Calibri"/>
                    <a:ea typeface="Calibri"/>
                    <a:cs typeface="Calibri"/>
                    <a:sym typeface="Calibri"/>
                  </a:rPr>
                  <a:t>Zero Extra Cost or Seat Time</a:t>
                </a:r>
                <a:endParaRPr b="1" sz="1300">
                  <a:solidFill>
                    <a:srgbClr val="003B5C"/>
                  </a:solidFill>
                  <a:latin typeface="Calibri"/>
                  <a:ea typeface="Calibri"/>
                  <a:cs typeface="Calibri"/>
                  <a:sym typeface="Calibri"/>
                </a:endParaRPr>
              </a:p>
            </p:txBody>
          </p:sp>
        </p:grpSp>
        <p:grpSp>
          <p:nvGrpSpPr>
            <p:cNvPr id="325" name="Google Shape;325;p31"/>
            <p:cNvGrpSpPr/>
            <p:nvPr/>
          </p:nvGrpSpPr>
          <p:grpSpPr>
            <a:xfrm>
              <a:off x="228600" y="1371600"/>
              <a:ext cx="3791100" cy="377952"/>
              <a:chOff x="0" y="0"/>
              <a:chExt cx="3791100" cy="377952"/>
            </a:xfrm>
          </p:grpSpPr>
          <p:sp>
            <p:nvSpPr>
              <p:cNvPr id="326" name="Google Shape;326;p31"/>
              <p:cNvSpPr txBox="1"/>
              <p:nvPr/>
            </p:nvSpPr>
            <p:spPr>
              <a:xfrm>
                <a:off x="0" y="35052"/>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8B2611"/>
                    </a:solidFill>
                    <a:latin typeface="Material Icons"/>
                    <a:ea typeface="Material Icons"/>
                    <a:cs typeface="Material Icons"/>
                    <a:sym typeface="Material Icons"/>
                  </a:rPr>
                  <a:t>volunteer_activism</a:t>
                </a:r>
                <a:endParaRPr sz="2400">
                  <a:solidFill>
                    <a:srgbClr val="8B2611"/>
                  </a:solidFill>
                  <a:latin typeface="Material Icons"/>
                  <a:ea typeface="Material Icons"/>
                  <a:cs typeface="Material Icons"/>
                  <a:sym typeface="Material Icons"/>
                </a:endParaRPr>
              </a:p>
            </p:txBody>
          </p:sp>
          <p:sp>
            <p:nvSpPr>
              <p:cNvPr id="327" name="Google Shape;327;p31"/>
              <p:cNvSpPr txBox="1"/>
              <p:nvPr/>
            </p:nvSpPr>
            <p:spPr>
              <a:xfrm>
                <a:off x="457200" y="0"/>
                <a:ext cx="33339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3B5C"/>
                    </a:solidFill>
                    <a:latin typeface="Calibri"/>
                    <a:ea typeface="Calibri"/>
                    <a:cs typeface="Calibri"/>
                    <a:sym typeface="Calibri"/>
                  </a:rPr>
                  <a:t>Holistic Wraparound Support</a:t>
                </a:r>
                <a:endParaRPr b="1" sz="1300">
                  <a:solidFill>
                    <a:srgbClr val="003B5C"/>
                  </a:solidFill>
                  <a:latin typeface="Calibri"/>
                  <a:ea typeface="Calibri"/>
                  <a:cs typeface="Calibri"/>
                  <a:sym typeface="Calibri"/>
                </a:endParaRPr>
              </a:p>
            </p:txBody>
          </p:sp>
        </p:grpSp>
        <p:grpSp>
          <p:nvGrpSpPr>
            <p:cNvPr id="328" name="Google Shape;328;p31"/>
            <p:cNvGrpSpPr/>
            <p:nvPr/>
          </p:nvGrpSpPr>
          <p:grpSpPr>
            <a:xfrm>
              <a:off x="228600" y="1962150"/>
              <a:ext cx="3791100" cy="377952"/>
              <a:chOff x="0" y="0"/>
              <a:chExt cx="3791100" cy="377952"/>
            </a:xfrm>
          </p:grpSpPr>
          <p:sp>
            <p:nvSpPr>
              <p:cNvPr id="329" name="Google Shape;329;p31"/>
              <p:cNvSpPr txBox="1"/>
              <p:nvPr/>
            </p:nvSpPr>
            <p:spPr>
              <a:xfrm>
                <a:off x="0" y="35052"/>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8B2611"/>
                    </a:solidFill>
                    <a:latin typeface="Material Icons"/>
                    <a:ea typeface="Material Icons"/>
                    <a:cs typeface="Material Icons"/>
                    <a:sym typeface="Material Icons"/>
                  </a:rPr>
                  <a:t>workspace_premium</a:t>
                </a:r>
                <a:endParaRPr sz="2400">
                  <a:solidFill>
                    <a:srgbClr val="8B2611"/>
                  </a:solidFill>
                  <a:latin typeface="Material Icons"/>
                  <a:ea typeface="Material Icons"/>
                  <a:cs typeface="Material Icons"/>
                  <a:sym typeface="Material Icons"/>
                </a:endParaRPr>
              </a:p>
            </p:txBody>
          </p:sp>
          <p:sp>
            <p:nvSpPr>
              <p:cNvPr id="330" name="Google Shape;330;p31"/>
              <p:cNvSpPr txBox="1"/>
              <p:nvPr/>
            </p:nvSpPr>
            <p:spPr>
              <a:xfrm>
                <a:off x="457200" y="0"/>
                <a:ext cx="33339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3B5C"/>
                    </a:solidFill>
                    <a:latin typeface="Calibri"/>
                    <a:ea typeface="Calibri"/>
                    <a:cs typeface="Calibri"/>
                    <a:sym typeface="Calibri"/>
                  </a:rPr>
                  <a:t>Apprenticeships as Education Benefits</a:t>
                </a:r>
                <a:endParaRPr b="1" sz="1300">
                  <a:solidFill>
                    <a:srgbClr val="003B5C"/>
                  </a:solidFill>
                  <a:latin typeface="Calibri"/>
                  <a:ea typeface="Calibri"/>
                  <a:cs typeface="Calibri"/>
                  <a:sym typeface="Calibri"/>
                </a:endParaRPr>
              </a:p>
            </p:txBody>
          </p:sp>
        </p:grpSp>
      </p:grpSp>
      <p:sp>
        <p:nvSpPr>
          <p:cNvPr id="331" name="Google Shape;331;p31"/>
          <p:cNvSpPr/>
          <p:nvPr/>
        </p:nvSpPr>
        <p:spPr>
          <a:xfrm>
            <a:off x="457200" y="1312925"/>
            <a:ext cx="57300" cy="2667000"/>
          </a:xfrm>
          <a:prstGeom prst="roundRect">
            <a:avLst>
              <a:gd fmla="val 49999" name="adj"/>
            </a:avLst>
          </a:prstGeom>
          <a:solidFill>
            <a:srgbClr val="8B261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32" name="Google Shape;332;p31"/>
          <p:cNvPicPr preferRelativeResize="0"/>
          <p:nvPr/>
        </p:nvPicPr>
        <p:blipFill rotWithShape="1">
          <a:blip r:embed="rId3">
            <a:alphaModFix/>
          </a:blip>
          <a:srcRect b="0" l="0" r="0" t="0"/>
          <a:stretch/>
        </p:blipFill>
        <p:spPr>
          <a:xfrm>
            <a:off x="746107" y="4280724"/>
            <a:ext cx="1671871" cy="600159"/>
          </a:xfrm>
          <a:prstGeom prst="rect">
            <a:avLst/>
          </a:prstGeom>
          <a:noFill/>
          <a:ln>
            <a:noFill/>
          </a:ln>
        </p:spPr>
      </p:pic>
      <p:pic>
        <p:nvPicPr>
          <p:cNvPr id="333" name="Google Shape;333;p31"/>
          <p:cNvPicPr preferRelativeResize="0"/>
          <p:nvPr/>
        </p:nvPicPr>
        <p:blipFill rotWithShape="1">
          <a:blip r:embed="rId4">
            <a:alphaModFix/>
          </a:blip>
          <a:srcRect b="0" l="0" r="0" t="0"/>
          <a:stretch/>
        </p:blipFill>
        <p:spPr>
          <a:xfrm>
            <a:off x="3313416" y="4048124"/>
            <a:ext cx="2691896" cy="1065359"/>
          </a:xfrm>
          <a:prstGeom prst="rect">
            <a:avLst/>
          </a:prstGeom>
          <a:noFill/>
          <a:ln>
            <a:noFill/>
          </a:ln>
        </p:spPr>
      </p:pic>
      <p:pic>
        <p:nvPicPr>
          <p:cNvPr descr="A red letters on a black background&#10;&#10;Description automatically generated" id="334" name="Google Shape;334;p31"/>
          <p:cNvPicPr preferRelativeResize="0"/>
          <p:nvPr/>
        </p:nvPicPr>
        <p:blipFill rotWithShape="1">
          <a:blip r:embed="rId5">
            <a:alphaModFix/>
          </a:blip>
          <a:srcRect b="0" l="0" r="0" t="0"/>
          <a:stretch/>
        </p:blipFill>
        <p:spPr>
          <a:xfrm>
            <a:off x="6900748" y="4280724"/>
            <a:ext cx="1618663" cy="510056"/>
          </a:xfrm>
          <a:prstGeom prst="rect">
            <a:avLst/>
          </a:prstGeom>
          <a:noFill/>
          <a:ln>
            <a:noFill/>
          </a:ln>
        </p:spPr>
      </p:pic>
      <p:pic>
        <p:nvPicPr>
          <p:cNvPr id="335" name="Google Shape;335;p31"/>
          <p:cNvPicPr preferRelativeResize="0"/>
          <p:nvPr/>
        </p:nvPicPr>
        <p:blipFill>
          <a:blip r:embed="rId6">
            <a:alphaModFix/>
          </a:blip>
          <a:stretch>
            <a:fillRect/>
          </a:stretch>
        </p:blipFill>
        <p:spPr>
          <a:xfrm>
            <a:off x="5155899" y="1312925"/>
            <a:ext cx="3318426" cy="2488827"/>
          </a:xfrm>
          <a:prstGeom prst="rect">
            <a:avLst/>
          </a:prstGeom>
          <a:solidFill>
            <a:srgbClr val="000000">
              <a:alpha val="0"/>
            </a:srgbClr>
          </a:solidFill>
          <a:ln cap="flat" cmpd="sng" w="14300">
            <a:solidFill>
              <a:srgbClr val="E2E8F0"/>
            </a:solidFill>
            <a:prstDash val="solid"/>
            <a:round/>
            <a:headEnd len="sm" w="sm" type="none"/>
            <a:tailEnd len="sm" w="sm" type="none"/>
          </a:ln>
          <a:effectLst>
            <a:outerShdw blurRad="285750" rotWithShape="0" algn="bl" dir="1200000" dist="152400">
              <a:srgbClr val="000000">
                <a:alpha val="50000"/>
              </a:srgbClr>
            </a:outerShdw>
            <a:reflection blurRad="0" dir="5400000" dist="38100" endA="0" endPos="30000" fadeDir="5400012" kx="0" rotWithShape="0" algn="bl" stA="0" stPos="0" sy="-100000" ky="0"/>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2"/>
          <p:cNvSpPr/>
          <p:nvPr/>
        </p:nvSpPr>
        <p:spPr>
          <a:xfrm>
            <a:off x="0" y="0"/>
            <a:ext cx="9144000" cy="647700"/>
          </a:xfrm>
          <a:prstGeom prst="rect">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32"/>
          <p:cNvSpPr txBox="1"/>
          <p:nvPr/>
        </p:nvSpPr>
        <p:spPr>
          <a:xfrm>
            <a:off x="457200" y="0"/>
            <a:ext cx="82296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FFFFFF"/>
                </a:solidFill>
                <a:latin typeface="Calibri"/>
                <a:ea typeface="Calibri"/>
                <a:cs typeface="Calibri"/>
                <a:sym typeface="Calibri"/>
              </a:rPr>
              <a:t>A Brighter Future Built on Learner/Earner Choice</a:t>
            </a:r>
            <a:endParaRPr b="1" sz="2000">
              <a:solidFill>
                <a:srgbClr val="FFFFFF"/>
              </a:solidFill>
              <a:latin typeface="Calibri"/>
              <a:ea typeface="Calibri"/>
              <a:cs typeface="Calibri"/>
              <a:sym typeface="Calibri"/>
            </a:endParaRPr>
          </a:p>
        </p:txBody>
      </p:sp>
      <p:grpSp>
        <p:nvGrpSpPr>
          <p:cNvPr id="346" name="Google Shape;346;p32"/>
          <p:cNvGrpSpPr/>
          <p:nvPr/>
        </p:nvGrpSpPr>
        <p:grpSpPr>
          <a:xfrm>
            <a:off x="851199" y="1090420"/>
            <a:ext cx="6768900" cy="3288713"/>
            <a:chOff x="0" y="734227"/>
            <a:chExt cx="9025200" cy="4384950"/>
          </a:xfrm>
        </p:grpSpPr>
        <p:sp>
          <p:nvSpPr>
            <p:cNvPr id="347" name="Google Shape;347;p32"/>
            <p:cNvSpPr/>
            <p:nvPr/>
          </p:nvSpPr>
          <p:spPr>
            <a:xfrm>
              <a:off x="0" y="734227"/>
              <a:ext cx="9025200" cy="1314300"/>
            </a:xfrm>
            <a:prstGeom prst="rightArrow">
              <a:avLst>
                <a:gd fmla="val 50000" name="adj1"/>
                <a:gd fmla="val 50000" name="adj2"/>
              </a:avLst>
            </a:prstGeom>
            <a:gradFill>
              <a:gsLst>
                <a:gs pos="0">
                  <a:srgbClr val="300C0C"/>
                </a:gs>
                <a:gs pos="48000">
                  <a:srgbClr val="521315"/>
                </a:gs>
                <a:gs pos="100000">
                  <a:srgbClr val="CF3136"/>
                </a:gs>
              </a:gsLst>
              <a:lin ang="16200038" scaled="0"/>
            </a:gradFill>
            <a:ln cap="flat" cmpd="sng" w="25400">
              <a:solidFill>
                <a:schemeClr val="lt1"/>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
          <p:nvSpPr>
            <p:cNvPr id="348" name="Google Shape;348;p32"/>
            <p:cNvSpPr txBox="1"/>
            <p:nvPr/>
          </p:nvSpPr>
          <p:spPr>
            <a:xfrm>
              <a:off x="0" y="1062825"/>
              <a:ext cx="8696400" cy="657300"/>
            </a:xfrm>
            <a:prstGeom prst="rect">
              <a:avLst/>
            </a:prstGeom>
            <a:noFill/>
            <a:ln>
              <a:noFill/>
            </a:ln>
          </p:spPr>
          <p:txBody>
            <a:bodyPr anchorCtr="0" anchor="ctr" bIns="156475" lIns="65700" spcFirstLastPara="1" rIns="190500" wrap="square" tIns="65700">
              <a:noAutofit/>
            </a:bodyPr>
            <a:lstStyle/>
            <a:p>
              <a:pPr indent="0" lvl="0" marL="0" marR="0" rtl="0" algn="l">
                <a:lnSpc>
                  <a:spcPct val="90000"/>
                </a:lnSpc>
                <a:spcBef>
                  <a:spcPts val="0"/>
                </a:spcBef>
                <a:spcAft>
                  <a:spcPts val="0"/>
                </a:spcAft>
                <a:buNone/>
              </a:pPr>
              <a:r>
                <a:rPr b="0" i="0" lang="en-US" sz="1725" u="none" cap="none" strike="noStrike">
                  <a:solidFill>
                    <a:schemeClr val="lt1"/>
                  </a:solidFill>
                  <a:latin typeface="Arial"/>
                  <a:ea typeface="Arial"/>
                  <a:cs typeface="Arial"/>
                  <a:sym typeface="Arial"/>
                </a:rPr>
                <a:t>Apprenticeship Program</a:t>
              </a:r>
              <a:endParaRPr b="0" i="0" sz="1350" u="none" cap="none" strike="noStrike">
                <a:solidFill>
                  <a:schemeClr val="dk1"/>
                </a:solidFill>
                <a:latin typeface="Calibri"/>
                <a:ea typeface="Calibri"/>
                <a:cs typeface="Calibri"/>
                <a:sym typeface="Calibri"/>
              </a:endParaRPr>
            </a:p>
          </p:txBody>
        </p:sp>
        <p:sp>
          <p:nvSpPr>
            <p:cNvPr id="349" name="Google Shape;349;p32"/>
            <p:cNvSpPr/>
            <p:nvPr/>
          </p:nvSpPr>
          <p:spPr>
            <a:xfrm>
              <a:off x="0" y="1747815"/>
              <a:ext cx="2779800" cy="25320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
          <p:nvSpPr>
            <p:cNvPr id="350" name="Google Shape;350;p32"/>
            <p:cNvSpPr txBox="1"/>
            <p:nvPr/>
          </p:nvSpPr>
          <p:spPr>
            <a:xfrm>
              <a:off x="0" y="1747815"/>
              <a:ext cx="2779800" cy="2532000"/>
            </a:xfrm>
            <a:prstGeom prst="rect">
              <a:avLst/>
            </a:prstGeom>
            <a:noFill/>
            <a:ln>
              <a:noFill/>
            </a:ln>
          </p:spPr>
          <p:txBody>
            <a:bodyPr anchorCtr="0" anchor="t" bIns="62850" lIns="62850" spcFirstLastPara="1" rIns="62850" wrap="square" tIns="62850">
              <a:noAutofit/>
            </a:bodyPr>
            <a:lstStyle/>
            <a:p>
              <a:pPr indent="0" lvl="0" marL="0" marR="0" rtl="0" algn="l">
                <a:lnSpc>
                  <a:spcPct val="90000"/>
                </a:lnSpc>
                <a:spcBef>
                  <a:spcPts val="0"/>
                </a:spcBef>
                <a:spcAft>
                  <a:spcPts val="0"/>
                </a:spcAft>
                <a:buNone/>
              </a:pPr>
              <a:r>
                <a:rPr i="0" lang="en-US" sz="1650" u="none" cap="none" strike="noStrike">
                  <a:solidFill>
                    <a:schemeClr val="dk1"/>
                  </a:solidFill>
                  <a:latin typeface="Calibri"/>
                  <a:ea typeface="Calibri"/>
                  <a:cs typeface="Calibri"/>
                  <a:sym typeface="Calibri"/>
                </a:rPr>
                <a:t>Minimum 6000 Hours OJT</a:t>
              </a:r>
              <a:endParaRPr i="0" sz="1350" u="none" cap="none" strike="noStrike">
                <a:solidFill>
                  <a:schemeClr val="dk1"/>
                </a:solidFill>
                <a:latin typeface="Calibri"/>
                <a:ea typeface="Calibri"/>
                <a:cs typeface="Calibri"/>
                <a:sym typeface="Calibri"/>
              </a:endParaRPr>
            </a:p>
            <a:p>
              <a:pPr indent="0" lvl="0" marL="0" marR="0" rtl="0" algn="l">
                <a:lnSpc>
                  <a:spcPct val="90000"/>
                </a:lnSpc>
                <a:spcBef>
                  <a:spcPts val="578"/>
                </a:spcBef>
                <a:spcAft>
                  <a:spcPts val="0"/>
                </a:spcAft>
                <a:buNone/>
              </a:pPr>
              <a:r>
                <a:rPr i="0" lang="en-US" sz="1650" u="none" cap="none" strike="noStrike">
                  <a:solidFill>
                    <a:schemeClr val="dk1"/>
                  </a:solidFill>
                  <a:latin typeface="Calibri"/>
                  <a:ea typeface="Calibri"/>
                  <a:cs typeface="Calibri"/>
                  <a:sym typeface="Calibri"/>
                </a:rPr>
                <a:t>Minimum 450 Related Instruction</a:t>
              </a:r>
              <a:endParaRPr i="0" sz="1350" u="none" cap="none" strike="noStrike">
                <a:solidFill>
                  <a:schemeClr val="dk1"/>
                </a:solidFill>
                <a:latin typeface="Calibri"/>
                <a:ea typeface="Calibri"/>
                <a:cs typeface="Calibri"/>
                <a:sym typeface="Calibri"/>
              </a:endParaRPr>
            </a:p>
          </p:txBody>
        </p:sp>
        <p:sp>
          <p:nvSpPr>
            <p:cNvPr id="351" name="Google Shape;351;p32"/>
            <p:cNvSpPr/>
            <p:nvPr/>
          </p:nvSpPr>
          <p:spPr>
            <a:xfrm>
              <a:off x="2779720" y="1172359"/>
              <a:ext cx="6245400" cy="1314300"/>
            </a:xfrm>
            <a:prstGeom prst="rightArrow">
              <a:avLst>
                <a:gd fmla="val 50000" name="adj1"/>
                <a:gd fmla="val 50000" name="adj2"/>
              </a:avLst>
            </a:prstGeom>
            <a:gradFill>
              <a:gsLst>
                <a:gs pos="0">
                  <a:srgbClr val="300C0C"/>
                </a:gs>
                <a:gs pos="48000">
                  <a:srgbClr val="521315"/>
                </a:gs>
                <a:gs pos="100000">
                  <a:srgbClr val="CF3136"/>
                </a:gs>
              </a:gsLst>
              <a:lin ang="16200038" scaled="0"/>
            </a:gradFill>
            <a:ln cap="flat" cmpd="sng" w="25400">
              <a:solidFill>
                <a:schemeClr val="lt1"/>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
          <p:nvSpPr>
            <p:cNvPr id="352" name="Google Shape;352;p32"/>
            <p:cNvSpPr txBox="1"/>
            <p:nvPr/>
          </p:nvSpPr>
          <p:spPr>
            <a:xfrm>
              <a:off x="2779720" y="1500957"/>
              <a:ext cx="5916600" cy="657300"/>
            </a:xfrm>
            <a:prstGeom prst="rect">
              <a:avLst/>
            </a:prstGeom>
            <a:noFill/>
            <a:ln>
              <a:noFill/>
            </a:ln>
          </p:spPr>
          <p:txBody>
            <a:bodyPr anchorCtr="0" anchor="ctr" bIns="156475" lIns="65700" spcFirstLastPara="1" rIns="190500" wrap="square" tIns="65700">
              <a:noAutofit/>
            </a:bodyPr>
            <a:lstStyle/>
            <a:p>
              <a:pPr indent="0" lvl="0" marL="0" marR="0" rtl="0" algn="l">
                <a:lnSpc>
                  <a:spcPct val="90000"/>
                </a:lnSpc>
                <a:spcBef>
                  <a:spcPts val="0"/>
                </a:spcBef>
                <a:spcAft>
                  <a:spcPts val="0"/>
                </a:spcAft>
                <a:buNone/>
              </a:pPr>
              <a:r>
                <a:rPr b="0" i="0" lang="en-US" sz="1725" u="none" cap="none" strike="noStrike">
                  <a:solidFill>
                    <a:schemeClr val="lt1"/>
                  </a:solidFill>
                  <a:latin typeface="Arial"/>
                  <a:ea typeface="Arial"/>
                  <a:cs typeface="Arial"/>
                  <a:sym typeface="Arial"/>
                </a:rPr>
                <a:t>General Education Outcomes for Degree</a:t>
              </a:r>
              <a:endParaRPr b="0" i="0" sz="1350" u="none" cap="none" strike="noStrike">
                <a:solidFill>
                  <a:schemeClr val="dk1"/>
                </a:solidFill>
                <a:latin typeface="Calibri"/>
                <a:ea typeface="Calibri"/>
                <a:cs typeface="Calibri"/>
                <a:sym typeface="Calibri"/>
              </a:endParaRPr>
            </a:p>
          </p:txBody>
        </p:sp>
        <p:sp>
          <p:nvSpPr>
            <p:cNvPr id="353" name="Google Shape;353;p32"/>
            <p:cNvSpPr/>
            <p:nvPr/>
          </p:nvSpPr>
          <p:spPr>
            <a:xfrm>
              <a:off x="2779720" y="2185946"/>
              <a:ext cx="2779800" cy="25320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
          <p:nvSpPr>
            <p:cNvPr id="354" name="Google Shape;354;p32"/>
            <p:cNvSpPr txBox="1"/>
            <p:nvPr/>
          </p:nvSpPr>
          <p:spPr>
            <a:xfrm>
              <a:off x="2779720" y="2185946"/>
              <a:ext cx="2779800" cy="2532000"/>
            </a:xfrm>
            <a:prstGeom prst="rect">
              <a:avLst/>
            </a:prstGeom>
            <a:noFill/>
            <a:ln>
              <a:noFill/>
            </a:ln>
          </p:spPr>
          <p:txBody>
            <a:bodyPr anchorCtr="0" anchor="t" bIns="62850" lIns="62850" spcFirstLastPara="1" rIns="62850" wrap="square" tIns="62850">
              <a:noAutofit/>
            </a:bodyPr>
            <a:lstStyle/>
            <a:p>
              <a:pPr indent="0" lvl="0" marL="0" marR="0" rtl="0" algn="l">
                <a:lnSpc>
                  <a:spcPct val="90000"/>
                </a:lnSpc>
                <a:spcBef>
                  <a:spcPts val="0"/>
                </a:spcBef>
                <a:spcAft>
                  <a:spcPts val="0"/>
                </a:spcAft>
                <a:buNone/>
              </a:pPr>
              <a:r>
                <a:rPr lang="en-US" sz="1650">
                  <a:solidFill>
                    <a:schemeClr val="dk1"/>
                  </a:solidFill>
                  <a:latin typeface="Calibri"/>
                  <a:ea typeface="Calibri"/>
                  <a:cs typeface="Calibri"/>
                  <a:sym typeface="Calibri"/>
                </a:rPr>
                <a:t>E</a:t>
              </a:r>
              <a:r>
                <a:rPr i="0" lang="en-US" sz="1650" u="none" cap="none" strike="noStrike">
                  <a:solidFill>
                    <a:schemeClr val="dk1"/>
                  </a:solidFill>
                  <a:latin typeface="Calibri"/>
                  <a:ea typeface="Calibri"/>
                  <a:cs typeface="Calibri"/>
                  <a:sym typeface="Calibri"/>
                </a:rPr>
                <a:t>mbed all outcomes of GEN ED courses in Related Instruction</a:t>
              </a:r>
              <a:endParaRPr i="0" sz="1350" u="none" cap="none" strike="noStrike">
                <a:solidFill>
                  <a:schemeClr val="dk1"/>
                </a:solidFill>
                <a:latin typeface="Calibri"/>
                <a:ea typeface="Calibri"/>
                <a:cs typeface="Calibri"/>
                <a:sym typeface="Calibri"/>
              </a:endParaRPr>
            </a:p>
          </p:txBody>
        </p:sp>
        <p:sp>
          <p:nvSpPr>
            <p:cNvPr id="355" name="Google Shape;355;p32"/>
            <p:cNvSpPr/>
            <p:nvPr/>
          </p:nvSpPr>
          <p:spPr>
            <a:xfrm>
              <a:off x="5559441" y="1610490"/>
              <a:ext cx="3465600" cy="1314300"/>
            </a:xfrm>
            <a:prstGeom prst="rightArrow">
              <a:avLst>
                <a:gd fmla="val 50000" name="adj1"/>
                <a:gd fmla="val 50000" name="adj2"/>
              </a:avLst>
            </a:prstGeom>
            <a:gradFill>
              <a:gsLst>
                <a:gs pos="0">
                  <a:srgbClr val="300C0C"/>
                </a:gs>
                <a:gs pos="48000">
                  <a:srgbClr val="521315"/>
                </a:gs>
                <a:gs pos="100000">
                  <a:srgbClr val="CF3136"/>
                </a:gs>
              </a:gsLst>
              <a:lin ang="16200038" scaled="0"/>
            </a:gradFill>
            <a:ln cap="flat" cmpd="sng" w="25400">
              <a:solidFill>
                <a:schemeClr val="lt1"/>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
          <p:nvSpPr>
            <p:cNvPr id="356" name="Google Shape;356;p32"/>
            <p:cNvSpPr txBox="1"/>
            <p:nvPr/>
          </p:nvSpPr>
          <p:spPr>
            <a:xfrm>
              <a:off x="5559441" y="1939088"/>
              <a:ext cx="3137100" cy="657300"/>
            </a:xfrm>
            <a:prstGeom prst="rect">
              <a:avLst/>
            </a:prstGeom>
            <a:noFill/>
            <a:ln>
              <a:noFill/>
            </a:ln>
          </p:spPr>
          <p:txBody>
            <a:bodyPr anchorCtr="0" anchor="ctr" bIns="156475" lIns="65700" spcFirstLastPara="1" rIns="190500" wrap="square" tIns="65700">
              <a:noAutofit/>
            </a:bodyPr>
            <a:lstStyle/>
            <a:p>
              <a:pPr indent="0" lvl="0" marL="0" marR="0" rtl="0" algn="l">
                <a:lnSpc>
                  <a:spcPct val="90000"/>
                </a:lnSpc>
                <a:spcBef>
                  <a:spcPts val="0"/>
                </a:spcBef>
                <a:spcAft>
                  <a:spcPts val="0"/>
                </a:spcAft>
                <a:buNone/>
              </a:pPr>
              <a:r>
                <a:rPr lang="en-US" sz="1725">
                  <a:solidFill>
                    <a:schemeClr val="lt1"/>
                  </a:solidFill>
                </a:rPr>
                <a:t>G</a:t>
              </a:r>
              <a:r>
                <a:rPr b="0" i="0" lang="en-US" sz="1725" u="none" cap="none" strike="noStrike">
                  <a:solidFill>
                    <a:schemeClr val="lt1"/>
                  </a:solidFill>
                  <a:latin typeface="Arial"/>
                  <a:ea typeface="Arial"/>
                  <a:cs typeface="Arial"/>
                  <a:sym typeface="Arial"/>
                </a:rPr>
                <a:t>raduation</a:t>
              </a:r>
              <a:endParaRPr b="0" i="0" sz="1350" u="none" cap="none" strike="noStrike">
                <a:solidFill>
                  <a:schemeClr val="dk1"/>
                </a:solidFill>
                <a:latin typeface="Calibri"/>
                <a:ea typeface="Calibri"/>
                <a:cs typeface="Calibri"/>
                <a:sym typeface="Calibri"/>
              </a:endParaRPr>
            </a:p>
          </p:txBody>
        </p:sp>
        <p:sp>
          <p:nvSpPr>
            <p:cNvPr id="357" name="Google Shape;357;p32"/>
            <p:cNvSpPr/>
            <p:nvPr/>
          </p:nvSpPr>
          <p:spPr>
            <a:xfrm>
              <a:off x="5559441" y="2624077"/>
              <a:ext cx="2779800" cy="24951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
          <p:nvSpPr>
            <p:cNvPr id="358" name="Google Shape;358;p32"/>
            <p:cNvSpPr txBox="1"/>
            <p:nvPr/>
          </p:nvSpPr>
          <p:spPr>
            <a:xfrm>
              <a:off x="5559441" y="2624077"/>
              <a:ext cx="2779800" cy="2495100"/>
            </a:xfrm>
            <a:prstGeom prst="rect">
              <a:avLst/>
            </a:prstGeom>
            <a:noFill/>
            <a:ln>
              <a:noFill/>
            </a:ln>
          </p:spPr>
          <p:txBody>
            <a:bodyPr anchorCtr="0" anchor="t" bIns="62850" lIns="62850" spcFirstLastPara="1" rIns="62850" wrap="square" tIns="62850">
              <a:noAutofit/>
            </a:bodyPr>
            <a:lstStyle/>
            <a:p>
              <a:pPr indent="0" lvl="0" marL="0" marR="0" rtl="0" algn="l">
                <a:lnSpc>
                  <a:spcPct val="90000"/>
                </a:lnSpc>
                <a:spcBef>
                  <a:spcPts val="0"/>
                </a:spcBef>
                <a:spcAft>
                  <a:spcPts val="0"/>
                </a:spcAft>
                <a:buNone/>
              </a:pPr>
              <a:r>
                <a:rPr i="0" lang="en-US" sz="1650" u="none" cap="none" strike="noStrike">
                  <a:solidFill>
                    <a:schemeClr val="dk1"/>
                  </a:solidFill>
                  <a:latin typeface="Calibri"/>
                  <a:ea typeface="Calibri"/>
                  <a:cs typeface="Calibri"/>
                  <a:sym typeface="Calibri"/>
                </a:rPr>
                <a:t>Journey Certificate</a:t>
              </a:r>
              <a:endParaRPr i="0" sz="1350" u="none" cap="none" strike="noStrike">
                <a:solidFill>
                  <a:schemeClr val="dk1"/>
                </a:solidFill>
                <a:latin typeface="Calibri"/>
                <a:ea typeface="Calibri"/>
                <a:cs typeface="Calibri"/>
                <a:sym typeface="Calibri"/>
              </a:endParaRPr>
            </a:p>
            <a:p>
              <a:pPr indent="0" lvl="0" marL="0" marR="0" rtl="0" algn="ctr">
                <a:lnSpc>
                  <a:spcPct val="90000"/>
                </a:lnSpc>
                <a:spcBef>
                  <a:spcPts val="578"/>
                </a:spcBef>
                <a:spcAft>
                  <a:spcPts val="0"/>
                </a:spcAft>
                <a:buNone/>
              </a:pPr>
              <a:r>
                <a:rPr i="0" lang="en-US" sz="1650" u="none" cap="none" strike="noStrike">
                  <a:solidFill>
                    <a:schemeClr val="dk1"/>
                  </a:solidFill>
                  <a:latin typeface="Calibri"/>
                  <a:ea typeface="Calibri"/>
                  <a:cs typeface="Calibri"/>
                  <a:sym typeface="Calibri"/>
                </a:rPr>
                <a:t>AND</a:t>
              </a:r>
              <a:endParaRPr i="0" sz="1350" u="none" cap="none" strike="noStrike">
                <a:solidFill>
                  <a:schemeClr val="dk1"/>
                </a:solidFill>
                <a:latin typeface="Calibri"/>
                <a:ea typeface="Calibri"/>
                <a:cs typeface="Calibri"/>
                <a:sym typeface="Calibri"/>
              </a:endParaRPr>
            </a:p>
            <a:p>
              <a:pPr indent="0" lvl="0" marL="0" marR="0" rtl="0" algn="l">
                <a:lnSpc>
                  <a:spcPct val="90000"/>
                </a:lnSpc>
                <a:spcBef>
                  <a:spcPts val="578"/>
                </a:spcBef>
                <a:spcAft>
                  <a:spcPts val="0"/>
                </a:spcAft>
                <a:buNone/>
              </a:pPr>
              <a:r>
                <a:rPr i="0" lang="en-US" sz="1650" u="none" cap="none" strike="noStrike">
                  <a:solidFill>
                    <a:schemeClr val="dk1"/>
                  </a:solidFill>
                  <a:latin typeface="Calibri"/>
                  <a:ea typeface="Calibri"/>
                  <a:cs typeface="Calibri"/>
                  <a:sym typeface="Calibri"/>
                </a:rPr>
                <a:t>Associate of Applied Science</a:t>
              </a:r>
              <a:endParaRPr i="0" sz="1350" u="none" cap="none" strike="noStrike">
                <a:solidFill>
                  <a:schemeClr val="dk1"/>
                </a:solidFill>
                <a:latin typeface="Calibri"/>
                <a:ea typeface="Calibri"/>
                <a:cs typeface="Calibri"/>
                <a:sym typeface="Calibri"/>
              </a:endParaRPr>
            </a:p>
            <a:p>
              <a:pPr indent="0" lvl="0" marL="0" marR="0" rtl="0" algn="l">
                <a:lnSpc>
                  <a:spcPct val="90000"/>
                </a:lnSpc>
                <a:spcBef>
                  <a:spcPts val="578"/>
                </a:spcBef>
                <a:spcAft>
                  <a:spcPts val="0"/>
                </a:spcAft>
                <a:buNone/>
              </a:pPr>
              <a:r>
                <a:t/>
              </a:r>
              <a:endParaRPr i="0" sz="1650" u="none" cap="none" strike="noStrike">
                <a:solidFill>
                  <a:schemeClr val="dk1"/>
                </a:solidFill>
                <a:latin typeface="Calibri"/>
                <a:ea typeface="Calibri"/>
                <a:cs typeface="Calibri"/>
                <a:sym typeface="Calibri"/>
              </a:endParaRPr>
            </a:p>
            <a:p>
              <a:pPr indent="0" lvl="0" marL="0" marR="0" rtl="0" algn="l">
                <a:lnSpc>
                  <a:spcPct val="90000"/>
                </a:lnSpc>
                <a:spcBef>
                  <a:spcPts val="578"/>
                </a:spcBef>
                <a:spcAft>
                  <a:spcPts val="0"/>
                </a:spcAft>
                <a:buNone/>
              </a:pPr>
              <a:r>
                <a:rPr i="0" lang="en-US" sz="1650" u="none" cap="none" strike="noStrike">
                  <a:solidFill>
                    <a:schemeClr val="dk1"/>
                  </a:solidFill>
                  <a:latin typeface="Calibri"/>
                  <a:ea typeface="Calibri"/>
                  <a:cs typeface="Calibri"/>
                  <a:sym typeface="Calibri"/>
                </a:rPr>
                <a:t>At the same time</a:t>
              </a:r>
              <a:endParaRPr i="0" sz="1350" u="none" cap="none" strike="noStrike">
                <a:solidFill>
                  <a:schemeClr val="dk1"/>
                </a:solidFill>
                <a:latin typeface="Calibri"/>
                <a:ea typeface="Calibri"/>
                <a:cs typeface="Calibri"/>
                <a:sym typeface="Calibri"/>
              </a:endParaRPr>
            </a:p>
          </p:txBody>
        </p:sp>
      </p:grpSp>
      <p:sp>
        <p:nvSpPr>
          <p:cNvPr id="359" name="Google Shape;359;p32"/>
          <p:cNvSpPr txBox="1"/>
          <p:nvPr/>
        </p:nvSpPr>
        <p:spPr>
          <a:xfrm>
            <a:off x="428625" y="721519"/>
            <a:ext cx="8701200" cy="28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870">
                <a:solidFill>
                  <a:srgbClr val="003B5C"/>
                </a:solidFill>
                <a:latin typeface="Calibri"/>
                <a:ea typeface="Calibri"/>
                <a:cs typeface="Calibri"/>
                <a:sym typeface="Calibri"/>
              </a:rPr>
              <a:t>Reimagined Degree Pathways</a:t>
            </a:r>
            <a:endParaRPr b="1" sz="1870">
              <a:solidFill>
                <a:srgbClr val="003B5C"/>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3"/>
          <p:cNvSpPr/>
          <p:nvPr/>
        </p:nvSpPr>
        <p:spPr>
          <a:xfrm>
            <a:off x="0" y="0"/>
            <a:ext cx="9144000" cy="647700"/>
          </a:xfrm>
          <a:prstGeom prst="rect">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33"/>
          <p:cNvSpPr txBox="1"/>
          <p:nvPr/>
        </p:nvSpPr>
        <p:spPr>
          <a:xfrm>
            <a:off x="457200" y="0"/>
            <a:ext cx="82296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FFFFFF"/>
                </a:solidFill>
                <a:latin typeface="Calibri"/>
                <a:ea typeface="Calibri"/>
                <a:cs typeface="Calibri"/>
                <a:sym typeface="Calibri"/>
              </a:rPr>
              <a:t>Validating the Impact of Seamless Education-Employment Pathways</a:t>
            </a:r>
            <a:endParaRPr b="1" sz="2000">
              <a:solidFill>
                <a:srgbClr val="FFFFFF"/>
              </a:solidFill>
              <a:latin typeface="Calibri"/>
              <a:ea typeface="Calibri"/>
              <a:cs typeface="Calibri"/>
              <a:sym typeface="Calibri"/>
            </a:endParaRPr>
          </a:p>
        </p:txBody>
      </p:sp>
      <p:grpSp>
        <p:nvGrpSpPr>
          <p:cNvPr id="370" name="Google Shape;370;p33"/>
          <p:cNvGrpSpPr/>
          <p:nvPr/>
        </p:nvGrpSpPr>
        <p:grpSpPr>
          <a:xfrm>
            <a:off x="400050" y="1143000"/>
            <a:ext cx="3786300" cy="1500075"/>
            <a:chOff x="0" y="0"/>
            <a:chExt cx="5048400" cy="2000100"/>
          </a:xfrm>
        </p:grpSpPr>
        <p:sp>
          <p:nvSpPr>
            <p:cNvPr id="371" name="Google Shape;371;p33"/>
            <p:cNvSpPr/>
            <p:nvPr/>
          </p:nvSpPr>
          <p:spPr>
            <a:xfrm>
              <a:off x="0" y="0"/>
              <a:ext cx="5048400" cy="2000100"/>
            </a:xfrm>
            <a:prstGeom prst="roundRect">
              <a:avLst>
                <a:gd fmla="val 38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33"/>
            <p:cNvSpPr/>
            <p:nvPr/>
          </p:nvSpPr>
          <p:spPr>
            <a:xfrm>
              <a:off x="0" y="0"/>
              <a:ext cx="57300" cy="2000100"/>
            </a:xfrm>
            <a:prstGeom prst="roundRect">
              <a:avLst>
                <a:gd fmla="val 50000" name="adj"/>
              </a:avLst>
            </a:prstGeom>
            <a:solidFill>
              <a:srgbClr val="9328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33"/>
            <p:cNvSpPr txBox="1"/>
            <p:nvPr/>
          </p:nvSpPr>
          <p:spPr>
            <a:xfrm>
              <a:off x="285750" y="238125"/>
              <a:ext cx="44769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03B5C"/>
                  </a:solidFill>
                  <a:latin typeface="Calibri"/>
                  <a:ea typeface="Calibri"/>
                  <a:cs typeface="Calibri"/>
                  <a:sym typeface="Calibri"/>
                </a:rPr>
                <a:t>Apprenticeships for America</a:t>
              </a:r>
              <a:endParaRPr b="1" sz="1200">
                <a:solidFill>
                  <a:srgbClr val="003B5C"/>
                </a:solidFill>
                <a:latin typeface="Calibri"/>
                <a:ea typeface="Calibri"/>
                <a:cs typeface="Calibri"/>
                <a:sym typeface="Calibri"/>
              </a:endParaRPr>
            </a:p>
            <a:p>
              <a:pPr indent="0" lvl="0" marL="0" rtl="0" algn="l">
                <a:spcBef>
                  <a:spcPts val="700"/>
                </a:spcBef>
                <a:spcAft>
                  <a:spcPts val="0"/>
                </a:spcAft>
                <a:buNone/>
              </a:pPr>
              <a:r>
                <a:rPr lang="en-US" sz="1000">
                  <a:solidFill>
                    <a:srgbClr val="545859"/>
                  </a:solidFill>
                  <a:latin typeface="Calibri"/>
                  <a:ea typeface="Calibri"/>
                  <a:cs typeface="Calibri"/>
                  <a:sym typeface="Calibri"/>
                </a:rPr>
                <a:t>Highlights the apprenticeship-embedded model as the </a:t>
              </a:r>
              <a:r>
                <a:rPr b="1" lang="en-US" sz="1000">
                  <a:solidFill>
                    <a:srgbClr val="545859"/>
                  </a:solidFill>
                  <a:latin typeface="Calibri"/>
                  <a:ea typeface="Calibri"/>
                  <a:cs typeface="Calibri"/>
                  <a:sym typeface="Calibri"/>
                </a:rPr>
                <a:t>“most innovative”</a:t>
              </a:r>
              <a:r>
                <a:rPr lang="en-US" sz="1000">
                  <a:solidFill>
                    <a:srgbClr val="545859"/>
                  </a:solidFill>
                  <a:latin typeface="Calibri"/>
                  <a:ea typeface="Calibri"/>
                  <a:cs typeface="Calibri"/>
                  <a:sym typeface="Calibri"/>
                </a:rPr>
                <a:t> national approach for credentialing work-based learning seamlessly across postsecondary systems.</a:t>
              </a:r>
              <a:endParaRPr sz="1000">
                <a:solidFill>
                  <a:srgbClr val="545859"/>
                </a:solidFill>
                <a:latin typeface="Calibri"/>
                <a:ea typeface="Calibri"/>
                <a:cs typeface="Calibri"/>
                <a:sym typeface="Calibri"/>
              </a:endParaRPr>
            </a:p>
          </p:txBody>
        </p:sp>
      </p:grpSp>
      <p:grpSp>
        <p:nvGrpSpPr>
          <p:cNvPr id="374" name="Google Shape;374;p33"/>
          <p:cNvGrpSpPr/>
          <p:nvPr/>
        </p:nvGrpSpPr>
        <p:grpSpPr>
          <a:xfrm>
            <a:off x="4429125" y="1143000"/>
            <a:ext cx="4314825" cy="3179025"/>
            <a:chOff x="0" y="0"/>
            <a:chExt cx="5753100" cy="4238700"/>
          </a:xfrm>
        </p:grpSpPr>
        <p:sp>
          <p:nvSpPr>
            <p:cNvPr id="375" name="Google Shape;375;p33"/>
            <p:cNvSpPr/>
            <p:nvPr/>
          </p:nvSpPr>
          <p:spPr>
            <a:xfrm>
              <a:off x="0" y="0"/>
              <a:ext cx="5753100" cy="4238700"/>
            </a:xfrm>
            <a:prstGeom prst="roundRect">
              <a:avLst>
                <a:gd fmla="val 179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6" name="Google Shape;376;p33"/>
            <p:cNvGrpSpPr/>
            <p:nvPr/>
          </p:nvGrpSpPr>
          <p:grpSpPr>
            <a:xfrm>
              <a:off x="285750" y="238125"/>
              <a:ext cx="5181600" cy="3743400"/>
              <a:chOff x="0" y="0"/>
              <a:chExt cx="5181600" cy="3743400"/>
            </a:xfrm>
          </p:grpSpPr>
          <p:sp>
            <p:nvSpPr>
              <p:cNvPr id="377" name="Google Shape;377;p33"/>
              <p:cNvSpPr txBox="1"/>
              <p:nvPr/>
            </p:nvSpPr>
            <p:spPr>
              <a:xfrm>
                <a:off x="0" y="0"/>
                <a:ext cx="5181600" cy="333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100">
                    <a:solidFill>
                      <a:srgbClr val="003B5C"/>
                    </a:solidFill>
                    <a:latin typeface="Calibri"/>
                    <a:ea typeface="Calibri"/>
                    <a:cs typeface="Calibri"/>
                    <a:sym typeface="Calibri"/>
                  </a:rPr>
                  <a:t>Unlocking Systemic Barriers</a:t>
                </a:r>
                <a:endParaRPr b="1" sz="1100">
                  <a:solidFill>
                    <a:srgbClr val="003B5C"/>
                  </a:solidFill>
                  <a:latin typeface="Calibri"/>
                  <a:ea typeface="Calibri"/>
                  <a:cs typeface="Calibri"/>
                  <a:sym typeface="Calibri"/>
                </a:endParaRPr>
              </a:p>
            </p:txBody>
          </p:sp>
          <p:grpSp>
            <p:nvGrpSpPr>
              <p:cNvPr id="378" name="Google Shape;378;p33"/>
              <p:cNvGrpSpPr/>
              <p:nvPr/>
            </p:nvGrpSpPr>
            <p:grpSpPr>
              <a:xfrm>
                <a:off x="0" y="476250"/>
                <a:ext cx="5181450" cy="895500"/>
                <a:chOff x="0" y="0"/>
                <a:chExt cx="5181450" cy="895500"/>
              </a:xfrm>
            </p:grpSpPr>
            <p:sp>
              <p:nvSpPr>
                <p:cNvPr id="379" name="Google Shape;379;p33"/>
                <p:cNvSpPr/>
                <p:nvPr/>
              </p:nvSpPr>
              <p:spPr>
                <a:xfrm>
                  <a:off x="0" y="0"/>
                  <a:ext cx="1619100" cy="400200"/>
                </a:xfrm>
                <a:prstGeom prst="roundRect">
                  <a:avLst>
                    <a:gd fmla="val 1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33"/>
                <p:cNvSpPr txBox="1"/>
                <p:nvPr/>
              </p:nvSpPr>
              <p:spPr>
                <a:xfrm>
                  <a:off x="0" y="0"/>
                  <a:ext cx="1619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545859"/>
                      </a:solidFill>
                      <a:latin typeface="Inter SemiBold"/>
                      <a:ea typeface="Inter SemiBold"/>
                      <a:cs typeface="Inter SemiBold"/>
                      <a:sym typeface="Inter SemiBold"/>
                    </a:rPr>
                    <a:t>Unions &amp; Labor</a:t>
                  </a:r>
                  <a:endParaRPr b="0" sz="800">
                    <a:solidFill>
                      <a:srgbClr val="545859"/>
                    </a:solidFill>
                    <a:latin typeface="Inter SemiBold"/>
                    <a:ea typeface="Inter SemiBold"/>
                    <a:cs typeface="Inter SemiBold"/>
                    <a:sym typeface="Inter SemiBold"/>
                  </a:endParaRPr>
                </a:p>
              </p:txBody>
            </p:sp>
            <p:sp>
              <p:nvSpPr>
                <p:cNvPr id="381" name="Google Shape;381;p33"/>
                <p:cNvSpPr/>
                <p:nvPr/>
              </p:nvSpPr>
              <p:spPr>
                <a:xfrm>
                  <a:off x="1781175" y="0"/>
                  <a:ext cx="1619100" cy="400200"/>
                </a:xfrm>
                <a:prstGeom prst="roundRect">
                  <a:avLst>
                    <a:gd fmla="val 1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33"/>
                <p:cNvSpPr txBox="1"/>
                <p:nvPr/>
              </p:nvSpPr>
              <p:spPr>
                <a:xfrm>
                  <a:off x="1781175" y="0"/>
                  <a:ext cx="1619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545859"/>
                      </a:solidFill>
                      <a:latin typeface="Inter SemiBold"/>
                      <a:ea typeface="Inter SemiBold"/>
                      <a:cs typeface="Inter SemiBold"/>
                      <a:sym typeface="Inter SemiBold"/>
                    </a:rPr>
                    <a:t>Faculty &amp; Deans</a:t>
                  </a:r>
                  <a:endParaRPr b="0" sz="800">
                    <a:solidFill>
                      <a:srgbClr val="545859"/>
                    </a:solidFill>
                    <a:latin typeface="Inter SemiBold"/>
                    <a:ea typeface="Inter SemiBold"/>
                    <a:cs typeface="Inter SemiBold"/>
                    <a:sym typeface="Inter SemiBold"/>
                  </a:endParaRPr>
                </a:p>
              </p:txBody>
            </p:sp>
            <p:sp>
              <p:nvSpPr>
                <p:cNvPr id="383" name="Google Shape;383;p33"/>
                <p:cNvSpPr/>
                <p:nvPr/>
              </p:nvSpPr>
              <p:spPr>
                <a:xfrm>
                  <a:off x="3562350" y="0"/>
                  <a:ext cx="1619100" cy="400200"/>
                </a:xfrm>
                <a:prstGeom prst="roundRect">
                  <a:avLst>
                    <a:gd fmla="val 1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33"/>
                <p:cNvSpPr txBox="1"/>
                <p:nvPr/>
              </p:nvSpPr>
              <p:spPr>
                <a:xfrm>
                  <a:off x="3562350" y="0"/>
                  <a:ext cx="1619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545859"/>
                      </a:solidFill>
                      <a:latin typeface="Inter SemiBold"/>
                      <a:ea typeface="Inter SemiBold"/>
                      <a:cs typeface="Inter SemiBold"/>
                      <a:sym typeface="Inter SemiBold"/>
                    </a:rPr>
                    <a:t>Registrars</a:t>
                  </a:r>
                  <a:endParaRPr b="0" sz="800">
                    <a:solidFill>
                      <a:srgbClr val="545859"/>
                    </a:solidFill>
                    <a:latin typeface="Inter SemiBold"/>
                    <a:ea typeface="Inter SemiBold"/>
                    <a:cs typeface="Inter SemiBold"/>
                    <a:sym typeface="Inter SemiBold"/>
                  </a:endParaRPr>
                </a:p>
              </p:txBody>
            </p:sp>
            <p:sp>
              <p:nvSpPr>
                <p:cNvPr id="385" name="Google Shape;385;p33"/>
                <p:cNvSpPr/>
                <p:nvPr/>
              </p:nvSpPr>
              <p:spPr>
                <a:xfrm>
                  <a:off x="0" y="495300"/>
                  <a:ext cx="1619100" cy="400200"/>
                </a:xfrm>
                <a:prstGeom prst="roundRect">
                  <a:avLst>
                    <a:gd fmla="val 1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33"/>
                <p:cNvSpPr txBox="1"/>
                <p:nvPr/>
              </p:nvSpPr>
              <p:spPr>
                <a:xfrm>
                  <a:off x="0" y="495300"/>
                  <a:ext cx="1619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545859"/>
                      </a:solidFill>
                      <a:latin typeface="Inter SemiBold"/>
                      <a:ea typeface="Inter SemiBold"/>
                      <a:cs typeface="Inter SemiBold"/>
                      <a:sym typeface="Inter SemiBold"/>
                    </a:rPr>
                    <a:t>Employers</a:t>
                  </a:r>
                  <a:endParaRPr b="0" sz="800">
                    <a:solidFill>
                      <a:srgbClr val="545859"/>
                    </a:solidFill>
                    <a:latin typeface="Inter SemiBold"/>
                    <a:ea typeface="Inter SemiBold"/>
                    <a:cs typeface="Inter SemiBold"/>
                    <a:sym typeface="Inter SemiBold"/>
                  </a:endParaRPr>
                </a:p>
              </p:txBody>
            </p:sp>
            <p:sp>
              <p:nvSpPr>
                <p:cNvPr id="387" name="Google Shape;387;p33"/>
                <p:cNvSpPr/>
                <p:nvPr/>
              </p:nvSpPr>
              <p:spPr>
                <a:xfrm>
                  <a:off x="1781175" y="495300"/>
                  <a:ext cx="1619100" cy="400200"/>
                </a:xfrm>
                <a:prstGeom prst="roundRect">
                  <a:avLst>
                    <a:gd fmla="val 1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33"/>
                <p:cNvSpPr txBox="1"/>
                <p:nvPr/>
              </p:nvSpPr>
              <p:spPr>
                <a:xfrm>
                  <a:off x="1781175" y="495300"/>
                  <a:ext cx="1619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545859"/>
                      </a:solidFill>
                      <a:latin typeface="Inter SemiBold"/>
                      <a:ea typeface="Inter SemiBold"/>
                      <a:cs typeface="Inter SemiBold"/>
                      <a:sym typeface="Inter SemiBold"/>
                    </a:rPr>
                    <a:t>Accreditors</a:t>
                  </a:r>
                  <a:endParaRPr b="0" sz="800">
                    <a:solidFill>
                      <a:srgbClr val="545859"/>
                    </a:solidFill>
                    <a:latin typeface="Inter SemiBold"/>
                    <a:ea typeface="Inter SemiBold"/>
                    <a:cs typeface="Inter SemiBold"/>
                    <a:sym typeface="Inter SemiBold"/>
                  </a:endParaRPr>
                </a:p>
              </p:txBody>
            </p:sp>
            <p:sp>
              <p:nvSpPr>
                <p:cNvPr id="389" name="Google Shape;389;p33"/>
                <p:cNvSpPr/>
                <p:nvPr/>
              </p:nvSpPr>
              <p:spPr>
                <a:xfrm>
                  <a:off x="3562350" y="495300"/>
                  <a:ext cx="1619100" cy="400200"/>
                </a:xfrm>
                <a:prstGeom prst="roundRect">
                  <a:avLst>
                    <a:gd fmla="val 1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33"/>
                <p:cNvSpPr txBox="1"/>
                <p:nvPr/>
              </p:nvSpPr>
              <p:spPr>
                <a:xfrm>
                  <a:off x="3562350" y="495300"/>
                  <a:ext cx="1619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545859"/>
                      </a:solidFill>
                      <a:latin typeface="Inter SemiBold"/>
                      <a:ea typeface="Inter SemiBold"/>
                      <a:cs typeface="Inter SemiBold"/>
                      <a:sym typeface="Inter SemiBold"/>
                    </a:rPr>
                    <a:t>Workforce Boards</a:t>
                  </a:r>
                  <a:endParaRPr b="0" sz="800">
                    <a:solidFill>
                      <a:srgbClr val="545859"/>
                    </a:solidFill>
                    <a:latin typeface="Inter SemiBold"/>
                    <a:ea typeface="Inter SemiBold"/>
                    <a:cs typeface="Inter SemiBold"/>
                    <a:sym typeface="Inter SemiBold"/>
                  </a:endParaRPr>
                </a:p>
              </p:txBody>
            </p:sp>
          </p:grpSp>
          <p:grpSp>
            <p:nvGrpSpPr>
              <p:cNvPr id="391" name="Google Shape;391;p33"/>
              <p:cNvGrpSpPr/>
              <p:nvPr/>
            </p:nvGrpSpPr>
            <p:grpSpPr>
              <a:xfrm>
                <a:off x="0" y="1543050"/>
                <a:ext cx="5181600" cy="628800"/>
                <a:chOff x="0" y="0"/>
                <a:chExt cx="5181600" cy="628800"/>
              </a:xfrm>
            </p:grpSpPr>
            <p:sp>
              <p:nvSpPr>
                <p:cNvPr id="392" name="Google Shape;392;p33"/>
                <p:cNvSpPr/>
                <p:nvPr/>
              </p:nvSpPr>
              <p:spPr>
                <a:xfrm>
                  <a:off x="0" y="0"/>
                  <a:ext cx="5181600" cy="628800"/>
                </a:xfrm>
                <a:prstGeom prst="roundRect">
                  <a:avLst>
                    <a:gd fmla="val 9090" name="adj"/>
                  </a:avLst>
                </a:prstGeom>
                <a:solidFill>
                  <a:srgbClr val="003B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33"/>
                <p:cNvSpPr txBox="1"/>
                <p:nvPr/>
              </p:nvSpPr>
              <p:spPr>
                <a:xfrm>
                  <a:off x="0" y="0"/>
                  <a:ext cx="5181600" cy="628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D9B48F"/>
                      </a:solidFill>
                      <a:latin typeface="Calibri"/>
                      <a:ea typeface="Calibri"/>
                      <a:cs typeface="Calibri"/>
                      <a:sym typeface="Calibri"/>
                    </a:rPr>
                    <a:t>NEUTRAL FACILITATOR</a:t>
                  </a:r>
                  <a:endParaRPr b="1" sz="800">
                    <a:solidFill>
                      <a:srgbClr val="D9B48F"/>
                    </a:solidFill>
                    <a:latin typeface="Calibri"/>
                    <a:ea typeface="Calibri"/>
                    <a:cs typeface="Calibri"/>
                    <a:sym typeface="Calibri"/>
                  </a:endParaRPr>
                </a:p>
                <a:p>
                  <a:pPr indent="0" lvl="0" marL="0" rtl="0" algn="ctr">
                    <a:spcBef>
                      <a:spcPts val="200"/>
                    </a:spcBef>
                    <a:spcAft>
                      <a:spcPts val="0"/>
                    </a:spcAft>
                    <a:buNone/>
                  </a:pPr>
                  <a:r>
                    <a:rPr b="1" lang="en-US" sz="1000">
                      <a:solidFill>
                        <a:srgbClr val="FFFFFF"/>
                      </a:solidFill>
                      <a:latin typeface="Calibri"/>
                      <a:ea typeface="Calibri"/>
                      <a:cs typeface="Calibri"/>
                      <a:sym typeface="Calibri"/>
                    </a:rPr>
                    <a:t>CAEL Solutions Architect</a:t>
                  </a:r>
                  <a:endParaRPr b="1" sz="1000">
                    <a:solidFill>
                      <a:srgbClr val="FFFFFF"/>
                    </a:solidFill>
                    <a:latin typeface="Calibri"/>
                    <a:ea typeface="Calibri"/>
                    <a:cs typeface="Calibri"/>
                    <a:sym typeface="Calibri"/>
                  </a:endParaRPr>
                </a:p>
              </p:txBody>
            </p:sp>
          </p:grpSp>
          <p:grpSp>
            <p:nvGrpSpPr>
              <p:cNvPr id="394" name="Google Shape;394;p33"/>
              <p:cNvGrpSpPr/>
              <p:nvPr/>
            </p:nvGrpSpPr>
            <p:grpSpPr>
              <a:xfrm>
                <a:off x="0" y="2362200"/>
                <a:ext cx="5181600" cy="1381200"/>
                <a:chOff x="0" y="0"/>
                <a:chExt cx="5181600" cy="1381200"/>
              </a:xfrm>
            </p:grpSpPr>
            <p:sp>
              <p:nvSpPr>
                <p:cNvPr id="395" name="Google Shape;395;p33"/>
                <p:cNvSpPr/>
                <p:nvPr/>
              </p:nvSpPr>
              <p:spPr>
                <a:xfrm>
                  <a:off x="0" y="0"/>
                  <a:ext cx="5181600" cy="1381200"/>
                </a:xfrm>
                <a:prstGeom prst="roundRect">
                  <a:avLst>
                    <a:gd fmla="val 413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96" name="Google Shape;396;p33"/>
                <p:cNvCxnSpPr/>
                <p:nvPr/>
              </p:nvCxnSpPr>
              <p:spPr>
                <a:xfrm>
                  <a:off x="0" y="0"/>
                  <a:ext cx="5181600" cy="0"/>
                </a:xfrm>
                <a:prstGeom prst="straightConnector1">
                  <a:avLst/>
                </a:prstGeom>
                <a:solidFill>
                  <a:srgbClr val="FFFFFF"/>
                </a:solidFill>
                <a:ln cap="flat" cmpd="sng" w="38100">
                  <a:solidFill>
                    <a:srgbClr val="165C7D"/>
                  </a:solidFill>
                  <a:prstDash val="solid"/>
                  <a:round/>
                  <a:headEnd len="sm" w="sm" type="none"/>
                  <a:tailEnd len="sm" w="sm" type="none"/>
                </a:ln>
              </p:spPr>
            </p:cxnSp>
            <p:sp>
              <p:nvSpPr>
                <p:cNvPr id="397" name="Google Shape;397;p33"/>
                <p:cNvSpPr txBox="1"/>
                <p:nvPr/>
              </p:nvSpPr>
              <p:spPr>
                <a:xfrm>
                  <a:off x="190500" y="152400"/>
                  <a:ext cx="48006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003B5C"/>
                      </a:solidFill>
                      <a:latin typeface="Calibri"/>
                      <a:ea typeface="Calibri"/>
                      <a:cs typeface="Calibri"/>
                      <a:sym typeface="Calibri"/>
                    </a:rPr>
                    <a:t>CORE ALIGNMENT SYNTHESIS</a:t>
                  </a:r>
                  <a:endParaRPr b="1" sz="800">
                    <a:solidFill>
                      <a:srgbClr val="003B5C"/>
                    </a:solidFill>
                    <a:latin typeface="Calibri"/>
                    <a:ea typeface="Calibri"/>
                    <a:cs typeface="Calibri"/>
                    <a:sym typeface="Calibri"/>
                  </a:endParaRPr>
                </a:p>
                <a:p>
                  <a:pPr indent="0" lvl="0" marL="0" rtl="0" algn="l">
                    <a:spcBef>
                      <a:spcPts val="500"/>
                    </a:spcBef>
                    <a:spcAft>
                      <a:spcPts val="0"/>
                    </a:spcAft>
                    <a:buNone/>
                  </a:pPr>
                  <a:r>
                    <a:rPr b="1" lang="en-US" sz="800">
                      <a:solidFill>
                        <a:srgbClr val="0F172A"/>
                      </a:solidFill>
                      <a:latin typeface="Calibri"/>
                      <a:ea typeface="Calibri"/>
                      <a:cs typeface="Calibri"/>
                      <a:sym typeface="Calibri"/>
                    </a:rPr>
                    <a:t>Research Finding:</a:t>
                  </a:r>
                  <a:r>
                    <a:rPr lang="en-US" sz="800">
                      <a:solidFill>
                        <a:srgbClr val="545859"/>
                      </a:solidFill>
                      <a:latin typeface="Calibri"/>
                      <a:ea typeface="Calibri"/>
                      <a:cs typeface="Calibri"/>
                      <a:sym typeface="Calibri"/>
                    </a:rPr>
                    <a:t> Scaling apprenticeship degrees requires aligning chronically siloed stakeholders.</a:t>
                  </a:r>
                  <a:endParaRPr sz="800">
                    <a:solidFill>
                      <a:srgbClr val="545859"/>
                    </a:solidFill>
                    <a:latin typeface="Calibri"/>
                    <a:ea typeface="Calibri"/>
                    <a:cs typeface="Calibri"/>
                    <a:sym typeface="Calibri"/>
                  </a:endParaRPr>
                </a:p>
                <a:p>
                  <a:pPr indent="0" lvl="0" marL="0" rtl="0" algn="l">
                    <a:spcBef>
                      <a:spcPts val="300"/>
                    </a:spcBef>
                    <a:spcAft>
                      <a:spcPts val="0"/>
                    </a:spcAft>
                    <a:buNone/>
                  </a:pPr>
                  <a:r>
                    <a:rPr b="1" lang="en-US" sz="800">
                      <a:solidFill>
                        <a:srgbClr val="0F172A"/>
                      </a:solidFill>
                      <a:latin typeface="Calibri"/>
                      <a:ea typeface="Calibri"/>
                      <a:cs typeface="Calibri"/>
                      <a:sym typeface="Calibri"/>
                    </a:rPr>
                    <a:t>CAEL Role:</a:t>
                  </a:r>
                  <a:r>
                    <a:rPr lang="en-US" sz="800">
                      <a:solidFill>
                        <a:srgbClr val="545859"/>
                      </a:solidFill>
                      <a:latin typeface="Calibri"/>
                      <a:ea typeface="Calibri"/>
                      <a:cs typeface="Calibri"/>
                      <a:sym typeface="Calibri"/>
                    </a:rPr>
                    <a:t> Acts as the neutral solutions architect orchestrating cross-system compliance, credit transferability, and pathway design.</a:t>
                  </a:r>
                  <a:endParaRPr sz="800">
                    <a:solidFill>
                      <a:srgbClr val="545859"/>
                    </a:solidFill>
                    <a:latin typeface="Calibri"/>
                    <a:ea typeface="Calibri"/>
                    <a:cs typeface="Calibri"/>
                    <a:sym typeface="Calibri"/>
                  </a:endParaRPr>
                </a:p>
              </p:txBody>
            </p:sp>
          </p:grpSp>
        </p:grpSp>
      </p:grpSp>
      <p:grpSp>
        <p:nvGrpSpPr>
          <p:cNvPr id="398" name="Google Shape;398;p33"/>
          <p:cNvGrpSpPr/>
          <p:nvPr/>
        </p:nvGrpSpPr>
        <p:grpSpPr>
          <a:xfrm>
            <a:off x="400050" y="2821781"/>
            <a:ext cx="3786300" cy="1500075"/>
            <a:chOff x="0" y="0"/>
            <a:chExt cx="5048400" cy="2000100"/>
          </a:xfrm>
        </p:grpSpPr>
        <p:sp>
          <p:nvSpPr>
            <p:cNvPr id="399" name="Google Shape;399;p33"/>
            <p:cNvSpPr/>
            <p:nvPr/>
          </p:nvSpPr>
          <p:spPr>
            <a:xfrm>
              <a:off x="0" y="0"/>
              <a:ext cx="5048400" cy="2000100"/>
            </a:xfrm>
            <a:prstGeom prst="roundRect">
              <a:avLst>
                <a:gd fmla="val 38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33"/>
            <p:cNvSpPr/>
            <p:nvPr/>
          </p:nvSpPr>
          <p:spPr>
            <a:xfrm>
              <a:off x="0" y="0"/>
              <a:ext cx="57300" cy="2000100"/>
            </a:xfrm>
            <a:prstGeom prst="roundRect">
              <a:avLst>
                <a:gd fmla="val 50000" name="adj"/>
              </a:avLst>
            </a:prstGeom>
            <a:solidFill>
              <a:srgbClr val="165C7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33"/>
            <p:cNvSpPr txBox="1"/>
            <p:nvPr/>
          </p:nvSpPr>
          <p:spPr>
            <a:xfrm>
              <a:off x="285750" y="238125"/>
              <a:ext cx="44769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03B5C"/>
                  </a:solidFill>
                  <a:latin typeface="Calibri"/>
                  <a:ea typeface="Calibri"/>
                  <a:cs typeface="Calibri"/>
                  <a:sym typeface="Calibri"/>
                </a:rPr>
                <a:t>Urban Institute Report</a:t>
              </a:r>
              <a:endParaRPr b="1" sz="1200">
                <a:solidFill>
                  <a:srgbClr val="003B5C"/>
                </a:solidFill>
                <a:latin typeface="Calibri"/>
                <a:ea typeface="Calibri"/>
                <a:cs typeface="Calibri"/>
                <a:sym typeface="Calibri"/>
              </a:endParaRPr>
            </a:p>
            <a:p>
              <a:pPr indent="0" lvl="0" marL="0" rtl="0" algn="l">
                <a:spcBef>
                  <a:spcPts val="700"/>
                </a:spcBef>
                <a:spcAft>
                  <a:spcPts val="0"/>
                </a:spcAft>
                <a:buNone/>
              </a:pPr>
              <a:r>
                <a:rPr lang="en-US" sz="1000">
                  <a:solidFill>
                    <a:srgbClr val="545859"/>
                  </a:solidFill>
                  <a:latin typeface="Calibri"/>
                  <a:ea typeface="Calibri"/>
                  <a:cs typeface="Calibri"/>
                  <a:sym typeface="Calibri"/>
                </a:rPr>
                <a:t>Cites this model as an </a:t>
              </a:r>
              <a:r>
                <a:rPr b="1" lang="en-US" sz="1000">
                  <a:solidFill>
                    <a:srgbClr val="545859"/>
                  </a:solidFill>
                  <a:latin typeface="Calibri"/>
                  <a:ea typeface="Calibri"/>
                  <a:cs typeface="Calibri"/>
                  <a:sym typeface="Calibri"/>
                </a:rPr>
                <a:t>“emerging innovation”</a:t>
              </a:r>
              <a:r>
                <a:rPr lang="en-US" sz="1000">
                  <a:solidFill>
                    <a:srgbClr val="545859"/>
                  </a:solidFill>
                  <a:latin typeface="Calibri"/>
                  <a:ea typeface="Calibri"/>
                  <a:cs typeface="Calibri"/>
                  <a:sym typeface="Calibri"/>
                </a:rPr>
                <a:t> directly addressing the critical national gap where </a:t>
              </a:r>
              <a:r>
                <a:rPr b="1" lang="en-US" sz="1000">
                  <a:solidFill>
                    <a:srgbClr val="93282C"/>
                  </a:solidFill>
                  <a:latin typeface="Calibri"/>
                  <a:ea typeface="Calibri"/>
                  <a:cs typeface="Calibri"/>
                  <a:sym typeface="Calibri"/>
                </a:rPr>
                <a:t>&lt;10%</a:t>
              </a:r>
              <a:r>
                <a:rPr lang="en-US" sz="1000">
                  <a:solidFill>
                    <a:srgbClr val="545859"/>
                  </a:solidFill>
                  <a:latin typeface="Calibri"/>
                  <a:ea typeface="Calibri"/>
                  <a:cs typeface="Calibri"/>
                  <a:sym typeface="Calibri"/>
                </a:rPr>
                <a:t> of postsecondary institutions offer active apprenticeship degrees.</a:t>
              </a:r>
              <a:endParaRPr sz="1000">
                <a:solidFill>
                  <a:srgbClr val="545859"/>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descr="image.png" id="406" name="Google Shape;406;p3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407" name="Google Shape;407;p34"/>
          <p:cNvPicPr preferRelativeResize="0"/>
          <p:nvPr/>
        </p:nvPicPr>
        <p:blipFill rotWithShape="1">
          <a:blip r:embed="rId4">
            <a:alphaModFix/>
          </a:blip>
          <a:srcRect b="0" l="0" r="0" t="0"/>
          <a:stretch/>
        </p:blipFill>
        <p:spPr>
          <a:xfrm>
            <a:off x="392906" y="2178844"/>
            <a:ext cx="4064794" cy="2450306"/>
          </a:xfrm>
          <a:prstGeom prst="rect">
            <a:avLst/>
          </a:prstGeom>
          <a:noFill/>
          <a:ln>
            <a:noFill/>
          </a:ln>
        </p:spPr>
      </p:pic>
      <p:pic>
        <p:nvPicPr>
          <p:cNvPr descr="image.png" id="408" name="Google Shape;408;p34"/>
          <p:cNvPicPr preferRelativeResize="0"/>
          <p:nvPr/>
        </p:nvPicPr>
        <p:blipFill rotWithShape="1">
          <a:blip r:embed="rId4">
            <a:alphaModFix/>
          </a:blip>
          <a:srcRect b="0" l="0" r="0" t="0"/>
          <a:stretch/>
        </p:blipFill>
        <p:spPr>
          <a:xfrm>
            <a:off x="4686300" y="2178844"/>
            <a:ext cx="4064794" cy="2450306"/>
          </a:xfrm>
          <a:prstGeom prst="rect">
            <a:avLst/>
          </a:prstGeom>
          <a:noFill/>
          <a:ln>
            <a:noFill/>
          </a:ln>
        </p:spPr>
      </p:pic>
      <p:pic>
        <p:nvPicPr>
          <p:cNvPr descr="image.png" id="409" name="Google Shape;409;p34"/>
          <p:cNvPicPr preferRelativeResize="0"/>
          <p:nvPr/>
        </p:nvPicPr>
        <p:blipFill rotWithShape="1">
          <a:blip r:embed="rId5">
            <a:alphaModFix/>
          </a:blip>
          <a:srcRect b="0" l="0" r="0" t="0"/>
          <a:stretch/>
        </p:blipFill>
        <p:spPr>
          <a:xfrm>
            <a:off x="600075" y="2864644"/>
            <a:ext cx="3650457" cy="692944"/>
          </a:xfrm>
          <a:prstGeom prst="rect">
            <a:avLst/>
          </a:prstGeom>
          <a:noFill/>
          <a:ln>
            <a:noFill/>
          </a:ln>
        </p:spPr>
      </p:pic>
      <p:pic>
        <p:nvPicPr>
          <p:cNvPr descr="image.png" id="410" name="Google Shape;410;p34"/>
          <p:cNvPicPr preferRelativeResize="0"/>
          <p:nvPr/>
        </p:nvPicPr>
        <p:blipFill rotWithShape="1">
          <a:blip r:embed="rId6">
            <a:alphaModFix/>
          </a:blip>
          <a:srcRect b="0" l="0" r="0" t="0"/>
          <a:stretch/>
        </p:blipFill>
        <p:spPr>
          <a:xfrm>
            <a:off x="4893469" y="2864644"/>
            <a:ext cx="3650457" cy="692944"/>
          </a:xfrm>
          <a:prstGeom prst="rect">
            <a:avLst/>
          </a:prstGeom>
          <a:noFill/>
          <a:ln>
            <a:noFill/>
          </a:ln>
        </p:spPr>
      </p:pic>
      <p:pic>
        <p:nvPicPr>
          <p:cNvPr descr="image.png" id="411" name="Google Shape;411;p34"/>
          <p:cNvPicPr preferRelativeResize="0"/>
          <p:nvPr/>
        </p:nvPicPr>
        <p:blipFill rotWithShape="1">
          <a:blip r:embed="rId7">
            <a:alphaModFix/>
          </a:blip>
          <a:srcRect b="0" l="0" r="0" t="0"/>
          <a:stretch/>
        </p:blipFill>
        <p:spPr>
          <a:xfrm>
            <a:off x="3679031" y="-464344"/>
            <a:ext cx="3214688" cy="617934"/>
          </a:xfrm>
          <a:prstGeom prst="rect">
            <a:avLst/>
          </a:prstGeom>
          <a:noFill/>
          <a:ln>
            <a:noFill/>
          </a:ln>
        </p:spPr>
      </p:pic>
      <p:pic>
        <p:nvPicPr>
          <p:cNvPr descr="image.png" id="412" name="Google Shape;412;p34"/>
          <p:cNvPicPr preferRelativeResize="0"/>
          <p:nvPr/>
        </p:nvPicPr>
        <p:blipFill rotWithShape="1">
          <a:blip r:embed="rId8">
            <a:alphaModFix/>
          </a:blip>
          <a:srcRect b="0" l="0" r="0" t="0"/>
          <a:stretch/>
        </p:blipFill>
        <p:spPr>
          <a:xfrm>
            <a:off x="392906" y="4757738"/>
            <a:ext cx="8358188" cy="207169"/>
          </a:xfrm>
          <a:prstGeom prst="rect">
            <a:avLst/>
          </a:prstGeom>
          <a:noFill/>
          <a:ln>
            <a:noFill/>
          </a:ln>
        </p:spPr>
      </p:pic>
      <p:sp>
        <p:nvSpPr>
          <p:cNvPr id="413" name="Google Shape;413;p34"/>
          <p:cNvSpPr txBox="1"/>
          <p:nvPr/>
        </p:nvSpPr>
        <p:spPr>
          <a:xfrm>
            <a:off x="196353" y="473725"/>
            <a:ext cx="87513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000" u="none" cap="none" strike="noStrike">
                <a:solidFill>
                  <a:srgbClr val="FFFFFF"/>
                </a:solidFill>
                <a:latin typeface="Calibri"/>
                <a:ea typeface="Calibri"/>
                <a:cs typeface="Calibri"/>
                <a:sym typeface="Calibri"/>
              </a:rPr>
              <a:t>Connect With </a:t>
            </a:r>
            <a:r>
              <a:rPr b="1" lang="en-US" sz="2000">
                <a:solidFill>
                  <a:srgbClr val="FFFFFF"/>
                </a:solidFill>
                <a:latin typeface="Calibri"/>
                <a:ea typeface="Calibri"/>
                <a:cs typeface="Calibri"/>
                <a:sym typeface="Calibri"/>
              </a:rPr>
              <a:t>Us</a:t>
            </a:r>
            <a:endParaRPr sz="1100">
              <a:latin typeface="Calibri"/>
              <a:ea typeface="Calibri"/>
              <a:cs typeface="Calibri"/>
              <a:sym typeface="Calibri"/>
            </a:endParaRPr>
          </a:p>
        </p:txBody>
      </p:sp>
      <p:sp>
        <p:nvSpPr>
          <p:cNvPr id="414" name="Google Shape;414;p34"/>
          <p:cNvSpPr txBox="1"/>
          <p:nvPr/>
        </p:nvSpPr>
        <p:spPr>
          <a:xfrm>
            <a:off x="2968228" y="4850606"/>
            <a:ext cx="32076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00" u="none" cap="none" strike="noStrike">
                <a:solidFill>
                  <a:srgbClr val="B7CDC2"/>
                </a:solidFill>
                <a:latin typeface="Noto Sans"/>
                <a:ea typeface="Noto Sans"/>
                <a:cs typeface="Noto Sans"/>
                <a:sym typeface="Noto Sans"/>
              </a:rPr>
              <a:t>LINKING LEARNING AND WORK TO DRIVE ECONOMIC MOBILITY</a:t>
            </a:r>
            <a:endParaRPr b="1" sz="1100">
              <a:latin typeface="Noto Sans"/>
              <a:ea typeface="Noto Sans"/>
              <a:cs typeface="Noto Sans"/>
              <a:sym typeface="Noto Sans"/>
            </a:endParaRPr>
          </a:p>
        </p:txBody>
      </p:sp>
      <p:sp>
        <p:nvSpPr>
          <p:cNvPr id="415" name="Google Shape;415;p34"/>
          <p:cNvSpPr txBox="1"/>
          <p:nvPr/>
        </p:nvSpPr>
        <p:spPr>
          <a:xfrm>
            <a:off x="757238" y="2964656"/>
            <a:ext cx="33648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FFFFFF"/>
                </a:solidFill>
                <a:latin typeface="Calibri"/>
                <a:ea typeface="Calibri"/>
                <a:cs typeface="Calibri"/>
                <a:sym typeface="Calibri"/>
              </a:rPr>
              <a:t>Casey Gallagher</a:t>
            </a:r>
            <a:endParaRPr b="1" sz="1100">
              <a:latin typeface="Calibri"/>
              <a:ea typeface="Calibri"/>
              <a:cs typeface="Calibri"/>
              <a:sym typeface="Calibri"/>
            </a:endParaRPr>
          </a:p>
        </p:txBody>
      </p:sp>
      <p:sp>
        <p:nvSpPr>
          <p:cNvPr id="416" name="Google Shape;416;p34"/>
          <p:cNvSpPr txBox="1"/>
          <p:nvPr/>
        </p:nvSpPr>
        <p:spPr>
          <a:xfrm>
            <a:off x="757238" y="3171825"/>
            <a:ext cx="3364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800" u="none" cap="none" strike="noStrike">
                <a:solidFill>
                  <a:srgbClr val="D9B48F"/>
                </a:solidFill>
                <a:latin typeface="Calibri"/>
                <a:ea typeface="Calibri"/>
                <a:cs typeface="Calibri"/>
                <a:sym typeface="Calibri"/>
              </a:rPr>
              <a:t>CA Regional Director</a:t>
            </a:r>
            <a:endParaRPr sz="1100">
              <a:latin typeface="Calibri"/>
              <a:ea typeface="Calibri"/>
              <a:cs typeface="Calibri"/>
              <a:sym typeface="Calibri"/>
            </a:endParaRPr>
          </a:p>
        </p:txBody>
      </p:sp>
      <p:pic>
        <p:nvPicPr>
          <p:cNvPr descr="image.png" id="417" name="Google Shape;417;p34"/>
          <p:cNvPicPr preferRelativeResize="0"/>
          <p:nvPr/>
        </p:nvPicPr>
        <p:blipFill rotWithShape="1">
          <a:blip r:embed="rId9">
            <a:alphaModFix/>
          </a:blip>
          <a:srcRect b="0" l="0" r="0" t="0"/>
          <a:stretch/>
        </p:blipFill>
        <p:spPr>
          <a:xfrm>
            <a:off x="3545086" y="3714750"/>
            <a:ext cx="585787" cy="585788"/>
          </a:xfrm>
          <a:prstGeom prst="rect">
            <a:avLst/>
          </a:prstGeom>
          <a:noFill/>
          <a:ln>
            <a:noFill/>
          </a:ln>
        </p:spPr>
      </p:pic>
      <p:sp>
        <p:nvSpPr>
          <p:cNvPr id="418" name="Google Shape;418;p34"/>
          <p:cNvSpPr txBox="1"/>
          <p:nvPr/>
        </p:nvSpPr>
        <p:spPr>
          <a:xfrm>
            <a:off x="3496865" y="4329113"/>
            <a:ext cx="682200" cy="77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500" u="none" cap="none" strike="noStrike">
                <a:solidFill>
                  <a:srgbClr val="0F172A"/>
                </a:solidFill>
                <a:latin typeface="Inter SemiBold"/>
                <a:ea typeface="Inter SemiBold"/>
                <a:cs typeface="Inter SemiBold"/>
                <a:sym typeface="Inter SemiBold"/>
              </a:rPr>
              <a:t>SCAN TO CONNECT</a:t>
            </a:r>
            <a:endParaRPr sz="1100"/>
          </a:p>
        </p:txBody>
      </p:sp>
      <p:pic>
        <p:nvPicPr>
          <p:cNvPr descr="image.png" id="419" name="Google Shape;419;p34"/>
          <p:cNvPicPr preferRelativeResize="0"/>
          <p:nvPr/>
        </p:nvPicPr>
        <p:blipFill rotWithShape="1">
          <a:blip r:embed="rId10">
            <a:alphaModFix/>
          </a:blip>
          <a:srcRect b="0" l="0" r="0" t="0"/>
          <a:stretch/>
        </p:blipFill>
        <p:spPr>
          <a:xfrm>
            <a:off x="7773181" y="2378869"/>
            <a:ext cx="770744" cy="242776"/>
          </a:xfrm>
          <a:prstGeom prst="rect">
            <a:avLst/>
          </a:prstGeom>
          <a:noFill/>
          <a:ln>
            <a:noFill/>
          </a:ln>
        </p:spPr>
      </p:pic>
      <p:sp>
        <p:nvSpPr>
          <p:cNvPr id="420" name="Google Shape;420;p34"/>
          <p:cNvSpPr txBox="1"/>
          <p:nvPr/>
        </p:nvSpPr>
        <p:spPr>
          <a:xfrm>
            <a:off x="5050631" y="2964656"/>
            <a:ext cx="33648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FFFFFF"/>
                </a:solidFill>
                <a:latin typeface="Calibri"/>
                <a:ea typeface="Calibri"/>
                <a:cs typeface="Calibri"/>
                <a:sym typeface="Calibri"/>
              </a:rPr>
              <a:t>Earl Buford</a:t>
            </a:r>
            <a:endParaRPr b="1" sz="1100">
              <a:latin typeface="Calibri"/>
              <a:ea typeface="Calibri"/>
              <a:cs typeface="Calibri"/>
              <a:sym typeface="Calibri"/>
            </a:endParaRPr>
          </a:p>
        </p:txBody>
      </p:sp>
      <p:sp>
        <p:nvSpPr>
          <p:cNvPr id="421" name="Google Shape;421;p34"/>
          <p:cNvSpPr txBox="1"/>
          <p:nvPr/>
        </p:nvSpPr>
        <p:spPr>
          <a:xfrm>
            <a:off x="5050631" y="3171825"/>
            <a:ext cx="3364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800" u="none" cap="none" strike="noStrike">
                <a:solidFill>
                  <a:srgbClr val="D9B48F"/>
                </a:solidFill>
                <a:latin typeface="Calibri"/>
                <a:ea typeface="Calibri"/>
                <a:cs typeface="Calibri"/>
                <a:sym typeface="Calibri"/>
              </a:rPr>
              <a:t>President and CEO, CAEL</a:t>
            </a:r>
            <a:endParaRPr sz="1100">
              <a:latin typeface="Calibri"/>
              <a:ea typeface="Calibri"/>
              <a:cs typeface="Calibri"/>
              <a:sym typeface="Calibri"/>
            </a:endParaRPr>
          </a:p>
        </p:txBody>
      </p:sp>
      <p:pic>
        <p:nvPicPr>
          <p:cNvPr descr="image.png" id="422" name="Google Shape;422;p34"/>
          <p:cNvPicPr preferRelativeResize="0"/>
          <p:nvPr/>
        </p:nvPicPr>
        <p:blipFill rotWithShape="1">
          <a:blip r:embed="rId11">
            <a:alphaModFix/>
          </a:blip>
          <a:srcRect b="0" l="0" r="0" t="0"/>
          <a:stretch/>
        </p:blipFill>
        <p:spPr>
          <a:xfrm>
            <a:off x="7838480" y="3714750"/>
            <a:ext cx="585787" cy="585788"/>
          </a:xfrm>
          <a:prstGeom prst="rect">
            <a:avLst/>
          </a:prstGeom>
          <a:noFill/>
          <a:ln>
            <a:noFill/>
          </a:ln>
        </p:spPr>
      </p:pic>
      <p:sp>
        <p:nvSpPr>
          <p:cNvPr id="423" name="Google Shape;423;p34"/>
          <p:cNvSpPr txBox="1"/>
          <p:nvPr/>
        </p:nvSpPr>
        <p:spPr>
          <a:xfrm>
            <a:off x="7790259" y="4329113"/>
            <a:ext cx="682200" cy="77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500" u="none" cap="none" strike="noStrike">
                <a:solidFill>
                  <a:srgbClr val="0F172A"/>
                </a:solidFill>
                <a:latin typeface="Inter SemiBold"/>
                <a:ea typeface="Inter SemiBold"/>
                <a:cs typeface="Inter SemiBold"/>
                <a:sym typeface="Inter SemiBold"/>
              </a:rPr>
              <a:t>SCAN TO CONNECT</a:t>
            </a:r>
            <a:endParaRPr sz="1100"/>
          </a:p>
        </p:txBody>
      </p:sp>
      <p:pic>
        <p:nvPicPr>
          <p:cNvPr descr="image.png" id="424" name="Google Shape;424;p34"/>
          <p:cNvPicPr preferRelativeResize="0"/>
          <p:nvPr/>
        </p:nvPicPr>
        <p:blipFill rotWithShape="1">
          <a:blip r:embed="rId12">
            <a:alphaModFix/>
          </a:blip>
          <a:srcRect b="0" l="0" r="0" t="0"/>
          <a:stretch/>
        </p:blipFill>
        <p:spPr>
          <a:xfrm>
            <a:off x="600075" y="2357438"/>
            <a:ext cx="285750" cy="285750"/>
          </a:xfrm>
          <a:prstGeom prst="rect">
            <a:avLst/>
          </a:prstGeom>
          <a:noFill/>
          <a:ln>
            <a:noFill/>
          </a:ln>
        </p:spPr>
      </p:pic>
      <p:sp>
        <p:nvSpPr>
          <p:cNvPr id="425" name="Google Shape;425;p34"/>
          <p:cNvSpPr txBox="1"/>
          <p:nvPr/>
        </p:nvSpPr>
        <p:spPr>
          <a:xfrm>
            <a:off x="971550" y="2393156"/>
            <a:ext cx="1443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F8FAFC"/>
                </a:solidFill>
                <a:latin typeface="Poppins SemiBold"/>
                <a:ea typeface="Poppins SemiBold"/>
                <a:cs typeface="Poppins SemiBold"/>
                <a:sym typeface="Poppins SemiBold"/>
              </a:rPr>
              <a:t>Machinists Institute</a:t>
            </a:r>
            <a:endParaRPr sz="1100"/>
          </a:p>
        </p:txBody>
      </p:sp>
      <p:pic>
        <p:nvPicPr>
          <p:cNvPr descr="image.png" id="426" name="Google Shape;426;p34"/>
          <p:cNvPicPr preferRelativeResize="0"/>
          <p:nvPr/>
        </p:nvPicPr>
        <p:blipFill rotWithShape="1">
          <a:blip r:embed="rId13">
            <a:alphaModFix/>
          </a:blip>
          <a:srcRect b="0" l="0" r="0" t="0"/>
          <a:stretch/>
        </p:blipFill>
        <p:spPr>
          <a:xfrm>
            <a:off x="757238" y="3352205"/>
            <a:ext cx="114300" cy="96440"/>
          </a:xfrm>
          <a:prstGeom prst="rect">
            <a:avLst/>
          </a:prstGeom>
          <a:noFill/>
          <a:ln>
            <a:noFill/>
          </a:ln>
        </p:spPr>
      </p:pic>
      <p:sp>
        <p:nvSpPr>
          <p:cNvPr id="427" name="Google Shape;427;p34"/>
          <p:cNvSpPr txBox="1"/>
          <p:nvPr/>
        </p:nvSpPr>
        <p:spPr>
          <a:xfrm>
            <a:off x="942975" y="3343275"/>
            <a:ext cx="20391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800" u="none" cap="none" strike="noStrike">
                <a:solidFill>
                  <a:srgbClr val="E2E8F0"/>
                </a:solidFill>
                <a:latin typeface="Calibri"/>
                <a:ea typeface="Calibri"/>
                <a:cs typeface="Calibri"/>
                <a:sym typeface="Calibri"/>
              </a:rPr>
              <a:t>Casey.Gallagher@MachinistsInstitute.org</a:t>
            </a:r>
            <a:endParaRPr sz="1100">
              <a:latin typeface="Calibri"/>
              <a:ea typeface="Calibri"/>
              <a:cs typeface="Calibri"/>
              <a:sym typeface="Calibri"/>
            </a:endParaRPr>
          </a:p>
        </p:txBody>
      </p:sp>
      <p:pic>
        <p:nvPicPr>
          <p:cNvPr descr="image.png" id="428" name="Google Shape;428;p34"/>
          <p:cNvPicPr preferRelativeResize="0"/>
          <p:nvPr/>
        </p:nvPicPr>
        <p:blipFill rotWithShape="1">
          <a:blip r:embed="rId14">
            <a:alphaModFix/>
          </a:blip>
          <a:srcRect b="0" l="0" r="0" t="0"/>
          <a:stretch/>
        </p:blipFill>
        <p:spPr>
          <a:xfrm>
            <a:off x="628650" y="3914775"/>
            <a:ext cx="128588" cy="107156"/>
          </a:xfrm>
          <a:prstGeom prst="rect">
            <a:avLst/>
          </a:prstGeom>
          <a:noFill/>
          <a:ln>
            <a:noFill/>
          </a:ln>
        </p:spPr>
      </p:pic>
      <p:sp>
        <p:nvSpPr>
          <p:cNvPr id="429" name="Google Shape;429;p34"/>
          <p:cNvSpPr txBox="1"/>
          <p:nvPr/>
        </p:nvSpPr>
        <p:spPr>
          <a:xfrm>
            <a:off x="828675" y="3911203"/>
            <a:ext cx="1078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800" u="none" cap="none" strike="noStrike">
                <a:solidFill>
                  <a:srgbClr val="CBD5E1"/>
                </a:solidFill>
                <a:latin typeface="Calibri"/>
                <a:ea typeface="Calibri"/>
                <a:cs typeface="Calibri"/>
                <a:sym typeface="Calibri"/>
              </a:rPr>
              <a:t>The Machinists Institute</a:t>
            </a:r>
            <a:endParaRPr sz="1100">
              <a:latin typeface="Calibri"/>
              <a:ea typeface="Calibri"/>
              <a:cs typeface="Calibri"/>
              <a:sym typeface="Calibri"/>
            </a:endParaRPr>
          </a:p>
        </p:txBody>
      </p:sp>
      <p:pic>
        <p:nvPicPr>
          <p:cNvPr descr="image.png" id="430" name="Google Shape;430;p34"/>
          <p:cNvPicPr preferRelativeResize="0"/>
          <p:nvPr/>
        </p:nvPicPr>
        <p:blipFill rotWithShape="1">
          <a:blip r:embed="rId15">
            <a:alphaModFix/>
          </a:blip>
          <a:srcRect b="0" l="0" r="0" t="0"/>
          <a:stretch/>
        </p:blipFill>
        <p:spPr>
          <a:xfrm>
            <a:off x="628650" y="4100513"/>
            <a:ext cx="128588" cy="107156"/>
          </a:xfrm>
          <a:prstGeom prst="rect">
            <a:avLst/>
          </a:prstGeom>
          <a:noFill/>
          <a:ln>
            <a:noFill/>
          </a:ln>
        </p:spPr>
      </p:pic>
      <p:sp>
        <p:nvSpPr>
          <p:cNvPr id="431" name="Google Shape;431;p34"/>
          <p:cNvSpPr txBox="1"/>
          <p:nvPr/>
        </p:nvSpPr>
        <p:spPr>
          <a:xfrm>
            <a:off x="828675" y="4096940"/>
            <a:ext cx="13626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800" u="none" cap="none" strike="noStrike">
                <a:solidFill>
                  <a:srgbClr val="CBD5E1"/>
                </a:solidFill>
                <a:latin typeface="Calibri"/>
                <a:ea typeface="Calibri"/>
                <a:cs typeface="Calibri"/>
                <a:sym typeface="Calibri"/>
              </a:rPr>
              <a:t>www.machinistsinstitute.org</a:t>
            </a:r>
            <a:endParaRPr sz="1100">
              <a:latin typeface="Calibri"/>
              <a:ea typeface="Calibri"/>
              <a:cs typeface="Calibri"/>
              <a:sym typeface="Calibri"/>
            </a:endParaRPr>
          </a:p>
        </p:txBody>
      </p:sp>
      <p:pic>
        <p:nvPicPr>
          <p:cNvPr descr="image.png" id="432" name="Google Shape;432;p34"/>
          <p:cNvPicPr preferRelativeResize="0"/>
          <p:nvPr/>
        </p:nvPicPr>
        <p:blipFill rotWithShape="1">
          <a:blip r:embed="rId16">
            <a:alphaModFix/>
          </a:blip>
          <a:srcRect b="0" l="0" r="0" t="0"/>
          <a:stretch/>
        </p:blipFill>
        <p:spPr>
          <a:xfrm>
            <a:off x="4893469" y="2357438"/>
            <a:ext cx="285750" cy="285750"/>
          </a:xfrm>
          <a:prstGeom prst="rect">
            <a:avLst/>
          </a:prstGeom>
          <a:noFill/>
          <a:ln>
            <a:noFill/>
          </a:ln>
        </p:spPr>
      </p:pic>
      <p:sp>
        <p:nvSpPr>
          <p:cNvPr id="433" name="Google Shape;433;p34"/>
          <p:cNvSpPr txBox="1"/>
          <p:nvPr/>
        </p:nvSpPr>
        <p:spPr>
          <a:xfrm>
            <a:off x="5264944" y="2393156"/>
            <a:ext cx="350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F8FAFC"/>
                </a:solidFill>
                <a:latin typeface="Poppins SemiBold"/>
                <a:ea typeface="Poppins SemiBold"/>
                <a:cs typeface="Poppins SemiBold"/>
                <a:sym typeface="Poppins SemiBold"/>
              </a:rPr>
              <a:t>CAEL</a:t>
            </a:r>
            <a:endParaRPr sz="1100"/>
          </a:p>
        </p:txBody>
      </p:sp>
      <p:pic>
        <p:nvPicPr>
          <p:cNvPr descr="image.png" id="434" name="Google Shape;434;p34"/>
          <p:cNvPicPr preferRelativeResize="0"/>
          <p:nvPr/>
        </p:nvPicPr>
        <p:blipFill rotWithShape="1">
          <a:blip r:embed="rId17">
            <a:alphaModFix/>
          </a:blip>
          <a:srcRect b="0" l="0" r="0" t="0"/>
          <a:stretch/>
        </p:blipFill>
        <p:spPr>
          <a:xfrm>
            <a:off x="5050631" y="3352205"/>
            <a:ext cx="114300" cy="96440"/>
          </a:xfrm>
          <a:prstGeom prst="rect">
            <a:avLst/>
          </a:prstGeom>
          <a:noFill/>
          <a:ln>
            <a:noFill/>
          </a:ln>
        </p:spPr>
      </p:pic>
      <p:sp>
        <p:nvSpPr>
          <p:cNvPr id="435" name="Google Shape;435;p34"/>
          <p:cNvSpPr txBox="1"/>
          <p:nvPr/>
        </p:nvSpPr>
        <p:spPr>
          <a:xfrm>
            <a:off x="5236369" y="3343275"/>
            <a:ext cx="9144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800" u="none" cap="none" strike="noStrike">
                <a:solidFill>
                  <a:srgbClr val="E2E8F0"/>
                </a:solidFill>
                <a:latin typeface="Calibri"/>
                <a:ea typeface="Calibri"/>
                <a:cs typeface="Calibri"/>
                <a:sym typeface="Calibri"/>
              </a:rPr>
              <a:t>ebuford@cael.org</a:t>
            </a:r>
            <a:endParaRPr sz="1100">
              <a:latin typeface="Calibri"/>
              <a:ea typeface="Calibri"/>
              <a:cs typeface="Calibri"/>
              <a:sym typeface="Calibri"/>
            </a:endParaRPr>
          </a:p>
        </p:txBody>
      </p:sp>
      <p:pic>
        <p:nvPicPr>
          <p:cNvPr descr="image.png" id="436" name="Google Shape;436;p34"/>
          <p:cNvPicPr preferRelativeResize="0"/>
          <p:nvPr/>
        </p:nvPicPr>
        <p:blipFill rotWithShape="1">
          <a:blip r:embed="rId18">
            <a:alphaModFix/>
          </a:blip>
          <a:srcRect b="0" l="0" r="0" t="0"/>
          <a:stretch/>
        </p:blipFill>
        <p:spPr>
          <a:xfrm>
            <a:off x="4922044" y="3914775"/>
            <a:ext cx="128588" cy="107156"/>
          </a:xfrm>
          <a:prstGeom prst="rect">
            <a:avLst/>
          </a:prstGeom>
          <a:noFill/>
          <a:ln>
            <a:noFill/>
          </a:ln>
        </p:spPr>
      </p:pic>
      <p:sp>
        <p:nvSpPr>
          <p:cNvPr id="437" name="Google Shape;437;p34"/>
          <p:cNvSpPr txBox="1"/>
          <p:nvPr/>
        </p:nvSpPr>
        <p:spPr>
          <a:xfrm>
            <a:off x="5122069" y="3911203"/>
            <a:ext cx="3384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00" u="none" cap="none" strike="noStrike">
                <a:solidFill>
                  <a:srgbClr val="CBD5E1"/>
                </a:solidFill>
                <a:latin typeface="Inter"/>
                <a:ea typeface="Inter"/>
                <a:cs typeface="Inter"/>
                <a:sym typeface="Inter"/>
              </a:rPr>
              <a:t>CAEL</a:t>
            </a:r>
            <a:endParaRPr sz="1100"/>
          </a:p>
        </p:txBody>
      </p:sp>
      <p:pic>
        <p:nvPicPr>
          <p:cNvPr descr="image.png" id="438" name="Google Shape;438;p34"/>
          <p:cNvPicPr preferRelativeResize="0"/>
          <p:nvPr/>
        </p:nvPicPr>
        <p:blipFill rotWithShape="1">
          <a:blip r:embed="rId19">
            <a:alphaModFix/>
          </a:blip>
          <a:srcRect b="0" l="0" r="0" t="0"/>
          <a:stretch/>
        </p:blipFill>
        <p:spPr>
          <a:xfrm>
            <a:off x="4922044" y="4100513"/>
            <a:ext cx="128588" cy="107156"/>
          </a:xfrm>
          <a:prstGeom prst="rect">
            <a:avLst/>
          </a:prstGeom>
          <a:noFill/>
          <a:ln>
            <a:noFill/>
          </a:ln>
        </p:spPr>
      </p:pic>
      <p:sp>
        <p:nvSpPr>
          <p:cNvPr id="439" name="Google Shape;439;p34"/>
          <p:cNvSpPr txBox="1"/>
          <p:nvPr/>
        </p:nvSpPr>
        <p:spPr>
          <a:xfrm>
            <a:off x="5122069" y="4096940"/>
            <a:ext cx="7224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00" u="none" cap="none" strike="noStrike">
                <a:solidFill>
                  <a:srgbClr val="CBD5E1"/>
                </a:solidFill>
                <a:latin typeface="Inter"/>
                <a:ea typeface="Inter"/>
                <a:cs typeface="Inter"/>
                <a:sym typeface="Inter"/>
              </a:rPr>
              <a:t>www.cael.org</a:t>
            </a:r>
            <a:endParaRPr sz="1100"/>
          </a:p>
        </p:txBody>
      </p:sp>
      <p:pic>
        <p:nvPicPr>
          <p:cNvPr descr="image.png" id="440" name="Google Shape;440;p34"/>
          <p:cNvPicPr preferRelativeResize="0"/>
          <p:nvPr/>
        </p:nvPicPr>
        <p:blipFill rotWithShape="1">
          <a:blip r:embed="rId20">
            <a:alphaModFix/>
          </a:blip>
          <a:srcRect b="0" l="0" r="0" t="0"/>
          <a:stretch/>
        </p:blipFill>
        <p:spPr>
          <a:xfrm>
            <a:off x="660797" y="2436019"/>
            <a:ext cx="164306" cy="128588"/>
          </a:xfrm>
          <a:prstGeom prst="rect">
            <a:avLst/>
          </a:prstGeom>
          <a:noFill/>
          <a:ln>
            <a:noFill/>
          </a:ln>
        </p:spPr>
      </p:pic>
      <p:pic>
        <p:nvPicPr>
          <p:cNvPr descr="image.png" id="441" name="Google Shape;441;p34"/>
          <p:cNvPicPr preferRelativeResize="0"/>
          <p:nvPr/>
        </p:nvPicPr>
        <p:blipFill rotWithShape="1">
          <a:blip r:embed="rId21">
            <a:alphaModFix/>
          </a:blip>
          <a:srcRect b="0" l="0" r="0" t="0"/>
          <a:stretch/>
        </p:blipFill>
        <p:spPr>
          <a:xfrm>
            <a:off x="4954190" y="2436019"/>
            <a:ext cx="164306" cy="128588"/>
          </a:xfrm>
          <a:prstGeom prst="rect">
            <a:avLst/>
          </a:prstGeom>
          <a:noFill/>
          <a:ln>
            <a:noFill/>
          </a:ln>
        </p:spPr>
      </p:pic>
      <p:pic>
        <p:nvPicPr>
          <p:cNvPr descr="A logo with a black background&#10;&#10;Description automatically generated" id="442" name="Google Shape;442;p34"/>
          <p:cNvPicPr preferRelativeResize="0"/>
          <p:nvPr/>
        </p:nvPicPr>
        <p:blipFill rotWithShape="1">
          <a:blip r:embed="rId22">
            <a:alphaModFix/>
          </a:blip>
          <a:srcRect b="0" l="0" r="0" t="0"/>
          <a:stretch/>
        </p:blipFill>
        <p:spPr>
          <a:xfrm>
            <a:off x="3545073" y="2348201"/>
            <a:ext cx="768096" cy="307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7" name="Shape 447"/>
        <p:cNvGrpSpPr/>
        <p:nvPr/>
      </p:nvGrpSpPr>
      <p:grpSpPr>
        <a:xfrm>
          <a:off x="0" y="0"/>
          <a:ext cx="0" cy="0"/>
          <a:chOff x="0" y="0"/>
          <a:chExt cx="0" cy="0"/>
        </a:xfrm>
      </p:grpSpPr>
      <p:sp>
        <p:nvSpPr>
          <p:cNvPr id="448" name="Google Shape;448;p35"/>
          <p:cNvSpPr txBox="1"/>
          <p:nvPr/>
        </p:nvSpPr>
        <p:spPr>
          <a:xfrm>
            <a:off x="762000" y="1238250"/>
            <a:ext cx="7620000" cy="142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800">
                <a:solidFill>
                  <a:srgbClr val="FFFFFF"/>
                </a:solidFill>
                <a:latin typeface="Calibri"/>
                <a:ea typeface="Calibri"/>
                <a:cs typeface="Calibri"/>
                <a:sym typeface="Calibri"/>
              </a:rPr>
              <a:t>Thank You!</a:t>
            </a:r>
            <a:endParaRPr b="1" sz="4800">
              <a:solidFill>
                <a:srgbClr val="FFFFFF"/>
              </a:solidFill>
              <a:latin typeface="Calibri"/>
              <a:ea typeface="Calibri"/>
              <a:cs typeface="Calibri"/>
              <a:sym typeface="Calibri"/>
            </a:endParaRPr>
          </a:p>
          <a:p>
            <a:pPr indent="0" lvl="0" marL="0" rtl="0" algn="ctr">
              <a:spcBef>
                <a:spcPts val="1125"/>
              </a:spcBef>
              <a:spcAft>
                <a:spcPts val="0"/>
              </a:spcAft>
              <a:buNone/>
            </a:pPr>
            <a:r>
              <a:rPr b="1" lang="en-US" sz="1600">
                <a:solidFill>
                  <a:srgbClr val="D9B48F"/>
                </a:solidFill>
                <a:latin typeface="Poppins"/>
                <a:ea typeface="Poppins"/>
                <a:cs typeface="Poppins"/>
                <a:sym typeface="Poppins"/>
              </a:rPr>
              <a:t>Linking learning and work to drive economic mobility.</a:t>
            </a:r>
            <a:endParaRPr b="1" sz="1600">
              <a:solidFill>
                <a:srgbClr val="D9B48F"/>
              </a:solidFill>
              <a:latin typeface="Poppins"/>
              <a:ea typeface="Poppins"/>
              <a:cs typeface="Poppins"/>
              <a:sym typeface="Poppins"/>
            </a:endParaRPr>
          </a:p>
        </p:txBody>
      </p:sp>
      <p:pic>
        <p:nvPicPr>
          <p:cNvPr id="449" name="Google Shape;449;p35"/>
          <p:cNvPicPr preferRelativeResize="0"/>
          <p:nvPr/>
        </p:nvPicPr>
        <p:blipFill rotWithShape="1">
          <a:blip r:embed="rId4">
            <a:alphaModFix/>
          </a:blip>
          <a:srcRect b="0" l="30" r="30" t="0"/>
          <a:stretch/>
        </p:blipFill>
        <p:spPr>
          <a:xfrm>
            <a:off x="2190750" y="2952750"/>
            <a:ext cx="2381400" cy="942900"/>
          </a:xfrm>
          <a:prstGeom prst="rect">
            <a:avLst/>
          </a:prstGeom>
          <a:noFill/>
          <a:ln>
            <a:noFill/>
          </a:ln>
        </p:spPr>
      </p:pic>
      <p:pic>
        <p:nvPicPr>
          <p:cNvPr id="450" name="Google Shape;450;p35"/>
          <p:cNvPicPr preferRelativeResize="0"/>
          <p:nvPr/>
        </p:nvPicPr>
        <p:blipFill rotWithShape="1">
          <a:blip r:embed="rId5">
            <a:alphaModFix/>
          </a:blip>
          <a:srcRect b="0" l="932" r="932" t="0"/>
          <a:stretch/>
        </p:blipFill>
        <p:spPr>
          <a:xfrm>
            <a:off x="4953000" y="3090863"/>
            <a:ext cx="2076600" cy="666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